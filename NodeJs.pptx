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ppt/theme/themeOverride7.xml" ContentType="application/vnd.openxmlformats-officedocument.themeOverride+xml"/>
  <Override PartName="/ppt/notesSlides/notesSlide8.xml" ContentType="application/vnd.openxmlformats-officedocument.presentationml.notesSlide+xml"/>
  <Override PartName="/ppt/theme/themeOverride8.xml" ContentType="application/vnd.openxmlformats-officedocument.themeOverride+xml"/>
  <Override PartName="/ppt/notesSlides/notesSlide9.xml" ContentType="application/vnd.openxmlformats-officedocument.presentationml.notesSlide+xml"/>
  <Override PartName="/ppt/theme/themeOverride9.xml" ContentType="application/vnd.openxmlformats-officedocument.themeOverride+xml"/>
  <Override PartName="/ppt/notesSlides/notesSlide10.xml" ContentType="application/vnd.openxmlformats-officedocument.presentationml.notesSlide+xml"/>
  <Override PartName="/ppt/theme/themeOverride10.xml" ContentType="application/vnd.openxmlformats-officedocument.themeOverride+xml"/>
  <Override PartName="/ppt/notesSlides/notesSlide11.xml" ContentType="application/vnd.openxmlformats-officedocument.presentationml.notesSlide+xml"/>
  <Override PartName="/ppt/theme/themeOverride11.xml" ContentType="application/vnd.openxmlformats-officedocument.themeOverride+xml"/>
  <Override PartName="/ppt/notesSlides/notesSlide12.xml" ContentType="application/vnd.openxmlformats-officedocument.presentationml.notesSlide+xml"/>
  <Override PartName="/ppt/theme/themeOverride12.xml" ContentType="application/vnd.openxmlformats-officedocument.themeOverride+xml"/>
  <Override PartName="/ppt/notesSlides/notesSlide13.xml" ContentType="application/vnd.openxmlformats-officedocument.presentationml.notesSlide+xml"/>
  <Override PartName="/ppt/theme/themeOverride13.xml" ContentType="application/vnd.openxmlformats-officedocument.themeOverride+xml"/>
  <Override PartName="/ppt/notesSlides/notesSlide14.xml" ContentType="application/vnd.openxmlformats-officedocument.presentationml.notesSlide+xml"/>
  <Override PartName="/ppt/theme/themeOverride14.xml" ContentType="application/vnd.openxmlformats-officedocument.themeOverride+xml"/>
  <Override PartName="/ppt/notesSlides/notesSlide15.xml" ContentType="application/vnd.openxmlformats-officedocument.presentationml.notesSlide+xml"/>
  <Override PartName="/ppt/theme/themeOverride15.xml" ContentType="application/vnd.openxmlformats-officedocument.themeOverride+xml"/>
  <Override PartName="/ppt/notesSlides/notesSlide16.xml" ContentType="application/vnd.openxmlformats-officedocument.presentationml.notesSlide+xml"/>
  <Override PartName="/ppt/theme/themeOverride16.xml" ContentType="application/vnd.openxmlformats-officedocument.themeOverride+xml"/>
  <Override PartName="/ppt/notesSlides/notesSlide17.xml" ContentType="application/vnd.openxmlformats-officedocument.presentationml.notesSlide+xml"/>
  <Override PartName="/ppt/theme/themeOverride17.xml" ContentType="application/vnd.openxmlformats-officedocument.themeOverride+xml"/>
  <Override PartName="/ppt/notesSlides/notesSlide18.xml" ContentType="application/vnd.openxmlformats-officedocument.presentationml.notesSlide+xml"/>
  <Override PartName="/ppt/theme/themeOverride18.xml" ContentType="application/vnd.openxmlformats-officedocument.themeOverride+xml"/>
  <Override PartName="/ppt/notesSlides/notesSlide19.xml" ContentType="application/vnd.openxmlformats-officedocument.presentationml.notesSlide+xml"/>
  <Override PartName="/ppt/theme/themeOverride19.xml" ContentType="application/vnd.openxmlformats-officedocument.themeOverride+xml"/>
  <Override PartName="/ppt/notesSlides/notesSlide20.xml" ContentType="application/vnd.openxmlformats-officedocument.presentationml.notesSlide+xml"/>
  <Override PartName="/ppt/theme/themeOverride20.xml" ContentType="application/vnd.openxmlformats-officedocument.themeOverride+xml"/>
  <Override PartName="/ppt/notesSlides/notesSlide21.xml" ContentType="application/vnd.openxmlformats-officedocument.presentationml.notesSlide+xml"/>
  <Override PartName="/ppt/theme/themeOverride21.xml" ContentType="application/vnd.openxmlformats-officedocument.themeOverride+xml"/>
  <Override PartName="/ppt/notesSlides/notesSlide22.xml" ContentType="application/vnd.openxmlformats-officedocument.presentationml.notesSlide+xml"/>
  <Override PartName="/ppt/theme/themeOverride22.xml" ContentType="application/vnd.openxmlformats-officedocument.themeOverride+xml"/>
  <Override PartName="/ppt/notesSlides/notesSlide23.xml" ContentType="application/vnd.openxmlformats-officedocument.presentationml.notesSlide+xml"/>
  <Override PartName="/ppt/theme/themeOverride23.xml" ContentType="application/vnd.openxmlformats-officedocument.themeOverride+xml"/>
  <Override PartName="/ppt/notesSlides/notesSlide24.xml" ContentType="application/vnd.openxmlformats-officedocument.presentationml.notesSlide+xml"/>
  <Override PartName="/ppt/theme/themeOverride24.xml" ContentType="application/vnd.openxmlformats-officedocument.themeOverride+xml"/>
  <Override PartName="/ppt/notesSlides/notesSlide25.xml" ContentType="application/vnd.openxmlformats-officedocument.presentationml.notesSlide+xml"/>
  <Override PartName="/ppt/theme/themeOverride25.xml" ContentType="application/vnd.openxmlformats-officedocument.themeOverride+xml"/>
  <Override PartName="/ppt/notesSlides/notesSlide26.xml" ContentType="application/vnd.openxmlformats-officedocument.presentationml.notesSlide+xml"/>
  <Override PartName="/ppt/theme/themeOverride26.xml" ContentType="application/vnd.openxmlformats-officedocument.themeOverride+xml"/>
  <Override PartName="/ppt/notesSlides/notesSlide27.xml" ContentType="application/vnd.openxmlformats-officedocument.presentationml.notesSlide+xml"/>
  <Override PartName="/ppt/theme/themeOverride27.xml" ContentType="application/vnd.openxmlformats-officedocument.themeOverride+xml"/>
  <Override PartName="/ppt/notesSlides/notesSlide28.xml" ContentType="application/vnd.openxmlformats-officedocument.presentationml.notesSlide+xml"/>
  <Override PartName="/ppt/theme/themeOverride28.xml" ContentType="application/vnd.openxmlformats-officedocument.themeOverride+xml"/>
  <Override PartName="/ppt/notesSlides/notesSlide29.xml" ContentType="application/vnd.openxmlformats-officedocument.presentationml.notesSlide+xml"/>
  <Override PartName="/ppt/theme/themeOverride29.xml" ContentType="application/vnd.openxmlformats-officedocument.themeOverride+xml"/>
  <Override PartName="/ppt/notesSlides/notesSlide30.xml" ContentType="application/vnd.openxmlformats-officedocument.presentationml.notesSlide+xml"/>
  <Override PartName="/ppt/theme/themeOverride30.xml" ContentType="application/vnd.openxmlformats-officedocument.themeOverride+xml"/>
  <Override PartName="/ppt/notesSlides/notesSlide31.xml" ContentType="application/vnd.openxmlformats-officedocument.presentationml.notesSlide+xml"/>
  <Override PartName="/ppt/theme/themeOverride31.xml" ContentType="application/vnd.openxmlformats-officedocument.themeOverride+xml"/>
  <Override PartName="/ppt/notesSlides/notesSlide32.xml" ContentType="application/vnd.openxmlformats-officedocument.presentationml.notesSlide+xml"/>
  <Override PartName="/ppt/theme/themeOverride32.xml" ContentType="application/vnd.openxmlformats-officedocument.themeOverride+xml"/>
  <Override PartName="/ppt/notesSlides/notesSlide33.xml" ContentType="application/vnd.openxmlformats-officedocument.presentationml.notesSlide+xml"/>
  <Override PartName="/ppt/theme/themeOverride33.xml" ContentType="application/vnd.openxmlformats-officedocument.themeOverride+xml"/>
  <Override PartName="/ppt/notesSlides/notesSlide34.xml" ContentType="application/vnd.openxmlformats-officedocument.presentationml.notesSlide+xml"/>
  <Override PartName="/ppt/theme/themeOverride34.xml" ContentType="application/vnd.openxmlformats-officedocument.themeOverride+xml"/>
  <Override PartName="/ppt/notesSlides/notesSlide35.xml" ContentType="application/vnd.openxmlformats-officedocument.presentationml.notesSlide+xml"/>
  <Override PartName="/ppt/theme/themeOverride35.xml" ContentType="application/vnd.openxmlformats-officedocument.themeOverride+xml"/>
  <Override PartName="/ppt/notesSlides/notesSlide36.xml" ContentType="application/vnd.openxmlformats-officedocument.presentationml.notesSlide+xml"/>
  <Override PartName="/ppt/theme/themeOverride36.xml" ContentType="application/vnd.openxmlformats-officedocument.themeOverride+xml"/>
  <Override PartName="/ppt/notesSlides/notesSlide37.xml" ContentType="application/vnd.openxmlformats-officedocument.presentationml.notesSlide+xml"/>
  <Override PartName="/ppt/theme/themeOverride37.xml" ContentType="application/vnd.openxmlformats-officedocument.themeOverride+xml"/>
  <Override PartName="/ppt/notesSlides/notesSlide38.xml" ContentType="application/vnd.openxmlformats-officedocument.presentationml.notesSlide+xml"/>
  <Override PartName="/ppt/theme/themeOverride38.xml" ContentType="application/vnd.openxmlformats-officedocument.themeOverride+xml"/>
  <Override PartName="/ppt/notesSlides/notesSlide39.xml" ContentType="application/vnd.openxmlformats-officedocument.presentationml.notesSlide+xml"/>
  <Override PartName="/ppt/theme/themeOverride39.xml" ContentType="application/vnd.openxmlformats-officedocument.themeOverride+xml"/>
  <Override PartName="/ppt/notesSlides/notesSlide40.xml" ContentType="application/vnd.openxmlformats-officedocument.presentationml.notesSlide+xml"/>
  <Override PartName="/ppt/theme/themeOverride40.xml" ContentType="application/vnd.openxmlformats-officedocument.themeOverride+xml"/>
  <Override PartName="/ppt/notesSlides/notesSlide41.xml" ContentType="application/vnd.openxmlformats-officedocument.presentationml.notesSlide+xml"/>
  <Override PartName="/ppt/theme/themeOverride41.xml" ContentType="application/vnd.openxmlformats-officedocument.themeOverride+xml"/>
  <Override PartName="/ppt/notesSlides/notesSlide42.xml" ContentType="application/vnd.openxmlformats-officedocument.presentationml.notesSlide+xml"/>
  <Override PartName="/ppt/theme/themeOverride42.xml" ContentType="application/vnd.openxmlformats-officedocument.themeOverride+xml"/>
  <Override PartName="/ppt/notesSlides/notesSlide43.xml" ContentType="application/vnd.openxmlformats-officedocument.presentationml.notesSlide+xml"/>
  <Override PartName="/ppt/theme/themeOverride43.xml" ContentType="application/vnd.openxmlformats-officedocument.themeOverride+xml"/>
  <Override PartName="/ppt/notesSlides/notesSlide44.xml" ContentType="application/vnd.openxmlformats-officedocument.presentationml.notesSlide+xml"/>
  <Override PartName="/ppt/theme/themeOverride44.xml" ContentType="application/vnd.openxmlformats-officedocument.themeOverride+xml"/>
  <Override PartName="/ppt/notesSlides/notesSlide45.xml" ContentType="application/vnd.openxmlformats-officedocument.presentationml.notesSlide+xml"/>
  <Override PartName="/ppt/theme/themeOverride45.xml" ContentType="application/vnd.openxmlformats-officedocument.themeOverride+xml"/>
  <Override PartName="/ppt/notesSlides/notesSlide46.xml" ContentType="application/vnd.openxmlformats-officedocument.presentationml.notesSlide+xml"/>
  <Override PartName="/ppt/theme/themeOverride46.xml" ContentType="application/vnd.openxmlformats-officedocument.themeOverride+xml"/>
  <Override PartName="/ppt/notesSlides/notesSlide47.xml" ContentType="application/vnd.openxmlformats-officedocument.presentationml.notesSlide+xml"/>
  <Override PartName="/ppt/theme/themeOverride47.xml" ContentType="application/vnd.openxmlformats-officedocument.themeOverride+xml"/>
  <Override PartName="/ppt/notesSlides/notesSlide48.xml" ContentType="application/vnd.openxmlformats-officedocument.presentationml.notesSlide+xml"/>
  <Override PartName="/ppt/theme/themeOverride48.xml" ContentType="application/vnd.openxmlformats-officedocument.themeOverride+xml"/>
  <Override PartName="/ppt/notesSlides/notesSlide49.xml" ContentType="application/vnd.openxmlformats-officedocument.presentationml.notesSlide+xml"/>
  <Override PartName="/ppt/theme/themeOverride49.xml" ContentType="application/vnd.openxmlformats-officedocument.themeOverride+xml"/>
  <Override PartName="/ppt/notesSlides/notesSlide50.xml" ContentType="application/vnd.openxmlformats-officedocument.presentationml.notesSlide+xml"/>
  <Override PartName="/ppt/theme/themeOverride50.xml" ContentType="application/vnd.openxmlformats-officedocument.themeOverride+xml"/>
  <Override PartName="/ppt/notesSlides/notesSlide51.xml" ContentType="application/vnd.openxmlformats-officedocument.presentationml.notesSlide+xml"/>
  <Override PartName="/ppt/theme/themeOverride51.xml" ContentType="application/vnd.openxmlformats-officedocument.themeOverride+xml"/>
  <Override PartName="/ppt/notesSlides/notesSlide52.xml" ContentType="application/vnd.openxmlformats-officedocument.presentationml.notesSlide+xml"/>
  <Override PartName="/ppt/theme/themeOverride52.xml" ContentType="application/vnd.openxmlformats-officedocument.themeOverride+xml"/>
  <Override PartName="/ppt/notesSlides/notesSlide53.xml" ContentType="application/vnd.openxmlformats-officedocument.presentationml.notesSlide+xml"/>
  <Override PartName="/ppt/theme/themeOverride53.xml" ContentType="application/vnd.openxmlformats-officedocument.themeOverride+xml"/>
  <Override PartName="/ppt/notesSlides/notesSlide54.xml" ContentType="application/vnd.openxmlformats-officedocument.presentationml.notesSlide+xml"/>
  <Override PartName="/ppt/theme/themeOverride54.xml" ContentType="application/vnd.openxmlformats-officedocument.themeOverride+xml"/>
  <Override PartName="/ppt/notesSlides/notesSlide55.xml" ContentType="application/vnd.openxmlformats-officedocument.presentationml.notesSlide+xml"/>
  <Override PartName="/ppt/theme/themeOverride55.xml" ContentType="application/vnd.openxmlformats-officedocument.themeOverride+xml"/>
  <Override PartName="/ppt/notesSlides/notesSlide56.xml" ContentType="application/vnd.openxmlformats-officedocument.presentationml.notesSlide+xml"/>
  <Override PartName="/ppt/theme/themeOverride56.xml" ContentType="application/vnd.openxmlformats-officedocument.themeOverride+xml"/>
  <Override PartName="/ppt/notesSlides/notesSlide57.xml" ContentType="application/vnd.openxmlformats-officedocument.presentationml.notesSlide+xml"/>
  <Override PartName="/ppt/theme/themeOverride57.xml" ContentType="application/vnd.openxmlformats-officedocument.themeOverride+xml"/>
  <Override PartName="/ppt/notesSlides/notesSlide58.xml" ContentType="application/vnd.openxmlformats-officedocument.presentationml.notesSlide+xml"/>
  <Override PartName="/ppt/theme/themeOverride58.xml" ContentType="application/vnd.openxmlformats-officedocument.themeOverride+xml"/>
  <Override PartName="/ppt/notesSlides/notesSlide59.xml" ContentType="application/vnd.openxmlformats-officedocument.presentationml.notesSlide+xml"/>
  <Override PartName="/ppt/theme/themeOverride59.xml" ContentType="application/vnd.openxmlformats-officedocument.themeOverride+xml"/>
  <Override PartName="/ppt/notesSlides/notesSlide60.xml" ContentType="application/vnd.openxmlformats-officedocument.presentationml.notesSlide+xml"/>
  <Override PartName="/ppt/theme/themeOverride60.xml" ContentType="application/vnd.openxmlformats-officedocument.themeOverride+xml"/>
  <Override PartName="/ppt/notesSlides/notesSlide61.xml" ContentType="application/vnd.openxmlformats-officedocument.presentationml.notesSlide+xml"/>
  <Override PartName="/ppt/theme/themeOverride61.xml" ContentType="application/vnd.openxmlformats-officedocument.themeOverride+xml"/>
  <Override PartName="/ppt/notesSlides/notesSlide62.xml" ContentType="application/vnd.openxmlformats-officedocument.presentationml.notesSlide+xml"/>
  <Override PartName="/ppt/theme/themeOverride62.xml" ContentType="application/vnd.openxmlformats-officedocument.themeOverride+xml"/>
  <Override PartName="/ppt/notesSlides/notesSlide63.xml" ContentType="application/vnd.openxmlformats-officedocument.presentationml.notesSlide+xml"/>
  <Override PartName="/ppt/theme/themeOverride63.xml" ContentType="application/vnd.openxmlformats-officedocument.themeOverride+xml"/>
  <Override PartName="/ppt/notesSlides/notesSlide64.xml" ContentType="application/vnd.openxmlformats-officedocument.presentationml.notesSlide+xml"/>
  <Override PartName="/ppt/theme/themeOverride64.xml" ContentType="application/vnd.openxmlformats-officedocument.themeOverride+xml"/>
  <Override PartName="/ppt/notesSlides/notesSlide65.xml" ContentType="application/vnd.openxmlformats-officedocument.presentationml.notesSlide+xml"/>
  <Override PartName="/ppt/theme/themeOverride65.xml" ContentType="application/vnd.openxmlformats-officedocument.themeOverride+xml"/>
  <Override PartName="/ppt/notesSlides/notesSlide66.xml" ContentType="application/vnd.openxmlformats-officedocument.presentationml.notesSlide+xml"/>
  <Override PartName="/ppt/theme/themeOverride66.xml" ContentType="application/vnd.openxmlformats-officedocument.themeOverride+xml"/>
  <Override PartName="/ppt/notesSlides/notesSlide67.xml" ContentType="application/vnd.openxmlformats-officedocument.presentationml.notesSlide+xml"/>
  <Override PartName="/ppt/theme/themeOverride67.xml" ContentType="application/vnd.openxmlformats-officedocument.themeOverride+xml"/>
  <Override PartName="/ppt/notesSlides/notesSlide68.xml" ContentType="application/vnd.openxmlformats-officedocument.presentationml.notesSlide+xml"/>
  <Override PartName="/ppt/theme/themeOverride68.xml" ContentType="application/vnd.openxmlformats-officedocument.themeOverride+xml"/>
  <Override PartName="/ppt/notesSlides/notesSlide69.xml" ContentType="application/vnd.openxmlformats-officedocument.presentationml.notesSlide+xml"/>
  <Override PartName="/ppt/theme/themeOverride69.xml" ContentType="application/vnd.openxmlformats-officedocument.themeOverride+xml"/>
  <Override PartName="/ppt/notesSlides/notesSlide70.xml" ContentType="application/vnd.openxmlformats-officedocument.presentationml.notesSlide+xml"/>
  <Override PartName="/ppt/theme/themeOverride70.xml" ContentType="application/vnd.openxmlformats-officedocument.themeOverride+xml"/>
  <Override PartName="/ppt/notesSlides/notesSlide71.xml" ContentType="application/vnd.openxmlformats-officedocument.presentationml.notesSlide+xml"/>
  <Override PartName="/ppt/theme/themeOverride71.xml" ContentType="application/vnd.openxmlformats-officedocument.themeOverride+xml"/>
  <Override PartName="/ppt/notesSlides/notesSlide72.xml" ContentType="application/vnd.openxmlformats-officedocument.presentationml.notesSlide+xml"/>
  <Override PartName="/ppt/theme/themeOverride72.xml" ContentType="application/vnd.openxmlformats-officedocument.themeOverride+xml"/>
  <Override PartName="/ppt/notesSlides/notesSlide73.xml" ContentType="application/vnd.openxmlformats-officedocument.presentationml.notesSlide+xml"/>
  <Override PartName="/ppt/theme/themeOverride73.xml" ContentType="application/vnd.openxmlformats-officedocument.themeOverride+xml"/>
  <Override PartName="/ppt/notesSlides/notesSlide74.xml" ContentType="application/vnd.openxmlformats-officedocument.presentationml.notesSlide+xml"/>
  <Override PartName="/ppt/theme/themeOverride74.xml" ContentType="application/vnd.openxmlformats-officedocument.themeOverride+xml"/>
  <Override PartName="/ppt/notesSlides/notesSlide75.xml" ContentType="application/vnd.openxmlformats-officedocument.presentationml.notesSlide+xml"/>
  <Override PartName="/ppt/theme/themeOverride75.xml" ContentType="application/vnd.openxmlformats-officedocument.themeOverride+xml"/>
  <Override PartName="/ppt/notesSlides/notesSlide76.xml" ContentType="application/vnd.openxmlformats-officedocument.presentationml.notesSlide+xml"/>
  <Override PartName="/ppt/theme/themeOverride76.xml" ContentType="application/vnd.openxmlformats-officedocument.themeOverride+xml"/>
  <Override PartName="/ppt/notesSlides/notesSlide77.xml" ContentType="application/vnd.openxmlformats-officedocument.presentationml.notesSlide+xml"/>
  <Override PartName="/ppt/theme/themeOverride77.xml" ContentType="application/vnd.openxmlformats-officedocument.themeOverride+xml"/>
  <Override PartName="/ppt/notesSlides/notesSlide78.xml" ContentType="application/vnd.openxmlformats-officedocument.presentationml.notesSlide+xml"/>
  <Override PartName="/ppt/theme/themeOverride78.xml" ContentType="application/vnd.openxmlformats-officedocument.themeOverride+xml"/>
  <Override PartName="/ppt/notesSlides/notesSlide7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2" r:id="rId4"/>
  </p:sldMasterIdLst>
  <p:notesMasterIdLst>
    <p:notesMasterId r:id="rId92"/>
  </p:notesMasterIdLst>
  <p:sldIdLst>
    <p:sldId id="256" r:id="rId5"/>
    <p:sldId id="266" r:id="rId6"/>
    <p:sldId id="258" r:id="rId7"/>
    <p:sldId id="259" r:id="rId8"/>
    <p:sldId id="260" r:id="rId9"/>
    <p:sldId id="265" r:id="rId10"/>
    <p:sldId id="261" r:id="rId11"/>
    <p:sldId id="267" r:id="rId12"/>
    <p:sldId id="268" r:id="rId13"/>
    <p:sldId id="269" r:id="rId14"/>
    <p:sldId id="270" r:id="rId15"/>
    <p:sldId id="271" r:id="rId16"/>
    <p:sldId id="272" r:id="rId17"/>
    <p:sldId id="273" r:id="rId18"/>
    <p:sldId id="274" r:id="rId19"/>
    <p:sldId id="275" r:id="rId20"/>
    <p:sldId id="276" r:id="rId21"/>
    <p:sldId id="346" r:id="rId22"/>
    <p:sldId id="347"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306" r:id="rId38"/>
    <p:sldId id="307" r:id="rId39"/>
    <p:sldId id="308" r:id="rId40"/>
    <p:sldId id="291" r:id="rId41"/>
    <p:sldId id="292" r:id="rId42"/>
    <p:sldId id="293" r:id="rId43"/>
    <p:sldId id="294" r:id="rId44"/>
    <p:sldId id="295" r:id="rId45"/>
    <p:sldId id="296" r:id="rId46"/>
    <p:sldId id="297" r:id="rId47"/>
    <p:sldId id="298" r:id="rId48"/>
    <p:sldId id="302" r:id="rId49"/>
    <p:sldId id="309" r:id="rId50"/>
    <p:sldId id="301" r:id="rId51"/>
    <p:sldId id="303" r:id="rId52"/>
    <p:sldId id="304" r:id="rId53"/>
    <p:sldId id="299" r:id="rId54"/>
    <p:sldId id="300" r:id="rId55"/>
    <p:sldId id="310" r:id="rId56"/>
    <p:sldId id="311" r:id="rId57"/>
    <p:sldId id="312" r:id="rId58"/>
    <p:sldId id="313" r:id="rId59"/>
    <p:sldId id="314" r:id="rId60"/>
    <p:sldId id="315" r:id="rId61"/>
    <p:sldId id="316" r:id="rId62"/>
    <p:sldId id="317" r:id="rId63"/>
    <p:sldId id="305"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40" r:id="rId77"/>
    <p:sldId id="341" r:id="rId78"/>
    <p:sldId id="330" r:id="rId79"/>
    <p:sldId id="331" r:id="rId80"/>
    <p:sldId id="332" r:id="rId81"/>
    <p:sldId id="333" r:id="rId82"/>
    <p:sldId id="339" r:id="rId83"/>
    <p:sldId id="334" r:id="rId84"/>
    <p:sldId id="335" r:id="rId85"/>
    <p:sldId id="336" r:id="rId86"/>
    <p:sldId id="338" r:id="rId87"/>
    <p:sldId id="342" r:id="rId88"/>
    <p:sldId id="343" r:id="rId89"/>
    <p:sldId id="344" r:id="rId90"/>
    <p:sldId id="345" r:id="rId9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6954A6-557A-EB47-83ED-AB306FEC8215}" v="21" dt="2024-03-06T22:44:55.747"/>
    <p1510:client id="{6EAFF367-83A3-D18B-A893-1293B379696F}" v="19" dt="2024-03-07T22:51:32.9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presProps" Target="presProps.xml"/><Relationship Id="rId9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bes Boulebtina" userId="S::abbes88@rosemont01.onmicrosoft.com::2068c8f5-2489-4cf8-aa65-fa075b9f5b78" providerId="AD" clId="Web-{8AB68FF2-F353-7598-BAB2-E73260613F15}"/>
    <pc:docChg chg="modSld">
      <pc:chgData name="Abbes Boulebtina" userId="S::abbes88@rosemont01.onmicrosoft.com::2068c8f5-2489-4cf8-aa65-fa075b9f5b78" providerId="AD" clId="Web-{8AB68FF2-F353-7598-BAB2-E73260613F15}" dt="2024-02-29T00:28:04.902" v="10" actId="20577"/>
      <pc:docMkLst>
        <pc:docMk/>
      </pc:docMkLst>
      <pc:sldChg chg="modSp">
        <pc:chgData name="Abbes Boulebtina" userId="S::abbes88@rosemont01.onmicrosoft.com::2068c8f5-2489-4cf8-aa65-fa075b9f5b78" providerId="AD" clId="Web-{8AB68FF2-F353-7598-BAB2-E73260613F15}" dt="2024-02-29T00:28:04.902" v="10" actId="20577"/>
        <pc:sldMkLst>
          <pc:docMk/>
          <pc:sldMk cId="1970904813" sldId="336"/>
        </pc:sldMkLst>
        <pc:spChg chg="mod">
          <ac:chgData name="Abbes Boulebtina" userId="S::abbes88@rosemont01.onmicrosoft.com::2068c8f5-2489-4cf8-aa65-fa075b9f5b78" providerId="AD" clId="Web-{8AB68FF2-F353-7598-BAB2-E73260613F15}" dt="2024-02-29T00:28:04.902" v="10" actId="20577"/>
          <ac:spMkLst>
            <pc:docMk/>
            <pc:sldMk cId="1970904813" sldId="336"/>
            <ac:spMk id="2" creationId="{5DE89129-4873-B01B-E002-249663682AEF}"/>
          </ac:spMkLst>
        </pc:spChg>
        <pc:spChg chg="mod">
          <ac:chgData name="Abbes Boulebtina" userId="S::abbes88@rosemont01.onmicrosoft.com::2068c8f5-2489-4cf8-aa65-fa075b9f5b78" providerId="AD" clId="Web-{8AB68FF2-F353-7598-BAB2-E73260613F15}" dt="2024-02-29T00:25:03.696" v="7" actId="20577"/>
          <ac:spMkLst>
            <pc:docMk/>
            <pc:sldMk cId="1970904813" sldId="336"/>
            <ac:spMk id="6" creationId="{C4330C34-0000-989B-EFA8-E8E99947ED75}"/>
          </ac:spMkLst>
        </pc:spChg>
      </pc:sldChg>
    </pc:docChg>
  </pc:docChgLst>
  <pc:docChgLst>
    <pc:chgData name="Abbes Boulebtina" userId="S::abbes88@rosemont01.onmicrosoft.com::2068c8f5-2489-4cf8-aa65-fa075b9f5b78" providerId="AD" clId="Web-{A6153DFA-9B5B-E14B-D825-9EF1D59FB785}"/>
    <pc:docChg chg="modSld">
      <pc:chgData name="Abbes Boulebtina" userId="S::abbes88@rosemont01.onmicrosoft.com::2068c8f5-2489-4cf8-aa65-fa075b9f5b78" providerId="AD" clId="Web-{A6153DFA-9B5B-E14B-D825-9EF1D59FB785}" dt="2024-02-22T22:05:11.053" v="4" actId="20577"/>
      <pc:docMkLst>
        <pc:docMk/>
      </pc:docMkLst>
      <pc:sldChg chg="modSp">
        <pc:chgData name="Abbes Boulebtina" userId="S::abbes88@rosemont01.onmicrosoft.com::2068c8f5-2489-4cf8-aa65-fa075b9f5b78" providerId="AD" clId="Web-{A6153DFA-9B5B-E14B-D825-9EF1D59FB785}" dt="2024-02-22T22:01:44.269" v="2" actId="20577"/>
        <pc:sldMkLst>
          <pc:docMk/>
          <pc:sldMk cId="1432523420" sldId="322"/>
        </pc:sldMkLst>
        <pc:spChg chg="mod">
          <ac:chgData name="Abbes Boulebtina" userId="S::abbes88@rosemont01.onmicrosoft.com::2068c8f5-2489-4cf8-aa65-fa075b9f5b78" providerId="AD" clId="Web-{A6153DFA-9B5B-E14B-D825-9EF1D59FB785}" dt="2024-02-22T22:01:44.269" v="2" actId="20577"/>
          <ac:spMkLst>
            <pc:docMk/>
            <pc:sldMk cId="1432523420" sldId="322"/>
            <ac:spMk id="4" creationId="{00000000-0000-0000-0000-000000000000}"/>
          </ac:spMkLst>
        </pc:spChg>
        <pc:spChg chg="mod">
          <ac:chgData name="Abbes Boulebtina" userId="S::abbes88@rosemont01.onmicrosoft.com::2068c8f5-2489-4cf8-aa65-fa075b9f5b78" providerId="AD" clId="Web-{A6153DFA-9B5B-E14B-D825-9EF1D59FB785}" dt="2024-02-22T22:01:31.316" v="0" actId="20577"/>
          <ac:spMkLst>
            <pc:docMk/>
            <pc:sldMk cId="1432523420" sldId="322"/>
            <ac:spMk id="6" creationId="{110F2B60-3430-F789-307B-A48D5276BA43}"/>
          </ac:spMkLst>
        </pc:spChg>
        <pc:spChg chg="mod">
          <ac:chgData name="Abbes Boulebtina" userId="S::abbes88@rosemont01.onmicrosoft.com::2068c8f5-2489-4cf8-aa65-fa075b9f5b78" providerId="AD" clId="Web-{A6153DFA-9B5B-E14B-D825-9EF1D59FB785}" dt="2024-02-22T22:01:38.925" v="1" actId="20577"/>
          <ac:spMkLst>
            <pc:docMk/>
            <pc:sldMk cId="1432523420" sldId="322"/>
            <ac:spMk id="8" creationId="{71C809DB-972F-655F-0EDE-B72D61967C99}"/>
          </ac:spMkLst>
        </pc:spChg>
      </pc:sldChg>
      <pc:sldChg chg="modSp">
        <pc:chgData name="Abbes Boulebtina" userId="S::abbes88@rosemont01.onmicrosoft.com::2068c8f5-2489-4cf8-aa65-fa075b9f5b78" providerId="AD" clId="Web-{A6153DFA-9B5B-E14B-D825-9EF1D59FB785}" dt="2024-02-22T22:05:11.053" v="4" actId="20577"/>
        <pc:sldMkLst>
          <pc:docMk/>
          <pc:sldMk cId="1968042272" sldId="323"/>
        </pc:sldMkLst>
        <pc:spChg chg="mod">
          <ac:chgData name="Abbes Boulebtina" userId="S::abbes88@rosemont01.onmicrosoft.com::2068c8f5-2489-4cf8-aa65-fa075b9f5b78" providerId="AD" clId="Web-{A6153DFA-9B5B-E14B-D825-9EF1D59FB785}" dt="2024-02-22T22:05:05.569" v="3" actId="20577"/>
          <ac:spMkLst>
            <pc:docMk/>
            <pc:sldMk cId="1968042272" sldId="323"/>
            <ac:spMk id="4" creationId="{00000000-0000-0000-0000-000000000000}"/>
          </ac:spMkLst>
        </pc:spChg>
        <pc:spChg chg="mod">
          <ac:chgData name="Abbes Boulebtina" userId="S::abbes88@rosemont01.onmicrosoft.com::2068c8f5-2489-4cf8-aa65-fa075b9f5b78" providerId="AD" clId="Web-{A6153DFA-9B5B-E14B-D825-9EF1D59FB785}" dt="2024-02-22T22:05:11.053" v="4" actId="20577"/>
          <ac:spMkLst>
            <pc:docMk/>
            <pc:sldMk cId="1968042272" sldId="323"/>
            <ac:spMk id="6" creationId="{110F2B60-3430-F789-307B-A48D5276BA43}"/>
          </ac:spMkLst>
        </pc:spChg>
      </pc:sldChg>
    </pc:docChg>
  </pc:docChgLst>
  <pc:docChgLst>
    <pc:chgData name="Abbes Boulebtina" userId="S::abbes88@rosemont01.onmicrosoft.com::2068c8f5-2489-4cf8-aa65-fa075b9f5b78" providerId="AD" clId="Web-{EE253ADB-BB08-862A-CBF4-C1232D55995C}"/>
    <pc:docChg chg="modSld">
      <pc:chgData name="Abbes Boulebtina" userId="S::abbes88@rosemont01.onmicrosoft.com::2068c8f5-2489-4cf8-aa65-fa075b9f5b78" providerId="AD" clId="Web-{EE253ADB-BB08-862A-CBF4-C1232D55995C}" dt="2024-03-01T00:10:15.362" v="3" actId="20577"/>
      <pc:docMkLst>
        <pc:docMk/>
      </pc:docMkLst>
      <pc:sldChg chg="modSp">
        <pc:chgData name="Abbes Boulebtina" userId="S::abbes88@rosemont01.onmicrosoft.com::2068c8f5-2489-4cf8-aa65-fa075b9f5b78" providerId="AD" clId="Web-{EE253ADB-BB08-862A-CBF4-C1232D55995C}" dt="2024-02-29T22:47:42.797" v="0" actId="20577"/>
        <pc:sldMkLst>
          <pc:docMk/>
          <pc:sldMk cId="2603783175" sldId="327"/>
        </pc:sldMkLst>
        <pc:spChg chg="mod">
          <ac:chgData name="Abbes Boulebtina" userId="S::abbes88@rosemont01.onmicrosoft.com::2068c8f5-2489-4cf8-aa65-fa075b9f5b78" providerId="AD" clId="Web-{EE253ADB-BB08-862A-CBF4-C1232D55995C}" dt="2024-02-29T22:47:42.797" v="0" actId="20577"/>
          <ac:spMkLst>
            <pc:docMk/>
            <pc:sldMk cId="2603783175" sldId="327"/>
            <ac:spMk id="2" creationId="{00000000-0000-0000-0000-000000000000}"/>
          </ac:spMkLst>
        </pc:spChg>
      </pc:sldChg>
      <pc:sldChg chg="modSp">
        <pc:chgData name="Abbes Boulebtina" userId="S::abbes88@rosemont01.onmicrosoft.com::2068c8f5-2489-4cf8-aa65-fa075b9f5b78" providerId="AD" clId="Web-{EE253ADB-BB08-862A-CBF4-C1232D55995C}" dt="2024-03-01T00:10:15.362" v="3" actId="20577"/>
        <pc:sldMkLst>
          <pc:docMk/>
          <pc:sldMk cId="548279842" sldId="333"/>
        </pc:sldMkLst>
        <pc:spChg chg="mod">
          <ac:chgData name="Abbes Boulebtina" userId="S::abbes88@rosemont01.onmicrosoft.com::2068c8f5-2489-4cf8-aa65-fa075b9f5b78" providerId="AD" clId="Web-{EE253ADB-BB08-862A-CBF4-C1232D55995C}" dt="2024-03-01T00:10:15.362" v="3" actId="20577"/>
          <ac:spMkLst>
            <pc:docMk/>
            <pc:sldMk cId="548279842" sldId="333"/>
            <ac:spMk id="2" creationId="{5DE89129-4873-B01B-E002-249663682AEF}"/>
          </ac:spMkLst>
        </pc:spChg>
      </pc:sldChg>
    </pc:docChg>
  </pc:docChgLst>
  <pc:docChgLst>
    <pc:chgData name="Abbes Boulebtina" userId="S::abbes88@rosemont01.onmicrosoft.com::2068c8f5-2489-4cf8-aa65-fa075b9f5b78" providerId="AD" clId="Web-{6EAFF367-83A3-D18B-A893-1293B379696F}"/>
    <pc:docChg chg="modSld">
      <pc:chgData name="Abbes Boulebtina" userId="S::abbes88@rosemont01.onmicrosoft.com::2068c8f5-2489-4cf8-aa65-fa075b9f5b78" providerId="AD" clId="Web-{6EAFF367-83A3-D18B-A893-1293B379696F}" dt="2024-03-07T22:51:32.586" v="9" actId="20577"/>
      <pc:docMkLst>
        <pc:docMk/>
      </pc:docMkLst>
      <pc:sldChg chg="modSp">
        <pc:chgData name="Abbes Boulebtina" userId="S::abbes88@rosemont01.onmicrosoft.com::2068c8f5-2489-4cf8-aa65-fa075b9f5b78" providerId="AD" clId="Web-{6EAFF367-83A3-D18B-A893-1293B379696F}" dt="2024-03-07T22:51:32.586" v="9" actId="20577"/>
        <pc:sldMkLst>
          <pc:docMk/>
          <pc:sldMk cId="2711883092" sldId="345"/>
        </pc:sldMkLst>
        <pc:spChg chg="mod">
          <ac:chgData name="Abbes Boulebtina" userId="S::abbes88@rosemont01.onmicrosoft.com::2068c8f5-2489-4cf8-aa65-fa075b9f5b78" providerId="AD" clId="Web-{6EAFF367-83A3-D18B-A893-1293B379696F}" dt="2024-03-07T22:51:32.586" v="9" actId="20577"/>
          <ac:spMkLst>
            <pc:docMk/>
            <pc:sldMk cId="2711883092" sldId="345"/>
            <ac:spMk id="2" creationId="{B699ACCF-4275-1D5E-B8F0-D5958866CAAC}"/>
          </ac:spMkLst>
        </pc:spChg>
      </pc:sldChg>
    </pc:docChg>
  </pc:docChgLst>
  <pc:docChgLst>
    <pc:chgData name="Abbes Boulebtina" userId="S::abbes88@rosemont01.onmicrosoft.com::2068c8f5-2489-4cf8-aa65-fa075b9f5b78" providerId="AD" clId="Web-{D2417FE4-0B70-7F16-9E4B-12D91F71AD0F}"/>
    <pc:docChg chg="modSld">
      <pc:chgData name="Abbes Boulebtina" userId="S::abbes88@rosemont01.onmicrosoft.com::2068c8f5-2489-4cf8-aa65-fa075b9f5b78" providerId="AD" clId="Web-{D2417FE4-0B70-7F16-9E4B-12D91F71AD0F}" dt="2024-02-21T01:50:16.676" v="9" actId="20577"/>
      <pc:docMkLst>
        <pc:docMk/>
      </pc:docMkLst>
      <pc:sldChg chg="modSp">
        <pc:chgData name="Abbes Boulebtina" userId="S::abbes88@rosemont01.onmicrosoft.com::2068c8f5-2489-4cf8-aa65-fa075b9f5b78" providerId="AD" clId="Web-{D2417FE4-0B70-7F16-9E4B-12D91F71AD0F}" dt="2024-02-21T00:21:48.727" v="4" actId="1076"/>
        <pc:sldMkLst>
          <pc:docMk/>
          <pc:sldMk cId="2028979927" sldId="299"/>
        </pc:sldMkLst>
        <pc:spChg chg="mod">
          <ac:chgData name="Abbes Boulebtina" userId="S::abbes88@rosemont01.onmicrosoft.com::2068c8f5-2489-4cf8-aa65-fa075b9f5b78" providerId="AD" clId="Web-{D2417FE4-0B70-7F16-9E4B-12D91F71AD0F}" dt="2024-02-21T00:21:48.727" v="4" actId="1076"/>
          <ac:spMkLst>
            <pc:docMk/>
            <pc:sldMk cId="2028979927" sldId="299"/>
            <ac:spMk id="6" creationId="{00000000-0000-0000-0000-000000000000}"/>
          </ac:spMkLst>
        </pc:spChg>
      </pc:sldChg>
      <pc:sldChg chg="modSp">
        <pc:chgData name="Abbes Boulebtina" userId="S::abbes88@rosemont01.onmicrosoft.com::2068c8f5-2489-4cf8-aa65-fa075b9f5b78" providerId="AD" clId="Web-{D2417FE4-0B70-7F16-9E4B-12D91F71AD0F}" dt="2024-02-20T22:44:06.611" v="0" actId="20577"/>
        <pc:sldMkLst>
          <pc:docMk/>
          <pc:sldMk cId="891479493" sldId="303"/>
        </pc:sldMkLst>
        <pc:spChg chg="mod">
          <ac:chgData name="Abbes Boulebtina" userId="S::abbes88@rosemont01.onmicrosoft.com::2068c8f5-2489-4cf8-aa65-fa075b9f5b78" providerId="AD" clId="Web-{D2417FE4-0B70-7F16-9E4B-12D91F71AD0F}" dt="2024-02-20T22:44:06.611" v="0" actId="20577"/>
          <ac:spMkLst>
            <pc:docMk/>
            <pc:sldMk cId="891479493" sldId="303"/>
            <ac:spMk id="6" creationId="{00000000-0000-0000-0000-000000000000}"/>
          </ac:spMkLst>
        </pc:spChg>
      </pc:sldChg>
      <pc:sldChg chg="modSp">
        <pc:chgData name="Abbes Boulebtina" userId="S::abbes88@rosemont01.onmicrosoft.com::2068c8f5-2489-4cf8-aa65-fa075b9f5b78" providerId="AD" clId="Web-{D2417FE4-0B70-7F16-9E4B-12D91F71AD0F}" dt="2024-02-21T01:50:16.676" v="9" actId="20577"/>
        <pc:sldMkLst>
          <pc:docMk/>
          <pc:sldMk cId="2243803601" sldId="316"/>
        </pc:sldMkLst>
        <pc:spChg chg="mod">
          <ac:chgData name="Abbes Boulebtina" userId="S::abbes88@rosemont01.onmicrosoft.com::2068c8f5-2489-4cf8-aa65-fa075b9f5b78" providerId="AD" clId="Web-{D2417FE4-0B70-7F16-9E4B-12D91F71AD0F}" dt="2024-02-21T01:50:16.676" v="9" actId="20577"/>
          <ac:spMkLst>
            <pc:docMk/>
            <pc:sldMk cId="2243803601" sldId="316"/>
            <ac:spMk id="8" creationId="{00000000-0000-0000-0000-000000000000}"/>
          </ac:spMkLst>
        </pc:spChg>
      </pc:sldChg>
    </pc:docChg>
  </pc:docChgLst>
  <pc:docChgLst>
    <pc:chgData name="Abbes Boulebtina" userId="S::abbes88@rosemont01.onmicrosoft.com::2068c8f5-2489-4cf8-aa65-fa075b9f5b78" providerId="AD" clId="Web-{296954A6-557A-EB47-83ED-AB306FEC8215}"/>
    <pc:docChg chg="modSld">
      <pc:chgData name="Abbes Boulebtina" userId="S::abbes88@rosemont01.onmicrosoft.com::2068c8f5-2489-4cf8-aa65-fa075b9f5b78" providerId="AD" clId="Web-{296954A6-557A-EB47-83ED-AB306FEC8215}" dt="2024-03-06T22:44:53.356" v="10" actId="20577"/>
      <pc:docMkLst>
        <pc:docMk/>
      </pc:docMkLst>
      <pc:sldChg chg="addSp modSp">
        <pc:chgData name="Abbes Boulebtina" userId="S::abbes88@rosemont01.onmicrosoft.com::2068c8f5-2489-4cf8-aa65-fa075b9f5b78" providerId="AD" clId="Web-{296954A6-557A-EB47-83ED-AB306FEC8215}" dt="2024-03-06T22:44:53.356" v="10" actId="20577"/>
        <pc:sldMkLst>
          <pc:docMk/>
          <pc:sldMk cId="2711883092" sldId="345"/>
        </pc:sldMkLst>
        <pc:spChg chg="add mod">
          <ac:chgData name="Abbes Boulebtina" userId="S::abbes88@rosemont01.onmicrosoft.com::2068c8f5-2489-4cf8-aa65-fa075b9f5b78" providerId="AD" clId="Web-{296954A6-557A-EB47-83ED-AB306FEC8215}" dt="2024-03-06T22:44:53.356" v="10" actId="20577"/>
          <ac:spMkLst>
            <pc:docMk/>
            <pc:sldMk cId="2711883092" sldId="345"/>
            <ac:spMk id="2" creationId="{B699ACCF-4275-1D5E-B8F0-D5958866CAAC}"/>
          </ac:spMkLst>
        </pc:spChg>
      </pc:sldChg>
    </pc:docChg>
  </pc:docChgLst>
  <pc:docChgLst>
    <pc:chgData name="Abbes Boulebtina" userId="S::abbes88@rosemont01.onmicrosoft.com::2068c8f5-2489-4cf8-aa65-fa075b9f5b78" providerId="AD" clId="Web-{4DCBE872-5380-51E2-CD84-7B2B9E125180}"/>
    <pc:docChg chg="modSld">
      <pc:chgData name="Abbes Boulebtina" userId="S::abbes88@rosemont01.onmicrosoft.com::2068c8f5-2489-4cf8-aa65-fa075b9f5b78" providerId="AD" clId="Web-{4DCBE872-5380-51E2-CD84-7B2B9E125180}" dt="2024-02-26T23:22:02.526" v="2" actId="20577"/>
      <pc:docMkLst>
        <pc:docMk/>
      </pc:docMkLst>
      <pc:sldChg chg="modSp">
        <pc:chgData name="Abbes Boulebtina" userId="S::abbes88@rosemont01.onmicrosoft.com::2068c8f5-2489-4cf8-aa65-fa075b9f5b78" providerId="AD" clId="Web-{4DCBE872-5380-51E2-CD84-7B2B9E125180}" dt="2024-02-26T23:21:47.713" v="1" actId="20577"/>
        <pc:sldMkLst>
          <pc:docMk/>
          <pc:sldMk cId="1935301948" sldId="324"/>
        </pc:sldMkLst>
        <pc:spChg chg="mod">
          <ac:chgData name="Abbes Boulebtina" userId="S::abbes88@rosemont01.onmicrosoft.com::2068c8f5-2489-4cf8-aa65-fa075b9f5b78" providerId="AD" clId="Web-{4DCBE872-5380-51E2-CD84-7B2B9E125180}" dt="2024-02-26T23:21:47.713" v="1" actId="20577"/>
          <ac:spMkLst>
            <pc:docMk/>
            <pc:sldMk cId="1935301948" sldId="324"/>
            <ac:spMk id="4" creationId="{00000000-0000-0000-0000-000000000000}"/>
          </ac:spMkLst>
        </pc:spChg>
      </pc:sldChg>
      <pc:sldChg chg="modSp">
        <pc:chgData name="Abbes Boulebtina" userId="S::abbes88@rosemont01.onmicrosoft.com::2068c8f5-2489-4cf8-aa65-fa075b9f5b78" providerId="AD" clId="Web-{4DCBE872-5380-51E2-CD84-7B2B9E125180}" dt="2024-02-26T23:22:02.526" v="2" actId="20577"/>
        <pc:sldMkLst>
          <pc:docMk/>
          <pc:sldMk cId="3853480202" sldId="325"/>
        </pc:sldMkLst>
        <pc:spChg chg="mod">
          <ac:chgData name="Abbes Boulebtina" userId="S::abbes88@rosemont01.onmicrosoft.com::2068c8f5-2489-4cf8-aa65-fa075b9f5b78" providerId="AD" clId="Web-{4DCBE872-5380-51E2-CD84-7B2B9E125180}" dt="2024-02-26T23:22:02.526" v="2" actId="20577"/>
          <ac:spMkLst>
            <pc:docMk/>
            <pc:sldMk cId="3853480202" sldId="325"/>
            <ac:spMk id="5" creationId="{C673B3B5-53F5-70A4-3542-05D082C0CFD6}"/>
          </ac:spMkLst>
        </pc:spChg>
      </pc:sldChg>
    </pc:docChg>
  </pc:docChgLst>
  <pc:docChgLst>
    <pc:chgData name="Abbes Boulebtina" userId="S::abbes88@rosemont01.onmicrosoft.com::2068c8f5-2489-4cf8-aa65-fa075b9f5b78" providerId="AD" clId="Web-{FB189E54-06E5-5C56-107E-57058D2D6A0C}"/>
    <pc:docChg chg="modSld">
      <pc:chgData name="Abbes Boulebtina" userId="S::abbes88@rosemont01.onmicrosoft.com::2068c8f5-2489-4cf8-aa65-fa075b9f5b78" providerId="AD" clId="Web-{FB189E54-06E5-5C56-107E-57058D2D6A0C}" dt="2024-02-27T23:30:48.220" v="16" actId="20577"/>
      <pc:docMkLst>
        <pc:docMk/>
      </pc:docMkLst>
      <pc:sldChg chg="modSp">
        <pc:chgData name="Abbes Boulebtina" userId="S::abbes88@rosemont01.onmicrosoft.com::2068c8f5-2489-4cf8-aa65-fa075b9f5b78" providerId="AD" clId="Web-{FB189E54-06E5-5C56-107E-57058D2D6A0C}" dt="2024-02-27T23:30:48.220" v="16" actId="20577"/>
        <pc:sldMkLst>
          <pc:docMk/>
          <pc:sldMk cId="1968042272" sldId="323"/>
        </pc:sldMkLst>
        <pc:spChg chg="mod">
          <ac:chgData name="Abbes Boulebtina" userId="S::abbes88@rosemont01.onmicrosoft.com::2068c8f5-2489-4cf8-aa65-fa075b9f5b78" providerId="AD" clId="Web-{FB189E54-06E5-5C56-107E-57058D2D6A0C}" dt="2024-02-27T23:30:48.220" v="16" actId="20577"/>
          <ac:spMkLst>
            <pc:docMk/>
            <pc:sldMk cId="1968042272" sldId="323"/>
            <ac:spMk id="3" creationId="{7CF0EF77-CAE7-0EA7-BA16-741CB815B5AA}"/>
          </ac:spMkLst>
        </pc:spChg>
      </pc:sldChg>
      <pc:sldChg chg="modSp">
        <pc:chgData name="Abbes Boulebtina" userId="S::abbes88@rosemont01.onmicrosoft.com::2068c8f5-2489-4cf8-aa65-fa075b9f5b78" providerId="AD" clId="Web-{FB189E54-06E5-5C56-107E-57058D2D6A0C}" dt="2024-02-27T23:30:16.641" v="11" actId="20577"/>
        <pc:sldMkLst>
          <pc:docMk/>
          <pc:sldMk cId="1935301948" sldId="324"/>
        </pc:sldMkLst>
        <pc:spChg chg="mod">
          <ac:chgData name="Abbes Boulebtina" userId="S::abbes88@rosemont01.onmicrosoft.com::2068c8f5-2489-4cf8-aa65-fa075b9f5b78" providerId="AD" clId="Web-{FB189E54-06E5-5C56-107E-57058D2D6A0C}" dt="2024-02-27T23:30:16.641" v="11" actId="20577"/>
          <ac:spMkLst>
            <pc:docMk/>
            <pc:sldMk cId="1935301948" sldId="324"/>
            <ac:spMk id="3" creationId="{7CF0EF77-CAE7-0EA7-BA16-741CB815B5AA}"/>
          </ac:spMkLst>
        </pc:spChg>
      </pc:sldChg>
    </pc:docChg>
  </pc:docChgLst>
  <pc:docChgLst>
    <pc:chgData name="Abbes Boulebtina" userId="S::abbes88@rosemont01.onmicrosoft.com::2068c8f5-2489-4cf8-aa65-fa075b9f5b78" providerId="AD" clId="Web-{6CC3EED3-3C47-DCC2-3F45-61055393597E}"/>
    <pc:docChg chg="addSld modSld">
      <pc:chgData name="Abbes Boulebtina" userId="S::abbes88@rosemont01.onmicrosoft.com::2068c8f5-2489-4cf8-aa65-fa075b9f5b78" providerId="AD" clId="Web-{6CC3EED3-3C47-DCC2-3F45-61055393597E}" dt="2024-02-15T18:57:30.502" v="120" actId="20577"/>
      <pc:docMkLst>
        <pc:docMk/>
      </pc:docMkLst>
      <pc:sldChg chg="delSp modSp add replId delAnim">
        <pc:chgData name="Abbes Boulebtina" userId="S::abbes88@rosemont01.onmicrosoft.com::2068c8f5-2489-4cf8-aa65-fa075b9f5b78" providerId="AD" clId="Web-{6CC3EED3-3C47-DCC2-3F45-61055393597E}" dt="2024-02-15T18:53:25.673" v="61" actId="1076"/>
        <pc:sldMkLst>
          <pc:docMk/>
          <pc:sldMk cId="3662727121" sldId="346"/>
        </pc:sldMkLst>
        <pc:spChg chg="mod">
          <ac:chgData name="Abbes Boulebtina" userId="S::abbes88@rosemont01.onmicrosoft.com::2068c8f5-2489-4cf8-aa65-fa075b9f5b78" providerId="AD" clId="Web-{6CC3EED3-3C47-DCC2-3F45-61055393597E}" dt="2024-02-15T18:48:22.688" v="11" actId="20577"/>
          <ac:spMkLst>
            <pc:docMk/>
            <pc:sldMk cId="3662727121" sldId="346"/>
            <ac:spMk id="3" creationId="{00000000-0000-0000-0000-000000000000}"/>
          </ac:spMkLst>
        </pc:spChg>
        <pc:spChg chg="mod">
          <ac:chgData name="Abbes Boulebtina" userId="S::abbes88@rosemont01.onmicrosoft.com::2068c8f5-2489-4cf8-aa65-fa075b9f5b78" providerId="AD" clId="Web-{6CC3EED3-3C47-DCC2-3F45-61055393597E}" dt="2024-02-15T18:50:49.298" v="22" actId="1076"/>
          <ac:spMkLst>
            <pc:docMk/>
            <pc:sldMk cId="3662727121" sldId="346"/>
            <ac:spMk id="4" creationId="{00000000-0000-0000-0000-000000000000}"/>
          </ac:spMkLst>
        </pc:spChg>
        <pc:spChg chg="mod">
          <ac:chgData name="Abbes Boulebtina" userId="S::abbes88@rosemont01.onmicrosoft.com::2068c8f5-2489-4cf8-aa65-fa075b9f5b78" providerId="AD" clId="Web-{6CC3EED3-3C47-DCC2-3F45-61055393597E}" dt="2024-02-15T18:53:25.673" v="61" actId="1076"/>
          <ac:spMkLst>
            <pc:docMk/>
            <pc:sldMk cId="3662727121" sldId="346"/>
            <ac:spMk id="5" creationId="{00000000-0000-0000-0000-000000000000}"/>
          </ac:spMkLst>
        </pc:spChg>
        <pc:spChg chg="mod">
          <ac:chgData name="Abbes Boulebtina" userId="S::abbes88@rosemont01.onmicrosoft.com::2068c8f5-2489-4cf8-aa65-fa075b9f5b78" providerId="AD" clId="Web-{6CC3EED3-3C47-DCC2-3F45-61055393597E}" dt="2024-02-15T18:53:21.767" v="60" actId="1076"/>
          <ac:spMkLst>
            <pc:docMk/>
            <pc:sldMk cId="3662727121" sldId="346"/>
            <ac:spMk id="6" creationId="{00000000-0000-0000-0000-000000000000}"/>
          </ac:spMkLst>
        </pc:spChg>
        <pc:spChg chg="del mod">
          <ac:chgData name="Abbes Boulebtina" userId="S::abbes88@rosemont01.onmicrosoft.com::2068c8f5-2489-4cf8-aa65-fa075b9f5b78" providerId="AD" clId="Web-{6CC3EED3-3C47-DCC2-3F45-61055393597E}" dt="2024-02-15T18:53:14.485" v="59"/>
          <ac:spMkLst>
            <pc:docMk/>
            <pc:sldMk cId="3662727121" sldId="346"/>
            <ac:spMk id="9" creationId="{00000000-0000-0000-0000-000000000000}"/>
          </ac:spMkLst>
        </pc:spChg>
      </pc:sldChg>
      <pc:sldChg chg="addSp delSp modSp add replId addAnim delAnim">
        <pc:chgData name="Abbes Boulebtina" userId="S::abbes88@rosemont01.onmicrosoft.com::2068c8f5-2489-4cf8-aa65-fa075b9f5b78" providerId="AD" clId="Web-{6CC3EED3-3C47-DCC2-3F45-61055393597E}" dt="2024-02-15T18:57:30.502" v="120" actId="20577"/>
        <pc:sldMkLst>
          <pc:docMk/>
          <pc:sldMk cId="2188778723" sldId="347"/>
        </pc:sldMkLst>
        <pc:spChg chg="add del">
          <ac:chgData name="Abbes Boulebtina" userId="S::abbes88@rosemont01.onmicrosoft.com::2068c8f5-2489-4cf8-aa65-fa075b9f5b78" providerId="AD" clId="Web-{6CC3EED3-3C47-DCC2-3F45-61055393597E}" dt="2024-02-15T18:55:09.439" v="65"/>
          <ac:spMkLst>
            <pc:docMk/>
            <pc:sldMk cId="2188778723" sldId="347"/>
            <ac:spMk id="4" creationId="{00000000-0000-0000-0000-000000000000}"/>
          </ac:spMkLst>
        </pc:spChg>
        <pc:spChg chg="mod">
          <ac:chgData name="Abbes Boulebtina" userId="S::abbes88@rosemont01.onmicrosoft.com::2068c8f5-2489-4cf8-aa65-fa075b9f5b78" providerId="AD" clId="Web-{6CC3EED3-3C47-DCC2-3F45-61055393597E}" dt="2024-02-15T18:55:17.720" v="67" actId="1076"/>
          <ac:spMkLst>
            <pc:docMk/>
            <pc:sldMk cId="2188778723" sldId="347"/>
            <ac:spMk id="5" creationId="{00000000-0000-0000-0000-000000000000}"/>
          </ac:spMkLst>
        </pc:spChg>
        <pc:spChg chg="mod">
          <ac:chgData name="Abbes Boulebtina" userId="S::abbes88@rosemont01.onmicrosoft.com::2068c8f5-2489-4cf8-aa65-fa075b9f5b78" providerId="AD" clId="Web-{6CC3EED3-3C47-DCC2-3F45-61055393597E}" dt="2024-02-15T18:57:30.502" v="120" actId="20577"/>
          <ac:spMkLst>
            <pc:docMk/>
            <pc:sldMk cId="2188778723" sldId="347"/>
            <ac:spMk id="6" creationId="{00000000-0000-0000-0000-000000000000}"/>
          </ac:spMkLst>
        </pc:spChg>
      </pc:sldChg>
    </pc:docChg>
  </pc:docChgLst>
  <pc:docChgLst>
    <pc:chgData name="Abbes Boulebtina" userId="S::abbes88@rosemont01.onmicrosoft.com::2068c8f5-2489-4cf8-aa65-fa075b9f5b78" providerId="AD" clId="Web-{7C059947-5A9D-69D6-47CE-E36E567AFDBC}"/>
    <pc:docChg chg="modSld">
      <pc:chgData name="Abbes Boulebtina" userId="S::abbes88@rosemont01.onmicrosoft.com::2068c8f5-2489-4cf8-aa65-fa075b9f5b78" providerId="AD" clId="Web-{7C059947-5A9D-69D6-47CE-E36E567AFDBC}" dt="2024-02-29T12:41:09.413" v="9" actId="20577"/>
      <pc:docMkLst>
        <pc:docMk/>
      </pc:docMkLst>
      <pc:sldChg chg="modSp">
        <pc:chgData name="Abbes Boulebtina" userId="S::abbes88@rosemont01.onmicrosoft.com::2068c8f5-2489-4cf8-aa65-fa075b9f5b78" providerId="AD" clId="Web-{7C059947-5A9D-69D6-47CE-E36E567AFDBC}" dt="2024-02-29T12:40:00.083" v="4" actId="20577"/>
        <pc:sldMkLst>
          <pc:docMk/>
          <pc:sldMk cId="2603783175" sldId="327"/>
        </pc:sldMkLst>
        <pc:spChg chg="mod">
          <ac:chgData name="Abbes Boulebtina" userId="S::abbes88@rosemont01.onmicrosoft.com::2068c8f5-2489-4cf8-aa65-fa075b9f5b78" providerId="AD" clId="Web-{7C059947-5A9D-69D6-47CE-E36E567AFDBC}" dt="2024-02-29T12:40:00.083" v="4" actId="20577"/>
          <ac:spMkLst>
            <pc:docMk/>
            <pc:sldMk cId="2603783175" sldId="327"/>
            <ac:spMk id="2" creationId="{00000000-0000-0000-0000-000000000000}"/>
          </ac:spMkLst>
        </pc:spChg>
      </pc:sldChg>
      <pc:sldChg chg="modSp">
        <pc:chgData name="Abbes Boulebtina" userId="S::abbes88@rosemont01.onmicrosoft.com::2068c8f5-2489-4cf8-aa65-fa075b9f5b78" providerId="AD" clId="Web-{7C059947-5A9D-69D6-47CE-E36E567AFDBC}" dt="2024-02-29T12:40:38.162" v="6" actId="20577"/>
        <pc:sldMkLst>
          <pc:docMk/>
          <pc:sldMk cId="3782408125" sldId="332"/>
        </pc:sldMkLst>
        <pc:spChg chg="mod">
          <ac:chgData name="Abbes Boulebtina" userId="S::abbes88@rosemont01.onmicrosoft.com::2068c8f5-2489-4cf8-aa65-fa075b9f5b78" providerId="AD" clId="Web-{7C059947-5A9D-69D6-47CE-E36E567AFDBC}" dt="2024-02-29T12:40:38.162" v="6" actId="20577"/>
          <ac:spMkLst>
            <pc:docMk/>
            <pc:sldMk cId="3782408125" sldId="332"/>
            <ac:spMk id="5" creationId="{14BE8CB9-1783-B943-EF61-BBC405094810}"/>
          </ac:spMkLst>
        </pc:spChg>
      </pc:sldChg>
      <pc:sldChg chg="modSp">
        <pc:chgData name="Abbes Boulebtina" userId="S::abbes88@rosemont01.onmicrosoft.com::2068c8f5-2489-4cf8-aa65-fa075b9f5b78" providerId="AD" clId="Web-{7C059947-5A9D-69D6-47CE-E36E567AFDBC}" dt="2024-02-29T12:41:09.413" v="9" actId="20577"/>
        <pc:sldMkLst>
          <pc:docMk/>
          <pc:sldMk cId="548279842" sldId="333"/>
        </pc:sldMkLst>
        <pc:spChg chg="mod">
          <ac:chgData name="Abbes Boulebtina" userId="S::abbes88@rosemont01.onmicrosoft.com::2068c8f5-2489-4cf8-aa65-fa075b9f5b78" providerId="AD" clId="Web-{7C059947-5A9D-69D6-47CE-E36E567AFDBC}" dt="2024-02-29T12:41:09.413" v="9" actId="20577"/>
          <ac:spMkLst>
            <pc:docMk/>
            <pc:sldMk cId="548279842" sldId="333"/>
            <ac:spMk id="3" creationId="{6E7D9BBE-4708-B72B-9BB9-DFD6F05EC6A3}"/>
          </ac:spMkLst>
        </pc:spChg>
      </pc:sldChg>
    </pc:docChg>
  </pc:docChgLst>
  <pc:docChgLst>
    <pc:chgData name="Abbes Boulebtina" userId="S::abbes88@rosemont01.onmicrosoft.com::2068c8f5-2489-4cf8-aa65-fa075b9f5b78" providerId="AD" clId="Web-{3859C5AF-3BBD-2790-2B96-9E316437034E}"/>
    <pc:docChg chg="modSld">
      <pc:chgData name="Abbes Boulebtina" userId="S::abbes88@rosemont01.onmicrosoft.com::2068c8f5-2489-4cf8-aa65-fa075b9f5b78" providerId="AD" clId="Web-{3859C5AF-3BBD-2790-2B96-9E316437034E}" dt="2024-02-29T00:21:53.641" v="14" actId="20577"/>
      <pc:docMkLst>
        <pc:docMk/>
      </pc:docMkLst>
      <pc:sldChg chg="modSp">
        <pc:chgData name="Abbes Boulebtina" userId="S::abbes88@rosemont01.onmicrosoft.com::2068c8f5-2489-4cf8-aa65-fa075b9f5b78" providerId="AD" clId="Web-{3859C5AF-3BBD-2790-2B96-9E316437034E}" dt="2024-02-29T00:15:02.089" v="8" actId="20577"/>
        <pc:sldMkLst>
          <pc:docMk/>
          <pc:sldMk cId="3492541499" sldId="328"/>
        </pc:sldMkLst>
        <pc:spChg chg="mod">
          <ac:chgData name="Abbes Boulebtina" userId="S::abbes88@rosemont01.onmicrosoft.com::2068c8f5-2489-4cf8-aa65-fa075b9f5b78" providerId="AD" clId="Web-{3859C5AF-3BBD-2790-2B96-9E316437034E}" dt="2024-02-29T00:12:27.306" v="2" actId="20577"/>
          <ac:spMkLst>
            <pc:docMk/>
            <pc:sldMk cId="3492541499" sldId="328"/>
            <ac:spMk id="2" creationId="{12A4B49F-569A-10FC-9769-EA86628925A4}"/>
          </ac:spMkLst>
        </pc:spChg>
        <pc:spChg chg="mod">
          <ac:chgData name="Abbes Boulebtina" userId="S::abbes88@rosemont01.onmicrosoft.com::2068c8f5-2489-4cf8-aa65-fa075b9f5b78" providerId="AD" clId="Web-{3859C5AF-3BBD-2790-2B96-9E316437034E}" dt="2024-02-29T00:14:16.964" v="3" actId="20577"/>
          <ac:spMkLst>
            <pc:docMk/>
            <pc:sldMk cId="3492541499" sldId="328"/>
            <ac:spMk id="3" creationId="{E2363FE5-AC2F-0001-DF25-4BD75F612E5F}"/>
          </ac:spMkLst>
        </pc:spChg>
        <pc:spChg chg="mod">
          <ac:chgData name="Abbes Boulebtina" userId="S::abbes88@rosemont01.onmicrosoft.com::2068c8f5-2489-4cf8-aa65-fa075b9f5b78" providerId="AD" clId="Web-{3859C5AF-3BBD-2790-2B96-9E316437034E}" dt="2024-02-29T00:12:12.728" v="1" actId="20577"/>
          <ac:spMkLst>
            <pc:docMk/>
            <pc:sldMk cId="3492541499" sldId="328"/>
            <ac:spMk id="5" creationId="{14BE8CB9-1783-B943-EF61-BBC405094810}"/>
          </ac:spMkLst>
        </pc:spChg>
        <pc:spChg chg="mod">
          <ac:chgData name="Abbes Boulebtina" userId="S::abbes88@rosemont01.onmicrosoft.com::2068c8f5-2489-4cf8-aa65-fa075b9f5b78" providerId="AD" clId="Web-{3859C5AF-3BBD-2790-2B96-9E316437034E}" dt="2024-02-29T00:15:02.089" v="8" actId="20577"/>
          <ac:spMkLst>
            <pc:docMk/>
            <pc:sldMk cId="3492541499" sldId="328"/>
            <ac:spMk id="6" creationId="{E3C407CD-68F4-62D8-3B00-871BD5CF6786}"/>
          </ac:spMkLst>
        </pc:spChg>
      </pc:sldChg>
      <pc:sldChg chg="modSp">
        <pc:chgData name="Abbes Boulebtina" userId="S::abbes88@rosemont01.onmicrosoft.com::2068c8f5-2489-4cf8-aa65-fa075b9f5b78" providerId="AD" clId="Web-{3859C5AF-3BBD-2790-2B96-9E316437034E}" dt="2024-02-29T00:20:16.733" v="12" actId="20577"/>
        <pc:sldMkLst>
          <pc:docMk/>
          <pc:sldMk cId="1384508823" sldId="329"/>
        </pc:sldMkLst>
        <pc:spChg chg="mod">
          <ac:chgData name="Abbes Boulebtina" userId="S::abbes88@rosemont01.onmicrosoft.com::2068c8f5-2489-4cf8-aa65-fa075b9f5b78" providerId="AD" clId="Web-{3859C5AF-3BBD-2790-2B96-9E316437034E}" dt="2024-02-29T00:20:16.733" v="12" actId="20577"/>
          <ac:spMkLst>
            <pc:docMk/>
            <pc:sldMk cId="1384508823" sldId="329"/>
            <ac:spMk id="2" creationId="{12A4B49F-569A-10FC-9769-EA86628925A4}"/>
          </ac:spMkLst>
        </pc:spChg>
      </pc:sldChg>
      <pc:sldChg chg="modSp">
        <pc:chgData name="Abbes Boulebtina" userId="S::abbes88@rosemont01.onmicrosoft.com::2068c8f5-2489-4cf8-aa65-fa075b9f5b78" providerId="AD" clId="Web-{3859C5AF-3BBD-2790-2B96-9E316437034E}" dt="2024-02-29T00:21:53.641" v="14" actId="20577"/>
        <pc:sldMkLst>
          <pc:docMk/>
          <pc:sldMk cId="2989375659" sldId="340"/>
        </pc:sldMkLst>
        <pc:spChg chg="mod">
          <ac:chgData name="Abbes Boulebtina" userId="S::abbes88@rosemont01.onmicrosoft.com::2068c8f5-2489-4cf8-aa65-fa075b9f5b78" providerId="AD" clId="Web-{3859C5AF-3BBD-2790-2B96-9E316437034E}" dt="2024-02-29T00:21:53.641" v="14" actId="20577"/>
          <ac:spMkLst>
            <pc:docMk/>
            <pc:sldMk cId="2989375659" sldId="340"/>
            <ac:spMk id="2" creationId="{12A4B49F-569A-10FC-9769-EA86628925A4}"/>
          </ac:spMkLst>
        </pc:spChg>
      </pc:sldChg>
    </pc:docChg>
  </pc:docChgLst>
  <pc:docChgLst>
    <pc:chgData name="Abbes Boulebtina" userId="S::abbes88@rosemont01.onmicrosoft.com::2068c8f5-2489-4cf8-aa65-fa075b9f5b78" providerId="AD" clId="Web-{709303B0-6836-1BD6-1D0C-E20677F296B2}"/>
    <pc:docChg chg="modSld">
      <pc:chgData name="Abbes Boulebtina" userId="S::abbes88@rosemont01.onmicrosoft.com::2068c8f5-2489-4cf8-aa65-fa075b9f5b78" providerId="AD" clId="Web-{709303B0-6836-1BD6-1D0C-E20677F296B2}" dt="2024-02-19T23:27:41.828" v="7" actId="20577"/>
      <pc:docMkLst>
        <pc:docMk/>
      </pc:docMkLst>
      <pc:sldChg chg="modSp">
        <pc:chgData name="Abbes Boulebtina" userId="S::abbes88@rosemont01.onmicrosoft.com::2068c8f5-2489-4cf8-aa65-fa075b9f5b78" providerId="AD" clId="Web-{709303B0-6836-1BD6-1D0C-E20677F296B2}" dt="2024-02-19T23:20:28.864" v="2" actId="20577"/>
        <pc:sldMkLst>
          <pc:docMk/>
          <pc:sldMk cId="2241420081" sldId="300"/>
        </pc:sldMkLst>
        <pc:spChg chg="mod">
          <ac:chgData name="Abbes Boulebtina" userId="S::abbes88@rosemont01.onmicrosoft.com::2068c8f5-2489-4cf8-aa65-fa075b9f5b78" providerId="AD" clId="Web-{709303B0-6836-1BD6-1D0C-E20677F296B2}" dt="2024-02-19T23:20:28.864" v="2" actId="20577"/>
          <ac:spMkLst>
            <pc:docMk/>
            <pc:sldMk cId="2241420081" sldId="300"/>
            <ac:spMk id="2" creationId="{00000000-0000-0000-0000-000000000000}"/>
          </ac:spMkLst>
        </pc:spChg>
      </pc:sldChg>
      <pc:sldChg chg="modSp">
        <pc:chgData name="Abbes Boulebtina" userId="S::abbes88@rosemont01.onmicrosoft.com::2068c8f5-2489-4cf8-aa65-fa075b9f5b78" providerId="AD" clId="Web-{709303B0-6836-1BD6-1D0C-E20677F296B2}" dt="2024-02-19T23:11:58.199" v="1" actId="20577"/>
        <pc:sldMkLst>
          <pc:docMk/>
          <pc:sldMk cId="891479493" sldId="303"/>
        </pc:sldMkLst>
        <pc:spChg chg="mod">
          <ac:chgData name="Abbes Boulebtina" userId="S::abbes88@rosemont01.onmicrosoft.com::2068c8f5-2489-4cf8-aa65-fa075b9f5b78" providerId="AD" clId="Web-{709303B0-6836-1BD6-1D0C-E20677F296B2}" dt="2024-02-19T23:11:58.199" v="1" actId="20577"/>
          <ac:spMkLst>
            <pc:docMk/>
            <pc:sldMk cId="891479493" sldId="303"/>
            <ac:spMk id="6" creationId="{00000000-0000-0000-0000-000000000000}"/>
          </ac:spMkLst>
        </pc:spChg>
      </pc:sldChg>
      <pc:sldChg chg="modSp">
        <pc:chgData name="Abbes Boulebtina" userId="S::abbes88@rosemont01.onmicrosoft.com::2068c8f5-2489-4cf8-aa65-fa075b9f5b78" providerId="AD" clId="Web-{709303B0-6836-1BD6-1D0C-E20677F296B2}" dt="2024-02-19T23:20:50.739" v="6" actId="20577"/>
        <pc:sldMkLst>
          <pc:docMk/>
          <pc:sldMk cId="4100985015" sldId="310"/>
        </pc:sldMkLst>
        <pc:spChg chg="mod">
          <ac:chgData name="Abbes Boulebtina" userId="S::abbes88@rosemont01.onmicrosoft.com::2068c8f5-2489-4cf8-aa65-fa075b9f5b78" providerId="AD" clId="Web-{709303B0-6836-1BD6-1D0C-E20677F296B2}" dt="2024-02-19T23:20:50.739" v="6" actId="20577"/>
          <ac:spMkLst>
            <pc:docMk/>
            <pc:sldMk cId="4100985015" sldId="310"/>
            <ac:spMk id="2" creationId="{00000000-0000-0000-0000-000000000000}"/>
          </ac:spMkLst>
        </pc:spChg>
      </pc:sldChg>
      <pc:sldChg chg="modSp">
        <pc:chgData name="Abbes Boulebtina" userId="S::abbes88@rosemont01.onmicrosoft.com::2068c8f5-2489-4cf8-aa65-fa075b9f5b78" providerId="AD" clId="Web-{709303B0-6836-1BD6-1D0C-E20677F296B2}" dt="2024-02-19T23:27:41.828" v="7" actId="20577"/>
        <pc:sldMkLst>
          <pc:docMk/>
          <pc:sldMk cId="4100947162" sldId="317"/>
        </pc:sldMkLst>
        <pc:spChg chg="mod">
          <ac:chgData name="Abbes Boulebtina" userId="S::abbes88@rosemont01.onmicrosoft.com::2068c8f5-2489-4cf8-aa65-fa075b9f5b78" providerId="AD" clId="Web-{709303B0-6836-1BD6-1D0C-E20677F296B2}" dt="2024-02-19T23:27:41.828" v="7" actId="20577"/>
          <ac:spMkLst>
            <pc:docMk/>
            <pc:sldMk cId="4100947162" sldId="317"/>
            <ac:spMk id="6" creationId="{00000000-0000-0000-0000-000000000000}"/>
          </ac:spMkLst>
        </pc:spChg>
      </pc:sldChg>
    </pc:docChg>
  </pc:docChgLst>
  <pc:docChgLst>
    <pc:chgData name="Abbes Boulebtina" userId="S::abbes88@rosemont01.onmicrosoft.com::2068c8f5-2489-4cf8-aa65-fa075b9f5b78" providerId="AD" clId="Web-{7C052043-B96C-6DE2-3532-2F6AA6DA2501}"/>
    <pc:docChg chg="modSld">
      <pc:chgData name="Abbes Boulebtina" userId="S::abbes88@rosemont01.onmicrosoft.com::2068c8f5-2489-4cf8-aa65-fa075b9f5b78" providerId="AD" clId="Web-{7C052043-B96C-6DE2-3532-2F6AA6DA2501}" dt="2024-02-16T01:54:07.588" v="5" actId="20577"/>
      <pc:docMkLst>
        <pc:docMk/>
      </pc:docMkLst>
      <pc:sldChg chg="modSp">
        <pc:chgData name="Abbes Boulebtina" userId="S::abbes88@rosemont01.onmicrosoft.com::2068c8f5-2489-4cf8-aa65-fa075b9f5b78" providerId="AD" clId="Web-{7C052043-B96C-6DE2-3532-2F6AA6DA2501}" dt="2024-02-15T22:42:14.373" v="1" actId="20577"/>
        <pc:sldMkLst>
          <pc:docMk/>
          <pc:sldMk cId="671603483" sldId="277"/>
        </pc:sldMkLst>
        <pc:spChg chg="mod">
          <ac:chgData name="Abbes Boulebtina" userId="S::abbes88@rosemont01.onmicrosoft.com::2068c8f5-2489-4cf8-aa65-fa075b9f5b78" providerId="AD" clId="Web-{7C052043-B96C-6DE2-3532-2F6AA6DA2501}" dt="2024-02-15T22:42:14.373" v="1" actId="20577"/>
          <ac:spMkLst>
            <pc:docMk/>
            <pc:sldMk cId="671603483" sldId="277"/>
            <ac:spMk id="7" creationId="{00000000-0000-0000-0000-000000000000}"/>
          </ac:spMkLst>
        </pc:spChg>
      </pc:sldChg>
      <pc:sldChg chg="modSp">
        <pc:chgData name="Abbes Boulebtina" userId="S::abbes88@rosemont01.onmicrosoft.com::2068c8f5-2489-4cf8-aa65-fa075b9f5b78" providerId="AD" clId="Web-{7C052043-B96C-6DE2-3532-2F6AA6DA2501}" dt="2024-02-15T22:42:29.029" v="2" actId="20577"/>
        <pc:sldMkLst>
          <pc:docMk/>
          <pc:sldMk cId="2427670899" sldId="293"/>
        </pc:sldMkLst>
        <pc:spChg chg="mod">
          <ac:chgData name="Abbes Boulebtina" userId="S::abbes88@rosemont01.onmicrosoft.com::2068c8f5-2489-4cf8-aa65-fa075b9f5b78" providerId="AD" clId="Web-{7C052043-B96C-6DE2-3532-2F6AA6DA2501}" dt="2024-02-15T22:42:29.029" v="2" actId="20577"/>
          <ac:spMkLst>
            <pc:docMk/>
            <pc:sldMk cId="2427670899" sldId="293"/>
            <ac:spMk id="2" creationId="{00000000-0000-0000-0000-000000000000}"/>
          </ac:spMkLst>
        </pc:spChg>
      </pc:sldChg>
      <pc:sldChg chg="modSp">
        <pc:chgData name="Abbes Boulebtina" userId="S::abbes88@rosemont01.onmicrosoft.com::2068c8f5-2489-4cf8-aa65-fa075b9f5b78" providerId="AD" clId="Web-{7C052043-B96C-6DE2-3532-2F6AA6DA2501}" dt="2024-02-16T01:29:32.321" v="4" actId="1076"/>
        <pc:sldMkLst>
          <pc:docMk/>
          <pc:sldMk cId="2067570187" sldId="302"/>
        </pc:sldMkLst>
        <pc:spChg chg="mod">
          <ac:chgData name="Abbes Boulebtina" userId="S::abbes88@rosemont01.onmicrosoft.com::2068c8f5-2489-4cf8-aa65-fa075b9f5b78" providerId="AD" clId="Web-{7C052043-B96C-6DE2-3532-2F6AA6DA2501}" dt="2024-02-16T01:29:32.321" v="4" actId="1076"/>
          <ac:spMkLst>
            <pc:docMk/>
            <pc:sldMk cId="2067570187" sldId="302"/>
            <ac:spMk id="6" creationId="{00000000-0000-0000-0000-000000000000}"/>
          </ac:spMkLst>
        </pc:spChg>
      </pc:sldChg>
      <pc:sldChg chg="modSp">
        <pc:chgData name="Abbes Boulebtina" userId="S::abbes88@rosemont01.onmicrosoft.com::2068c8f5-2489-4cf8-aa65-fa075b9f5b78" providerId="AD" clId="Web-{7C052043-B96C-6DE2-3532-2F6AA6DA2501}" dt="2024-02-16T01:54:07.588" v="5" actId="20577"/>
        <pc:sldMkLst>
          <pc:docMk/>
          <pc:sldMk cId="1214114662" sldId="309"/>
        </pc:sldMkLst>
        <pc:spChg chg="mod">
          <ac:chgData name="Abbes Boulebtina" userId="S::abbes88@rosemont01.onmicrosoft.com::2068c8f5-2489-4cf8-aa65-fa075b9f5b78" providerId="AD" clId="Web-{7C052043-B96C-6DE2-3532-2F6AA6DA2501}" dt="2024-02-16T01:54:07.588" v="5" actId="20577"/>
          <ac:spMkLst>
            <pc:docMk/>
            <pc:sldMk cId="1214114662" sldId="309"/>
            <ac:spMk id="3" creationId="{00000000-0000-0000-0000-000000000000}"/>
          </ac:spMkLst>
        </pc:spChg>
      </pc:sldChg>
    </pc:docChg>
  </pc:docChgLst>
  <pc:docChgLst>
    <pc:chgData name="Abbes Boulebtina" userId="S::abbes88@rosemont01.onmicrosoft.com::2068c8f5-2489-4cf8-aa65-fa075b9f5b78" providerId="AD" clId="Web-{D46252B6-3738-44DC-9BAD-1F7016B1073B}"/>
    <pc:docChg chg="modSld">
      <pc:chgData name="Abbes Boulebtina" userId="S::abbes88@rosemont01.onmicrosoft.com::2068c8f5-2489-4cf8-aa65-fa075b9f5b78" providerId="AD" clId="Web-{D46252B6-3738-44DC-9BAD-1F7016B1073B}" dt="2024-02-09T01:54:43.456" v="18" actId="20577"/>
      <pc:docMkLst>
        <pc:docMk/>
      </pc:docMkLst>
      <pc:sldChg chg="modSp">
        <pc:chgData name="Abbes Boulebtina" userId="S::abbes88@rosemont01.onmicrosoft.com::2068c8f5-2489-4cf8-aa65-fa075b9f5b78" providerId="AD" clId="Web-{D46252B6-3738-44DC-9BAD-1F7016B1073B}" dt="2024-02-08T21:44:41.836" v="1" actId="20577"/>
        <pc:sldMkLst>
          <pc:docMk/>
          <pc:sldMk cId="2894978842" sldId="268"/>
        </pc:sldMkLst>
        <pc:spChg chg="mod">
          <ac:chgData name="Abbes Boulebtina" userId="S::abbes88@rosemont01.onmicrosoft.com::2068c8f5-2489-4cf8-aa65-fa075b9f5b78" providerId="AD" clId="Web-{D46252B6-3738-44DC-9BAD-1F7016B1073B}" dt="2024-02-08T21:44:41.836" v="1" actId="20577"/>
          <ac:spMkLst>
            <pc:docMk/>
            <pc:sldMk cId="2894978842" sldId="268"/>
            <ac:spMk id="3" creationId="{00000000-0000-0000-0000-000000000000}"/>
          </ac:spMkLst>
        </pc:spChg>
      </pc:sldChg>
      <pc:sldChg chg="modSp">
        <pc:chgData name="Abbes Boulebtina" userId="S::abbes88@rosemont01.onmicrosoft.com::2068c8f5-2489-4cf8-aa65-fa075b9f5b78" providerId="AD" clId="Web-{D46252B6-3738-44DC-9BAD-1F7016B1073B}" dt="2024-02-08T21:48:07.042" v="4" actId="20577"/>
        <pc:sldMkLst>
          <pc:docMk/>
          <pc:sldMk cId="564691528" sldId="270"/>
        </pc:sldMkLst>
        <pc:spChg chg="mod">
          <ac:chgData name="Abbes Boulebtina" userId="S::abbes88@rosemont01.onmicrosoft.com::2068c8f5-2489-4cf8-aa65-fa075b9f5b78" providerId="AD" clId="Web-{D46252B6-3738-44DC-9BAD-1F7016B1073B}" dt="2024-02-08T21:48:07.042" v="4" actId="20577"/>
          <ac:spMkLst>
            <pc:docMk/>
            <pc:sldMk cId="564691528" sldId="270"/>
            <ac:spMk id="4" creationId="{00000000-0000-0000-0000-000000000000}"/>
          </ac:spMkLst>
        </pc:spChg>
      </pc:sldChg>
      <pc:sldChg chg="modSp">
        <pc:chgData name="Abbes Boulebtina" userId="S::abbes88@rosemont01.onmicrosoft.com::2068c8f5-2489-4cf8-aa65-fa075b9f5b78" providerId="AD" clId="Web-{D46252B6-3738-44DC-9BAD-1F7016B1073B}" dt="2024-02-09T01:18:33.046" v="15" actId="20577"/>
        <pc:sldMkLst>
          <pc:docMk/>
          <pc:sldMk cId="4052577640" sldId="275"/>
        </pc:sldMkLst>
        <pc:spChg chg="mod">
          <ac:chgData name="Abbes Boulebtina" userId="S::abbes88@rosemont01.onmicrosoft.com::2068c8f5-2489-4cf8-aa65-fa075b9f5b78" providerId="AD" clId="Web-{D46252B6-3738-44DC-9BAD-1F7016B1073B}" dt="2024-02-08T21:47:31.058" v="3" actId="20577"/>
          <ac:spMkLst>
            <pc:docMk/>
            <pc:sldMk cId="4052577640" sldId="275"/>
            <ac:spMk id="4" creationId="{00000000-0000-0000-0000-000000000000}"/>
          </ac:spMkLst>
        </pc:spChg>
        <pc:spChg chg="mod">
          <ac:chgData name="Abbes Boulebtina" userId="S::abbes88@rosemont01.onmicrosoft.com::2068c8f5-2489-4cf8-aa65-fa075b9f5b78" providerId="AD" clId="Web-{D46252B6-3738-44DC-9BAD-1F7016B1073B}" dt="2024-02-09T01:18:33.046" v="15" actId="20577"/>
          <ac:spMkLst>
            <pc:docMk/>
            <pc:sldMk cId="4052577640" sldId="275"/>
            <ac:spMk id="8" creationId="{00000000-0000-0000-0000-000000000000}"/>
          </ac:spMkLst>
        </pc:spChg>
      </pc:sldChg>
      <pc:sldChg chg="modSp">
        <pc:chgData name="Abbes Boulebtina" userId="S::abbes88@rosemont01.onmicrosoft.com::2068c8f5-2489-4cf8-aa65-fa075b9f5b78" providerId="AD" clId="Web-{D46252B6-3738-44DC-9BAD-1F7016B1073B}" dt="2024-02-08T21:49:25.825" v="13" actId="20577"/>
        <pc:sldMkLst>
          <pc:docMk/>
          <pc:sldMk cId="1855106657" sldId="276"/>
        </pc:sldMkLst>
        <pc:spChg chg="mod">
          <ac:chgData name="Abbes Boulebtina" userId="S::abbes88@rosemont01.onmicrosoft.com::2068c8f5-2489-4cf8-aa65-fa075b9f5b78" providerId="AD" clId="Web-{D46252B6-3738-44DC-9BAD-1F7016B1073B}" dt="2024-02-08T21:48:35.699" v="9" actId="20577"/>
          <ac:spMkLst>
            <pc:docMk/>
            <pc:sldMk cId="1855106657" sldId="276"/>
            <ac:spMk id="3" creationId="{00000000-0000-0000-0000-000000000000}"/>
          </ac:spMkLst>
        </pc:spChg>
        <pc:spChg chg="mod">
          <ac:chgData name="Abbes Boulebtina" userId="S::abbes88@rosemont01.onmicrosoft.com::2068c8f5-2489-4cf8-aa65-fa075b9f5b78" providerId="AD" clId="Web-{D46252B6-3738-44DC-9BAD-1F7016B1073B}" dt="2024-02-08T21:49:02.247" v="11" actId="20577"/>
          <ac:spMkLst>
            <pc:docMk/>
            <pc:sldMk cId="1855106657" sldId="276"/>
            <ac:spMk id="4" creationId="{00000000-0000-0000-0000-000000000000}"/>
          </ac:spMkLst>
        </pc:spChg>
        <pc:spChg chg="mod">
          <ac:chgData name="Abbes Boulebtina" userId="S::abbes88@rosemont01.onmicrosoft.com::2068c8f5-2489-4cf8-aa65-fa075b9f5b78" providerId="AD" clId="Web-{D46252B6-3738-44DC-9BAD-1F7016B1073B}" dt="2024-02-08T21:49:25.825" v="13" actId="20577"/>
          <ac:spMkLst>
            <pc:docMk/>
            <pc:sldMk cId="1855106657" sldId="276"/>
            <ac:spMk id="6" creationId="{00000000-0000-0000-0000-000000000000}"/>
          </ac:spMkLst>
        </pc:spChg>
      </pc:sldChg>
      <pc:sldChg chg="modSp">
        <pc:chgData name="Abbes Boulebtina" userId="S::abbes88@rosemont01.onmicrosoft.com::2068c8f5-2489-4cf8-aa65-fa075b9f5b78" providerId="AD" clId="Web-{D46252B6-3738-44DC-9BAD-1F7016B1073B}" dt="2024-02-09T01:54:43.456" v="18" actId="20577"/>
        <pc:sldMkLst>
          <pc:docMk/>
          <pc:sldMk cId="1274698792" sldId="280"/>
        </pc:sldMkLst>
        <pc:spChg chg="mod">
          <ac:chgData name="Abbes Boulebtina" userId="S::abbes88@rosemont01.onmicrosoft.com::2068c8f5-2489-4cf8-aa65-fa075b9f5b78" providerId="AD" clId="Web-{D46252B6-3738-44DC-9BAD-1F7016B1073B}" dt="2024-02-09T01:54:43.456" v="18" actId="20577"/>
          <ac:spMkLst>
            <pc:docMk/>
            <pc:sldMk cId="1274698792" sldId="280"/>
            <ac:spMk id="4" creationId="{00000000-0000-0000-0000-000000000000}"/>
          </ac:spMkLst>
        </pc:spChg>
      </pc:sldChg>
    </pc:docChg>
  </pc:docChgLst>
  <pc:docChgLst>
    <pc:chgData name="Abbes Boulebtina" userId="S::abbes88@rosemont01.onmicrosoft.com::2068c8f5-2489-4cf8-aa65-fa075b9f5b78" providerId="AD" clId="Web-{FDCC95C9-D137-27EB-3E41-E4EFCD85F5AC}"/>
    <pc:docChg chg="modSld">
      <pc:chgData name="Abbes Boulebtina" userId="S::abbes88@rosemont01.onmicrosoft.com::2068c8f5-2489-4cf8-aa65-fa075b9f5b78" providerId="AD" clId="Web-{FDCC95C9-D137-27EB-3E41-E4EFCD85F5AC}" dt="2024-02-23T01:40:03.338" v="18" actId="20577"/>
      <pc:docMkLst>
        <pc:docMk/>
      </pc:docMkLst>
      <pc:sldChg chg="modSp">
        <pc:chgData name="Abbes Boulebtina" userId="S::abbes88@rosemont01.onmicrosoft.com::2068c8f5-2489-4cf8-aa65-fa075b9f5b78" providerId="AD" clId="Web-{FDCC95C9-D137-27EB-3E41-E4EFCD85F5AC}" dt="2024-02-22T22:46:46.693" v="1"/>
        <pc:sldMkLst>
          <pc:docMk/>
          <pc:sldMk cId="1855106657" sldId="276"/>
        </pc:sldMkLst>
        <pc:spChg chg="mod">
          <ac:chgData name="Abbes Boulebtina" userId="S::abbes88@rosemont01.onmicrosoft.com::2068c8f5-2489-4cf8-aa65-fa075b9f5b78" providerId="AD" clId="Web-{FDCC95C9-D137-27EB-3E41-E4EFCD85F5AC}" dt="2024-02-22T22:46:46.693" v="1"/>
          <ac:spMkLst>
            <pc:docMk/>
            <pc:sldMk cId="1855106657" sldId="276"/>
            <ac:spMk id="3" creationId="{00000000-0000-0000-0000-000000000000}"/>
          </ac:spMkLst>
        </pc:spChg>
      </pc:sldChg>
      <pc:sldChg chg="modSp">
        <pc:chgData name="Abbes Boulebtina" userId="S::abbes88@rosemont01.onmicrosoft.com::2068c8f5-2489-4cf8-aa65-fa075b9f5b78" providerId="AD" clId="Web-{FDCC95C9-D137-27EB-3E41-E4EFCD85F5AC}" dt="2024-02-22T22:47:25.303" v="4"/>
        <pc:sldMkLst>
          <pc:docMk/>
          <pc:sldMk cId="132351605" sldId="292"/>
        </pc:sldMkLst>
        <pc:spChg chg="mod">
          <ac:chgData name="Abbes Boulebtina" userId="S::abbes88@rosemont01.onmicrosoft.com::2068c8f5-2489-4cf8-aa65-fa075b9f5b78" providerId="AD" clId="Web-{FDCC95C9-D137-27EB-3E41-E4EFCD85F5AC}" dt="2024-02-22T22:47:25.303" v="4"/>
          <ac:spMkLst>
            <pc:docMk/>
            <pc:sldMk cId="132351605" sldId="292"/>
            <ac:spMk id="5" creationId="{00000000-0000-0000-0000-000000000000}"/>
          </ac:spMkLst>
        </pc:spChg>
      </pc:sldChg>
      <pc:sldChg chg="modSp">
        <pc:chgData name="Abbes Boulebtina" userId="S::abbes88@rosemont01.onmicrosoft.com::2068c8f5-2489-4cf8-aa65-fa075b9f5b78" providerId="AD" clId="Web-{FDCC95C9-D137-27EB-3E41-E4EFCD85F5AC}" dt="2024-02-22T23:28:31.240" v="8" actId="20577"/>
        <pc:sldMkLst>
          <pc:docMk/>
          <pc:sldMk cId="2243803601" sldId="316"/>
        </pc:sldMkLst>
        <pc:spChg chg="mod">
          <ac:chgData name="Abbes Boulebtina" userId="S::abbes88@rosemont01.onmicrosoft.com::2068c8f5-2489-4cf8-aa65-fa075b9f5b78" providerId="AD" clId="Web-{FDCC95C9-D137-27EB-3E41-E4EFCD85F5AC}" dt="2024-02-22T23:28:31.240" v="8" actId="20577"/>
          <ac:spMkLst>
            <pc:docMk/>
            <pc:sldMk cId="2243803601" sldId="316"/>
            <ac:spMk id="9" creationId="{00000000-0000-0000-0000-000000000000}"/>
          </ac:spMkLst>
        </pc:spChg>
      </pc:sldChg>
      <pc:sldChg chg="modSp">
        <pc:chgData name="Abbes Boulebtina" userId="S::abbes88@rosemont01.onmicrosoft.com::2068c8f5-2489-4cf8-aa65-fa075b9f5b78" providerId="AD" clId="Web-{FDCC95C9-D137-27EB-3E41-E4EFCD85F5AC}" dt="2024-02-23T01:34:17.879" v="14" actId="20577"/>
        <pc:sldMkLst>
          <pc:docMk/>
          <pc:sldMk cId="1935301948" sldId="324"/>
        </pc:sldMkLst>
        <pc:spChg chg="mod">
          <ac:chgData name="Abbes Boulebtina" userId="S::abbes88@rosemont01.onmicrosoft.com::2068c8f5-2489-4cf8-aa65-fa075b9f5b78" providerId="AD" clId="Web-{FDCC95C9-D137-27EB-3E41-E4EFCD85F5AC}" dt="2024-02-23T01:34:17.879" v="14" actId="20577"/>
          <ac:spMkLst>
            <pc:docMk/>
            <pc:sldMk cId="1935301948" sldId="324"/>
            <ac:spMk id="3" creationId="{7CF0EF77-CAE7-0EA7-BA16-741CB815B5AA}"/>
          </ac:spMkLst>
        </pc:spChg>
      </pc:sldChg>
      <pc:sldChg chg="modSp">
        <pc:chgData name="Abbes Boulebtina" userId="S::abbes88@rosemont01.onmicrosoft.com::2068c8f5-2489-4cf8-aa65-fa075b9f5b78" providerId="AD" clId="Web-{FDCC95C9-D137-27EB-3E41-E4EFCD85F5AC}" dt="2024-02-23T01:36:31.147" v="15" actId="20577"/>
        <pc:sldMkLst>
          <pc:docMk/>
          <pc:sldMk cId="3853480202" sldId="325"/>
        </pc:sldMkLst>
        <pc:spChg chg="mod">
          <ac:chgData name="Abbes Boulebtina" userId="S::abbes88@rosemont01.onmicrosoft.com::2068c8f5-2489-4cf8-aa65-fa075b9f5b78" providerId="AD" clId="Web-{FDCC95C9-D137-27EB-3E41-E4EFCD85F5AC}" dt="2024-02-23T01:36:31.147" v="15" actId="20577"/>
          <ac:spMkLst>
            <pc:docMk/>
            <pc:sldMk cId="3853480202" sldId="325"/>
            <ac:spMk id="4" creationId="{00000000-0000-0000-0000-000000000000}"/>
          </ac:spMkLst>
        </pc:spChg>
      </pc:sldChg>
      <pc:sldChg chg="modSp">
        <pc:chgData name="Abbes Boulebtina" userId="S::abbes88@rosemont01.onmicrosoft.com::2068c8f5-2489-4cf8-aa65-fa075b9f5b78" providerId="AD" clId="Web-{FDCC95C9-D137-27EB-3E41-E4EFCD85F5AC}" dt="2024-02-23T01:40:03.338" v="18" actId="20577"/>
        <pc:sldMkLst>
          <pc:docMk/>
          <pc:sldMk cId="1919247218" sldId="326"/>
        </pc:sldMkLst>
        <pc:spChg chg="mod">
          <ac:chgData name="Abbes Boulebtina" userId="S::abbes88@rosemont01.onmicrosoft.com::2068c8f5-2489-4cf8-aa65-fa075b9f5b78" providerId="AD" clId="Web-{FDCC95C9-D137-27EB-3E41-E4EFCD85F5AC}" dt="2024-02-23T01:40:03.338" v="18" actId="20577"/>
          <ac:spMkLst>
            <pc:docMk/>
            <pc:sldMk cId="1919247218" sldId="326"/>
            <ac:spMk id="2" creationId="{12A4B49F-569A-10FC-9769-EA86628925A4}"/>
          </ac:spMkLst>
        </pc:spChg>
      </pc:sldChg>
    </pc:docChg>
  </pc:docChgLst>
  <pc:docChgLst>
    <pc:chgData name="Abbes Boulebtina" userId="S::abbes88@rosemont01.onmicrosoft.com::2068c8f5-2489-4cf8-aa65-fa075b9f5b78" providerId="AD" clId="Web-{95DF7583-E4D7-3194-8A29-829BFFDE8E1E}"/>
    <pc:docChg chg="modSld">
      <pc:chgData name="Abbes Boulebtina" userId="S::abbes88@rosemont01.onmicrosoft.com::2068c8f5-2489-4cf8-aa65-fa075b9f5b78" providerId="AD" clId="Web-{95DF7583-E4D7-3194-8A29-829BFFDE8E1E}" dt="2024-02-14T01:57:18.821" v="25" actId="20577"/>
      <pc:docMkLst>
        <pc:docMk/>
      </pc:docMkLst>
      <pc:sldChg chg="modSp">
        <pc:chgData name="Abbes Boulebtina" userId="S::abbes88@rosemont01.onmicrosoft.com::2068c8f5-2489-4cf8-aa65-fa075b9f5b78" providerId="AD" clId="Web-{95DF7583-E4D7-3194-8A29-829BFFDE8E1E}" dt="2024-02-13T23:27:39.150" v="1" actId="1076"/>
        <pc:sldMkLst>
          <pc:docMk/>
          <pc:sldMk cId="1605004989" sldId="281"/>
        </pc:sldMkLst>
        <pc:spChg chg="mod">
          <ac:chgData name="Abbes Boulebtina" userId="S::abbes88@rosemont01.onmicrosoft.com::2068c8f5-2489-4cf8-aa65-fa075b9f5b78" providerId="AD" clId="Web-{95DF7583-E4D7-3194-8A29-829BFFDE8E1E}" dt="2024-02-13T23:27:39.150" v="1" actId="1076"/>
          <ac:spMkLst>
            <pc:docMk/>
            <pc:sldMk cId="1605004989" sldId="281"/>
            <ac:spMk id="12" creationId="{00000000-0000-0000-0000-000000000000}"/>
          </ac:spMkLst>
        </pc:spChg>
      </pc:sldChg>
      <pc:sldChg chg="modSp addAnim delAnim">
        <pc:chgData name="Abbes Boulebtina" userId="S::abbes88@rosemont01.onmicrosoft.com::2068c8f5-2489-4cf8-aa65-fa075b9f5b78" providerId="AD" clId="Web-{95DF7583-E4D7-3194-8A29-829BFFDE8E1E}" dt="2024-02-14T00:24:32.761" v="9" actId="20577"/>
        <pc:sldMkLst>
          <pc:docMk/>
          <pc:sldMk cId="218299770" sldId="288"/>
        </pc:sldMkLst>
        <pc:spChg chg="mod">
          <ac:chgData name="Abbes Boulebtina" userId="S::abbes88@rosemont01.onmicrosoft.com::2068c8f5-2489-4cf8-aa65-fa075b9f5b78" providerId="AD" clId="Web-{95DF7583-E4D7-3194-8A29-829BFFDE8E1E}" dt="2024-02-14T00:24:32.761" v="9" actId="20577"/>
          <ac:spMkLst>
            <pc:docMk/>
            <pc:sldMk cId="218299770" sldId="288"/>
            <ac:spMk id="3" creationId="{00000000-0000-0000-0000-000000000000}"/>
          </ac:spMkLst>
        </pc:spChg>
        <pc:spChg chg="mod">
          <ac:chgData name="Abbes Boulebtina" userId="S::abbes88@rosemont01.onmicrosoft.com::2068c8f5-2489-4cf8-aa65-fa075b9f5b78" providerId="AD" clId="Web-{95DF7583-E4D7-3194-8A29-829BFFDE8E1E}" dt="2024-02-14T00:22:48.197" v="7" actId="20577"/>
          <ac:spMkLst>
            <pc:docMk/>
            <pc:sldMk cId="218299770" sldId="288"/>
            <ac:spMk id="11" creationId="{00000000-0000-0000-0000-000000000000}"/>
          </ac:spMkLst>
        </pc:spChg>
      </pc:sldChg>
      <pc:sldChg chg="modSp">
        <pc:chgData name="Abbes Boulebtina" userId="S::abbes88@rosemont01.onmicrosoft.com::2068c8f5-2489-4cf8-aa65-fa075b9f5b78" providerId="AD" clId="Web-{95DF7583-E4D7-3194-8A29-829BFFDE8E1E}" dt="2024-02-14T00:40:55.821" v="16" actId="20577"/>
        <pc:sldMkLst>
          <pc:docMk/>
          <pc:sldMk cId="3151087732" sldId="290"/>
        </pc:sldMkLst>
        <pc:spChg chg="mod">
          <ac:chgData name="Abbes Boulebtina" userId="S::abbes88@rosemont01.onmicrosoft.com::2068c8f5-2489-4cf8-aa65-fa075b9f5b78" providerId="AD" clId="Web-{95DF7583-E4D7-3194-8A29-829BFFDE8E1E}" dt="2024-02-14T00:40:55.821" v="16" actId="20577"/>
          <ac:spMkLst>
            <pc:docMk/>
            <pc:sldMk cId="3151087732" sldId="290"/>
            <ac:spMk id="11" creationId="{00000000-0000-0000-0000-000000000000}"/>
          </ac:spMkLst>
        </pc:spChg>
      </pc:sldChg>
      <pc:sldChg chg="modSp">
        <pc:chgData name="Abbes Boulebtina" userId="S::abbes88@rosemont01.onmicrosoft.com::2068c8f5-2489-4cf8-aa65-fa075b9f5b78" providerId="AD" clId="Web-{95DF7583-E4D7-3194-8A29-829BFFDE8E1E}" dt="2024-02-14T01:32:53.270" v="24" actId="20577"/>
        <pc:sldMkLst>
          <pc:docMk/>
          <pc:sldMk cId="3920044239" sldId="291"/>
        </pc:sldMkLst>
        <pc:spChg chg="mod">
          <ac:chgData name="Abbes Boulebtina" userId="S::abbes88@rosemont01.onmicrosoft.com::2068c8f5-2489-4cf8-aa65-fa075b9f5b78" providerId="AD" clId="Web-{95DF7583-E4D7-3194-8A29-829BFFDE8E1E}" dt="2024-02-14T01:32:53.270" v="24" actId="20577"/>
          <ac:spMkLst>
            <pc:docMk/>
            <pc:sldMk cId="3920044239" sldId="291"/>
            <ac:spMk id="5" creationId="{00000000-0000-0000-0000-000000000000}"/>
          </ac:spMkLst>
        </pc:spChg>
      </pc:sldChg>
      <pc:sldChg chg="modSp">
        <pc:chgData name="Abbes Boulebtina" userId="S::abbes88@rosemont01.onmicrosoft.com::2068c8f5-2489-4cf8-aa65-fa075b9f5b78" providerId="AD" clId="Web-{95DF7583-E4D7-3194-8A29-829BFFDE8E1E}" dt="2024-02-14T01:57:18.821" v="25" actId="20577"/>
        <pc:sldMkLst>
          <pc:docMk/>
          <pc:sldMk cId="132351605" sldId="292"/>
        </pc:sldMkLst>
        <pc:spChg chg="mod">
          <ac:chgData name="Abbes Boulebtina" userId="S::abbes88@rosemont01.onmicrosoft.com::2068c8f5-2489-4cf8-aa65-fa075b9f5b78" providerId="AD" clId="Web-{95DF7583-E4D7-3194-8A29-829BFFDE8E1E}" dt="2024-02-14T01:57:18.821" v="25" actId="20577"/>
          <ac:spMkLst>
            <pc:docMk/>
            <pc:sldMk cId="132351605" sldId="292"/>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C88AF4-B2D8-4059-9199-AB5750DBD1F1}" type="datetimeFigureOut">
              <a:rPr lang="fr-CA" smtClean="0"/>
              <a:t>2026-02-19</a:t>
            </a:fld>
            <a:endParaRPr lang="fr-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9C6E11-0D05-496D-A5A2-E82F91393E9F}" type="slidenum">
              <a:rPr lang="fr-CA" smtClean="0"/>
              <a:t>‹N°›</a:t>
            </a:fld>
            <a:endParaRPr lang="fr-CA"/>
          </a:p>
        </p:txBody>
      </p:sp>
    </p:spTree>
    <p:extLst>
      <p:ext uri="{BB962C8B-B14F-4D97-AF65-F5344CB8AC3E}">
        <p14:creationId xmlns:p14="http://schemas.microsoft.com/office/powerpoint/2010/main" val="2534580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3</a:t>
            </a:fld>
            <a:endParaRPr lang="fr-CA"/>
          </a:p>
        </p:txBody>
      </p:sp>
    </p:spTree>
    <p:extLst>
      <p:ext uri="{BB962C8B-B14F-4D97-AF65-F5344CB8AC3E}">
        <p14:creationId xmlns:p14="http://schemas.microsoft.com/office/powerpoint/2010/main" val="3053047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4</a:t>
            </a:fld>
            <a:endParaRPr lang="fr-CA"/>
          </a:p>
        </p:txBody>
      </p:sp>
    </p:spTree>
    <p:extLst>
      <p:ext uri="{BB962C8B-B14F-4D97-AF65-F5344CB8AC3E}">
        <p14:creationId xmlns:p14="http://schemas.microsoft.com/office/powerpoint/2010/main" val="4221747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5</a:t>
            </a:fld>
            <a:endParaRPr lang="fr-CA"/>
          </a:p>
        </p:txBody>
      </p:sp>
    </p:spTree>
    <p:extLst>
      <p:ext uri="{BB962C8B-B14F-4D97-AF65-F5344CB8AC3E}">
        <p14:creationId xmlns:p14="http://schemas.microsoft.com/office/powerpoint/2010/main" val="3066693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7</a:t>
            </a:fld>
            <a:endParaRPr lang="fr-CA"/>
          </a:p>
        </p:txBody>
      </p:sp>
    </p:spTree>
    <p:extLst>
      <p:ext uri="{BB962C8B-B14F-4D97-AF65-F5344CB8AC3E}">
        <p14:creationId xmlns:p14="http://schemas.microsoft.com/office/powerpoint/2010/main" val="3208475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8</a:t>
            </a:fld>
            <a:endParaRPr lang="fr-CA"/>
          </a:p>
        </p:txBody>
      </p:sp>
    </p:spTree>
    <p:extLst>
      <p:ext uri="{BB962C8B-B14F-4D97-AF65-F5344CB8AC3E}">
        <p14:creationId xmlns:p14="http://schemas.microsoft.com/office/powerpoint/2010/main" val="29165212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9</a:t>
            </a:fld>
            <a:endParaRPr lang="fr-CA"/>
          </a:p>
        </p:txBody>
      </p:sp>
    </p:spTree>
    <p:extLst>
      <p:ext uri="{BB962C8B-B14F-4D97-AF65-F5344CB8AC3E}">
        <p14:creationId xmlns:p14="http://schemas.microsoft.com/office/powerpoint/2010/main" val="1349777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10</a:t>
            </a:fld>
            <a:endParaRPr lang="fr-CA"/>
          </a:p>
        </p:txBody>
      </p:sp>
    </p:spTree>
    <p:extLst>
      <p:ext uri="{BB962C8B-B14F-4D97-AF65-F5344CB8AC3E}">
        <p14:creationId xmlns:p14="http://schemas.microsoft.com/office/powerpoint/2010/main" val="1125340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11</a:t>
            </a:fld>
            <a:endParaRPr lang="fr-CA"/>
          </a:p>
        </p:txBody>
      </p:sp>
    </p:spTree>
    <p:extLst>
      <p:ext uri="{BB962C8B-B14F-4D97-AF65-F5344CB8AC3E}">
        <p14:creationId xmlns:p14="http://schemas.microsoft.com/office/powerpoint/2010/main" val="2206657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12</a:t>
            </a:fld>
            <a:endParaRPr lang="fr-CA"/>
          </a:p>
        </p:txBody>
      </p:sp>
    </p:spTree>
    <p:extLst>
      <p:ext uri="{BB962C8B-B14F-4D97-AF65-F5344CB8AC3E}">
        <p14:creationId xmlns:p14="http://schemas.microsoft.com/office/powerpoint/2010/main" val="10519042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13</a:t>
            </a:fld>
            <a:endParaRPr lang="fr-CA"/>
          </a:p>
        </p:txBody>
      </p:sp>
    </p:spTree>
    <p:extLst>
      <p:ext uri="{BB962C8B-B14F-4D97-AF65-F5344CB8AC3E}">
        <p14:creationId xmlns:p14="http://schemas.microsoft.com/office/powerpoint/2010/main" val="3910295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14</a:t>
            </a:fld>
            <a:endParaRPr lang="fr-CA"/>
          </a:p>
        </p:txBody>
      </p:sp>
    </p:spTree>
    <p:extLst>
      <p:ext uri="{BB962C8B-B14F-4D97-AF65-F5344CB8AC3E}">
        <p14:creationId xmlns:p14="http://schemas.microsoft.com/office/powerpoint/2010/main" val="42755349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15</a:t>
            </a:fld>
            <a:endParaRPr lang="fr-CA"/>
          </a:p>
        </p:txBody>
      </p:sp>
    </p:spTree>
    <p:extLst>
      <p:ext uri="{BB962C8B-B14F-4D97-AF65-F5344CB8AC3E}">
        <p14:creationId xmlns:p14="http://schemas.microsoft.com/office/powerpoint/2010/main" val="1727220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16</a:t>
            </a:fld>
            <a:endParaRPr lang="fr-CA"/>
          </a:p>
        </p:txBody>
      </p:sp>
    </p:spTree>
    <p:extLst>
      <p:ext uri="{BB962C8B-B14F-4D97-AF65-F5344CB8AC3E}">
        <p14:creationId xmlns:p14="http://schemas.microsoft.com/office/powerpoint/2010/main" val="25406961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17</a:t>
            </a:fld>
            <a:endParaRPr lang="fr-CA"/>
          </a:p>
        </p:txBody>
      </p:sp>
    </p:spTree>
    <p:extLst>
      <p:ext uri="{BB962C8B-B14F-4D97-AF65-F5344CB8AC3E}">
        <p14:creationId xmlns:p14="http://schemas.microsoft.com/office/powerpoint/2010/main" val="15784205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18</a:t>
            </a:fld>
            <a:endParaRPr lang="fr-CA"/>
          </a:p>
        </p:txBody>
      </p:sp>
    </p:spTree>
    <p:extLst>
      <p:ext uri="{BB962C8B-B14F-4D97-AF65-F5344CB8AC3E}">
        <p14:creationId xmlns:p14="http://schemas.microsoft.com/office/powerpoint/2010/main" val="25915363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19</a:t>
            </a:fld>
            <a:endParaRPr lang="fr-CA"/>
          </a:p>
        </p:txBody>
      </p:sp>
    </p:spTree>
    <p:extLst>
      <p:ext uri="{BB962C8B-B14F-4D97-AF65-F5344CB8AC3E}">
        <p14:creationId xmlns:p14="http://schemas.microsoft.com/office/powerpoint/2010/main" val="29503278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10"/>
          </p:nvPr>
        </p:nvSpPr>
        <p:spPr/>
        <p:txBody>
          <a:bodyPr/>
          <a:lstStyle/>
          <a:p>
            <a:fld id="{309C6E11-0D05-496D-A5A2-E82F91393E9F}" type="slidenum">
              <a:rPr lang="fr-CA" smtClean="0"/>
              <a:t>20</a:t>
            </a:fld>
            <a:endParaRPr lang="fr-CA"/>
          </a:p>
        </p:txBody>
      </p:sp>
    </p:spTree>
    <p:extLst>
      <p:ext uri="{BB962C8B-B14F-4D97-AF65-F5344CB8AC3E}">
        <p14:creationId xmlns:p14="http://schemas.microsoft.com/office/powerpoint/2010/main" val="6762889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22</a:t>
            </a:fld>
            <a:endParaRPr lang="fr-CA"/>
          </a:p>
        </p:txBody>
      </p:sp>
    </p:spTree>
    <p:extLst>
      <p:ext uri="{BB962C8B-B14F-4D97-AF65-F5344CB8AC3E}">
        <p14:creationId xmlns:p14="http://schemas.microsoft.com/office/powerpoint/2010/main" val="35041507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23</a:t>
            </a:fld>
            <a:endParaRPr lang="fr-CA"/>
          </a:p>
        </p:txBody>
      </p:sp>
    </p:spTree>
    <p:extLst>
      <p:ext uri="{BB962C8B-B14F-4D97-AF65-F5344CB8AC3E}">
        <p14:creationId xmlns:p14="http://schemas.microsoft.com/office/powerpoint/2010/main" val="5666970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24</a:t>
            </a:fld>
            <a:endParaRPr lang="fr-CA"/>
          </a:p>
        </p:txBody>
      </p:sp>
    </p:spTree>
    <p:extLst>
      <p:ext uri="{BB962C8B-B14F-4D97-AF65-F5344CB8AC3E}">
        <p14:creationId xmlns:p14="http://schemas.microsoft.com/office/powerpoint/2010/main" val="2535586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25</a:t>
            </a:fld>
            <a:endParaRPr lang="fr-CA"/>
          </a:p>
        </p:txBody>
      </p:sp>
    </p:spTree>
    <p:extLst>
      <p:ext uri="{BB962C8B-B14F-4D97-AF65-F5344CB8AC3E}">
        <p14:creationId xmlns:p14="http://schemas.microsoft.com/office/powerpoint/2010/main" val="41513795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26</a:t>
            </a:fld>
            <a:endParaRPr lang="fr-CA"/>
          </a:p>
        </p:txBody>
      </p:sp>
    </p:spTree>
    <p:extLst>
      <p:ext uri="{BB962C8B-B14F-4D97-AF65-F5344CB8AC3E}">
        <p14:creationId xmlns:p14="http://schemas.microsoft.com/office/powerpoint/2010/main" val="34035365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27</a:t>
            </a:fld>
            <a:endParaRPr lang="fr-CA"/>
          </a:p>
        </p:txBody>
      </p:sp>
    </p:spTree>
    <p:extLst>
      <p:ext uri="{BB962C8B-B14F-4D97-AF65-F5344CB8AC3E}">
        <p14:creationId xmlns:p14="http://schemas.microsoft.com/office/powerpoint/2010/main" val="15999510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28</a:t>
            </a:fld>
            <a:endParaRPr lang="fr-CA"/>
          </a:p>
        </p:txBody>
      </p:sp>
    </p:spTree>
    <p:extLst>
      <p:ext uri="{BB962C8B-B14F-4D97-AF65-F5344CB8AC3E}">
        <p14:creationId xmlns:p14="http://schemas.microsoft.com/office/powerpoint/2010/main" val="22775853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29</a:t>
            </a:fld>
            <a:endParaRPr lang="fr-CA"/>
          </a:p>
        </p:txBody>
      </p:sp>
    </p:spTree>
    <p:extLst>
      <p:ext uri="{BB962C8B-B14F-4D97-AF65-F5344CB8AC3E}">
        <p14:creationId xmlns:p14="http://schemas.microsoft.com/office/powerpoint/2010/main" val="28395924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30</a:t>
            </a:fld>
            <a:endParaRPr lang="fr-CA"/>
          </a:p>
        </p:txBody>
      </p:sp>
    </p:spTree>
    <p:extLst>
      <p:ext uri="{BB962C8B-B14F-4D97-AF65-F5344CB8AC3E}">
        <p14:creationId xmlns:p14="http://schemas.microsoft.com/office/powerpoint/2010/main" val="36521866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31</a:t>
            </a:fld>
            <a:endParaRPr lang="fr-CA"/>
          </a:p>
        </p:txBody>
      </p:sp>
    </p:spTree>
    <p:extLst>
      <p:ext uri="{BB962C8B-B14F-4D97-AF65-F5344CB8AC3E}">
        <p14:creationId xmlns:p14="http://schemas.microsoft.com/office/powerpoint/2010/main" val="39167687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32</a:t>
            </a:fld>
            <a:endParaRPr lang="fr-CA"/>
          </a:p>
        </p:txBody>
      </p:sp>
    </p:spTree>
    <p:extLst>
      <p:ext uri="{BB962C8B-B14F-4D97-AF65-F5344CB8AC3E}">
        <p14:creationId xmlns:p14="http://schemas.microsoft.com/office/powerpoint/2010/main" val="23842428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33</a:t>
            </a:fld>
            <a:endParaRPr lang="fr-CA"/>
          </a:p>
        </p:txBody>
      </p:sp>
    </p:spTree>
    <p:extLst>
      <p:ext uri="{BB962C8B-B14F-4D97-AF65-F5344CB8AC3E}">
        <p14:creationId xmlns:p14="http://schemas.microsoft.com/office/powerpoint/2010/main" val="32548450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34</a:t>
            </a:fld>
            <a:endParaRPr lang="fr-CA"/>
          </a:p>
        </p:txBody>
      </p:sp>
    </p:spTree>
    <p:extLst>
      <p:ext uri="{BB962C8B-B14F-4D97-AF65-F5344CB8AC3E}">
        <p14:creationId xmlns:p14="http://schemas.microsoft.com/office/powerpoint/2010/main" val="23255275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35</a:t>
            </a:fld>
            <a:endParaRPr lang="fr-CA"/>
          </a:p>
        </p:txBody>
      </p:sp>
    </p:spTree>
    <p:extLst>
      <p:ext uri="{BB962C8B-B14F-4D97-AF65-F5344CB8AC3E}">
        <p14:creationId xmlns:p14="http://schemas.microsoft.com/office/powerpoint/2010/main" val="16499226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36</a:t>
            </a:fld>
            <a:endParaRPr lang="fr-CA"/>
          </a:p>
        </p:txBody>
      </p:sp>
    </p:spTree>
    <p:extLst>
      <p:ext uri="{BB962C8B-B14F-4D97-AF65-F5344CB8AC3E}">
        <p14:creationId xmlns:p14="http://schemas.microsoft.com/office/powerpoint/2010/main" val="4485057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37</a:t>
            </a:fld>
            <a:endParaRPr lang="fr-CA"/>
          </a:p>
        </p:txBody>
      </p:sp>
    </p:spTree>
    <p:extLst>
      <p:ext uri="{BB962C8B-B14F-4D97-AF65-F5344CB8AC3E}">
        <p14:creationId xmlns:p14="http://schemas.microsoft.com/office/powerpoint/2010/main" val="24823134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39</a:t>
            </a:fld>
            <a:endParaRPr lang="fr-CA"/>
          </a:p>
        </p:txBody>
      </p:sp>
    </p:spTree>
    <p:extLst>
      <p:ext uri="{BB962C8B-B14F-4D97-AF65-F5344CB8AC3E}">
        <p14:creationId xmlns:p14="http://schemas.microsoft.com/office/powerpoint/2010/main" val="25371226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40</a:t>
            </a:fld>
            <a:endParaRPr lang="fr-CA"/>
          </a:p>
        </p:txBody>
      </p:sp>
    </p:spTree>
    <p:extLst>
      <p:ext uri="{BB962C8B-B14F-4D97-AF65-F5344CB8AC3E}">
        <p14:creationId xmlns:p14="http://schemas.microsoft.com/office/powerpoint/2010/main" val="15211943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41</a:t>
            </a:fld>
            <a:endParaRPr lang="fr-CA"/>
          </a:p>
        </p:txBody>
      </p:sp>
    </p:spTree>
    <p:extLst>
      <p:ext uri="{BB962C8B-B14F-4D97-AF65-F5344CB8AC3E}">
        <p14:creationId xmlns:p14="http://schemas.microsoft.com/office/powerpoint/2010/main" val="40447012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42</a:t>
            </a:fld>
            <a:endParaRPr lang="fr-CA"/>
          </a:p>
        </p:txBody>
      </p:sp>
    </p:spTree>
    <p:extLst>
      <p:ext uri="{BB962C8B-B14F-4D97-AF65-F5344CB8AC3E}">
        <p14:creationId xmlns:p14="http://schemas.microsoft.com/office/powerpoint/2010/main" val="1921762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43</a:t>
            </a:fld>
            <a:endParaRPr lang="fr-CA"/>
          </a:p>
        </p:txBody>
      </p:sp>
    </p:spTree>
    <p:extLst>
      <p:ext uri="{BB962C8B-B14F-4D97-AF65-F5344CB8AC3E}">
        <p14:creationId xmlns:p14="http://schemas.microsoft.com/office/powerpoint/2010/main" val="31755932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44</a:t>
            </a:fld>
            <a:endParaRPr lang="fr-CA"/>
          </a:p>
        </p:txBody>
      </p:sp>
    </p:spTree>
    <p:extLst>
      <p:ext uri="{BB962C8B-B14F-4D97-AF65-F5344CB8AC3E}">
        <p14:creationId xmlns:p14="http://schemas.microsoft.com/office/powerpoint/2010/main" val="9982461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45</a:t>
            </a:fld>
            <a:endParaRPr lang="fr-CA"/>
          </a:p>
        </p:txBody>
      </p:sp>
    </p:spTree>
    <p:extLst>
      <p:ext uri="{BB962C8B-B14F-4D97-AF65-F5344CB8AC3E}">
        <p14:creationId xmlns:p14="http://schemas.microsoft.com/office/powerpoint/2010/main" val="3489774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46</a:t>
            </a:fld>
            <a:endParaRPr lang="fr-CA"/>
          </a:p>
        </p:txBody>
      </p:sp>
    </p:spTree>
    <p:extLst>
      <p:ext uri="{BB962C8B-B14F-4D97-AF65-F5344CB8AC3E}">
        <p14:creationId xmlns:p14="http://schemas.microsoft.com/office/powerpoint/2010/main" val="1855706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47</a:t>
            </a:fld>
            <a:endParaRPr lang="fr-CA"/>
          </a:p>
        </p:txBody>
      </p:sp>
    </p:spTree>
    <p:extLst>
      <p:ext uri="{BB962C8B-B14F-4D97-AF65-F5344CB8AC3E}">
        <p14:creationId xmlns:p14="http://schemas.microsoft.com/office/powerpoint/2010/main" val="27637050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48</a:t>
            </a:fld>
            <a:endParaRPr lang="fr-CA"/>
          </a:p>
        </p:txBody>
      </p:sp>
    </p:spTree>
    <p:extLst>
      <p:ext uri="{BB962C8B-B14F-4D97-AF65-F5344CB8AC3E}">
        <p14:creationId xmlns:p14="http://schemas.microsoft.com/office/powerpoint/2010/main" val="36068254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49</a:t>
            </a:fld>
            <a:endParaRPr lang="fr-CA"/>
          </a:p>
        </p:txBody>
      </p:sp>
    </p:spTree>
    <p:extLst>
      <p:ext uri="{BB962C8B-B14F-4D97-AF65-F5344CB8AC3E}">
        <p14:creationId xmlns:p14="http://schemas.microsoft.com/office/powerpoint/2010/main" val="381111867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50</a:t>
            </a:fld>
            <a:endParaRPr lang="fr-CA"/>
          </a:p>
        </p:txBody>
      </p:sp>
    </p:spTree>
    <p:extLst>
      <p:ext uri="{BB962C8B-B14F-4D97-AF65-F5344CB8AC3E}">
        <p14:creationId xmlns:p14="http://schemas.microsoft.com/office/powerpoint/2010/main" val="23816422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51</a:t>
            </a:fld>
            <a:endParaRPr lang="fr-CA"/>
          </a:p>
        </p:txBody>
      </p:sp>
    </p:spTree>
    <p:extLst>
      <p:ext uri="{BB962C8B-B14F-4D97-AF65-F5344CB8AC3E}">
        <p14:creationId xmlns:p14="http://schemas.microsoft.com/office/powerpoint/2010/main" val="2586136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52</a:t>
            </a:fld>
            <a:endParaRPr lang="fr-CA"/>
          </a:p>
        </p:txBody>
      </p:sp>
    </p:spTree>
    <p:extLst>
      <p:ext uri="{BB962C8B-B14F-4D97-AF65-F5344CB8AC3E}">
        <p14:creationId xmlns:p14="http://schemas.microsoft.com/office/powerpoint/2010/main" val="8457437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53</a:t>
            </a:fld>
            <a:endParaRPr lang="fr-CA"/>
          </a:p>
        </p:txBody>
      </p:sp>
    </p:spTree>
    <p:extLst>
      <p:ext uri="{BB962C8B-B14F-4D97-AF65-F5344CB8AC3E}">
        <p14:creationId xmlns:p14="http://schemas.microsoft.com/office/powerpoint/2010/main" val="11079111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54</a:t>
            </a:fld>
            <a:endParaRPr lang="fr-CA"/>
          </a:p>
        </p:txBody>
      </p:sp>
    </p:spTree>
    <p:extLst>
      <p:ext uri="{BB962C8B-B14F-4D97-AF65-F5344CB8AC3E}">
        <p14:creationId xmlns:p14="http://schemas.microsoft.com/office/powerpoint/2010/main" val="98456516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55</a:t>
            </a:fld>
            <a:endParaRPr lang="fr-CA"/>
          </a:p>
        </p:txBody>
      </p:sp>
    </p:spTree>
    <p:extLst>
      <p:ext uri="{BB962C8B-B14F-4D97-AF65-F5344CB8AC3E}">
        <p14:creationId xmlns:p14="http://schemas.microsoft.com/office/powerpoint/2010/main" val="26680249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56</a:t>
            </a:fld>
            <a:endParaRPr lang="fr-CA"/>
          </a:p>
        </p:txBody>
      </p:sp>
    </p:spTree>
    <p:extLst>
      <p:ext uri="{BB962C8B-B14F-4D97-AF65-F5344CB8AC3E}">
        <p14:creationId xmlns:p14="http://schemas.microsoft.com/office/powerpoint/2010/main" val="27519597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57</a:t>
            </a:fld>
            <a:endParaRPr lang="fr-CA"/>
          </a:p>
        </p:txBody>
      </p:sp>
    </p:spTree>
    <p:extLst>
      <p:ext uri="{BB962C8B-B14F-4D97-AF65-F5344CB8AC3E}">
        <p14:creationId xmlns:p14="http://schemas.microsoft.com/office/powerpoint/2010/main" val="343821633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58</a:t>
            </a:fld>
            <a:endParaRPr lang="fr-CA"/>
          </a:p>
        </p:txBody>
      </p:sp>
    </p:spTree>
    <p:extLst>
      <p:ext uri="{BB962C8B-B14F-4D97-AF65-F5344CB8AC3E}">
        <p14:creationId xmlns:p14="http://schemas.microsoft.com/office/powerpoint/2010/main" val="249564418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59</a:t>
            </a:fld>
            <a:endParaRPr lang="fr-CA"/>
          </a:p>
        </p:txBody>
      </p:sp>
    </p:spTree>
    <p:extLst>
      <p:ext uri="{BB962C8B-B14F-4D97-AF65-F5344CB8AC3E}">
        <p14:creationId xmlns:p14="http://schemas.microsoft.com/office/powerpoint/2010/main" val="33374015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60</a:t>
            </a:fld>
            <a:endParaRPr lang="fr-CA"/>
          </a:p>
        </p:txBody>
      </p:sp>
    </p:spTree>
    <p:extLst>
      <p:ext uri="{BB962C8B-B14F-4D97-AF65-F5344CB8AC3E}">
        <p14:creationId xmlns:p14="http://schemas.microsoft.com/office/powerpoint/2010/main" val="5396200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62</a:t>
            </a:fld>
            <a:endParaRPr lang="fr-CA"/>
          </a:p>
        </p:txBody>
      </p:sp>
    </p:spTree>
    <p:extLst>
      <p:ext uri="{BB962C8B-B14F-4D97-AF65-F5344CB8AC3E}">
        <p14:creationId xmlns:p14="http://schemas.microsoft.com/office/powerpoint/2010/main" val="35184602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63</a:t>
            </a:fld>
            <a:endParaRPr lang="fr-CA"/>
          </a:p>
        </p:txBody>
      </p:sp>
    </p:spTree>
    <p:extLst>
      <p:ext uri="{BB962C8B-B14F-4D97-AF65-F5344CB8AC3E}">
        <p14:creationId xmlns:p14="http://schemas.microsoft.com/office/powerpoint/2010/main" val="3651868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64</a:t>
            </a:fld>
            <a:endParaRPr lang="fr-CA"/>
          </a:p>
        </p:txBody>
      </p:sp>
    </p:spTree>
    <p:extLst>
      <p:ext uri="{BB962C8B-B14F-4D97-AF65-F5344CB8AC3E}">
        <p14:creationId xmlns:p14="http://schemas.microsoft.com/office/powerpoint/2010/main" val="31143274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65</a:t>
            </a:fld>
            <a:endParaRPr lang="fr-CA"/>
          </a:p>
        </p:txBody>
      </p:sp>
    </p:spTree>
    <p:extLst>
      <p:ext uri="{BB962C8B-B14F-4D97-AF65-F5344CB8AC3E}">
        <p14:creationId xmlns:p14="http://schemas.microsoft.com/office/powerpoint/2010/main" val="336720210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66</a:t>
            </a:fld>
            <a:endParaRPr lang="fr-CA"/>
          </a:p>
        </p:txBody>
      </p:sp>
    </p:spTree>
    <p:extLst>
      <p:ext uri="{BB962C8B-B14F-4D97-AF65-F5344CB8AC3E}">
        <p14:creationId xmlns:p14="http://schemas.microsoft.com/office/powerpoint/2010/main" val="42091496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67</a:t>
            </a:fld>
            <a:endParaRPr lang="fr-CA"/>
          </a:p>
        </p:txBody>
      </p:sp>
    </p:spTree>
    <p:extLst>
      <p:ext uri="{BB962C8B-B14F-4D97-AF65-F5344CB8AC3E}">
        <p14:creationId xmlns:p14="http://schemas.microsoft.com/office/powerpoint/2010/main" val="42134191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68</a:t>
            </a:fld>
            <a:endParaRPr lang="fr-CA"/>
          </a:p>
        </p:txBody>
      </p:sp>
    </p:spTree>
    <p:extLst>
      <p:ext uri="{BB962C8B-B14F-4D97-AF65-F5344CB8AC3E}">
        <p14:creationId xmlns:p14="http://schemas.microsoft.com/office/powerpoint/2010/main" val="369151163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69</a:t>
            </a:fld>
            <a:endParaRPr lang="fr-CA"/>
          </a:p>
        </p:txBody>
      </p:sp>
    </p:spTree>
    <p:extLst>
      <p:ext uri="{BB962C8B-B14F-4D97-AF65-F5344CB8AC3E}">
        <p14:creationId xmlns:p14="http://schemas.microsoft.com/office/powerpoint/2010/main" val="274514635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71</a:t>
            </a:fld>
            <a:endParaRPr lang="fr-CA"/>
          </a:p>
        </p:txBody>
      </p:sp>
    </p:spTree>
    <p:extLst>
      <p:ext uri="{BB962C8B-B14F-4D97-AF65-F5344CB8AC3E}">
        <p14:creationId xmlns:p14="http://schemas.microsoft.com/office/powerpoint/2010/main" val="318543297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72</a:t>
            </a:fld>
            <a:endParaRPr lang="fr-CA"/>
          </a:p>
        </p:txBody>
      </p:sp>
    </p:spTree>
    <p:extLst>
      <p:ext uri="{BB962C8B-B14F-4D97-AF65-F5344CB8AC3E}">
        <p14:creationId xmlns:p14="http://schemas.microsoft.com/office/powerpoint/2010/main" val="338109924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73</a:t>
            </a:fld>
            <a:endParaRPr lang="fr-CA"/>
          </a:p>
        </p:txBody>
      </p:sp>
    </p:spTree>
    <p:extLst>
      <p:ext uri="{BB962C8B-B14F-4D97-AF65-F5344CB8AC3E}">
        <p14:creationId xmlns:p14="http://schemas.microsoft.com/office/powerpoint/2010/main" val="25912014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74</a:t>
            </a:fld>
            <a:endParaRPr lang="fr-CA"/>
          </a:p>
        </p:txBody>
      </p:sp>
    </p:spTree>
    <p:extLst>
      <p:ext uri="{BB962C8B-B14F-4D97-AF65-F5344CB8AC3E}">
        <p14:creationId xmlns:p14="http://schemas.microsoft.com/office/powerpoint/2010/main" val="243356097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75</a:t>
            </a:fld>
            <a:endParaRPr lang="fr-CA"/>
          </a:p>
        </p:txBody>
      </p:sp>
    </p:spTree>
    <p:extLst>
      <p:ext uri="{BB962C8B-B14F-4D97-AF65-F5344CB8AC3E}">
        <p14:creationId xmlns:p14="http://schemas.microsoft.com/office/powerpoint/2010/main" val="75751533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76</a:t>
            </a:fld>
            <a:endParaRPr lang="fr-CA"/>
          </a:p>
        </p:txBody>
      </p:sp>
    </p:spTree>
    <p:extLst>
      <p:ext uri="{BB962C8B-B14F-4D97-AF65-F5344CB8AC3E}">
        <p14:creationId xmlns:p14="http://schemas.microsoft.com/office/powerpoint/2010/main" val="97344860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77</a:t>
            </a:fld>
            <a:endParaRPr lang="fr-CA"/>
          </a:p>
        </p:txBody>
      </p:sp>
    </p:spTree>
    <p:extLst>
      <p:ext uri="{BB962C8B-B14F-4D97-AF65-F5344CB8AC3E}">
        <p14:creationId xmlns:p14="http://schemas.microsoft.com/office/powerpoint/2010/main" val="316577844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78</a:t>
            </a:fld>
            <a:endParaRPr lang="fr-CA"/>
          </a:p>
        </p:txBody>
      </p:sp>
    </p:spTree>
    <p:extLst>
      <p:ext uri="{BB962C8B-B14F-4D97-AF65-F5344CB8AC3E}">
        <p14:creationId xmlns:p14="http://schemas.microsoft.com/office/powerpoint/2010/main" val="132694204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79</a:t>
            </a:fld>
            <a:endParaRPr lang="fr-CA"/>
          </a:p>
        </p:txBody>
      </p:sp>
    </p:spTree>
    <p:extLst>
      <p:ext uri="{BB962C8B-B14F-4D97-AF65-F5344CB8AC3E}">
        <p14:creationId xmlns:p14="http://schemas.microsoft.com/office/powerpoint/2010/main" val="304831430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80</a:t>
            </a:fld>
            <a:endParaRPr lang="fr-CA"/>
          </a:p>
        </p:txBody>
      </p:sp>
    </p:spTree>
    <p:extLst>
      <p:ext uri="{BB962C8B-B14F-4D97-AF65-F5344CB8AC3E}">
        <p14:creationId xmlns:p14="http://schemas.microsoft.com/office/powerpoint/2010/main" val="96729181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81</a:t>
            </a:fld>
            <a:endParaRPr lang="fr-CA"/>
          </a:p>
        </p:txBody>
      </p:sp>
    </p:spTree>
    <p:extLst>
      <p:ext uri="{BB962C8B-B14F-4D97-AF65-F5344CB8AC3E}">
        <p14:creationId xmlns:p14="http://schemas.microsoft.com/office/powerpoint/2010/main" val="333702636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82</a:t>
            </a:fld>
            <a:endParaRPr lang="fr-CA"/>
          </a:p>
        </p:txBody>
      </p:sp>
    </p:spTree>
    <p:extLst>
      <p:ext uri="{BB962C8B-B14F-4D97-AF65-F5344CB8AC3E}">
        <p14:creationId xmlns:p14="http://schemas.microsoft.com/office/powerpoint/2010/main" val="268798398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83</a:t>
            </a:fld>
            <a:endParaRPr lang="fr-CA"/>
          </a:p>
        </p:txBody>
      </p:sp>
    </p:spTree>
    <p:extLst>
      <p:ext uri="{BB962C8B-B14F-4D97-AF65-F5344CB8AC3E}">
        <p14:creationId xmlns:p14="http://schemas.microsoft.com/office/powerpoint/2010/main" val="98541271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85</a:t>
            </a:fld>
            <a:endParaRPr lang="fr-CA"/>
          </a:p>
        </p:txBody>
      </p:sp>
    </p:spTree>
    <p:extLst>
      <p:ext uri="{BB962C8B-B14F-4D97-AF65-F5344CB8AC3E}">
        <p14:creationId xmlns:p14="http://schemas.microsoft.com/office/powerpoint/2010/main" val="50410889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86</a:t>
            </a:fld>
            <a:endParaRPr lang="fr-CA"/>
          </a:p>
        </p:txBody>
      </p:sp>
    </p:spTree>
    <p:extLst>
      <p:ext uri="{BB962C8B-B14F-4D97-AF65-F5344CB8AC3E}">
        <p14:creationId xmlns:p14="http://schemas.microsoft.com/office/powerpoint/2010/main" val="387001454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10"/>
          </p:nvPr>
        </p:nvSpPr>
        <p:spPr/>
        <p:txBody>
          <a:bodyPr/>
          <a:lstStyle/>
          <a:p>
            <a:fld id="{309C6E11-0D05-496D-A5A2-E82F91393E9F}" type="slidenum">
              <a:rPr lang="fr-CA" smtClean="0"/>
              <a:t>87</a:t>
            </a:fld>
            <a:endParaRPr lang="fr-CA"/>
          </a:p>
        </p:txBody>
      </p:sp>
    </p:spTree>
    <p:extLst>
      <p:ext uri="{BB962C8B-B14F-4D97-AF65-F5344CB8AC3E}">
        <p14:creationId xmlns:p14="http://schemas.microsoft.com/office/powerpoint/2010/main" val="1901399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0BF9C8C-684C-4824-8BA4-BB4675789CC7}" type="datetime1">
              <a:rPr lang="fr-CA" smtClean="0"/>
              <a:t>2026-02-19</a:t>
            </a:fld>
            <a:endParaRPr lang="fr-CA"/>
          </a:p>
        </p:txBody>
      </p:sp>
      <p:sp>
        <p:nvSpPr>
          <p:cNvPr id="5" name="Footer Placeholder 4"/>
          <p:cNvSpPr>
            <a:spLocks noGrp="1"/>
          </p:cNvSpPr>
          <p:nvPr>
            <p:ph type="ftr" sz="quarter" idx="11"/>
          </p:nvPr>
        </p:nvSpPr>
        <p:spPr/>
        <p:txBody>
          <a:bodyPr/>
          <a:lstStyle/>
          <a:p>
            <a:endParaRPr lang="fr-CA"/>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fr-CA"/>
          </a:p>
        </p:txBody>
      </p:sp>
      <p:sp>
        <p:nvSpPr>
          <p:cNvPr id="6" name="Slide Number Placeholder 5"/>
          <p:cNvSpPr>
            <a:spLocks noGrp="1"/>
          </p:cNvSpPr>
          <p:nvPr>
            <p:ph type="sldNum" sz="quarter" idx="12"/>
          </p:nvPr>
        </p:nvSpPr>
        <p:spPr>
          <a:xfrm>
            <a:off x="531812" y="4529540"/>
            <a:ext cx="779767" cy="365125"/>
          </a:xfrm>
        </p:spPr>
        <p:txBody>
          <a:bodyPr/>
          <a:lstStyle/>
          <a:p>
            <a:fld id="{5B252256-196B-4F07-9C8C-6969E68B6B84}" type="slidenum">
              <a:rPr lang="fr-CA" smtClean="0"/>
              <a:t>‹N°›</a:t>
            </a:fld>
            <a:endParaRPr lang="fr-CA"/>
          </a:p>
        </p:txBody>
      </p:sp>
    </p:spTree>
    <p:extLst>
      <p:ext uri="{BB962C8B-B14F-4D97-AF65-F5344CB8AC3E}">
        <p14:creationId xmlns:p14="http://schemas.microsoft.com/office/powerpoint/2010/main" val="3584733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C5D4ED-6E05-4A2A-A562-90FA0FC10AE6}" type="datetime1">
              <a:rPr lang="fr-CA" smtClean="0"/>
              <a:t>2026-02-19</a:t>
            </a:fld>
            <a:endParaRPr lang="fr-CA"/>
          </a:p>
        </p:txBody>
      </p:sp>
      <p:sp>
        <p:nvSpPr>
          <p:cNvPr id="5" name="Footer Placeholder 4"/>
          <p:cNvSpPr>
            <a:spLocks noGrp="1"/>
          </p:cNvSpPr>
          <p:nvPr>
            <p:ph type="ftr" sz="quarter" idx="11"/>
          </p:nvPr>
        </p:nvSpPr>
        <p:spPr/>
        <p:txBody>
          <a:bodyPr/>
          <a:lstStyle/>
          <a:p>
            <a:endParaRPr lang="fr-C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B252256-196B-4F07-9C8C-6969E68B6B84}" type="slidenum">
              <a:rPr lang="fr-CA" smtClean="0"/>
              <a:t>‹N°›</a:t>
            </a:fld>
            <a:endParaRPr lang="fr-CA"/>
          </a:p>
        </p:txBody>
      </p:sp>
    </p:spTree>
    <p:extLst>
      <p:ext uri="{BB962C8B-B14F-4D97-AF65-F5344CB8AC3E}">
        <p14:creationId xmlns:p14="http://schemas.microsoft.com/office/powerpoint/2010/main" val="2394189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A351FB-01C9-4C1C-8A9B-6F60C6012834}" type="datetime1">
              <a:rPr lang="fr-CA" smtClean="0"/>
              <a:t>2026-02-19</a:t>
            </a:fld>
            <a:endParaRPr lang="fr-CA"/>
          </a:p>
        </p:txBody>
      </p:sp>
      <p:sp>
        <p:nvSpPr>
          <p:cNvPr id="5" name="Footer Placeholder 4"/>
          <p:cNvSpPr>
            <a:spLocks noGrp="1"/>
          </p:cNvSpPr>
          <p:nvPr>
            <p:ph type="ftr" sz="quarter" idx="11"/>
          </p:nvPr>
        </p:nvSpPr>
        <p:spPr/>
        <p:txBody>
          <a:bodyPr/>
          <a:lstStyle/>
          <a:p>
            <a:endParaRPr lang="fr-CA"/>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B252256-196B-4F07-9C8C-6969E68B6B84}" type="slidenum">
              <a:rPr lang="fr-CA" smtClean="0"/>
              <a:t>‹N°›</a:t>
            </a:fld>
            <a:endParaRPr lang="fr-CA"/>
          </a:p>
        </p:txBody>
      </p:sp>
    </p:spTree>
    <p:extLst>
      <p:ext uri="{BB962C8B-B14F-4D97-AF65-F5344CB8AC3E}">
        <p14:creationId xmlns:p14="http://schemas.microsoft.com/office/powerpoint/2010/main" val="33955518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73EF4A-8FA1-48F5-80A9-DC275C89073D}" type="datetime1">
              <a:rPr lang="fr-CA" smtClean="0"/>
              <a:t>2026-02-19</a:t>
            </a:fld>
            <a:endParaRPr lang="fr-CA"/>
          </a:p>
        </p:txBody>
      </p:sp>
      <p:sp>
        <p:nvSpPr>
          <p:cNvPr id="6" name="Footer Placeholder 5"/>
          <p:cNvSpPr>
            <a:spLocks noGrp="1"/>
          </p:cNvSpPr>
          <p:nvPr>
            <p:ph type="ftr" sz="quarter" idx="11"/>
          </p:nvPr>
        </p:nvSpPr>
        <p:spPr/>
        <p:txBody>
          <a:bodyPr/>
          <a:lstStyle/>
          <a:p>
            <a:endParaRPr lang="fr-CA"/>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B252256-196B-4F07-9C8C-6969E68B6B84}" type="slidenum">
              <a:rPr lang="fr-CA" smtClean="0"/>
              <a:t>‹N°›</a:t>
            </a:fld>
            <a:endParaRPr lang="fr-CA"/>
          </a:p>
        </p:txBody>
      </p:sp>
    </p:spTree>
    <p:extLst>
      <p:ext uri="{BB962C8B-B14F-4D97-AF65-F5344CB8AC3E}">
        <p14:creationId xmlns:p14="http://schemas.microsoft.com/office/powerpoint/2010/main" val="2674502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E46046F-2F6D-487C-BB0F-1F22FC185D82}" type="datetime1">
              <a:rPr lang="fr-CA" smtClean="0"/>
              <a:t>2026-02-19</a:t>
            </a:fld>
            <a:endParaRPr lang="fr-CA"/>
          </a:p>
        </p:txBody>
      </p:sp>
      <p:sp>
        <p:nvSpPr>
          <p:cNvPr id="8" name="Footer Placeholder 7"/>
          <p:cNvSpPr>
            <a:spLocks noGrp="1"/>
          </p:cNvSpPr>
          <p:nvPr>
            <p:ph type="ftr" sz="quarter" idx="11"/>
          </p:nvPr>
        </p:nvSpPr>
        <p:spPr/>
        <p:txBody>
          <a:bodyPr/>
          <a:lstStyle/>
          <a:p>
            <a:endParaRPr lang="fr-CA"/>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B252256-196B-4F07-9C8C-6969E68B6B84}" type="slidenum">
              <a:rPr lang="fr-CA" smtClean="0"/>
              <a:t>‹N°›</a:t>
            </a:fld>
            <a:endParaRPr lang="fr-CA"/>
          </a:p>
        </p:txBody>
      </p:sp>
    </p:spTree>
    <p:extLst>
      <p:ext uri="{BB962C8B-B14F-4D97-AF65-F5344CB8AC3E}">
        <p14:creationId xmlns:p14="http://schemas.microsoft.com/office/powerpoint/2010/main" val="155771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7DA9C53-7840-437C-B635-9DE7545465E9}" type="datetime1">
              <a:rPr lang="fr-CA" smtClean="0"/>
              <a:t>2026-02-19</a:t>
            </a:fld>
            <a:endParaRPr lang="fr-CA"/>
          </a:p>
        </p:txBody>
      </p:sp>
      <p:sp>
        <p:nvSpPr>
          <p:cNvPr id="4" name="Footer Placeholder 3"/>
          <p:cNvSpPr>
            <a:spLocks noGrp="1"/>
          </p:cNvSpPr>
          <p:nvPr>
            <p:ph type="ftr" sz="quarter" idx="11"/>
          </p:nvPr>
        </p:nvSpPr>
        <p:spPr/>
        <p:txBody>
          <a:bodyPr/>
          <a:lstStyle/>
          <a:p>
            <a:endParaRPr lang="fr-CA"/>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B252256-196B-4F07-9C8C-6969E68B6B84}" type="slidenum">
              <a:rPr lang="fr-CA" smtClean="0"/>
              <a:t>‹N°›</a:t>
            </a:fld>
            <a:endParaRPr lang="fr-CA"/>
          </a:p>
        </p:txBody>
      </p:sp>
    </p:spTree>
    <p:extLst>
      <p:ext uri="{BB962C8B-B14F-4D97-AF65-F5344CB8AC3E}">
        <p14:creationId xmlns:p14="http://schemas.microsoft.com/office/powerpoint/2010/main" val="2466764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83E74A-16A6-44B6-AD05-9EB213F2A82B}" type="datetime1">
              <a:rPr lang="fr-CA" smtClean="0"/>
              <a:t>2026-02-19</a:t>
            </a:fld>
            <a:endParaRPr lang="fr-CA"/>
          </a:p>
        </p:txBody>
      </p:sp>
      <p:sp>
        <p:nvSpPr>
          <p:cNvPr id="3" name="Footer Placeholder 2"/>
          <p:cNvSpPr>
            <a:spLocks noGrp="1"/>
          </p:cNvSpPr>
          <p:nvPr>
            <p:ph type="ftr" sz="quarter" idx="11"/>
          </p:nvPr>
        </p:nvSpPr>
        <p:spPr/>
        <p:txBody>
          <a:bodyPr/>
          <a:lstStyle/>
          <a:p>
            <a:endParaRPr lang="fr-CA"/>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CA"/>
          </a:p>
        </p:txBody>
      </p:sp>
      <p:sp>
        <p:nvSpPr>
          <p:cNvPr id="4" name="Slide Number Placeholder 3"/>
          <p:cNvSpPr>
            <a:spLocks noGrp="1"/>
          </p:cNvSpPr>
          <p:nvPr>
            <p:ph type="sldNum" sz="quarter" idx="12"/>
          </p:nvPr>
        </p:nvSpPr>
        <p:spPr/>
        <p:txBody>
          <a:bodyPr/>
          <a:lstStyle/>
          <a:p>
            <a:fld id="{5B252256-196B-4F07-9C8C-6969E68B6B84}" type="slidenum">
              <a:rPr lang="fr-CA" smtClean="0"/>
              <a:t>‹N°›</a:t>
            </a:fld>
            <a:endParaRPr lang="fr-CA"/>
          </a:p>
        </p:txBody>
      </p:sp>
    </p:spTree>
    <p:extLst>
      <p:ext uri="{BB962C8B-B14F-4D97-AF65-F5344CB8AC3E}">
        <p14:creationId xmlns:p14="http://schemas.microsoft.com/office/powerpoint/2010/main" val="1307529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B76D66-9FF6-43B4-B743-A67EC2D82718}" type="datetime1">
              <a:rPr lang="fr-CA" smtClean="0"/>
              <a:t>2026-02-19</a:t>
            </a:fld>
            <a:endParaRPr lang="fr-CA"/>
          </a:p>
        </p:txBody>
      </p:sp>
      <p:sp>
        <p:nvSpPr>
          <p:cNvPr id="6" name="Footer Placeholder 5"/>
          <p:cNvSpPr>
            <a:spLocks noGrp="1"/>
          </p:cNvSpPr>
          <p:nvPr>
            <p:ph type="ftr" sz="quarter" idx="11"/>
          </p:nvPr>
        </p:nvSpPr>
        <p:spPr/>
        <p:txBody>
          <a:bodyPr/>
          <a:lstStyle/>
          <a:p>
            <a:endParaRPr lang="fr-CA"/>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B252256-196B-4F07-9C8C-6969E68B6B84}" type="slidenum">
              <a:rPr lang="fr-CA" smtClean="0"/>
              <a:t>‹N°›</a:t>
            </a:fld>
            <a:endParaRPr lang="fr-CA"/>
          </a:p>
        </p:txBody>
      </p:sp>
    </p:spTree>
    <p:extLst>
      <p:ext uri="{BB962C8B-B14F-4D97-AF65-F5344CB8AC3E}">
        <p14:creationId xmlns:p14="http://schemas.microsoft.com/office/powerpoint/2010/main" val="860776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6CF762-9995-43E2-9567-F8538952E7C9}" type="datetime1">
              <a:rPr lang="fr-CA" smtClean="0"/>
              <a:t>2026-02-19</a:t>
            </a:fld>
            <a:endParaRPr lang="fr-CA"/>
          </a:p>
        </p:txBody>
      </p:sp>
      <p:sp>
        <p:nvSpPr>
          <p:cNvPr id="6" name="Footer Placeholder 5"/>
          <p:cNvSpPr>
            <a:spLocks noGrp="1"/>
          </p:cNvSpPr>
          <p:nvPr>
            <p:ph type="ftr" sz="quarter" idx="11"/>
          </p:nvPr>
        </p:nvSpPr>
        <p:spPr/>
        <p:txBody>
          <a:bodyPr/>
          <a:lstStyle/>
          <a:p>
            <a:endParaRPr lang="fr-C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252256-196B-4F07-9C8C-6969E68B6B84}" type="slidenum">
              <a:rPr lang="fr-CA" smtClean="0"/>
              <a:t>‹N°›</a:t>
            </a:fld>
            <a:endParaRPr lang="fr-CA"/>
          </a:p>
        </p:txBody>
      </p:sp>
    </p:spTree>
    <p:extLst>
      <p:ext uri="{BB962C8B-B14F-4D97-AF65-F5344CB8AC3E}">
        <p14:creationId xmlns:p14="http://schemas.microsoft.com/office/powerpoint/2010/main" val="3383926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68BE6B-A8E7-45E3-B282-C4621E2A47AC}" type="datetime1">
              <a:rPr lang="fr-CA" smtClean="0"/>
              <a:t>2026-02-19</a:t>
            </a:fld>
            <a:endParaRPr lang="fr-CA"/>
          </a:p>
        </p:txBody>
      </p:sp>
      <p:sp>
        <p:nvSpPr>
          <p:cNvPr id="5" name="Footer Placeholder 4"/>
          <p:cNvSpPr>
            <a:spLocks noGrp="1"/>
          </p:cNvSpPr>
          <p:nvPr>
            <p:ph type="ftr" sz="quarter" idx="11"/>
          </p:nvPr>
        </p:nvSpPr>
        <p:spPr/>
        <p:txBody>
          <a:bodyPr/>
          <a:lstStyle/>
          <a:p>
            <a:endParaRPr lang="fr-CA"/>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B252256-196B-4F07-9C8C-6969E68B6B84}" type="slidenum">
              <a:rPr lang="fr-CA" smtClean="0"/>
              <a:t>‹N°›</a:t>
            </a:fld>
            <a:endParaRPr lang="fr-CA"/>
          </a:p>
        </p:txBody>
      </p:sp>
    </p:spTree>
    <p:extLst>
      <p:ext uri="{BB962C8B-B14F-4D97-AF65-F5344CB8AC3E}">
        <p14:creationId xmlns:p14="http://schemas.microsoft.com/office/powerpoint/2010/main" val="96756992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68BE6B-A8E7-45E3-B282-C4621E2A47AC}" type="datetime1">
              <a:rPr lang="fr-CA" smtClean="0"/>
              <a:t>2026-02-19</a:t>
            </a:fld>
            <a:endParaRPr lang="fr-CA"/>
          </a:p>
        </p:txBody>
      </p:sp>
      <p:sp>
        <p:nvSpPr>
          <p:cNvPr id="5" name="Footer Placeholder 4"/>
          <p:cNvSpPr>
            <a:spLocks noGrp="1"/>
          </p:cNvSpPr>
          <p:nvPr>
            <p:ph type="ftr" sz="quarter" idx="11"/>
          </p:nvPr>
        </p:nvSpPr>
        <p:spPr/>
        <p:txBody>
          <a:bodyPr/>
          <a:lstStyle/>
          <a:p>
            <a:endParaRPr lang="fr-CA"/>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B252256-196B-4F07-9C8C-6969E68B6B84}" type="slidenum">
              <a:rPr lang="fr-CA" smtClean="0"/>
              <a:t>‹N°›</a:t>
            </a:fld>
            <a:endParaRPr lang="fr-CA"/>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279556219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668BE6B-A8E7-45E3-B282-C4621E2A47AC}" type="datetime1">
              <a:rPr lang="fr-CA" smtClean="0"/>
              <a:t>2026-02-19</a:t>
            </a:fld>
            <a:endParaRPr lang="fr-CA"/>
          </a:p>
        </p:txBody>
      </p:sp>
      <p:sp>
        <p:nvSpPr>
          <p:cNvPr id="6" name="Footer Placeholder 5"/>
          <p:cNvSpPr>
            <a:spLocks noGrp="1"/>
          </p:cNvSpPr>
          <p:nvPr>
            <p:ph type="ftr" sz="quarter" idx="11"/>
          </p:nvPr>
        </p:nvSpPr>
        <p:spPr/>
        <p:txBody>
          <a:bodyPr/>
          <a:lstStyle/>
          <a:p>
            <a:endParaRPr lang="fr-C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252256-196B-4F07-9C8C-6969E68B6B84}" type="slidenum">
              <a:rPr lang="fr-CA" smtClean="0"/>
              <a:t>‹N°›</a:t>
            </a:fld>
            <a:endParaRPr lang="fr-CA"/>
          </a:p>
        </p:txBody>
      </p:sp>
    </p:spTree>
    <p:extLst>
      <p:ext uri="{BB962C8B-B14F-4D97-AF65-F5344CB8AC3E}">
        <p14:creationId xmlns:p14="http://schemas.microsoft.com/office/powerpoint/2010/main" val="11679326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668BE6B-A8E7-45E3-B282-C4621E2A47AC}" type="datetime1">
              <a:rPr lang="fr-CA" smtClean="0"/>
              <a:t>2026-02-19</a:t>
            </a:fld>
            <a:endParaRPr lang="fr-CA"/>
          </a:p>
        </p:txBody>
      </p:sp>
      <p:sp>
        <p:nvSpPr>
          <p:cNvPr id="6" name="Footer Placeholder 5"/>
          <p:cNvSpPr>
            <a:spLocks noGrp="1"/>
          </p:cNvSpPr>
          <p:nvPr>
            <p:ph type="ftr" sz="quarter" idx="11"/>
          </p:nvPr>
        </p:nvSpPr>
        <p:spPr/>
        <p:txBody>
          <a:bodyPr/>
          <a:lstStyle/>
          <a:p>
            <a:endParaRPr lang="fr-CA"/>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252256-196B-4F07-9C8C-6969E68B6B84}" type="slidenum">
              <a:rPr lang="fr-CA" smtClean="0"/>
              <a:t>‹N°›</a:t>
            </a:fld>
            <a:endParaRPr lang="fr-CA"/>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45476119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668BE6B-A8E7-45E3-B282-C4621E2A47AC}" type="datetime1">
              <a:rPr lang="fr-CA" smtClean="0"/>
              <a:t>2026-02-19</a:t>
            </a:fld>
            <a:endParaRPr lang="fr-CA"/>
          </a:p>
        </p:txBody>
      </p:sp>
      <p:sp>
        <p:nvSpPr>
          <p:cNvPr id="6" name="Footer Placeholder 5"/>
          <p:cNvSpPr>
            <a:spLocks noGrp="1"/>
          </p:cNvSpPr>
          <p:nvPr>
            <p:ph type="ftr" sz="quarter" idx="11"/>
          </p:nvPr>
        </p:nvSpPr>
        <p:spPr/>
        <p:txBody>
          <a:bodyPr/>
          <a:lstStyle/>
          <a:p>
            <a:endParaRPr lang="fr-C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B252256-196B-4F07-9C8C-6969E68B6B84}" type="slidenum">
              <a:rPr lang="fr-CA" smtClean="0"/>
              <a:t>‹N°›</a:t>
            </a:fld>
            <a:endParaRPr lang="fr-CA"/>
          </a:p>
        </p:txBody>
      </p:sp>
    </p:spTree>
    <p:extLst>
      <p:ext uri="{BB962C8B-B14F-4D97-AF65-F5344CB8AC3E}">
        <p14:creationId xmlns:p14="http://schemas.microsoft.com/office/powerpoint/2010/main" val="243008479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850588-3942-4A9E-BEB8-A6F0CD1B7BFE}" type="datetime1">
              <a:rPr lang="fr-CA" smtClean="0"/>
              <a:t>2026-02-19</a:t>
            </a:fld>
            <a:endParaRPr lang="fr-CA"/>
          </a:p>
        </p:txBody>
      </p:sp>
      <p:sp>
        <p:nvSpPr>
          <p:cNvPr id="5" name="Footer Placeholder 4"/>
          <p:cNvSpPr>
            <a:spLocks noGrp="1"/>
          </p:cNvSpPr>
          <p:nvPr>
            <p:ph type="ftr" sz="quarter" idx="11"/>
          </p:nvPr>
        </p:nvSpPr>
        <p:spPr/>
        <p:txBody>
          <a:bodyPr/>
          <a:lstStyle/>
          <a:p>
            <a:endParaRPr lang="fr-C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B252256-196B-4F07-9C8C-6969E68B6B84}" type="slidenum">
              <a:rPr lang="fr-CA" smtClean="0"/>
              <a:t>‹N°›</a:t>
            </a:fld>
            <a:endParaRPr lang="fr-CA"/>
          </a:p>
        </p:txBody>
      </p:sp>
    </p:spTree>
    <p:extLst>
      <p:ext uri="{BB962C8B-B14F-4D97-AF65-F5344CB8AC3E}">
        <p14:creationId xmlns:p14="http://schemas.microsoft.com/office/powerpoint/2010/main" val="40626204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79E214-CC62-4478-AF32-0E72A481CDD8}" type="datetime1">
              <a:rPr lang="fr-CA" smtClean="0"/>
              <a:t>2026-02-19</a:t>
            </a:fld>
            <a:endParaRPr lang="fr-CA"/>
          </a:p>
        </p:txBody>
      </p:sp>
      <p:sp>
        <p:nvSpPr>
          <p:cNvPr id="5" name="Footer Placeholder 4"/>
          <p:cNvSpPr>
            <a:spLocks noGrp="1"/>
          </p:cNvSpPr>
          <p:nvPr>
            <p:ph type="ftr" sz="quarter" idx="11"/>
          </p:nvPr>
        </p:nvSpPr>
        <p:spPr/>
        <p:txBody>
          <a:bodyPr/>
          <a:lstStyle/>
          <a:p>
            <a:endParaRPr lang="fr-C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B252256-196B-4F07-9C8C-6969E68B6B84}" type="slidenum">
              <a:rPr lang="fr-CA" smtClean="0"/>
              <a:t>‹N°›</a:t>
            </a:fld>
            <a:endParaRPr lang="fr-CA"/>
          </a:p>
        </p:txBody>
      </p:sp>
    </p:spTree>
    <p:extLst>
      <p:ext uri="{BB962C8B-B14F-4D97-AF65-F5344CB8AC3E}">
        <p14:creationId xmlns:p14="http://schemas.microsoft.com/office/powerpoint/2010/main" val="4042578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fr-CA"/>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fr-CA"/>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fr-CA"/>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fr-CA"/>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fr-CA"/>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fr-CA"/>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fr-CA"/>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fr-CA"/>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fr-CA"/>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fr-CA"/>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fr-CA"/>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fr-CA"/>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fr-CA"/>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fr-CA"/>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fr-CA"/>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fr-CA"/>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fr-CA"/>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fr-CA"/>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fr-CA"/>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fr-CA"/>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fr-CA"/>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fr-CA"/>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fr-CA"/>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fr-CA"/>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CA"/>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668BE6B-A8E7-45E3-B282-C4621E2A47AC}" type="datetime1">
              <a:rPr lang="fr-CA" smtClean="0"/>
              <a:t>2026-02-19</a:t>
            </a:fld>
            <a:endParaRPr lang="fr-CA"/>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CA"/>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B252256-196B-4F07-9C8C-6969E68B6B84}" type="slidenum">
              <a:rPr lang="fr-CA" smtClean="0"/>
              <a:t>‹N°›</a:t>
            </a:fld>
            <a:endParaRPr lang="fr-CA"/>
          </a:p>
        </p:txBody>
      </p:sp>
    </p:spTree>
    <p:extLst>
      <p:ext uri="{BB962C8B-B14F-4D97-AF65-F5344CB8AC3E}">
        <p14:creationId xmlns:p14="http://schemas.microsoft.com/office/powerpoint/2010/main" val="4189767041"/>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 id="2147483816" r:id="rId14"/>
    <p:sldLayoutId id="2147483817" r:id="rId15"/>
    <p:sldLayoutId id="2147483818"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code.visualstudio.com/download"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nodejs.org/en/download/"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hemeOverride" Target="../theme/themeOverride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hemeOverride" Target="../theme/themeOverride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hemeOverride" Target="../theme/themeOverride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hemeOverride" Target="../theme/themeOverride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hemeOverride" Target="../theme/themeOverride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hemeOverride" Target="../theme/themeOverride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hemeOverride" Target="../theme/themeOverride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hemeOverride" Target="../theme/themeOverride10.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hemeOverride" Target="../theme/themeOverride1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hemeOverride" Target="../theme/themeOverride1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hemeOverride" Target="../theme/themeOverride1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hemeOverride" Target="../theme/themeOverride1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hemeOverride" Target="../theme/themeOverride1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hemeOverride" Target="../theme/themeOverr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hemeOverride" Target="../theme/themeOverride1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hemeOverride" Target="../theme/themeOverride18.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hemeOverride" Target="../theme/themeOverride19.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hemeOverride" Target="../theme/themeOverride20.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hemeOverride" Target="../theme/themeOverride2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themeOverride" Target="../theme/themeOverride2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hemeOverride" Target="../theme/themeOverride2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themeOverride" Target="../theme/themeOverride2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hemeOverride" Target="../theme/themeOverride2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hemeOverride" Target="../theme/themeOverride26.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themeOverride" Target="../theme/themeOverride2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themeOverride" Target="../theme/themeOverride2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themeOverride" Target="../theme/themeOverride29.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themeOverride" Target="../theme/themeOverride30.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themeOverride" Target="../theme/themeOverride31.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themeOverride" Target="../theme/themeOverr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themeOverride" Target="../theme/themeOverride3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hemeOverride" Target="../theme/themeOverride34.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themeOverride" Target="../theme/themeOverride35.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themeOverride" Target="../theme/themeOverride36.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themeOverride" Target="../theme/themeOverride37.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themeOverride" Target="../theme/themeOverride38.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themeOverride" Target="../theme/themeOverride39.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themeOverride" Target="../theme/themeOverride40.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themeOverride" Target="../theme/themeOverride41.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themeOverride" Target="../theme/themeOverride4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themeOverride" Target="../theme/themeOverride43.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themeOverride" Target="../theme/themeOverride44.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themeOverride" Target="../theme/themeOverride45.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themeOverride" Target="../theme/themeOverride46.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7.xml"/><Relationship Id="rId1" Type="http://schemas.openxmlformats.org/officeDocument/2006/relationships/themeOverride" Target="../theme/themeOverride47.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7.xml"/><Relationship Id="rId1" Type="http://schemas.openxmlformats.org/officeDocument/2006/relationships/themeOverride" Target="../theme/themeOverride48.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7.xml"/><Relationship Id="rId1" Type="http://schemas.openxmlformats.org/officeDocument/2006/relationships/themeOverride" Target="../theme/themeOverride49.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7.xml"/><Relationship Id="rId1" Type="http://schemas.openxmlformats.org/officeDocument/2006/relationships/themeOverride" Target="../theme/themeOverride50.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7.xml"/><Relationship Id="rId1" Type="http://schemas.openxmlformats.org/officeDocument/2006/relationships/themeOverride" Target="../theme/themeOverride51.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7.xml"/><Relationship Id="rId1" Type="http://schemas.openxmlformats.org/officeDocument/2006/relationships/themeOverride" Target="../theme/themeOverride5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7.xml"/><Relationship Id="rId1" Type="http://schemas.openxmlformats.org/officeDocument/2006/relationships/themeOverride" Target="../theme/themeOverride53.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7.xml"/><Relationship Id="rId1" Type="http://schemas.openxmlformats.org/officeDocument/2006/relationships/themeOverride" Target="../theme/themeOverride5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7.xml"/><Relationship Id="rId1" Type="http://schemas.openxmlformats.org/officeDocument/2006/relationships/themeOverride" Target="../theme/themeOverride55.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7.xml"/><Relationship Id="rId1" Type="http://schemas.openxmlformats.org/officeDocument/2006/relationships/themeOverride" Target="../theme/themeOverride56.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7.xml"/><Relationship Id="rId1" Type="http://schemas.openxmlformats.org/officeDocument/2006/relationships/themeOverride" Target="../theme/themeOverride57.xml"/><Relationship Id="rId4" Type="http://schemas.openxmlformats.org/officeDocument/2006/relationships/hyperlink" Target="https://www.mongodb.com/try/download/community" TargetMode="Externa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7.xml"/><Relationship Id="rId1" Type="http://schemas.openxmlformats.org/officeDocument/2006/relationships/themeOverride" Target="../theme/themeOverride58.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7.xml"/><Relationship Id="rId1" Type="http://schemas.openxmlformats.org/officeDocument/2006/relationships/themeOverride" Target="../theme/themeOverride59.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7.xml"/><Relationship Id="rId1" Type="http://schemas.openxmlformats.org/officeDocument/2006/relationships/themeOverride" Target="../theme/themeOverride60.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7.xml"/><Relationship Id="rId1" Type="http://schemas.openxmlformats.org/officeDocument/2006/relationships/themeOverride" Target="../theme/themeOverride61.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7.xml"/><Relationship Id="rId1" Type="http://schemas.openxmlformats.org/officeDocument/2006/relationships/themeOverride" Target="../theme/themeOverride6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7.xml"/><Relationship Id="rId1" Type="http://schemas.openxmlformats.org/officeDocument/2006/relationships/themeOverride" Target="../theme/themeOverride63.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7.xml"/><Relationship Id="rId1" Type="http://schemas.openxmlformats.org/officeDocument/2006/relationships/themeOverride" Target="../theme/themeOverride64.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7.xml"/><Relationship Id="rId1" Type="http://schemas.openxmlformats.org/officeDocument/2006/relationships/themeOverride" Target="../theme/themeOverride65.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7.xml"/><Relationship Id="rId1" Type="http://schemas.openxmlformats.org/officeDocument/2006/relationships/themeOverride" Target="../theme/themeOverride66.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7.xml"/><Relationship Id="rId1" Type="http://schemas.openxmlformats.org/officeDocument/2006/relationships/themeOverride" Target="../theme/themeOverride67.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7.xml"/><Relationship Id="rId1" Type="http://schemas.openxmlformats.org/officeDocument/2006/relationships/themeOverride" Target="../theme/themeOverride68.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7.xml"/><Relationship Id="rId1" Type="http://schemas.openxmlformats.org/officeDocument/2006/relationships/themeOverride" Target="../theme/themeOverride69.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7.xml"/><Relationship Id="rId1" Type="http://schemas.openxmlformats.org/officeDocument/2006/relationships/themeOverride" Target="../theme/themeOverride70.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7.xml"/><Relationship Id="rId1" Type="http://schemas.openxmlformats.org/officeDocument/2006/relationships/themeOverride" Target="../theme/themeOverride71.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7.xml"/><Relationship Id="rId1" Type="http://schemas.openxmlformats.org/officeDocument/2006/relationships/themeOverride" Target="../theme/themeOverride72.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7.xml"/><Relationship Id="rId1" Type="http://schemas.openxmlformats.org/officeDocument/2006/relationships/themeOverride" Target="../theme/themeOverride73.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7.xml"/><Relationship Id="rId1" Type="http://schemas.openxmlformats.org/officeDocument/2006/relationships/themeOverride" Target="../theme/themeOverride74.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7.xml"/><Relationship Id="rId1" Type="http://schemas.openxmlformats.org/officeDocument/2006/relationships/themeOverride" Target="../theme/themeOverride75.xml"/><Relationship Id="rId4" Type="http://schemas.openxmlformats.org/officeDocument/2006/relationships/hyperlink" Target="https://github.com/abjava88/cha06-exercice"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7.xml"/><Relationship Id="rId1" Type="http://schemas.openxmlformats.org/officeDocument/2006/relationships/themeOverride" Target="../theme/themeOverride76.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7.xml"/><Relationship Id="rId1" Type="http://schemas.openxmlformats.org/officeDocument/2006/relationships/themeOverride" Target="../theme/themeOverride77.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7.xml"/><Relationship Id="rId1" Type="http://schemas.openxmlformats.org/officeDocument/2006/relationships/themeOverride" Target="../theme/themeOverride78.xml"/><Relationship Id="rId4" Type="http://schemas.openxmlformats.org/officeDocument/2006/relationships/hyperlink" Target="https://github.com/abjava88/mini-proje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6425" y="2595153"/>
            <a:ext cx="3392262" cy="923109"/>
          </a:xfrm>
        </p:spPr>
        <p:txBody>
          <a:bodyPr/>
          <a:lstStyle/>
          <a:p>
            <a:pPr algn="l"/>
            <a:r>
              <a:rPr lang="fr-CA"/>
              <a:t>Node Js</a:t>
            </a:r>
          </a:p>
        </p:txBody>
      </p:sp>
      <p:sp>
        <p:nvSpPr>
          <p:cNvPr id="3" name="Subtitle 2"/>
          <p:cNvSpPr>
            <a:spLocks noGrp="1"/>
          </p:cNvSpPr>
          <p:nvPr>
            <p:ph type="subTitle" idx="1"/>
          </p:nvPr>
        </p:nvSpPr>
        <p:spPr>
          <a:xfrm>
            <a:off x="1972218" y="3518263"/>
            <a:ext cx="6400800" cy="1024224"/>
          </a:xfrm>
        </p:spPr>
        <p:txBody>
          <a:bodyPr>
            <a:normAutofit/>
          </a:bodyPr>
          <a:lstStyle/>
          <a:p>
            <a:pPr algn="l"/>
            <a:r>
              <a:rPr lang="fr-CA" dirty="0">
                <a:solidFill>
                  <a:schemeClr val="tx1"/>
                </a:solidFill>
              </a:rPr>
              <a:t>Développement des applications full stack avec un seul langage de programmation JavaScript.</a:t>
            </a:r>
          </a:p>
          <a:p>
            <a:endParaRPr lang="fr-CA" dirty="0"/>
          </a:p>
          <a:p>
            <a:endParaRPr lang="fr-CA" dirty="0"/>
          </a:p>
          <a:p>
            <a:endParaRPr lang="fr-CA" dirty="0"/>
          </a:p>
        </p:txBody>
      </p:sp>
    </p:spTree>
    <p:extLst>
      <p:ext uri="{BB962C8B-B14F-4D97-AF65-F5344CB8AC3E}">
        <p14:creationId xmlns:p14="http://schemas.microsoft.com/office/powerpoint/2010/main" val="2052566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9304" y="3698928"/>
            <a:ext cx="9401176" cy="662894"/>
          </a:xfrm>
        </p:spPr>
        <p:txBody>
          <a:bodyPr>
            <a:noAutofit/>
          </a:bodyPr>
          <a:lstStyle/>
          <a:p>
            <a:r>
              <a:rPr lang="fr-CA" sz="3200"/>
              <a:t>Préparation de l’environnement </a:t>
            </a:r>
          </a:p>
        </p:txBody>
      </p:sp>
      <p:sp>
        <p:nvSpPr>
          <p:cNvPr id="4" name="Subtitle 3"/>
          <p:cNvSpPr>
            <a:spLocks noGrp="1"/>
          </p:cNvSpPr>
          <p:nvPr>
            <p:ph type="subTitle" idx="1"/>
          </p:nvPr>
        </p:nvSpPr>
        <p:spPr/>
        <p:txBody>
          <a:bodyPr/>
          <a:lstStyle/>
          <a:p>
            <a:r>
              <a:rPr lang="fr-CA" dirty="0"/>
              <a:t>Permet de préparer les outils de base nécessaires pour commencer le développement backend et frontend.  </a:t>
            </a:r>
          </a:p>
        </p:txBody>
      </p:sp>
      <p:sp>
        <p:nvSpPr>
          <p:cNvPr id="5" name="Title 1"/>
          <p:cNvSpPr txBox="1">
            <a:spLocks/>
          </p:cNvSpPr>
          <p:nvPr/>
        </p:nvSpPr>
        <p:spPr>
          <a:xfrm>
            <a:off x="4563018" y="2889216"/>
            <a:ext cx="2778308" cy="662894"/>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sz="3200"/>
              <a:t>Chapitre 01</a:t>
            </a:r>
          </a:p>
        </p:txBody>
      </p:sp>
    </p:spTree>
    <p:extLst>
      <p:ext uri="{BB962C8B-B14F-4D97-AF65-F5344CB8AC3E}">
        <p14:creationId xmlns:p14="http://schemas.microsoft.com/office/powerpoint/2010/main" val="2539126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055223" y="792480"/>
            <a:ext cx="6583679" cy="461665"/>
          </a:xfrm>
          <a:prstGeom prst="rect">
            <a:avLst/>
          </a:prstGeom>
          <a:noFill/>
        </p:spPr>
        <p:txBody>
          <a:bodyPr wrap="square" rtlCol="0">
            <a:spAutoFit/>
          </a:bodyPr>
          <a:lstStyle/>
          <a:p>
            <a:r>
              <a:rPr lang="fr-CA" sz="2400">
                <a:ln w="0"/>
                <a:effectLst>
                  <a:outerShdw blurRad="38100" dist="19050" dir="2700000" algn="tl" rotWithShape="0">
                    <a:schemeClr val="dk1">
                      <a:alpha val="40000"/>
                    </a:schemeClr>
                  </a:outerShdw>
                </a:effectLst>
              </a:rPr>
              <a:t>Préparation de l’environnement de travail </a:t>
            </a:r>
          </a:p>
        </p:txBody>
      </p:sp>
      <p:sp>
        <p:nvSpPr>
          <p:cNvPr id="4" name="TextBox 3"/>
          <p:cNvSpPr txBox="1"/>
          <p:nvPr/>
        </p:nvSpPr>
        <p:spPr>
          <a:xfrm>
            <a:off x="2116183" y="1532709"/>
            <a:ext cx="6810103" cy="646331"/>
          </a:xfrm>
          <a:prstGeom prst="rect">
            <a:avLst/>
          </a:prstGeom>
          <a:noFill/>
        </p:spPr>
        <p:txBody>
          <a:bodyPr wrap="square" rtlCol="0">
            <a:spAutoFit/>
          </a:bodyPr>
          <a:lstStyle/>
          <a:p>
            <a:pPr marL="342900" indent="-342900">
              <a:buFont typeface="Arial" panose="020B0604020202020204" pitchFamily="34" charset="0"/>
              <a:buChar char="•"/>
            </a:pPr>
            <a:r>
              <a:rPr lang="fr-CA"/>
              <a:t>Installation de l’IDE de développement VCS (Visual code Studio).</a:t>
            </a:r>
          </a:p>
        </p:txBody>
      </p:sp>
      <p:sp>
        <p:nvSpPr>
          <p:cNvPr id="5" name="TextBox 4"/>
          <p:cNvSpPr txBox="1"/>
          <p:nvPr/>
        </p:nvSpPr>
        <p:spPr>
          <a:xfrm>
            <a:off x="2342606" y="2457604"/>
            <a:ext cx="6583680" cy="1077218"/>
          </a:xfrm>
          <a:prstGeom prst="rect">
            <a:avLst/>
          </a:prstGeom>
          <a:noFill/>
        </p:spPr>
        <p:txBody>
          <a:bodyPr wrap="square" rtlCol="0">
            <a:spAutoFit/>
          </a:bodyPr>
          <a:lstStyle/>
          <a:p>
            <a:r>
              <a:rPr lang="fr-CA" sz="1600" dirty="0"/>
              <a:t>Aller sur le site  </a:t>
            </a:r>
            <a:r>
              <a:rPr lang="fr-CA" sz="1600" dirty="0">
                <a:hlinkClick r:id="rId3"/>
              </a:rPr>
              <a:t>https://code.visualstudio.com/download</a:t>
            </a:r>
            <a:r>
              <a:rPr lang="fr-CA" sz="1600" dirty="0"/>
              <a:t>  </a:t>
            </a:r>
          </a:p>
          <a:p>
            <a:r>
              <a:rPr lang="fr-CA" sz="1600" dirty="0"/>
              <a:t>Télécharger la version compatible avec votre système d’exploitation. </a:t>
            </a:r>
          </a:p>
          <a:p>
            <a:r>
              <a:rPr lang="fr-CA" sz="1600" dirty="0"/>
              <a:t>Faites l’installation</a:t>
            </a:r>
          </a:p>
        </p:txBody>
      </p:sp>
      <p:sp>
        <p:nvSpPr>
          <p:cNvPr id="6" name="TextBox 5"/>
          <p:cNvSpPr txBox="1"/>
          <p:nvPr/>
        </p:nvSpPr>
        <p:spPr>
          <a:xfrm>
            <a:off x="2211977" y="3823063"/>
            <a:ext cx="5286102" cy="369332"/>
          </a:xfrm>
          <a:prstGeom prst="rect">
            <a:avLst/>
          </a:prstGeom>
          <a:noFill/>
        </p:spPr>
        <p:txBody>
          <a:bodyPr wrap="square" rtlCol="0">
            <a:spAutoFit/>
          </a:bodyPr>
          <a:lstStyle/>
          <a:p>
            <a:pPr marL="285750" indent="-285750">
              <a:buFont typeface="Arial" panose="020B0604020202020204" pitchFamily="34" charset="0"/>
              <a:buChar char="•"/>
            </a:pPr>
            <a:r>
              <a:rPr lang="fr-CA" dirty="0"/>
              <a:t> Installation Node.js </a:t>
            </a:r>
          </a:p>
        </p:txBody>
      </p:sp>
      <p:sp>
        <p:nvSpPr>
          <p:cNvPr id="7" name="TextBox 6"/>
          <p:cNvSpPr txBox="1"/>
          <p:nvPr/>
        </p:nvSpPr>
        <p:spPr>
          <a:xfrm>
            <a:off x="2342606" y="4545874"/>
            <a:ext cx="6078583" cy="1107996"/>
          </a:xfrm>
          <a:prstGeom prst="rect">
            <a:avLst/>
          </a:prstGeom>
          <a:noFill/>
        </p:spPr>
        <p:txBody>
          <a:bodyPr wrap="square" rtlCol="0">
            <a:spAutoFit/>
          </a:bodyPr>
          <a:lstStyle/>
          <a:p>
            <a:r>
              <a:rPr lang="fr-CA" sz="1600" dirty="0"/>
              <a:t>Aller sur le site </a:t>
            </a:r>
            <a:r>
              <a:rPr lang="fr-CA" sz="1600" dirty="0">
                <a:hlinkClick r:id="rId4"/>
              </a:rPr>
              <a:t>https://nodejs.org/en/download/</a:t>
            </a:r>
            <a:r>
              <a:rPr lang="fr-CA" sz="1600" dirty="0"/>
              <a:t> et choisissez Windows Installer ou MacOs Installer. </a:t>
            </a:r>
          </a:p>
          <a:p>
            <a:r>
              <a:rPr lang="fr-CA" sz="1600" dirty="0"/>
              <a:t>Faites l’installation.</a:t>
            </a:r>
          </a:p>
          <a:p>
            <a:endParaRPr lang="fr-CA" dirty="0"/>
          </a:p>
        </p:txBody>
      </p:sp>
    </p:spTree>
    <p:extLst>
      <p:ext uri="{BB962C8B-B14F-4D97-AF65-F5344CB8AC3E}">
        <p14:creationId xmlns:p14="http://schemas.microsoft.com/office/powerpoint/2010/main" val="89063109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194560" y="775063"/>
            <a:ext cx="6487885" cy="461665"/>
          </a:xfrm>
          <a:prstGeom prst="rect">
            <a:avLst/>
          </a:prstGeom>
          <a:noFill/>
        </p:spPr>
        <p:txBody>
          <a:bodyPr wrap="square" rtlCol="0">
            <a:spAutoFit/>
          </a:bodyPr>
          <a:lstStyle/>
          <a:p>
            <a:r>
              <a:rPr lang="fr-CA" sz="2400">
                <a:ln w="0"/>
                <a:effectLst>
                  <a:outerShdw blurRad="38100" dist="19050" dir="2700000" algn="tl" rotWithShape="0">
                    <a:schemeClr val="dk1">
                      <a:alpha val="40000"/>
                    </a:schemeClr>
                  </a:outerShdw>
                </a:effectLst>
              </a:rPr>
              <a:t>Vérification de l’environnement de travail</a:t>
            </a:r>
          </a:p>
        </p:txBody>
      </p:sp>
      <p:sp>
        <p:nvSpPr>
          <p:cNvPr id="3" name="TextBox 2"/>
          <p:cNvSpPr txBox="1"/>
          <p:nvPr/>
        </p:nvSpPr>
        <p:spPr>
          <a:xfrm>
            <a:off x="2464525" y="1654628"/>
            <a:ext cx="5947954" cy="646331"/>
          </a:xfrm>
          <a:prstGeom prst="rect">
            <a:avLst/>
          </a:prstGeom>
          <a:noFill/>
        </p:spPr>
        <p:txBody>
          <a:bodyPr wrap="square" rtlCol="0">
            <a:spAutoFit/>
          </a:bodyPr>
          <a:lstStyle/>
          <a:p>
            <a:r>
              <a:rPr lang="fr-CA" dirty="0"/>
              <a:t>Vérification version Node.js : </a:t>
            </a:r>
            <a:r>
              <a:rPr lang="fr-CA" dirty="0" err="1"/>
              <a:t>node</a:t>
            </a:r>
            <a:r>
              <a:rPr lang="fr-CA" dirty="0"/>
              <a:t> -v</a:t>
            </a:r>
          </a:p>
          <a:p>
            <a:r>
              <a:rPr lang="fr-CA" dirty="0"/>
              <a:t>Vérification version </a:t>
            </a:r>
            <a:r>
              <a:rPr lang="fr-CA" dirty="0" err="1"/>
              <a:t>npm</a:t>
            </a:r>
            <a:r>
              <a:rPr lang="fr-CA" dirty="0"/>
              <a:t> : </a:t>
            </a:r>
            <a:r>
              <a:rPr lang="fr-CA" dirty="0" err="1"/>
              <a:t>npm</a:t>
            </a:r>
            <a:r>
              <a:rPr lang="fr-CA" dirty="0"/>
              <a:t> -v</a:t>
            </a:r>
          </a:p>
        </p:txBody>
      </p:sp>
      <p:sp>
        <p:nvSpPr>
          <p:cNvPr id="4" name="TextBox 3"/>
          <p:cNvSpPr txBox="1"/>
          <p:nvPr/>
        </p:nvSpPr>
        <p:spPr>
          <a:xfrm>
            <a:off x="2464525" y="2969622"/>
            <a:ext cx="6252754" cy="369332"/>
          </a:xfrm>
          <a:prstGeom prst="rect">
            <a:avLst/>
          </a:prstGeom>
          <a:noFill/>
        </p:spPr>
        <p:txBody>
          <a:bodyPr wrap="square" rtlCol="0">
            <a:spAutoFit/>
          </a:bodyPr>
          <a:lstStyle/>
          <a:p>
            <a:r>
              <a:rPr lang="fr-CA" dirty="0"/>
              <a:t>Installation du plugin VCS </a:t>
            </a:r>
            <a:r>
              <a:rPr lang="fr-CA" dirty="0">
                <a:ln w="0"/>
                <a:solidFill>
                  <a:srgbClr val="C00000"/>
                </a:solidFill>
                <a:effectLst>
                  <a:outerShdw blurRad="38100" dist="19050" dir="2700000" algn="tl" rotWithShape="0">
                    <a:schemeClr val="dk1">
                      <a:alpha val="40000"/>
                    </a:schemeClr>
                  </a:outerShdw>
                </a:effectLst>
              </a:rPr>
              <a:t>REST Client </a:t>
            </a:r>
            <a:endParaRPr lang="fr-CA" dirty="0">
              <a:solidFill>
                <a:srgbClr val="C00000"/>
              </a:solidFill>
            </a:endParaRPr>
          </a:p>
        </p:txBody>
      </p:sp>
      <p:sp>
        <p:nvSpPr>
          <p:cNvPr id="5" name="TextBox 4"/>
          <p:cNvSpPr txBox="1"/>
          <p:nvPr/>
        </p:nvSpPr>
        <p:spPr>
          <a:xfrm>
            <a:off x="2464525" y="3587932"/>
            <a:ext cx="5434149" cy="1754326"/>
          </a:xfrm>
          <a:prstGeom prst="rect">
            <a:avLst/>
          </a:prstGeom>
          <a:noFill/>
        </p:spPr>
        <p:txBody>
          <a:bodyPr wrap="square" rtlCol="0">
            <a:spAutoFit/>
          </a:bodyPr>
          <a:lstStyle/>
          <a:p>
            <a:r>
              <a:rPr lang="fr-CA" dirty="0"/>
              <a:t>REST Client est un plugin VCS qui permet d’envoyer des requêtes http directement de l’IDE sans besoin d’installer un autre client comme POSTMAN.  </a:t>
            </a:r>
          </a:p>
          <a:p>
            <a:r>
              <a:rPr lang="fr-CA" dirty="0"/>
              <a:t>Chercher le plugin dans VCS et l’installer, on va l’avoir besoin dans les prochaines séances. </a:t>
            </a:r>
          </a:p>
        </p:txBody>
      </p:sp>
      <p:sp>
        <p:nvSpPr>
          <p:cNvPr id="6" name="TextBox 5">
            <a:extLst>
              <a:ext uri="{FF2B5EF4-FFF2-40B4-BE49-F238E27FC236}">
                <a16:creationId xmlns:a16="http://schemas.microsoft.com/office/drawing/2014/main" id="{F3B28680-D7E4-68CF-6210-8320869DDD2C}"/>
              </a:ext>
            </a:extLst>
          </p:cNvPr>
          <p:cNvSpPr txBox="1"/>
          <p:nvPr/>
        </p:nvSpPr>
        <p:spPr>
          <a:xfrm>
            <a:off x="2464525" y="5677029"/>
            <a:ext cx="6252754" cy="369332"/>
          </a:xfrm>
          <a:prstGeom prst="rect">
            <a:avLst/>
          </a:prstGeom>
          <a:noFill/>
        </p:spPr>
        <p:txBody>
          <a:bodyPr wrap="square" rtlCol="0">
            <a:spAutoFit/>
          </a:bodyPr>
          <a:lstStyle/>
          <a:p>
            <a:r>
              <a:rPr lang="fr-CA" dirty="0"/>
              <a:t>Installation du plugin VCS </a:t>
            </a:r>
            <a:r>
              <a:rPr lang="fr-CA" dirty="0">
                <a:ln w="0"/>
                <a:solidFill>
                  <a:srgbClr val="C00000"/>
                </a:solidFill>
                <a:effectLst>
                  <a:outerShdw blurRad="38100" dist="19050" dir="2700000" algn="tl" rotWithShape="0">
                    <a:schemeClr val="dk1">
                      <a:alpha val="40000"/>
                    </a:schemeClr>
                  </a:outerShdw>
                </a:effectLst>
              </a:rPr>
              <a:t>REST Client </a:t>
            </a:r>
            <a:endParaRPr lang="fr-CA" dirty="0">
              <a:solidFill>
                <a:srgbClr val="C00000"/>
              </a:solidFill>
            </a:endParaRPr>
          </a:p>
        </p:txBody>
      </p:sp>
    </p:spTree>
    <p:extLst>
      <p:ext uri="{BB962C8B-B14F-4D97-AF65-F5344CB8AC3E}">
        <p14:creationId xmlns:p14="http://schemas.microsoft.com/office/powerpoint/2010/main" val="28836816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194560" y="775063"/>
            <a:ext cx="6487885" cy="461665"/>
          </a:xfrm>
          <a:prstGeom prst="rect">
            <a:avLst/>
          </a:prstGeom>
          <a:noFill/>
        </p:spPr>
        <p:txBody>
          <a:bodyPr wrap="square" rtlCol="0">
            <a:spAutoFit/>
          </a:bodyPr>
          <a:lstStyle/>
          <a:p>
            <a:r>
              <a:rPr lang="fr-CA" sz="2400" dirty="0">
                <a:ln w="0"/>
                <a:effectLst>
                  <a:outerShdw blurRad="38100" dist="19050" dir="2700000" algn="tl" rotWithShape="0">
                    <a:schemeClr val="dk1">
                      <a:alpha val="40000"/>
                    </a:schemeClr>
                  </a:outerShdw>
                </a:effectLst>
              </a:rPr>
              <a:t>Un premier exemple</a:t>
            </a:r>
          </a:p>
        </p:txBody>
      </p:sp>
      <p:sp>
        <p:nvSpPr>
          <p:cNvPr id="3" name="TextBox 2"/>
          <p:cNvSpPr txBox="1"/>
          <p:nvPr/>
        </p:nvSpPr>
        <p:spPr>
          <a:xfrm>
            <a:off x="2299063" y="2083245"/>
            <a:ext cx="9508237" cy="3046988"/>
          </a:xfrm>
          <a:prstGeom prst="rect">
            <a:avLst/>
          </a:prstGeom>
          <a:solidFill>
            <a:schemeClr val="tx1">
              <a:lumMod val="75000"/>
              <a:lumOff val="25000"/>
            </a:schemeClr>
          </a:solidFill>
        </p:spPr>
        <p:txBody>
          <a:bodyPr wrap="square" rtlCol="0">
            <a:spAutoFit/>
          </a:bodyPr>
          <a:lstStyle/>
          <a:p>
            <a:r>
              <a:rPr lang="fr-CA" sz="1600" dirty="0" err="1">
                <a:solidFill>
                  <a:srgbClr val="82AAFF"/>
                </a:solidFill>
                <a:latin typeface="Consolas" panose="020B0609020204030204" pitchFamily="49" charset="0"/>
              </a:rPr>
              <a:t>const</a:t>
            </a:r>
            <a:r>
              <a:rPr lang="fr-CA" sz="1600" i="1" dirty="0">
                <a:solidFill>
                  <a:srgbClr val="C792EA"/>
                </a:solidFill>
                <a:latin typeface="Consolas" panose="020B0609020204030204" pitchFamily="49" charset="0"/>
              </a:rPr>
              <a:t> </a:t>
            </a:r>
            <a:r>
              <a:rPr lang="fr-CA" sz="1600" i="1" dirty="0">
                <a:solidFill>
                  <a:srgbClr val="82AAFF"/>
                </a:solidFill>
                <a:latin typeface="Consolas" panose="020B0609020204030204" pitchFamily="49" charset="0"/>
              </a:rPr>
              <a:t>http</a:t>
            </a:r>
            <a:r>
              <a:rPr lang="fr-CA" sz="1600" i="1" dirty="0">
                <a:solidFill>
                  <a:srgbClr val="C792EA"/>
                </a:solidFill>
                <a:latin typeface="Consolas" panose="020B0609020204030204" pitchFamily="49" charset="0"/>
              </a:rPr>
              <a:t> </a:t>
            </a:r>
            <a:r>
              <a:rPr lang="fr-CA" sz="1600" dirty="0">
                <a:solidFill>
                  <a:srgbClr val="C792EA"/>
                </a:solidFill>
                <a:latin typeface="Consolas" panose="020B0609020204030204" pitchFamily="49" charset="0"/>
              </a:rPr>
              <a:t>=</a:t>
            </a:r>
            <a:r>
              <a:rPr lang="fr-CA" sz="1600" i="1" dirty="0">
                <a:solidFill>
                  <a:srgbClr val="C792EA"/>
                </a:solidFill>
                <a:latin typeface="Consolas" panose="020B0609020204030204" pitchFamily="49" charset="0"/>
              </a:rPr>
              <a:t> </a:t>
            </a:r>
            <a:r>
              <a:rPr lang="fr-CA" sz="1600" dirty="0" err="1">
                <a:solidFill>
                  <a:srgbClr val="82AAFF"/>
                </a:solidFill>
                <a:latin typeface="Consolas" panose="020B0609020204030204" pitchFamily="49" charset="0"/>
              </a:rPr>
              <a:t>require</a:t>
            </a:r>
            <a:r>
              <a:rPr lang="fr-CA" sz="1600" dirty="0">
                <a:solidFill>
                  <a:srgbClr val="D6DEEB"/>
                </a:solidFill>
                <a:latin typeface="Consolas" panose="020B0609020204030204" pitchFamily="49" charset="0"/>
              </a:rPr>
              <a:t>(</a:t>
            </a:r>
            <a:r>
              <a:rPr lang="fr-CA" sz="1600" dirty="0">
                <a:solidFill>
                  <a:srgbClr val="D9F5DD"/>
                </a:solidFill>
                <a:latin typeface="Consolas" panose="020B0609020204030204" pitchFamily="49" charset="0"/>
              </a:rPr>
              <a:t>'</a:t>
            </a:r>
            <a:r>
              <a:rPr lang="fr-CA" sz="1600" dirty="0">
                <a:solidFill>
                  <a:srgbClr val="ECC48D"/>
                </a:solidFill>
                <a:latin typeface="Consolas" panose="020B0609020204030204" pitchFamily="49" charset="0"/>
              </a:rPr>
              <a:t>http</a:t>
            </a:r>
            <a:r>
              <a:rPr lang="fr-CA" sz="1600" dirty="0">
                <a:solidFill>
                  <a:srgbClr val="D9F5DD"/>
                </a:solidFill>
                <a:latin typeface="Consolas" panose="020B0609020204030204" pitchFamily="49" charset="0"/>
              </a:rPr>
              <a:t>'</a:t>
            </a:r>
            <a:r>
              <a:rPr lang="fr-CA" sz="1600" dirty="0">
                <a:solidFill>
                  <a:srgbClr val="D6DEEB"/>
                </a:solidFill>
                <a:latin typeface="Consolas" panose="020B0609020204030204" pitchFamily="49" charset="0"/>
              </a:rPr>
              <a:t>);</a:t>
            </a:r>
            <a:br>
              <a:rPr lang="fr-CA" sz="1600" dirty="0">
                <a:solidFill>
                  <a:srgbClr val="D6DEEB"/>
                </a:solidFill>
                <a:latin typeface="Consolas" panose="020B0609020204030204" pitchFamily="49" charset="0"/>
              </a:rPr>
            </a:br>
            <a:r>
              <a:rPr lang="fr-CA" sz="1600" dirty="0" err="1">
                <a:solidFill>
                  <a:srgbClr val="82AAFF"/>
                </a:solidFill>
                <a:latin typeface="Consolas" panose="020B0609020204030204" pitchFamily="49" charset="0"/>
              </a:rPr>
              <a:t>const</a:t>
            </a:r>
            <a:r>
              <a:rPr lang="fr-CA" sz="1600" i="1" dirty="0">
                <a:solidFill>
                  <a:srgbClr val="C792EA"/>
                </a:solidFill>
                <a:latin typeface="Consolas" panose="020B0609020204030204" pitchFamily="49" charset="0"/>
              </a:rPr>
              <a:t> </a:t>
            </a:r>
            <a:r>
              <a:rPr lang="fr-CA" sz="1600" i="1" dirty="0" err="1">
                <a:solidFill>
                  <a:srgbClr val="82AAFF"/>
                </a:solidFill>
                <a:latin typeface="Consolas" panose="020B0609020204030204" pitchFamily="49" charset="0"/>
              </a:rPr>
              <a:t>hostname</a:t>
            </a:r>
            <a:r>
              <a:rPr lang="fr-CA" sz="1600" i="1" dirty="0">
                <a:solidFill>
                  <a:srgbClr val="C792EA"/>
                </a:solidFill>
                <a:latin typeface="Consolas" panose="020B0609020204030204" pitchFamily="49" charset="0"/>
              </a:rPr>
              <a:t> </a:t>
            </a:r>
            <a:r>
              <a:rPr lang="fr-CA" sz="1600" dirty="0">
                <a:solidFill>
                  <a:srgbClr val="C792EA"/>
                </a:solidFill>
                <a:latin typeface="Consolas" panose="020B0609020204030204" pitchFamily="49" charset="0"/>
              </a:rPr>
              <a:t>=</a:t>
            </a:r>
            <a:r>
              <a:rPr lang="fr-CA" sz="1600" i="1" dirty="0">
                <a:solidFill>
                  <a:srgbClr val="C792EA"/>
                </a:solidFill>
                <a:latin typeface="Consolas" panose="020B0609020204030204" pitchFamily="49" charset="0"/>
              </a:rPr>
              <a:t> </a:t>
            </a:r>
            <a:r>
              <a:rPr lang="fr-CA" sz="1600" dirty="0">
                <a:solidFill>
                  <a:srgbClr val="D9F5DD"/>
                </a:solidFill>
                <a:latin typeface="Consolas" panose="020B0609020204030204" pitchFamily="49" charset="0"/>
              </a:rPr>
              <a:t>'</a:t>
            </a:r>
            <a:r>
              <a:rPr lang="fr-CA" sz="1600" dirty="0">
                <a:solidFill>
                  <a:srgbClr val="ECC48D"/>
                </a:solidFill>
                <a:latin typeface="Consolas" panose="020B0609020204030204" pitchFamily="49" charset="0"/>
              </a:rPr>
              <a:t>127.0.0.1</a:t>
            </a:r>
            <a:r>
              <a:rPr lang="fr-CA" sz="1600" dirty="0">
                <a:solidFill>
                  <a:srgbClr val="D9F5DD"/>
                </a:solidFill>
                <a:latin typeface="Consolas" panose="020B0609020204030204" pitchFamily="49" charset="0"/>
              </a:rPr>
              <a:t>'</a:t>
            </a:r>
            <a:r>
              <a:rPr lang="fr-CA" sz="1600" dirty="0">
                <a:solidFill>
                  <a:srgbClr val="D6DEEB"/>
                </a:solidFill>
                <a:latin typeface="Consolas" panose="020B0609020204030204" pitchFamily="49" charset="0"/>
              </a:rPr>
              <a:t>;</a:t>
            </a:r>
          </a:p>
          <a:p>
            <a:r>
              <a:rPr lang="fr-CA" sz="1600" dirty="0" err="1">
                <a:solidFill>
                  <a:srgbClr val="82AAFF"/>
                </a:solidFill>
                <a:latin typeface="Consolas" panose="020B0609020204030204" pitchFamily="49" charset="0"/>
              </a:rPr>
              <a:t>const</a:t>
            </a:r>
            <a:r>
              <a:rPr lang="fr-CA" sz="1600" i="1" dirty="0">
                <a:solidFill>
                  <a:srgbClr val="C792EA"/>
                </a:solidFill>
                <a:latin typeface="Consolas" panose="020B0609020204030204" pitchFamily="49" charset="0"/>
              </a:rPr>
              <a:t> </a:t>
            </a:r>
            <a:r>
              <a:rPr lang="fr-CA" sz="1600" i="1" dirty="0">
                <a:solidFill>
                  <a:srgbClr val="82AAFF"/>
                </a:solidFill>
                <a:latin typeface="Consolas" panose="020B0609020204030204" pitchFamily="49" charset="0"/>
              </a:rPr>
              <a:t>port</a:t>
            </a:r>
            <a:r>
              <a:rPr lang="fr-CA" sz="1600" i="1" dirty="0">
                <a:solidFill>
                  <a:srgbClr val="C792EA"/>
                </a:solidFill>
                <a:latin typeface="Consolas" panose="020B0609020204030204" pitchFamily="49" charset="0"/>
              </a:rPr>
              <a:t> </a:t>
            </a:r>
            <a:r>
              <a:rPr lang="fr-CA" sz="1600" dirty="0">
                <a:solidFill>
                  <a:srgbClr val="C792EA"/>
                </a:solidFill>
                <a:latin typeface="Consolas" panose="020B0609020204030204" pitchFamily="49" charset="0"/>
              </a:rPr>
              <a:t>=</a:t>
            </a:r>
            <a:r>
              <a:rPr lang="fr-CA" sz="1600" i="1" dirty="0">
                <a:solidFill>
                  <a:srgbClr val="C792EA"/>
                </a:solidFill>
                <a:latin typeface="Consolas" panose="020B0609020204030204" pitchFamily="49" charset="0"/>
              </a:rPr>
              <a:t> </a:t>
            </a:r>
            <a:r>
              <a:rPr lang="fr-CA" sz="1600" dirty="0">
                <a:solidFill>
                  <a:srgbClr val="F78C6C"/>
                </a:solidFill>
                <a:latin typeface="Consolas" panose="020B0609020204030204" pitchFamily="49" charset="0"/>
              </a:rPr>
              <a:t>3000</a:t>
            </a:r>
            <a:r>
              <a:rPr lang="fr-CA" sz="1600" dirty="0">
                <a:solidFill>
                  <a:srgbClr val="D6DEEB"/>
                </a:solidFill>
                <a:latin typeface="Consolas" panose="020B0609020204030204" pitchFamily="49" charset="0"/>
              </a:rPr>
              <a:t>;</a:t>
            </a:r>
            <a:br>
              <a:rPr lang="fr-CA" sz="1600" dirty="0">
                <a:solidFill>
                  <a:srgbClr val="D6DEEB"/>
                </a:solidFill>
                <a:latin typeface="Consolas" panose="020B0609020204030204" pitchFamily="49" charset="0"/>
              </a:rPr>
            </a:br>
            <a:r>
              <a:rPr lang="fr-CA" sz="1600" dirty="0" err="1">
                <a:solidFill>
                  <a:srgbClr val="82AAFF"/>
                </a:solidFill>
                <a:latin typeface="Consolas" panose="020B0609020204030204" pitchFamily="49" charset="0"/>
              </a:rPr>
              <a:t>const</a:t>
            </a:r>
            <a:r>
              <a:rPr lang="fr-CA" sz="1600" i="1" dirty="0">
                <a:solidFill>
                  <a:srgbClr val="C792EA"/>
                </a:solidFill>
                <a:latin typeface="Consolas" panose="020B0609020204030204" pitchFamily="49" charset="0"/>
              </a:rPr>
              <a:t> </a:t>
            </a:r>
            <a:r>
              <a:rPr lang="fr-CA" sz="1600" i="1" dirty="0">
                <a:solidFill>
                  <a:srgbClr val="82AAFF"/>
                </a:solidFill>
                <a:latin typeface="Consolas" panose="020B0609020204030204" pitchFamily="49" charset="0"/>
              </a:rPr>
              <a:t>server</a:t>
            </a:r>
            <a:r>
              <a:rPr lang="fr-CA" sz="1600" i="1" dirty="0">
                <a:solidFill>
                  <a:srgbClr val="C792EA"/>
                </a:solidFill>
                <a:latin typeface="Consolas" panose="020B0609020204030204" pitchFamily="49" charset="0"/>
              </a:rPr>
              <a:t> </a:t>
            </a:r>
            <a:r>
              <a:rPr lang="fr-CA" sz="1600" dirty="0">
                <a:solidFill>
                  <a:srgbClr val="C792EA"/>
                </a:solidFill>
                <a:latin typeface="Consolas" panose="020B0609020204030204" pitchFamily="49" charset="0"/>
              </a:rPr>
              <a:t>=</a:t>
            </a:r>
            <a:r>
              <a:rPr lang="fr-CA" sz="1600" i="1" dirty="0">
                <a:solidFill>
                  <a:srgbClr val="C792EA"/>
                </a:solidFill>
                <a:latin typeface="Consolas" panose="020B0609020204030204" pitchFamily="49" charset="0"/>
              </a:rPr>
              <a:t> </a:t>
            </a:r>
            <a:r>
              <a:rPr lang="fr-CA" sz="1600" dirty="0" err="1">
                <a:solidFill>
                  <a:srgbClr val="D6DEEB"/>
                </a:solidFill>
                <a:latin typeface="Consolas" panose="020B0609020204030204" pitchFamily="49" charset="0"/>
              </a:rPr>
              <a:t>http</a:t>
            </a:r>
            <a:r>
              <a:rPr lang="fr-CA" sz="1600" i="1" dirty="0" err="1">
                <a:solidFill>
                  <a:srgbClr val="C792EA"/>
                </a:solidFill>
                <a:latin typeface="Consolas" panose="020B0609020204030204" pitchFamily="49" charset="0"/>
              </a:rPr>
              <a:t>.</a:t>
            </a:r>
            <a:r>
              <a:rPr lang="fr-CA" sz="1600" dirty="0" err="1">
                <a:solidFill>
                  <a:srgbClr val="82AAFF"/>
                </a:solidFill>
                <a:latin typeface="Consolas" panose="020B0609020204030204" pitchFamily="49" charset="0"/>
              </a:rPr>
              <a:t>createServer</a:t>
            </a:r>
            <a:r>
              <a:rPr lang="fr-CA" sz="1600" dirty="0">
                <a:solidFill>
                  <a:srgbClr val="D6DEEB"/>
                </a:solidFill>
                <a:latin typeface="Consolas" panose="020B0609020204030204" pitchFamily="49" charset="0"/>
              </a:rPr>
              <a:t>(</a:t>
            </a:r>
            <a:r>
              <a:rPr lang="fr-CA" sz="1600" dirty="0">
                <a:solidFill>
                  <a:srgbClr val="D9F5DD"/>
                </a:solidFill>
                <a:latin typeface="Consolas" panose="020B0609020204030204" pitchFamily="49" charset="0"/>
              </a:rPr>
              <a:t>(</a:t>
            </a:r>
            <a:r>
              <a:rPr lang="fr-CA" sz="1600" i="1" dirty="0" err="1">
                <a:solidFill>
                  <a:srgbClr val="D7DBE0"/>
                </a:solidFill>
                <a:latin typeface="Consolas" panose="020B0609020204030204" pitchFamily="49" charset="0"/>
              </a:rPr>
              <a:t>req</a:t>
            </a:r>
            <a:r>
              <a:rPr lang="fr-CA" sz="1600" dirty="0">
                <a:solidFill>
                  <a:srgbClr val="C792EA"/>
                </a:solidFill>
                <a:latin typeface="Consolas" panose="020B0609020204030204" pitchFamily="49" charset="0"/>
              </a:rPr>
              <a:t>,</a:t>
            </a:r>
            <a:r>
              <a:rPr lang="fr-CA" sz="1600" i="1" dirty="0">
                <a:solidFill>
                  <a:srgbClr val="C792EA"/>
                </a:solidFill>
                <a:latin typeface="Consolas" panose="020B0609020204030204" pitchFamily="49" charset="0"/>
              </a:rPr>
              <a:t> </a:t>
            </a:r>
            <a:r>
              <a:rPr lang="fr-CA" sz="1600" i="1" dirty="0" err="1">
                <a:solidFill>
                  <a:srgbClr val="D7DBE0"/>
                </a:solidFill>
                <a:latin typeface="Consolas" panose="020B0609020204030204" pitchFamily="49" charset="0"/>
              </a:rPr>
              <a:t>res</a:t>
            </a:r>
            <a:r>
              <a:rPr lang="fr-CA" sz="1600" dirty="0">
                <a:solidFill>
                  <a:srgbClr val="D9F5DD"/>
                </a:solidFill>
                <a:latin typeface="Consolas" panose="020B0609020204030204" pitchFamily="49" charset="0"/>
              </a:rPr>
              <a:t>)</a:t>
            </a:r>
            <a:r>
              <a:rPr lang="fr-CA" sz="1600" i="1" dirty="0">
                <a:solidFill>
                  <a:srgbClr val="C792EA"/>
                </a:solidFill>
                <a:latin typeface="Consolas" panose="020B0609020204030204" pitchFamily="49" charset="0"/>
              </a:rPr>
              <a:t> </a:t>
            </a:r>
            <a:r>
              <a:rPr lang="fr-CA" sz="1600" dirty="0">
                <a:solidFill>
                  <a:srgbClr val="82AAFF"/>
                </a:solidFill>
                <a:latin typeface="Consolas" panose="020B0609020204030204" pitchFamily="49" charset="0"/>
              </a:rPr>
              <a:t>=&gt;</a:t>
            </a:r>
            <a:r>
              <a:rPr lang="fr-CA" sz="1600" i="1" dirty="0">
                <a:solidFill>
                  <a:srgbClr val="C792EA"/>
                </a:solidFill>
                <a:latin typeface="Consolas" panose="020B0609020204030204" pitchFamily="49" charset="0"/>
              </a:rPr>
              <a:t> </a:t>
            </a:r>
            <a:r>
              <a:rPr lang="fr-CA" sz="1600" dirty="0">
                <a:solidFill>
                  <a:srgbClr val="C792EA"/>
                </a:solidFill>
                <a:latin typeface="Consolas" panose="020B0609020204030204" pitchFamily="49" charset="0"/>
              </a:rPr>
              <a:t>{</a:t>
            </a:r>
            <a:endParaRPr lang="fr-CA" sz="1600" dirty="0">
              <a:solidFill>
                <a:srgbClr val="D6DEEB"/>
              </a:solidFill>
              <a:latin typeface="Consolas" panose="020B0609020204030204" pitchFamily="49" charset="0"/>
            </a:endParaRPr>
          </a:p>
          <a:p>
            <a:r>
              <a:rPr lang="fr-CA" sz="1600" i="1" dirty="0">
                <a:solidFill>
                  <a:srgbClr val="C792EA"/>
                </a:solidFill>
                <a:latin typeface="Consolas" panose="020B0609020204030204" pitchFamily="49" charset="0"/>
              </a:rPr>
              <a:t>  </a:t>
            </a:r>
            <a:r>
              <a:rPr lang="fr-CA" sz="1600" dirty="0" err="1">
                <a:solidFill>
                  <a:srgbClr val="D6DEEB"/>
                </a:solidFill>
                <a:latin typeface="Consolas" panose="020B0609020204030204" pitchFamily="49" charset="0"/>
              </a:rPr>
              <a:t>res</a:t>
            </a:r>
            <a:r>
              <a:rPr lang="fr-CA" sz="1600" i="1" dirty="0" err="1">
                <a:solidFill>
                  <a:srgbClr val="C792EA"/>
                </a:solidFill>
                <a:latin typeface="Consolas" panose="020B0609020204030204" pitchFamily="49" charset="0"/>
              </a:rPr>
              <a:t>.</a:t>
            </a:r>
            <a:r>
              <a:rPr lang="fr-CA" sz="1600" i="1" dirty="0" err="1">
                <a:solidFill>
                  <a:srgbClr val="7FDBCA"/>
                </a:solidFill>
                <a:latin typeface="Consolas" panose="020B0609020204030204" pitchFamily="49" charset="0"/>
              </a:rPr>
              <a:t>statusCode</a:t>
            </a:r>
            <a:r>
              <a:rPr lang="fr-CA" sz="1600" i="1" dirty="0">
                <a:solidFill>
                  <a:srgbClr val="C792EA"/>
                </a:solidFill>
                <a:latin typeface="Consolas" panose="020B0609020204030204" pitchFamily="49" charset="0"/>
              </a:rPr>
              <a:t> </a:t>
            </a:r>
            <a:r>
              <a:rPr lang="fr-CA" sz="1600" dirty="0">
                <a:solidFill>
                  <a:srgbClr val="C792EA"/>
                </a:solidFill>
                <a:latin typeface="Consolas" panose="020B0609020204030204" pitchFamily="49" charset="0"/>
              </a:rPr>
              <a:t>=</a:t>
            </a:r>
            <a:r>
              <a:rPr lang="fr-CA" sz="1600" i="1" dirty="0">
                <a:solidFill>
                  <a:srgbClr val="C792EA"/>
                </a:solidFill>
                <a:latin typeface="Consolas" panose="020B0609020204030204" pitchFamily="49" charset="0"/>
              </a:rPr>
              <a:t> </a:t>
            </a:r>
            <a:r>
              <a:rPr lang="fr-CA" sz="1600" dirty="0">
                <a:solidFill>
                  <a:srgbClr val="F78C6C"/>
                </a:solidFill>
                <a:latin typeface="Consolas" panose="020B0609020204030204" pitchFamily="49" charset="0"/>
              </a:rPr>
              <a:t>200</a:t>
            </a:r>
            <a:r>
              <a:rPr lang="fr-CA" sz="1600" dirty="0">
                <a:solidFill>
                  <a:srgbClr val="C792EA"/>
                </a:solidFill>
                <a:latin typeface="Consolas" panose="020B0609020204030204" pitchFamily="49" charset="0"/>
              </a:rPr>
              <a:t>;</a:t>
            </a:r>
            <a:endParaRPr lang="fr-CA" sz="1600" dirty="0">
              <a:solidFill>
                <a:srgbClr val="D6DEEB"/>
              </a:solidFill>
              <a:latin typeface="Consolas" panose="020B0609020204030204" pitchFamily="49" charset="0"/>
            </a:endParaRPr>
          </a:p>
          <a:p>
            <a:r>
              <a:rPr lang="fr-CA" sz="1600" i="1" dirty="0">
                <a:solidFill>
                  <a:srgbClr val="C792EA"/>
                </a:solidFill>
                <a:latin typeface="Consolas" panose="020B0609020204030204" pitchFamily="49" charset="0"/>
              </a:rPr>
              <a:t>  </a:t>
            </a:r>
            <a:r>
              <a:rPr lang="fr-CA" sz="1600" dirty="0" err="1">
                <a:solidFill>
                  <a:srgbClr val="D6DEEB"/>
                </a:solidFill>
                <a:latin typeface="Consolas" panose="020B0609020204030204" pitchFamily="49" charset="0"/>
              </a:rPr>
              <a:t>res</a:t>
            </a:r>
            <a:r>
              <a:rPr lang="fr-CA" sz="1600" i="1" dirty="0" err="1">
                <a:solidFill>
                  <a:srgbClr val="C792EA"/>
                </a:solidFill>
                <a:latin typeface="Consolas" panose="020B0609020204030204" pitchFamily="49" charset="0"/>
              </a:rPr>
              <a:t>.</a:t>
            </a:r>
            <a:r>
              <a:rPr lang="fr-CA" sz="1600" dirty="0" err="1">
                <a:solidFill>
                  <a:srgbClr val="82AAFF"/>
                </a:solidFill>
                <a:latin typeface="Consolas" panose="020B0609020204030204" pitchFamily="49" charset="0"/>
              </a:rPr>
              <a:t>setHeader</a:t>
            </a:r>
            <a:r>
              <a:rPr lang="fr-CA" sz="1600" dirty="0">
                <a:solidFill>
                  <a:srgbClr val="D6DEEB"/>
                </a:solidFill>
                <a:latin typeface="Consolas" panose="020B0609020204030204" pitchFamily="49" charset="0"/>
              </a:rPr>
              <a:t>(</a:t>
            </a:r>
            <a:r>
              <a:rPr lang="fr-CA" sz="1600" dirty="0">
                <a:solidFill>
                  <a:srgbClr val="D9F5DD"/>
                </a:solidFill>
                <a:latin typeface="Consolas" panose="020B0609020204030204" pitchFamily="49" charset="0"/>
              </a:rPr>
              <a:t>'</a:t>
            </a:r>
            <a:r>
              <a:rPr lang="fr-CA" sz="1600" dirty="0">
                <a:solidFill>
                  <a:srgbClr val="ECC48D"/>
                </a:solidFill>
                <a:latin typeface="Consolas" panose="020B0609020204030204" pitchFamily="49" charset="0"/>
              </a:rPr>
              <a:t>Content-Type</a:t>
            </a:r>
            <a:r>
              <a:rPr lang="fr-CA" sz="1600" dirty="0">
                <a:solidFill>
                  <a:srgbClr val="D9F5DD"/>
                </a:solidFill>
                <a:latin typeface="Consolas" panose="020B0609020204030204" pitchFamily="49" charset="0"/>
              </a:rPr>
              <a:t>'</a:t>
            </a:r>
            <a:r>
              <a:rPr lang="fr-CA" sz="1600" dirty="0">
                <a:solidFill>
                  <a:srgbClr val="C792EA"/>
                </a:solidFill>
                <a:latin typeface="Consolas" panose="020B0609020204030204" pitchFamily="49" charset="0"/>
              </a:rPr>
              <a:t>,</a:t>
            </a:r>
            <a:r>
              <a:rPr lang="fr-CA" sz="1600" i="1" dirty="0">
                <a:solidFill>
                  <a:srgbClr val="C792EA"/>
                </a:solidFill>
                <a:latin typeface="Consolas" panose="020B0609020204030204" pitchFamily="49" charset="0"/>
              </a:rPr>
              <a:t> </a:t>
            </a:r>
            <a:r>
              <a:rPr lang="fr-CA" sz="1600" dirty="0">
                <a:solidFill>
                  <a:srgbClr val="D9F5DD"/>
                </a:solidFill>
                <a:latin typeface="Consolas" panose="020B0609020204030204" pitchFamily="49" charset="0"/>
              </a:rPr>
              <a:t>'</a:t>
            </a:r>
            <a:r>
              <a:rPr lang="fr-CA" sz="1600" dirty="0" err="1">
                <a:solidFill>
                  <a:srgbClr val="ECC48D"/>
                </a:solidFill>
                <a:latin typeface="Consolas" panose="020B0609020204030204" pitchFamily="49" charset="0"/>
              </a:rPr>
              <a:t>text</a:t>
            </a:r>
            <a:r>
              <a:rPr lang="fr-CA" sz="1600" dirty="0">
                <a:solidFill>
                  <a:srgbClr val="ECC48D"/>
                </a:solidFill>
                <a:latin typeface="Consolas" panose="020B0609020204030204" pitchFamily="49" charset="0"/>
              </a:rPr>
              <a:t>/plain</a:t>
            </a:r>
            <a:r>
              <a:rPr lang="fr-CA" sz="1600" dirty="0">
                <a:solidFill>
                  <a:srgbClr val="D9F5DD"/>
                </a:solidFill>
                <a:latin typeface="Consolas" panose="020B0609020204030204" pitchFamily="49" charset="0"/>
              </a:rPr>
              <a:t>'</a:t>
            </a:r>
            <a:r>
              <a:rPr lang="fr-CA" sz="1600" dirty="0">
                <a:solidFill>
                  <a:srgbClr val="D6DEEB"/>
                </a:solidFill>
                <a:latin typeface="Consolas" panose="020B0609020204030204" pitchFamily="49" charset="0"/>
              </a:rPr>
              <a:t>)</a:t>
            </a:r>
            <a:r>
              <a:rPr lang="fr-CA" sz="1600" dirty="0">
                <a:solidFill>
                  <a:srgbClr val="C792EA"/>
                </a:solidFill>
                <a:latin typeface="Consolas" panose="020B0609020204030204" pitchFamily="49" charset="0"/>
              </a:rPr>
              <a:t>;</a:t>
            </a:r>
            <a:endParaRPr lang="fr-CA" sz="1600" dirty="0">
              <a:solidFill>
                <a:srgbClr val="D6DEEB"/>
              </a:solidFill>
              <a:latin typeface="Consolas" panose="020B0609020204030204" pitchFamily="49" charset="0"/>
            </a:endParaRPr>
          </a:p>
          <a:p>
            <a:r>
              <a:rPr lang="fr-CA" sz="1600" i="1" dirty="0">
                <a:solidFill>
                  <a:srgbClr val="C792EA"/>
                </a:solidFill>
                <a:latin typeface="Consolas" panose="020B0609020204030204" pitchFamily="49" charset="0"/>
              </a:rPr>
              <a:t>  </a:t>
            </a:r>
            <a:r>
              <a:rPr lang="fr-CA" sz="1600" dirty="0" err="1">
                <a:solidFill>
                  <a:srgbClr val="D6DEEB"/>
                </a:solidFill>
                <a:latin typeface="Consolas" panose="020B0609020204030204" pitchFamily="49" charset="0"/>
              </a:rPr>
              <a:t>res</a:t>
            </a:r>
            <a:r>
              <a:rPr lang="fr-CA" sz="1600" i="1" dirty="0" err="1">
                <a:solidFill>
                  <a:srgbClr val="C792EA"/>
                </a:solidFill>
                <a:latin typeface="Consolas" panose="020B0609020204030204" pitchFamily="49" charset="0"/>
              </a:rPr>
              <a:t>.</a:t>
            </a:r>
            <a:r>
              <a:rPr lang="fr-CA" sz="1600" dirty="0" err="1">
                <a:solidFill>
                  <a:srgbClr val="82AAFF"/>
                </a:solidFill>
                <a:latin typeface="Consolas" panose="020B0609020204030204" pitchFamily="49" charset="0"/>
              </a:rPr>
              <a:t>end</a:t>
            </a:r>
            <a:r>
              <a:rPr lang="fr-CA" sz="1600" dirty="0">
                <a:solidFill>
                  <a:srgbClr val="D6DEEB"/>
                </a:solidFill>
                <a:latin typeface="Consolas" panose="020B0609020204030204" pitchFamily="49" charset="0"/>
              </a:rPr>
              <a:t>(</a:t>
            </a:r>
            <a:r>
              <a:rPr lang="fr-CA" sz="1600" dirty="0">
                <a:solidFill>
                  <a:srgbClr val="D9F5DD"/>
                </a:solidFill>
                <a:latin typeface="Consolas" panose="020B0609020204030204" pitchFamily="49" charset="0"/>
              </a:rPr>
              <a:t>'</a:t>
            </a:r>
            <a:r>
              <a:rPr lang="fr-CA" sz="1600" dirty="0">
                <a:solidFill>
                  <a:srgbClr val="ECC48D"/>
                </a:solidFill>
                <a:latin typeface="Consolas" panose="020B0609020204030204" pitchFamily="49" charset="0"/>
              </a:rPr>
              <a:t>Hello World</a:t>
            </a:r>
            <a:r>
              <a:rPr lang="fr-CA" sz="1600" dirty="0">
                <a:solidFill>
                  <a:srgbClr val="D9F5DD"/>
                </a:solidFill>
                <a:latin typeface="Consolas" panose="020B0609020204030204" pitchFamily="49" charset="0"/>
              </a:rPr>
              <a:t>'</a:t>
            </a:r>
            <a:r>
              <a:rPr lang="fr-CA" sz="1600" dirty="0">
                <a:solidFill>
                  <a:srgbClr val="D6DEEB"/>
                </a:solidFill>
                <a:latin typeface="Consolas" panose="020B0609020204030204" pitchFamily="49" charset="0"/>
              </a:rPr>
              <a:t>)</a:t>
            </a:r>
            <a:r>
              <a:rPr lang="fr-CA" sz="1600" dirty="0">
                <a:solidFill>
                  <a:srgbClr val="C792EA"/>
                </a:solidFill>
                <a:latin typeface="Consolas" panose="020B0609020204030204" pitchFamily="49" charset="0"/>
              </a:rPr>
              <a:t>;</a:t>
            </a:r>
            <a:endParaRPr lang="fr-CA" sz="1600" dirty="0">
              <a:solidFill>
                <a:srgbClr val="D6DEEB"/>
              </a:solidFill>
              <a:latin typeface="Consolas" panose="020B0609020204030204" pitchFamily="49" charset="0"/>
            </a:endParaRPr>
          </a:p>
          <a:p>
            <a:r>
              <a:rPr lang="fr-CA" sz="1600" dirty="0">
                <a:solidFill>
                  <a:srgbClr val="C792EA"/>
                </a:solidFill>
                <a:latin typeface="Consolas" panose="020B0609020204030204" pitchFamily="49" charset="0"/>
              </a:rPr>
              <a:t>}</a:t>
            </a:r>
            <a:r>
              <a:rPr lang="fr-CA" sz="1600" dirty="0">
                <a:solidFill>
                  <a:srgbClr val="D6DEEB"/>
                </a:solidFill>
                <a:latin typeface="Consolas" panose="020B0609020204030204" pitchFamily="49" charset="0"/>
              </a:rPr>
              <a:t>);</a:t>
            </a:r>
            <a:br>
              <a:rPr lang="fr-CA" sz="1600" dirty="0">
                <a:solidFill>
                  <a:srgbClr val="D6DEEB"/>
                </a:solidFill>
                <a:latin typeface="Consolas" panose="020B0609020204030204" pitchFamily="49" charset="0"/>
              </a:rPr>
            </a:br>
            <a:r>
              <a:rPr lang="fr-CA" sz="1600" dirty="0" err="1">
                <a:solidFill>
                  <a:srgbClr val="D6DEEB"/>
                </a:solidFill>
                <a:latin typeface="Consolas" panose="020B0609020204030204" pitchFamily="49" charset="0"/>
              </a:rPr>
              <a:t>server</a:t>
            </a:r>
            <a:r>
              <a:rPr lang="fr-CA" sz="1600" i="1" dirty="0" err="1">
                <a:solidFill>
                  <a:srgbClr val="C792EA"/>
                </a:solidFill>
                <a:latin typeface="Consolas" panose="020B0609020204030204" pitchFamily="49" charset="0"/>
              </a:rPr>
              <a:t>.</a:t>
            </a:r>
            <a:r>
              <a:rPr lang="fr-CA" sz="1600" dirty="0" err="1">
                <a:solidFill>
                  <a:srgbClr val="82AAFF"/>
                </a:solidFill>
                <a:latin typeface="Consolas" panose="020B0609020204030204" pitchFamily="49" charset="0"/>
              </a:rPr>
              <a:t>listen</a:t>
            </a:r>
            <a:r>
              <a:rPr lang="fr-CA" sz="1600" dirty="0">
                <a:solidFill>
                  <a:srgbClr val="D6DEEB"/>
                </a:solidFill>
                <a:latin typeface="Consolas" panose="020B0609020204030204" pitchFamily="49" charset="0"/>
              </a:rPr>
              <a:t>(</a:t>
            </a:r>
            <a:r>
              <a:rPr lang="fr-CA" sz="1600" dirty="0">
                <a:solidFill>
                  <a:srgbClr val="D7DBE0"/>
                </a:solidFill>
                <a:latin typeface="Consolas" panose="020B0609020204030204" pitchFamily="49" charset="0"/>
              </a:rPr>
              <a:t>port</a:t>
            </a:r>
            <a:r>
              <a:rPr lang="fr-CA" sz="1600" dirty="0">
                <a:solidFill>
                  <a:srgbClr val="D6DEEB"/>
                </a:solidFill>
                <a:latin typeface="Consolas" panose="020B0609020204030204" pitchFamily="49" charset="0"/>
              </a:rPr>
              <a:t>, </a:t>
            </a:r>
            <a:r>
              <a:rPr lang="fr-CA" sz="1600" dirty="0" err="1">
                <a:solidFill>
                  <a:srgbClr val="D7DBE0"/>
                </a:solidFill>
                <a:latin typeface="Consolas" panose="020B0609020204030204" pitchFamily="49" charset="0"/>
              </a:rPr>
              <a:t>hostname</a:t>
            </a:r>
            <a:r>
              <a:rPr lang="fr-CA" sz="1600" dirty="0">
                <a:solidFill>
                  <a:srgbClr val="D6DEEB"/>
                </a:solidFill>
                <a:latin typeface="Consolas" panose="020B0609020204030204" pitchFamily="49" charset="0"/>
              </a:rPr>
              <a:t>, </a:t>
            </a:r>
            <a:r>
              <a:rPr lang="fr-CA" sz="1600" dirty="0">
                <a:solidFill>
                  <a:srgbClr val="D9F5DD"/>
                </a:solidFill>
                <a:latin typeface="Consolas" panose="020B0609020204030204" pitchFamily="49" charset="0"/>
              </a:rPr>
              <a:t>()</a:t>
            </a:r>
            <a:r>
              <a:rPr lang="fr-CA" sz="1600" dirty="0">
                <a:solidFill>
                  <a:srgbClr val="D6DEEB"/>
                </a:solidFill>
                <a:latin typeface="Consolas" panose="020B0609020204030204" pitchFamily="49" charset="0"/>
              </a:rPr>
              <a:t> </a:t>
            </a:r>
            <a:r>
              <a:rPr lang="fr-CA" sz="1600" dirty="0">
                <a:solidFill>
                  <a:srgbClr val="82AAFF"/>
                </a:solidFill>
                <a:latin typeface="Consolas" panose="020B0609020204030204" pitchFamily="49" charset="0"/>
              </a:rPr>
              <a:t>=&gt;</a:t>
            </a:r>
            <a:r>
              <a:rPr lang="fr-CA" sz="1600" dirty="0">
                <a:solidFill>
                  <a:srgbClr val="D6DEEB"/>
                </a:solidFill>
                <a:latin typeface="Consolas" panose="020B0609020204030204" pitchFamily="49" charset="0"/>
              </a:rPr>
              <a:t> {</a:t>
            </a:r>
          </a:p>
          <a:p>
            <a:r>
              <a:rPr lang="fr-CA" sz="1600" dirty="0">
                <a:solidFill>
                  <a:srgbClr val="D6DEEB"/>
                </a:solidFill>
                <a:latin typeface="Consolas" panose="020B0609020204030204" pitchFamily="49" charset="0"/>
              </a:rPr>
              <a:t>  console</a:t>
            </a:r>
            <a:r>
              <a:rPr lang="fr-CA" sz="1600" i="1" dirty="0">
                <a:solidFill>
                  <a:srgbClr val="C792EA"/>
                </a:solidFill>
                <a:latin typeface="Consolas" panose="020B0609020204030204" pitchFamily="49" charset="0"/>
              </a:rPr>
              <a:t>.</a:t>
            </a:r>
            <a:r>
              <a:rPr lang="fr-CA" sz="1600" dirty="0">
                <a:solidFill>
                  <a:srgbClr val="82AAFF"/>
                </a:solidFill>
                <a:latin typeface="Consolas" panose="020B0609020204030204" pitchFamily="49" charset="0"/>
              </a:rPr>
              <a:t>log</a:t>
            </a:r>
            <a:r>
              <a:rPr lang="fr-CA" sz="1600" dirty="0">
                <a:solidFill>
                  <a:srgbClr val="D6DEEB"/>
                </a:solidFill>
                <a:latin typeface="Consolas" panose="020B0609020204030204" pitchFamily="49" charset="0"/>
              </a:rPr>
              <a:t>(`</a:t>
            </a:r>
            <a:r>
              <a:rPr lang="fr-CA" sz="1600" dirty="0">
                <a:solidFill>
                  <a:srgbClr val="ADDB67"/>
                </a:solidFill>
                <a:latin typeface="Consolas" panose="020B0609020204030204" pitchFamily="49" charset="0"/>
              </a:rPr>
              <a:t>Server running at http://</a:t>
            </a:r>
            <a:r>
              <a:rPr lang="fr-CA" sz="1600" dirty="0">
                <a:solidFill>
                  <a:srgbClr val="D3423E"/>
                </a:solidFill>
                <a:latin typeface="Consolas" panose="020B0609020204030204" pitchFamily="49" charset="0"/>
              </a:rPr>
              <a:t>${</a:t>
            </a:r>
            <a:r>
              <a:rPr lang="fr-CA" sz="1600" dirty="0">
                <a:solidFill>
                  <a:srgbClr val="D7DBE0"/>
                </a:solidFill>
                <a:latin typeface="Consolas" panose="020B0609020204030204" pitchFamily="49" charset="0"/>
              </a:rPr>
              <a:t>hostname</a:t>
            </a:r>
            <a:r>
              <a:rPr lang="fr-CA" sz="1600" dirty="0">
                <a:solidFill>
                  <a:srgbClr val="D3423E"/>
                </a:solidFill>
                <a:latin typeface="Consolas" panose="020B0609020204030204" pitchFamily="49" charset="0"/>
              </a:rPr>
              <a:t>}</a:t>
            </a:r>
            <a:r>
              <a:rPr lang="fr-CA" sz="1600" dirty="0">
                <a:solidFill>
                  <a:srgbClr val="ADDB67"/>
                </a:solidFill>
                <a:latin typeface="Consolas" panose="020B0609020204030204" pitchFamily="49" charset="0"/>
              </a:rPr>
              <a:t>:</a:t>
            </a:r>
            <a:r>
              <a:rPr lang="fr-CA" sz="1600" dirty="0">
                <a:solidFill>
                  <a:srgbClr val="D3423E"/>
                </a:solidFill>
                <a:latin typeface="Consolas" panose="020B0609020204030204" pitchFamily="49" charset="0"/>
              </a:rPr>
              <a:t>${</a:t>
            </a:r>
            <a:r>
              <a:rPr lang="fr-CA" sz="1600" dirty="0">
                <a:solidFill>
                  <a:srgbClr val="D7DBE0"/>
                </a:solidFill>
                <a:latin typeface="Consolas" panose="020B0609020204030204" pitchFamily="49" charset="0"/>
              </a:rPr>
              <a:t>port</a:t>
            </a:r>
            <a:r>
              <a:rPr lang="fr-CA" sz="1600" dirty="0">
                <a:solidFill>
                  <a:srgbClr val="D3423E"/>
                </a:solidFill>
                <a:latin typeface="Consolas" panose="020B0609020204030204" pitchFamily="49" charset="0"/>
              </a:rPr>
              <a:t>}</a:t>
            </a:r>
            <a:r>
              <a:rPr lang="fr-CA" sz="1600" dirty="0">
                <a:solidFill>
                  <a:srgbClr val="ADDB67"/>
                </a:solidFill>
                <a:latin typeface="Consolas" panose="020B0609020204030204" pitchFamily="49" charset="0"/>
              </a:rPr>
              <a:t>/</a:t>
            </a:r>
            <a:r>
              <a:rPr lang="fr-CA" sz="1600" dirty="0">
                <a:solidFill>
                  <a:srgbClr val="D6DEEB"/>
                </a:solidFill>
                <a:latin typeface="Consolas" panose="020B0609020204030204" pitchFamily="49" charset="0"/>
              </a:rPr>
              <a:t>`);</a:t>
            </a:r>
          </a:p>
          <a:p>
            <a:r>
              <a:rPr lang="fr-CA" sz="1600" dirty="0">
                <a:solidFill>
                  <a:srgbClr val="D6DEEB"/>
                </a:solidFill>
                <a:latin typeface="Consolas" panose="020B0609020204030204" pitchFamily="49" charset="0"/>
              </a:rPr>
              <a:t>});</a:t>
            </a:r>
          </a:p>
          <a:p>
            <a:endParaRPr lang="fr-CA" sz="1600" b="0" dirty="0">
              <a:solidFill>
                <a:srgbClr val="D6DEEB"/>
              </a:solidFill>
              <a:effectLst/>
              <a:latin typeface="Consolas" panose="020B0609020204030204" pitchFamily="49" charset="0"/>
            </a:endParaRPr>
          </a:p>
        </p:txBody>
      </p:sp>
      <p:sp>
        <p:nvSpPr>
          <p:cNvPr id="6" name="TextBox 5"/>
          <p:cNvSpPr txBox="1"/>
          <p:nvPr/>
        </p:nvSpPr>
        <p:spPr>
          <a:xfrm>
            <a:off x="2290354" y="1336821"/>
            <a:ext cx="5965372" cy="646331"/>
          </a:xfrm>
          <a:prstGeom prst="rect">
            <a:avLst/>
          </a:prstGeom>
          <a:noFill/>
        </p:spPr>
        <p:txBody>
          <a:bodyPr wrap="square" rtlCol="0">
            <a:spAutoFit/>
          </a:bodyPr>
          <a:lstStyle/>
          <a:p>
            <a:r>
              <a:rPr lang="fr-CA" dirty="0"/>
              <a:t>Ce premier exemple index.js a pour but de s’assurer que Node.js est fonctionnel.  </a:t>
            </a:r>
          </a:p>
        </p:txBody>
      </p:sp>
      <p:sp>
        <p:nvSpPr>
          <p:cNvPr id="7" name="TextBox 6"/>
          <p:cNvSpPr txBox="1"/>
          <p:nvPr/>
        </p:nvSpPr>
        <p:spPr>
          <a:xfrm>
            <a:off x="2290354" y="5314469"/>
            <a:ext cx="9277250" cy="1477328"/>
          </a:xfrm>
          <a:prstGeom prst="rect">
            <a:avLst/>
          </a:prstGeom>
          <a:noFill/>
        </p:spPr>
        <p:txBody>
          <a:bodyPr wrap="square" rtlCol="0">
            <a:spAutoFit/>
          </a:bodyPr>
          <a:lstStyle/>
          <a:p>
            <a:r>
              <a:rPr lang="en-US" dirty="0"/>
              <a:t>Pour executer </a:t>
            </a:r>
            <a:r>
              <a:rPr lang="fr-CA" dirty="0"/>
              <a:t>notre</a:t>
            </a:r>
            <a:r>
              <a:rPr lang="en-US" dirty="0"/>
              <a:t> </a:t>
            </a:r>
            <a:r>
              <a:rPr lang="fr-CA" dirty="0"/>
              <a:t>exemple</a:t>
            </a:r>
            <a:r>
              <a:rPr lang="en-US" dirty="0"/>
              <a:t> </a:t>
            </a:r>
          </a:p>
          <a:p>
            <a:pPr marL="285750" indent="-285750">
              <a:buFont typeface="Arial" panose="020B0604020202020204" pitchFamily="34" charset="0"/>
              <a:buChar char="•"/>
            </a:pPr>
            <a:r>
              <a:rPr lang="en-US" dirty="0"/>
              <a:t>node index.js</a:t>
            </a:r>
          </a:p>
          <a:p>
            <a:r>
              <a:rPr lang="fr-CA" dirty="0"/>
              <a:t>Aller</a:t>
            </a:r>
            <a:r>
              <a:rPr lang="en-US" dirty="0"/>
              <a:t> </a:t>
            </a:r>
            <a:r>
              <a:rPr lang="fr-CA" dirty="0"/>
              <a:t>dans</a:t>
            </a:r>
            <a:r>
              <a:rPr lang="en-US" dirty="0"/>
              <a:t> un </a:t>
            </a:r>
            <a:r>
              <a:rPr lang="fr-CA" dirty="0"/>
              <a:t>navigateur</a:t>
            </a:r>
            <a:r>
              <a:rPr lang="en-US" dirty="0"/>
              <a:t> et tapper </a:t>
            </a:r>
          </a:p>
          <a:p>
            <a:pPr marL="285750" indent="-285750">
              <a:buFont typeface="Arial" panose="020B0604020202020204" pitchFamily="34" charset="0"/>
              <a:buChar char="•"/>
            </a:pPr>
            <a:r>
              <a:rPr lang="en-US" dirty="0"/>
              <a:t>localhost:3000</a:t>
            </a:r>
          </a:p>
          <a:p>
            <a:endParaRPr lang="fr-CA" dirty="0"/>
          </a:p>
        </p:txBody>
      </p:sp>
    </p:spTree>
    <p:extLst>
      <p:ext uri="{BB962C8B-B14F-4D97-AF65-F5344CB8AC3E}">
        <p14:creationId xmlns:p14="http://schemas.microsoft.com/office/powerpoint/2010/main" val="318479814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9304" y="3698928"/>
            <a:ext cx="9401176" cy="662894"/>
          </a:xfrm>
        </p:spPr>
        <p:txBody>
          <a:bodyPr>
            <a:noAutofit/>
          </a:bodyPr>
          <a:lstStyle/>
          <a:p>
            <a:r>
              <a:rPr lang="fr-CA" sz="3200"/>
              <a:t>Node.js initiations</a:t>
            </a:r>
          </a:p>
        </p:txBody>
      </p:sp>
      <p:sp>
        <p:nvSpPr>
          <p:cNvPr id="4" name="Subtitle 3"/>
          <p:cNvSpPr>
            <a:spLocks noGrp="1"/>
          </p:cNvSpPr>
          <p:nvPr>
            <p:ph type="subTitle" idx="1"/>
          </p:nvPr>
        </p:nvSpPr>
        <p:spPr/>
        <p:txBody>
          <a:bodyPr/>
          <a:lstStyle/>
          <a:p>
            <a:r>
              <a:rPr lang="fr-CA"/>
              <a:t>Apprendre des concepts et connaissances de base node.js qui sont très utilisés dans le développement des application node.js</a:t>
            </a:r>
          </a:p>
        </p:txBody>
      </p:sp>
      <p:sp>
        <p:nvSpPr>
          <p:cNvPr id="5" name="Title 1"/>
          <p:cNvSpPr txBox="1">
            <a:spLocks/>
          </p:cNvSpPr>
          <p:nvPr/>
        </p:nvSpPr>
        <p:spPr>
          <a:xfrm>
            <a:off x="4563018" y="2889216"/>
            <a:ext cx="2778308" cy="662894"/>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sz="3200"/>
              <a:t>Chapitre 02</a:t>
            </a:r>
          </a:p>
        </p:txBody>
      </p:sp>
    </p:spTree>
    <p:extLst>
      <p:ext uri="{BB962C8B-B14F-4D97-AF65-F5344CB8AC3E}">
        <p14:creationId xmlns:p14="http://schemas.microsoft.com/office/powerpoint/2010/main" val="3264765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194560" y="775063"/>
            <a:ext cx="6487885" cy="461665"/>
          </a:xfrm>
          <a:prstGeom prst="rect">
            <a:avLst/>
          </a:prstGeom>
          <a:noFill/>
        </p:spPr>
        <p:txBody>
          <a:bodyPr wrap="square" rtlCol="0">
            <a:spAutoFit/>
          </a:bodyPr>
          <a:lstStyle/>
          <a:p>
            <a:r>
              <a:rPr lang="fr-CA" sz="2400" b="1">
                <a:solidFill>
                  <a:schemeClr val="accent1"/>
                </a:solidFill>
              </a:rPr>
              <a:t>Introduction Node.js</a:t>
            </a:r>
          </a:p>
        </p:txBody>
      </p:sp>
      <p:sp>
        <p:nvSpPr>
          <p:cNvPr id="6" name="TextBox 5"/>
          <p:cNvSpPr txBox="1"/>
          <p:nvPr/>
        </p:nvSpPr>
        <p:spPr>
          <a:xfrm>
            <a:off x="2325188" y="1369704"/>
            <a:ext cx="8900160" cy="369332"/>
          </a:xfrm>
          <a:prstGeom prst="rect">
            <a:avLst/>
          </a:prstGeom>
          <a:noFill/>
        </p:spPr>
        <p:txBody>
          <a:bodyPr wrap="square" rtlCol="0">
            <a:spAutoFit/>
          </a:bodyPr>
          <a:lstStyle/>
          <a:p>
            <a:pPr marL="342900" indent="-342900">
              <a:buFont typeface="Arial" panose="020B0604020202020204" pitchFamily="34" charset="0"/>
              <a:buChar char="•"/>
            </a:pPr>
            <a:r>
              <a:rPr lang="fr-CA">
                <a:ln w="0"/>
                <a:solidFill>
                  <a:schemeClr val="accent1"/>
                </a:solidFill>
                <a:effectLst>
                  <a:outerShdw blurRad="38100" dist="25400" dir="5400000" algn="ctr" rotWithShape="0">
                    <a:srgbClr val="6E747A">
                      <a:alpha val="43000"/>
                    </a:srgbClr>
                  </a:outerShdw>
                </a:effectLst>
              </a:rPr>
              <a:t>Définitions</a:t>
            </a:r>
            <a:endParaRPr lang="fr-CA"/>
          </a:p>
        </p:txBody>
      </p:sp>
      <p:sp>
        <p:nvSpPr>
          <p:cNvPr id="4" name="TextBox 3"/>
          <p:cNvSpPr txBox="1"/>
          <p:nvPr/>
        </p:nvSpPr>
        <p:spPr>
          <a:xfrm>
            <a:off x="2499360" y="1872012"/>
            <a:ext cx="8900160" cy="923330"/>
          </a:xfrm>
          <a:prstGeom prst="rect">
            <a:avLst/>
          </a:prstGeom>
          <a:noFill/>
        </p:spPr>
        <p:txBody>
          <a:bodyPr wrap="square" rtlCol="0">
            <a:spAutoFit/>
          </a:bodyPr>
          <a:lstStyle/>
          <a:p>
            <a:r>
              <a:rPr lang="fr-CA"/>
              <a:t>Node.js est une plateforme d’exécution JavaScript open source qui utilise la machine virtuelle V8 crée  pour le développement backend des applications hautement concurrentes. </a:t>
            </a:r>
          </a:p>
        </p:txBody>
      </p:sp>
      <p:sp>
        <p:nvSpPr>
          <p:cNvPr id="5" name="TextBox 4"/>
          <p:cNvSpPr txBox="1"/>
          <p:nvPr/>
        </p:nvSpPr>
        <p:spPr>
          <a:xfrm>
            <a:off x="2499360" y="3048000"/>
            <a:ext cx="8673737" cy="1200329"/>
          </a:xfrm>
          <a:prstGeom prst="rect">
            <a:avLst/>
          </a:prstGeom>
          <a:noFill/>
        </p:spPr>
        <p:txBody>
          <a:bodyPr wrap="square" rtlCol="0">
            <a:spAutoFit/>
          </a:bodyPr>
          <a:lstStyle/>
          <a:p>
            <a:r>
              <a:rPr lang="fr-CA"/>
              <a:t>Node.js est une plateforme de développement JavaScript intégrant un serveur HTTP. Son fonctionnement se base sur une boucle événementielle qui lui permet le support de fortes montées en charge.</a:t>
            </a:r>
          </a:p>
          <a:p>
            <a:endParaRPr lang="fr-CA"/>
          </a:p>
        </p:txBody>
      </p:sp>
      <p:sp>
        <p:nvSpPr>
          <p:cNvPr id="8" name="TextBox 7"/>
          <p:cNvSpPr txBox="1"/>
          <p:nvPr/>
        </p:nvSpPr>
        <p:spPr>
          <a:xfrm>
            <a:off x="2499360" y="4248329"/>
            <a:ext cx="8377645" cy="1754326"/>
          </a:xfrm>
          <a:prstGeom prst="rect">
            <a:avLst/>
          </a:prstGeom>
          <a:noFill/>
        </p:spPr>
        <p:txBody>
          <a:bodyPr wrap="square" rtlCol="0">
            <a:spAutoFit/>
          </a:bodyPr>
          <a:lstStyle/>
          <a:p>
            <a:r>
              <a:rPr lang="fr-CA" dirty="0"/>
              <a:t>Node.js s’exécute dans un seul processus sans création d’un thread pour chaque requête comme la plus part des autres plateformes. Il est capable de gérer des milliers des connexions concurrentes dans un seul serveur sans besoin de gérer le multithreading et cela grâce au paradigme Non-Blocking (Méthodes Asynchrone).</a:t>
            </a:r>
          </a:p>
          <a:p>
            <a:endParaRPr lang="fr-CA" dirty="0"/>
          </a:p>
        </p:txBody>
      </p:sp>
    </p:spTree>
    <p:extLst>
      <p:ext uri="{BB962C8B-B14F-4D97-AF65-F5344CB8AC3E}">
        <p14:creationId xmlns:p14="http://schemas.microsoft.com/office/powerpoint/2010/main" val="252371908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 grpId="0"/>
      <p:bldP spid="5"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194560" y="775063"/>
            <a:ext cx="6487885" cy="461665"/>
          </a:xfrm>
          <a:prstGeom prst="rect">
            <a:avLst/>
          </a:prstGeom>
          <a:noFill/>
        </p:spPr>
        <p:txBody>
          <a:bodyPr wrap="square" rtlCol="0">
            <a:spAutoFit/>
          </a:bodyPr>
          <a:lstStyle/>
          <a:p>
            <a:r>
              <a:rPr lang="fr-CA" sz="2400" b="1" dirty="0">
                <a:solidFill>
                  <a:schemeClr val="accent1"/>
                </a:solidFill>
                <a:highlight>
                  <a:srgbClr val="FFFF00"/>
                </a:highlight>
              </a:rPr>
              <a:t>Introduction Node.js</a:t>
            </a:r>
          </a:p>
        </p:txBody>
      </p:sp>
      <p:sp>
        <p:nvSpPr>
          <p:cNvPr id="6" name="TextBox 5"/>
          <p:cNvSpPr txBox="1"/>
          <p:nvPr/>
        </p:nvSpPr>
        <p:spPr>
          <a:xfrm>
            <a:off x="2325188" y="1256437"/>
            <a:ext cx="8900160" cy="369332"/>
          </a:xfrm>
          <a:prstGeom prst="rect">
            <a:avLst/>
          </a:prstGeom>
          <a:noFill/>
        </p:spPr>
        <p:txBody>
          <a:bodyPr wrap="square" rtlCol="0">
            <a:spAutoFit/>
          </a:bodyPr>
          <a:lstStyle>
            <a:defPPr>
              <a:defRPr lang="fr-FR"/>
            </a:defPPr>
            <a:lvl1pPr marL="342900" indent="-342900">
              <a:buFont typeface="+mj-lt"/>
              <a:buAutoNum type="arabicPeriod"/>
              <a:defRPr>
                <a:ln w="0"/>
                <a:solidFill>
                  <a:schemeClr val="accent1"/>
                </a:solidFill>
                <a:effectLst>
                  <a:outerShdw blurRad="38100" dist="25400" dir="5400000" algn="ctr" rotWithShape="0">
                    <a:srgbClr val="6E747A">
                      <a:alpha val="43000"/>
                    </a:srgbClr>
                  </a:outerShdw>
                </a:effectLst>
              </a:defRPr>
            </a:lvl1pPr>
          </a:lstStyle>
          <a:p>
            <a:pPr>
              <a:buFont typeface="Arial" panose="020B0604020202020204" pitchFamily="34" charset="0"/>
              <a:buChar char="•"/>
            </a:pPr>
            <a:r>
              <a:rPr lang="fr-CA"/>
              <a:t>Caractéristiques </a:t>
            </a:r>
          </a:p>
        </p:txBody>
      </p:sp>
      <p:sp>
        <p:nvSpPr>
          <p:cNvPr id="3" name="TextBox 2"/>
          <p:cNvSpPr txBox="1"/>
          <p:nvPr/>
        </p:nvSpPr>
        <p:spPr>
          <a:xfrm>
            <a:off x="2464525" y="1667779"/>
            <a:ext cx="8760823" cy="1754326"/>
          </a:xfrm>
          <a:prstGeom prst="rect">
            <a:avLst/>
          </a:prstGeom>
          <a:noFill/>
        </p:spPr>
        <p:txBody>
          <a:bodyPr wrap="square" rtlCol="0">
            <a:spAutoFit/>
          </a:bodyPr>
          <a:lstStyle/>
          <a:p>
            <a:pPr marL="342900" indent="-342900">
              <a:buFont typeface="+mj-lt"/>
              <a:buAutoNum type="arabicPeriod"/>
            </a:pPr>
            <a:r>
              <a:rPr lang="fr-CA" dirty="0"/>
              <a:t>un système non bloquant.</a:t>
            </a:r>
          </a:p>
          <a:p>
            <a:pPr marL="342900" indent="-342900">
              <a:buFont typeface="+mj-lt"/>
              <a:buAutoNum type="arabicPeriod"/>
            </a:pPr>
            <a:r>
              <a:rPr lang="fr-CA" dirty="0"/>
              <a:t>une performance du moteur de JavaScript V8 de Google qui est aussi focalisée sur la sécurité.</a:t>
            </a:r>
          </a:p>
          <a:p>
            <a:pPr marL="342900" indent="-342900">
              <a:buFont typeface="+mj-lt"/>
              <a:buAutoNum type="arabicPeriod"/>
            </a:pPr>
            <a:r>
              <a:rPr lang="fr-CA" dirty="0"/>
              <a:t>Open source.</a:t>
            </a:r>
          </a:p>
          <a:p>
            <a:pPr marL="342900" indent="-342900">
              <a:buFont typeface="+mj-lt"/>
              <a:buAutoNum type="arabicPeriod"/>
            </a:pPr>
            <a:r>
              <a:rPr lang="fr-CA" dirty="0"/>
              <a:t>Flexible et extrêmement modulable.</a:t>
            </a:r>
          </a:p>
          <a:p>
            <a:pPr marL="342900" indent="-342900">
              <a:buFont typeface="+mj-lt"/>
              <a:buAutoNum type="arabicPeriod"/>
            </a:pPr>
            <a:r>
              <a:rPr lang="fr-CA" dirty="0"/>
              <a:t>Coder avec un seul langage.</a:t>
            </a:r>
          </a:p>
        </p:txBody>
      </p:sp>
      <p:sp>
        <p:nvSpPr>
          <p:cNvPr id="9" name="TextBox 8"/>
          <p:cNvSpPr txBox="1"/>
          <p:nvPr/>
        </p:nvSpPr>
        <p:spPr>
          <a:xfrm>
            <a:off x="2325188" y="3539252"/>
            <a:ext cx="8900160" cy="369332"/>
          </a:xfrm>
          <a:prstGeom prst="rect">
            <a:avLst/>
          </a:prstGeom>
          <a:noFill/>
        </p:spPr>
        <p:txBody>
          <a:bodyPr wrap="square" rtlCol="0">
            <a:spAutoFit/>
          </a:bodyPr>
          <a:lstStyle>
            <a:defPPr>
              <a:defRPr lang="fr-FR"/>
            </a:defPPr>
            <a:lvl1pPr marL="342900" indent="-342900">
              <a:buFont typeface="+mj-lt"/>
              <a:buAutoNum type="arabicPeriod"/>
              <a:defRPr>
                <a:ln w="0"/>
                <a:solidFill>
                  <a:schemeClr val="accent1"/>
                </a:solidFill>
                <a:effectLst>
                  <a:outerShdw blurRad="38100" dist="25400" dir="5400000" algn="ctr" rotWithShape="0">
                    <a:srgbClr val="6E747A">
                      <a:alpha val="43000"/>
                    </a:srgbClr>
                  </a:outerShdw>
                </a:effectLst>
              </a:defRPr>
            </a:lvl1pPr>
          </a:lstStyle>
          <a:p>
            <a:pPr>
              <a:buFont typeface="Arial" panose="020B0604020202020204" pitchFamily="34" charset="0"/>
              <a:buChar char="•"/>
            </a:pPr>
            <a:r>
              <a:rPr lang="fr-CA" dirty="0">
                <a:effectLst/>
              </a:rPr>
              <a:t>Différence entre Node.js et JavaScript</a:t>
            </a:r>
            <a:endParaRPr lang="fr-CA" dirty="0"/>
          </a:p>
        </p:txBody>
      </p:sp>
      <p:graphicFrame>
        <p:nvGraphicFramePr>
          <p:cNvPr id="12" name="Table 11"/>
          <p:cNvGraphicFramePr>
            <a:graphicFrameLocks noGrp="1"/>
          </p:cNvGraphicFramePr>
          <p:nvPr>
            <p:extLst>
              <p:ext uri="{D42A27DB-BD31-4B8C-83A1-F6EECF244321}">
                <p14:modId xmlns:p14="http://schemas.microsoft.com/office/powerpoint/2010/main" val="2172932451"/>
              </p:ext>
            </p:extLst>
          </p:nvPr>
        </p:nvGraphicFramePr>
        <p:xfrm>
          <a:off x="2580414" y="4165553"/>
          <a:ext cx="9062946" cy="1886903"/>
        </p:xfrm>
        <a:graphic>
          <a:graphicData uri="http://schemas.openxmlformats.org/drawingml/2006/table">
            <a:tbl>
              <a:tblPr firstRow="1" firstCol="1" bandRow="1">
                <a:tableStyleId>{69012ECD-51FC-41F1-AA8D-1B2483CD663E}</a:tableStyleId>
              </a:tblPr>
              <a:tblGrid>
                <a:gridCol w="4525780">
                  <a:extLst>
                    <a:ext uri="{9D8B030D-6E8A-4147-A177-3AD203B41FA5}">
                      <a16:colId xmlns:a16="http://schemas.microsoft.com/office/drawing/2014/main" val="20000"/>
                    </a:ext>
                  </a:extLst>
                </a:gridCol>
                <a:gridCol w="4537166">
                  <a:extLst>
                    <a:ext uri="{9D8B030D-6E8A-4147-A177-3AD203B41FA5}">
                      <a16:colId xmlns:a16="http://schemas.microsoft.com/office/drawing/2014/main" val="20001"/>
                    </a:ext>
                  </a:extLst>
                </a:gridCol>
              </a:tblGrid>
              <a:tr h="314484">
                <a:tc>
                  <a:txBody>
                    <a:bodyPr/>
                    <a:lstStyle/>
                    <a:p>
                      <a:pPr marL="0" marR="0">
                        <a:lnSpc>
                          <a:spcPct val="107000"/>
                        </a:lnSpc>
                        <a:spcBef>
                          <a:spcPts val="0"/>
                        </a:spcBef>
                        <a:spcAft>
                          <a:spcPts val="0"/>
                        </a:spcAft>
                      </a:pPr>
                      <a:r>
                        <a:rPr lang="fr-CA" sz="1800" kern="1200"/>
                        <a:t>JavaScript</a:t>
                      </a:r>
                      <a:endParaRPr lang="fr-CA" sz="1800" kern="1200">
                        <a:solidFill>
                          <a:schemeClr val="tx1"/>
                        </a:solidFill>
                        <a:latin typeface="+mn-lt"/>
                        <a:ea typeface="+mn-ea"/>
                        <a:cs typeface="+mn-cs"/>
                      </a:endParaRPr>
                    </a:p>
                  </a:txBody>
                  <a:tcPr marL="68580" marR="68580" marT="0" marB="0"/>
                </a:tc>
                <a:tc>
                  <a:txBody>
                    <a:bodyPr/>
                    <a:lstStyle/>
                    <a:p>
                      <a:pPr marL="0" marR="0">
                        <a:lnSpc>
                          <a:spcPct val="107000"/>
                        </a:lnSpc>
                        <a:spcBef>
                          <a:spcPts val="0"/>
                        </a:spcBef>
                        <a:spcAft>
                          <a:spcPts val="0"/>
                        </a:spcAft>
                      </a:pPr>
                      <a:r>
                        <a:rPr lang="fr-CA" sz="1800" kern="1200"/>
                        <a:t>Node.js</a:t>
                      </a:r>
                      <a:endParaRPr lang="fr-CA" sz="1800" kern="1200">
                        <a:solidFill>
                          <a:schemeClr val="tx1"/>
                        </a:solidFill>
                        <a:latin typeface="+mn-lt"/>
                        <a:ea typeface="+mn-ea"/>
                        <a:cs typeface="+mn-cs"/>
                      </a:endParaRPr>
                    </a:p>
                  </a:txBody>
                  <a:tcPr marL="68580" marR="68580" marT="0" marB="0"/>
                </a:tc>
                <a:extLst>
                  <a:ext uri="{0D108BD9-81ED-4DB2-BD59-A6C34878D82A}">
                    <a16:rowId xmlns:a16="http://schemas.microsoft.com/office/drawing/2014/main" val="10000"/>
                  </a:ext>
                </a:extLst>
              </a:tr>
              <a:tr h="314484">
                <a:tc>
                  <a:txBody>
                    <a:bodyPr/>
                    <a:lstStyle/>
                    <a:p>
                      <a:pPr marL="0" marR="0" indent="0" algn="l" defTabSz="914400" rtl="0" eaLnBrk="1" latinLnBrk="0" hangingPunct="1">
                        <a:lnSpc>
                          <a:spcPct val="107000"/>
                        </a:lnSpc>
                        <a:spcBef>
                          <a:spcPts val="0"/>
                        </a:spcBef>
                        <a:spcAft>
                          <a:spcPts val="0"/>
                        </a:spcAft>
                        <a:buFont typeface="+mj-lt"/>
                        <a:buNone/>
                      </a:pPr>
                      <a:r>
                        <a:rPr lang="fr-CA" sz="1600" b="0" kern="1200" dirty="0"/>
                        <a:t>Utiliser pour le développement frontend</a:t>
                      </a:r>
                      <a:endParaRPr lang="fr-CA" sz="1600" b="0" kern="1200" dirty="0">
                        <a:solidFill>
                          <a:schemeClr val="tx1"/>
                        </a:solidFill>
                        <a:latin typeface="+mn-lt"/>
                        <a:ea typeface="+mn-ea"/>
                        <a:cs typeface="+mn-cs"/>
                      </a:endParaRPr>
                    </a:p>
                  </a:txBody>
                  <a:tcPr marL="68580" marR="68580" marT="0" marB="0"/>
                </a:tc>
                <a:tc>
                  <a:txBody>
                    <a:bodyPr/>
                    <a:lstStyle/>
                    <a:p>
                      <a:pPr marL="0" marR="0" indent="0" algn="l" defTabSz="914400" rtl="0" eaLnBrk="1" latinLnBrk="0" hangingPunct="1">
                        <a:lnSpc>
                          <a:spcPct val="107000"/>
                        </a:lnSpc>
                        <a:spcBef>
                          <a:spcPts val="0"/>
                        </a:spcBef>
                        <a:spcAft>
                          <a:spcPts val="0"/>
                        </a:spcAft>
                        <a:buFont typeface="+mj-lt"/>
                        <a:buNone/>
                      </a:pPr>
                      <a:r>
                        <a:rPr lang="fr-CA" sz="1600" kern="1200" dirty="0"/>
                        <a:t>Utiliser pour le développement backend</a:t>
                      </a:r>
                      <a:endParaRPr lang="fr-CA" sz="1600" kern="1200" dirty="0">
                        <a:solidFill>
                          <a:schemeClr val="tx1"/>
                        </a:solidFill>
                        <a:latin typeface="+mn-lt"/>
                        <a:ea typeface="+mn-ea"/>
                        <a:cs typeface="+mn-cs"/>
                      </a:endParaRPr>
                    </a:p>
                  </a:txBody>
                  <a:tcPr marL="68580" marR="68580" marT="0" marB="0"/>
                </a:tc>
                <a:extLst>
                  <a:ext uri="{0D108BD9-81ED-4DB2-BD59-A6C34878D82A}">
                    <a16:rowId xmlns:a16="http://schemas.microsoft.com/office/drawing/2014/main" val="10001"/>
                  </a:ext>
                </a:extLst>
              </a:tr>
              <a:tr h="314484">
                <a:tc>
                  <a:txBody>
                    <a:bodyPr/>
                    <a:lstStyle/>
                    <a:p>
                      <a:pPr marL="0" marR="0" indent="0" algn="l" defTabSz="914400" rtl="0" eaLnBrk="1" latinLnBrk="0" hangingPunct="1">
                        <a:lnSpc>
                          <a:spcPct val="107000"/>
                        </a:lnSpc>
                        <a:spcBef>
                          <a:spcPts val="0"/>
                        </a:spcBef>
                        <a:spcAft>
                          <a:spcPts val="0"/>
                        </a:spcAft>
                        <a:buFont typeface="+mj-lt"/>
                        <a:buNone/>
                      </a:pPr>
                      <a:r>
                        <a:rPr lang="fr-CA" sz="1600" b="0" kern="1200" dirty="0"/>
                        <a:t>S’exécute seulement dans le browser</a:t>
                      </a:r>
                      <a:endParaRPr lang="fr-CA" sz="1600" b="0" kern="1200" dirty="0">
                        <a:solidFill>
                          <a:schemeClr val="tx1"/>
                        </a:solidFill>
                        <a:latin typeface="+mn-lt"/>
                        <a:ea typeface="+mn-ea"/>
                        <a:cs typeface="+mn-cs"/>
                      </a:endParaRPr>
                    </a:p>
                  </a:txBody>
                  <a:tcPr marL="68580" marR="68580" marT="0" marB="0"/>
                </a:tc>
                <a:tc>
                  <a:txBody>
                    <a:bodyPr/>
                    <a:lstStyle/>
                    <a:p>
                      <a:pPr marL="0" marR="0" indent="0" algn="l" defTabSz="914400" rtl="0" eaLnBrk="1" latinLnBrk="0" hangingPunct="1">
                        <a:lnSpc>
                          <a:spcPct val="107000"/>
                        </a:lnSpc>
                        <a:spcBef>
                          <a:spcPts val="0"/>
                        </a:spcBef>
                        <a:spcAft>
                          <a:spcPts val="0"/>
                        </a:spcAft>
                        <a:buFont typeface="+mj-lt"/>
                        <a:buNone/>
                      </a:pPr>
                      <a:r>
                        <a:rPr lang="fr-CA" sz="1600" kern="1200" dirty="0"/>
                        <a:t>S’exécute à l’extérieur du browser</a:t>
                      </a:r>
                      <a:endParaRPr lang="fr-CA" sz="1600" kern="1200" dirty="0">
                        <a:solidFill>
                          <a:schemeClr val="tx1"/>
                        </a:solidFill>
                        <a:latin typeface="+mn-lt"/>
                        <a:ea typeface="+mn-ea"/>
                        <a:cs typeface="+mn-cs"/>
                      </a:endParaRPr>
                    </a:p>
                  </a:txBody>
                  <a:tcPr marL="68580" marR="68580" marT="0" marB="0"/>
                </a:tc>
                <a:extLst>
                  <a:ext uri="{0D108BD9-81ED-4DB2-BD59-A6C34878D82A}">
                    <a16:rowId xmlns:a16="http://schemas.microsoft.com/office/drawing/2014/main" val="10002"/>
                  </a:ext>
                </a:extLst>
              </a:tr>
              <a:tr h="943451">
                <a:tc>
                  <a:txBody>
                    <a:bodyPr/>
                    <a:lstStyle/>
                    <a:p>
                      <a:pPr marL="0" marR="0" indent="0" algn="l" defTabSz="914400" rtl="0" eaLnBrk="1" latinLnBrk="0" hangingPunct="1">
                        <a:lnSpc>
                          <a:spcPct val="107000"/>
                        </a:lnSpc>
                        <a:spcBef>
                          <a:spcPts val="0"/>
                        </a:spcBef>
                        <a:spcAft>
                          <a:spcPts val="0"/>
                        </a:spcAft>
                        <a:buFont typeface="+mj-lt"/>
                        <a:buNone/>
                      </a:pPr>
                      <a:r>
                        <a:rPr lang="fr-CA" sz="1600" b="0" kern="1200" dirty="0"/>
                        <a:t>S’exécute dans l’engin de n’importe quel navigateur (</a:t>
                      </a:r>
                      <a:r>
                        <a:rPr lang="fr-CA" sz="1600" b="0" kern="1200" dirty="0" err="1"/>
                        <a:t>Spidermonkey</a:t>
                      </a:r>
                      <a:r>
                        <a:rPr lang="fr-CA" sz="1600" b="0" kern="1200" dirty="0"/>
                        <a:t> pour Firefox ou JS </a:t>
                      </a:r>
                      <a:r>
                        <a:rPr lang="fr-CA" sz="1600" b="0" kern="1200" dirty="0" err="1"/>
                        <a:t>Core</a:t>
                      </a:r>
                      <a:r>
                        <a:rPr lang="fr-CA" sz="1600" b="0" kern="1200" dirty="0"/>
                        <a:t> de Safari ou V8 pour Chrome) </a:t>
                      </a:r>
                      <a:endParaRPr lang="fr-CA" sz="1600" b="0" kern="1200" dirty="0">
                        <a:solidFill>
                          <a:schemeClr val="tx1"/>
                        </a:solidFill>
                        <a:latin typeface="+mn-lt"/>
                        <a:ea typeface="+mn-ea"/>
                        <a:cs typeface="+mn-cs"/>
                      </a:endParaRPr>
                    </a:p>
                  </a:txBody>
                  <a:tcPr marL="68580" marR="68580" marT="0" marB="0"/>
                </a:tc>
                <a:tc>
                  <a:txBody>
                    <a:bodyPr/>
                    <a:lstStyle/>
                    <a:p>
                      <a:pPr marL="0" marR="0" indent="0" algn="l" defTabSz="914400" rtl="0" eaLnBrk="1" latinLnBrk="0" hangingPunct="1">
                        <a:lnSpc>
                          <a:spcPct val="107000"/>
                        </a:lnSpc>
                        <a:spcBef>
                          <a:spcPts val="0"/>
                        </a:spcBef>
                        <a:spcAft>
                          <a:spcPts val="0"/>
                        </a:spcAft>
                        <a:buFont typeface="+mj-lt"/>
                        <a:buNone/>
                      </a:pPr>
                      <a:r>
                        <a:rPr lang="fr-CA" sz="1600" kern="1200" dirty="0"/>
                        <a:t>V8 est l’engin JavaScript dans </a:t>
                      </a:r>
                      <a:r>
                        <a:rPr lang="fr-CA" sz="1600" kern="1200" dirty="0" err="1"/>
                        <a:t>NodeJs</a:t>
                      </a:r>
                      <a:r>
                        <a:rPr lang="fr-CA" sz="1600" kern="1200" dirty="0"/>
                        <a:t> qui interprète et exécute le code JavaScript </a:t>
                      </a:r>
                      <a:endParaRPr lang="fr-CA" sz="1600" kern="1200" dirty="0">
                        <a:solidFill>
                          <a:schemeClr val="tx1"/>
                        </a:solidFill>
                        <a:latin typeface="+mn-lt"/>
                        <a:ea typeface="+mn-ea"/>
                        <a:cs typeface="+mn-cs"/>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1098322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194560" y="775063"/>
            <a:ext cx="6487885" cy="461665"/>
          </a:xfrm>
          <a:prstGeom prst="rect">
            <a:avLst/>
          </a:prstGeom>
          <a:noFill/>
        </p:spPr>
        <p:txBody>
          <a:bodyPr wrap="square" rtlCol="0">
            <a:spAutoFit/>
          </a:bodyPr>
          <a:lstStyle/>
          <a:p>
            <a:r>
              <a:rPr lang="fr-CA" sz="2400" b="1">
                <a:solidFill>
                  <a:schemeClr val="accent1"/>
                </a:solidFill>
              </a:rPr>
              <a:t>Pourquoi Node.js</a:t>
            </a:r>
          </a:p>
        </p:txBody>
      </p:sp>
      <p:sp>
        <p:nvSpPr>
          <p:cNvPr id="3" name="TextBox 2"/>
          <p:cNvSpPr txBox="1"/>
          <p:nvPr/>
        </p:nvSpPr>
        <p:spPr>
          <a:xfrm>
            <a:off x="2264228" y="1429771"/>
            <a:ext cx="9030789" cy="1200329"/>
          </a:xfrm>
          <a:prstGeom prst="rect">
            <a:avLst/>
          </a:prstGeom>
          <a:noFill/>
        </p:spPr>
        <p:txBody>
          <a:bodyPr wrap="square" lIns="91440" tIns="45720" rIns="91440" bIns="45720" rtlCol="0" anchor="t">
            <a:spAutoFit/>
          </a:bodyPr>
          <a:lstStyle/>
          <a:p>
            <a:r>
              <a:rPr lang="fr-CA"/>
              <a:t>Node.js a été développé comme étant un ensemble de bibliothèque JavaScript qui s’exécute à l’extérieur du navigateur et qui a la capacité d’exécuter des opérations I/O comme lecture des fichiers, lecture à partir le réseau, se connecter à une base de données etc.</a:t>
            </a:r>
          </a:p>
        </p:txBody>
      </p:sp>
      <p:sp>
        <p:nvSpPr>
          <p:cNvPr id="4" name="TextBox 3"/>
          <p:cNvSpPr txBox="1"/>
          <p:nvPr/>
        </p:nvSpPr>
        <p:spPr>
          <a:xfrm>
            <a:off x="2264228" y="3030584"/>
            <a:ext cx="8821783" cy="2308324"/>
          </a:xfrm>
          <a:prstGeom prst="rect">
            <a:avLst/>
          </a:prstGeom>
          <a:noFill/>
        </p:spPr>
        <p:txBody>
          <a:bodyPr wrap="square" rtlCol="0">
            <a:spAutoFit/>
          </a:bodyPr>
          <a:lstStyle/>
          <a:p>
            <a:r>
              <a:rPr lang="fr-CA"/>
              <a:t>Applications légères et rapides avec communication en temps réel</a:t>
            </a:r>
          </a:p>
          <a:p>
            <a:r>
              <a:rPr lang="fr-CA"/>
              <a:t>Il est essentiel de comprendre la taille de votre produit pour choisir la bonne technologie avec laquelle le construire. La nature flexible et efficace de Node.js se prête à la construction d’applications légères, rapides et évolutives. Les applications en temps réel comme la messagerie instantanée et les outils de collaboration en sont un exemple. Ceci, associé aux capacités de synchronisation rapide de Node.js, le rend également utile pour les applications basées sur des événements.</a:t>
            </a:r>
          </a:p>
        </p:txBody>
      </p:sp>
    </p:spTree>
    <p:extLst>
      <p:ext uri="{BB962C8B-B14F-4D97-AF65-F5344CB8AC3E}">
        <p14:creationId xmlns:p14="http://schemas.microsoft.com/office/powerpoint/2010/main" val="289497884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194560" y="775063"/>
            <a:ext cx="6487885" cy="461665"/>
          </a:xfrm>
          <a:prstGeom prst="rect">
            <a:avLst/>
          </a:prstGeom>
          <a:noFill/>
        </p:spPr>
        <p:txBody>
          <a:bodyPr wrap="square" rtlCol="0">
            <a:spAutoFit/>
          </a:bodyPr>
          <a:lstStyle/>
          <a:p>
            <a:r>
              <a:rPr lang="fr-CA" sz="2400" b="1">
                <a:solidFill>
                  <a:schemeClr val="accent1"/>
                </a:solidFill>
              </a:rPr>
              <a:t>Notions et concepts de base Node.js</a:t>
            </a:r>
            <a:endParaRPr lang="fr-CA" sz="2400" b="1">
              <a:ln w="0"/>
              <a:solidFill>
                <a:schemeClr val="accent1"/>
              </a:solidFill>
              <a:effectLst>
                <a:outerShdw blurRad="38100" dist="19050" dir="2700000" algn="tl" rotWithShape="0">
                  <a:schemeClr val="dk1">
                    <a:alpha val="40000"/>
                  </a:schemeClr>
                </a:outerShdw>
              </a:effectLst>
            </a:endParaRPr>
          </a:p>
        </p:txBody>
      </p:sp>
      <p:sp>
        <p:nvSpPr>
          <p:cNvPr id="3" name="TextBox 2"/>
          <p:cNvSpPr txBox="1"/>
          <p:nvPr/>
        </p:nvSpPr>
        <p:spPr>
          <a:xfrm>
            <a:off x="2264228" y="1429771"/>
            <a:ext cx="9030789" cy="369332"/>
          </a:xfrm>
          <a:prstGeom prst="rect">
            <a:avLst/>
          </a:prstGeom>
          <a:noFill/>
        </p:spPr>
        <p:txBody>
          <a:bodyPr wrap="square" rtlCol="0">
            <a:spAutoFit/>
          </a:bodyPr>
          <a:lstStyle/>
          <a:p>
            <a:pPr marL="342900" indent="-342900">
              <a:buFont typeface="Arial" panose="020B0604020202020204" pitchFamily="34" charset="0"/>
              <a:buChar char="•"/>
            </a:pPr>
            <a:r>
              <a:rPr lang="fr-CA">
                <a:ln w="0"/>
                <a:solidFill>
                  <a:schemeClr val="accent1"/>
                </a:solidFill>
                <a:effectLst>
                  <a:outerShdw blurRad="38100" dist="25400" dir="5400000" algn="ctr" rotWithShape="0">
                    <a:srgbClr val="6E747A">
                      <a:alpha val="43000"/>
                    </a:srgbClr>
                  </a:outerShdw>
                </a:effectLst>
              </a:rPr>
              <a:t>Flux asynchrone </a:t>
            </a:r>
          </a:p>
        </p:txBody>
      </p:sp>
      <p:sp>
        <p:nvSpPr>
          <p:cNvPr id="4" name="TextBox 3"/>
          <p:cNvSpPr txBox="1"/>
          <p:nvPr/>
        </p:nvSpPr>
        <p:spPr>
          <a:xfrm>
            <a:off x="2264228" y="1992146"/>
            <a:ext cx="8821783" cy="2308324"/>
          </a:xfrm>
          <a:prstGeom prst="rect">
            <a:avLst/>
          </a:prstGeom>
          <a:noFill/>
        </p:spPr>
        <p:txBody>
          <a:bodyPr wrap="square" rtlCol="0">
            <a:spAutoFit/>
          </a:bodyPr>
          <a:lstStyle/>
          <a:p>
            <a:r>
              <a:rPr lang="fr-CA" dirty="0"/>
              <a:t>JavaScript est désigné pour être non-blocking dans le thread main grâce au fonctionnement des Callbacks. </a:t>
            </a:r>
          </a:p>
          <a:p>
            <a:endParaRPr lang="fr-CA" dirty="0"/>
          </a:p>
          <a:p>
            <a:r>
              <a:rPr lang="fr-CA" dirty="0"/>
              <a:t>Dans  un non-blocking system, il y a trois types de fonctions : </a:t>
            </a:r>
          </a:p>
          <a:p>
            <a:pPr marL="342900" lvl="0" indent="-342900">
              <a:buFont typeface="+mj-lt"/>
              <a:buAutoNum type="arabicPeriod"/>
            </a:pPr>
            <a:r>
              <a:rPr lang="fr-CA" b="1" dirty="0" err="1"/>
              <a:t>Initiator</a:t>
            </a:r>
            <a:r>
              <a:rPr lang="fr-CA" dirty="0"/>
              <a:t> : c’est la première fonction qui démarre le flow.</a:t>
            </a:r>
          </a:p>
          <a:p>
            <a:pPr marL="342900" lvl="0" indent="-342900">
              <a:buFont typeface="+mj-lt"/>
              <a:buAutoNum type="arabicPeriod"/>
            </a:pPr>
            <a:r>
              <a:rPr lang="fr-CA" b="1" dirty="0"/>
              <a:t>Middleware</a:t>
            </a:r>
            <a:r>
              <a:rPr lang="fr-CA" dirty="0"/>
              <a:t> : elle retourne une autre fonction.</a:t>
            </a:r>
          </a:p>
          <a:p>
            <a:pPr marL="342900" lvl="0" indent="-342900">
              <a:buFont typeface="+mj-lt"/>
              <a:buAutoNum type="arabicPeriod"/>
            </a:pPr>
            <a:r>
              <a:rPr lang="fr-CA" b="1" dirty="0"/>
              <a:t>Terminator</a:t>
            </a:r>
            <a:r>
              <a:rPr lang="fr-CA" dirty="0"/>
              <a:t> : permet d’exécuter le Callback.</a:t>
            </a:r>
          </a:p>
          <a:p>
            <a:endParaRPr lang="fr-CA" dirty="0"/>
          </a:p>
        </p:txBody>
      </p:sp>
    </p:spTree>
    <p:extLst>
      <p:ext uri="{BB962C8B-B14F-4D97-AF65-F5344CB8AC3E}">
        <p14:creationId xmlns:p14="http://schemas.microsoft.com/office/powerpoint/2010/main" val="137593793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194560" y="775063"/>
            <a:ext cx="6487885" cy="461665"/>
          </a:xfrm>
          <a:prstGeom prst="rect">
            <a:avLst/>
          </a:prstGeom>
          <a:noFill/>
        </p:spPr>
        <p:txBody>
          <a:bodyPr wrap="square" rtlCol="0">
            <a:spAutoFit/>
          </a:bodyPr>
          <a:lstStyle/>
          <a:p>
            <a:r>
              <a:rPr lang="fr-CA" sz="2400" b="1">
                <a:solidFill>
                  <a:schemeClr val="accent1"/>
                </a:solidFill>
              </a:rPr>
              <a:t>Notions et concepts de base Node.js</a:t>
            </a:r>
            <a:endParaRPr lang="fr-CA" sz="2400" b="1">
              <a:ln w="0"/>
              <a:solidFill>
                <a:schemeClr val="accent1"/>
              </a:solidFill>
              <a:effectLst>
                <a:outerShdw blurRad="38100" dist="19050" dir="2700000" algn="tl" rotWithShape="0">
                  <a:schemeClr val="dk1">
                    <a:alpha val="40000"/>
                  </a:schemeClr>
                </a:outerShdw>
              </a:effectLst>
            </a:endParaRPr>
          </a:p>
        </p:txBody>
      </p:sp>
      <p:sp>
        <p:nvSpPr>
          <p:cNvPr id="3" name="TextBox 2"/>
          <p:cNvSpPr txBox="1"/>
          <p:nvPr/>
        </p:nvSpPr>
        <p:spPr>
          <a:xfrm>
            <a:off x="2264228" y="1429771"/>
            <a:ext cx="9030789" cy="369332"/>
          </a:xfrm>
          <a:prstGeom prst="rect">
            <a:avLst/>
          </a:prstGeom>
          <a:noFill/>
        </p:spPr>
        <p:txBody>
          <a:bodyPr wrap="square" rtlCol="0">
            <a:spAutoFit/>
          </a:bodyPr>
          <a:lstStyle/>
          <a:p>
            <a:pPr marL="342900" indent="-342900">
              <a:buFont typeface="Arial" panose="020B0604020202020204" pitchFamily="34" charset="0"/>
              <a:buChar char="•"/>
            </a:pPr>
            <a:r>
              <a:rPr lang="fr-CA">
                <a:ln w="0"/>
                <a:solidFill>
                  <a:schemeClr val="accent1"/>
                </a:solidFill>
                <a:effectLst>
                  <a:outerShdw blurRad="38100" dist="25400" dir="5400000" algn="ctr" rotWithShape="0">
                    <a:srgbClr val="6E747A">
                      <a:alpha val="43000"/>
                    </a:srgbClr>
                  </a:outerShdw>
                </a:effectLst>
              </a:rPr>
              <a:t>Flux asynchrone </a:t>
            </a:r>
          </a:p>
        </p:txBody>
      </p:sp>
      <p:sp>
        <p:nvSpPr>
          <p:cNvPr id="4" name="TextBox 3"/>
          <p:cNvSpPr txBox="1"/>
          <p:nvPr/>
        </p:nvSpPr>
        <p:spPr>
          <a:xfrm>
            <a:off x="2351314" y="1992146"/>
            <a:ext cx="8821783" cy="369332"/>
          </a:xfrm>
          <a:prstGeom prst="rect">
            <a:avLst/>
          </a:prstGeom>
          <a:noFill/>
        </p:spPr>
        <p:txBody>
          <a:bodyPr wrap="square" lIns="91440" tIns="45720" rIns="91440" bIns="45720" rtlCol="0" anchor="t">
            <a:spAutoFit/>
          </a:bodyPr>
          <a:lstStyle/>
          <a:p>
            <a:r>
              <a:rPr lang="fr-CA" dirty="0"/>
              <a:t>Exemple 01</a:t>
            </a:r>
          </a:p>
        </p:txBody>
      </p:sp>
      <p:sp>
        <p:nvSpPr>
          <p:cNvPr id="5" name="TextBox 4"/>
          <p:cNvSpPr txBox="1"/>
          <p:nvPr/>
        </p:nvSpPr>
        <p:spPr>
          <a:xfrm>
            <a:off x="2351314" y="2769326"/>
            <a:ext cx="9405257" cy="3970318"/>
          </a:xfrm>
          <a:prstGeom prst="rect">
            <a:avLst/>
          </a:prstGeom>
          <a:solidFill>
            <a:schemeClr val="tx2">
              <a:lumMod val="50000"/>
            </a:schemeClr>
          </a:solidFill>
        </p:spPr>
        <p:txBody>
          <a:bodyPr wrap="square" rtlCol="0">
            <a:spAutoFit/>
          </a:bodyPr>
          <a:lstStyle/>
          <a:p>
            <a:r>
              <a:rPr lang="fr-CA" dirty="0" err="1">
                <a:solidFill>
                  <a:srgbClr val="82AAFF"/>
                </a:solidFill>
                <a:latin typeface="Consolas" panose="020B0609020204030204" pitchFamily="49" charset="0"/>
              </a:rPr>
              <a:t>function</a:t>
            </a:r>
            <a:r>
              <a:rPr lang="fr-CA" dirty="0">
                <a:solidFill>
                  <a:srgbClr val="D6DEEB"/>
                </a:solidFill>
                <a:latin typeface="Consolas" panose="020B0609020204030204" pitchFamily="49" charset="0"/>
              </a:rPr>
              <a:t> </a:t>
            </a:r>
            <a:r>
              <a:rPr lang="fr-CA" dirty="0" err="1">
                <a:solidFill>
                  <a:srgbClr val="82AAFF"/>
                </a:solidFill>
                <a:latin typeface="Consolas" panose="020B0609020204030204" pitchFamily="49" charset="0"/>
              </a:rPr>
              <a:t>terminator</a:t>
            </a:r>
            <a:r>
              <a:rPr lang="fr-CA" dirty="0">
                <a:solidFill>
                  <a:srgbClr val="D9F5DD"/>
                </a:solidFill>
                <a:latin typeface="Consolas" panose="020B0609020204030204" pitchFamily="49" charset="0"/>
              </a:rPr>
              <a:t>(</a:t>
            </a:r>
            <a:r>
              <a:rPr lang="fr-CA" dirty="0" err="1">
                <a:solidFill>
                  <a:srgbClr val="D7DBE0"/>
                </a:solidFill>
                <a:latin typeface="Consolas" panose="020B0609020204030204" pitchFamily="49" charset="0"/>
              </a:rPr>
              <a:t>someInput</a:t>
            </a:r>
            <a:r>
              <a:rPr lang="fr-CA" dirty="0">
                <a:solidFill>
                  <a:srgbClr val="D6DEEB"/>
                </a:solidFill>
                <a:latin typeface="Consolas" panose="020B0609020204030204" pitchFamily="49" charset="0"/>
              </a:rPr>
              <a:t>, </a:t>
            </a:r>
            <a:r>
              <a:rPr lang="fr-CA" dirty="0">
                <a:solidFill>
                  <a:srgbClr val="D7DBE0"/>
                </a:solidFill>
                <a:latin typeface="Consolas" panose="020B0609020204030204" pitchFamily="49" charset="0"/>
              </a:rPr>
              <a:t>callback</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 {</a:t>
            </a:r>
          </a:p>
          <a:p>
            <a:r>
              <a:rPr lang="fr-CA" dirty="0">
                <a:solidFill>
                  <a:srgbClr val="D6DEEB"/>
                </a:solidFill>
                <a:latin typeface="Consolas" panose="020B0609020204030204" pitchFamily="49" charset="0"/>
              </a:rPr>
              <a:t>    </a:t>
            </a:r>
            <a:r>
              <a:rPr lang="fr-CA" dirty="0">
                <a:solidFill>
                  <a:srgbClr val="82AAFF"/>
                </a:solidFill>
                <a:latin typeface="Consolas" panose="020B0609020204030204" pitchFamily="49" charset="0"/>
              </a:rPr>
              <a:t>callback</a:t>
            </a:r>
            <a:r>
              <a:rPr lang="fr-CA" dirty="0">
                <a:solidFill>
                  <a:srgbClr val="D6DEEB"/>
                </a:solidFill>
                <a:latin typeface="Consolas" panose="020B0609020204030204" pitchFamily="49" charset="0"/>
              </a:rPr>
              <a:t>(`</a:t>
            </a:r>
            <a:r>
              <a:rPr lang="fr-CA" dirty="0">
                <a:solidFill>
                  <a:srgbClr val="D3423E"/>
                </a:solidFill>
                <a:latin typeface="Consolas" panose="020B0609020204030204" pitchFamily="49" charset="0"/>
              </a:rPr>
              <a:t>${</a:t>
            </a:r>
            <a:r>
              <a:rPr lang="fr-CA" dirty="0" err="1">
                <a:solidFill>
                  <a:srgbClr val="D7DBE0"/>
                </a:solidFill>
                <a:latin typeface="Consolas" panose="020B0609020204030204" pitchFamily="49" charset="0"/>
              </a:rPr>
              <a:t>someInput</a:t>
            </a:r>
            <a:r>
              <a:rPr lang="fr-CA" dirty="0">
                <a:solidFill>
                  <a:srgbClr val="D3423E"/>
                </a:solidFill>
                <a:latin typeface="Consolas" panose="020B0609020204030204" pitchFamily="49" charset="0"/>
              </a:rPr>
              <a:t>}</a:t>
            </a:r>
            <a:r>
              <a:rPr lang="fr-CA" dirty="0">
                <a:solidFill>
                  <a:srgbClr val="ADDB67"/>
                </a:solidFill>
                <a:latin typeface="Consolas" panose="020B0609020204030204" pitchFamily="49" charset="0"/>
              </a:rPr>
              <a:t> and </a:t>
            </a:r>
            <a:r>
              <a:rPr lang="fr-CA" dirty="0" err="1">
                <a:solidFill>
                  <a:srgbClr val="ADDB67"/>
                </a:solidFill>
                <a:latin typeface="Consolas" panose="020B0609020204030204" pitchFamily="49" charset="0"/>
              </a:rPr>
              <a:t>terminated</a:t>
            </a:r>
            <a:r>
              <a:rPr lang="fr-CA" dirty="0">
                <a:solidFill>
                  <a:srgbClr val="ADDB67"/>
                </a:solidFill>
                <a:latin typeface="Consolas" panose="020B0609020204030204" pitchFamily="49" charset="0"/>
              </a:rPr>
              <a:t> by </a:t>
            </a:r>
            <a:r>
              <a:rPr lang="fr-CA" dirty="0" err="1">
                <a:solidFill>
                  <a:srgbClr val="ADDB67"/>
                </a:solidFill>
                <a:latin typeface="Consolas" panose="020B0609020204030204" pitchFamily="49" charset="0"/>
              </a:rPr>
              <a:t>executing</a:t>
            </a:r>
            <a:r>
              <a:rPr lang="fr-CA" dirty="0">
                <a:solidFill>
                  <a:srgbClr val="ADDB67"/>
                </a:solidFill>
                <a:latin typeface="Consolas" panose="020B0609020204030204" pitchFamily="49" charset="0"/>
              </a:rPr>
              <a:t> callback </a:t>
            </a:r>
            <a:r>
              <a:rPr lang="fr-CA" dirty="0">
                <a:solidFill>
                  <a:srgbClr val="D6DEEB"/>
                </a:solidFill>
                <a:latin typeface="Consolas" panose="020B0609020204030204" pitchFamily="49" charset="0"/>
              </a:rPr>
              <a:t>`);</a:t>
            </a:r>
          </a:p>
          <a:p>
            <a:r>
              <a:rPr lang="fr-CA" dirty="0">
                <a:solidFill>
                  <a:srgbClr val="D6DEEB"/>
                </a:solidFill>
                <a:latin typeface="Consolas" panose="020B0609020204030204" pitchFamily="49" charset="0"/>
              </a:rPr>
              <a:t>  }</a:t>
            </a:r>
          </a:p>
          <a:p>
            <a:r>
              <a:rPr lang="fr-CA" dirty="0" err="1">
                <a:solidFill>
                  <a:srgbClr val="82AAFF"/>
                </a:solidFill>
                <a:latin typeface="Consolas" panose="020B0609020204030204" pitchFamily="49" charset="0"/>
              </a:rPr>
              <a:t>function</a:t>
            </a:r>
            <a:r>
              <a:rPr lang="fr-CA" dirty="0">
                <a:solidFill>
                  <a:srgbClr val="D6DEEB"/>
                </a:solidFill>
                <a:latin typeface="Consolas" panose="020B0609020204030204" pitchFamily="49" charset="0"/>
              </a:rPr>
              <a:t> </a:t>
            </a:r>
            <a:r>
              <a:rPr lang="fr-CA" dirty="0">
                <a:solidFill>
                  <a:srgbClr val="82AAFF"/>
                </a:solidFill>
                <a:latin typeface="Consolas" panose="020B0609020204030204" pitchFamily="49" charset="0"/>
              </a:rPr>
              <a:t>middleware</a:t>
            </a:r>
            <a:r>
              <a:rPr lang="fr-CA" dirty="0">
                <a:solidFill>
                  <a:srgbClr val="D9F5DD"/>
                </a:solidFill>
                <a:latin typeface="Consolas" panose="020B0609020204030204" pitchFamily="49" charset="0"/>
              </a:rPr>
              <a:t>(</a:t>
            </a:r>
            <a:r>
              <a:rPr lang="fr-CA" dirty="0" err="1">
                <a:solidFill>
                  <a:srgbClr val="D7DBE0"/>
                </a:solidFill>
                <a:latin typeface="Consolas" panose="020B0609020204030204" pitchFamily="49" charset="0"/>
              </a:rPr>
              <a:t>someInput</a:t>
            </a:r>
            <a:r>
              <a:rPr lang="fr-CA" dirty="0">
                <a:solidFill>
                  <a:srgbClr val="D6DEEB"/>
                </a:solidFill>
                <a:latin typeface="Consolas" panose="020B0609020204030204" pitchFamily="49" charset="0"/>
              </a:rPr>
              <a:t>, </a:t>
            </a:r>
            <a:r>
              <a:rPr lang="fr-CA" dirty="0">
                <a:solidFill>
                  <a:srgbClr val="D7DBE0"/>
                </a:solidFill>
                <a:latin typeface="Consolas" panose="020B0609020204030204" pitchFamily="49" charset="0"/>
              </a:rPr>
              <a:t>callback</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 {</a:t>
            </a:r>
          </a:p>
          <a:p>
            <a:r>
              <a:rPr lang="fr-CA" dirty="0">
                <a:solidFill>
                  <a:srgbClr val="D6DEEB"/>
                </a:solidFill>
                <a:latin typeface="Consolas" panose="020B0609020204030204" pitchFamily="49" charset="0"/>
              </a:rPr>
              <a:t>    </a:t>
            </a:r>
            <a:r>
              <a:rPr lang="fr-CA" i="1" dirty="0">
                <a:solidFill>
                  <a:srgbClr val="C792EA"/>
                </a:solidFill>
                <a:latin typeface="Consolas" panose="020B0609020204030204" pitchFamily="49" charset="0"/>
              </a:rPr>
              <a:t>return</a:t>
            </a:r>
            <a:r>
              <a:rPr lang="fr-CA" dirty="0">
                <a:solidFill>
                  <a:srgbClr val="D6DEEB"/>
                </a:solidFill>
                <a:latin typeface="Consolas" panose="020B0609020204030204" pitchFamily="49" charset="0"/>
              </a:rPr>
              <a:t> </a:t>
            </a:r>
            <a:r>
              <a:rPr lang="fr-CA" dirty="0" err="1">
                <a:solidFill>
                  <a:srgbClr val="82AAFF"/>
                </a:solidFill>
                <a:latin typeface="Consolas" panose="020B0609020204030204" pitchFamily="49" charset="0"/>
              </a:rPr>
              <a:t>terminator</a:t>
            </a:r>
            <a:r>
              <a:rPr lang="fr-CA" dirty="0">
                <a:solidFill>
                  <a:srgbClr val="D6DEEB"/>
                </a:solidFill>
                <a:latin typeface="Consolas" panose="020B0609020204030204" pitchFamily="49" charset="0"/>
              </a:rPr>
              <a:t>(`</a:t>
            </a:r>
            <a:r>
              <a:rPr lang="fr-CA" dirty="0">
                <a:solidFill>
                  <a:srgbClr val="D3423E"/>
                </a:solidFill>
                <a:latin typeface="Consolas" panose="020B0609020204030204" pitchFamily="49" charset="0"/>
              </a:rPr>
              <a:t>${</a:t>
            </a:r>
            <a:r>
              <a:rPr lang="fr-CA" dirty="0" err="1">
                <a:solidFill>
                  <a:srgbClr val="D7DBE0"/>
                </a:solidFill>
                <a:latin typeface="Consolas" panose="020B0609020204030204" pitchFamily="49" charset="0"/>
              </a:rPr>
              <a:t>someInput</a:t>
            </a:r>
            <a:r>
              <a:rPr lang="fr-CA" dirty="0">
                <a:solidFill>
                  <a:srgbClr val="D3423E"/>
                </a:solidFill>
                <a:latin typeface="Consolas" panose="020B0609020204030204" pitchFamily="49" charset="0"/>
              </a:rPr>
              <a:t>}</a:t>
            </a:r>
            <a:r>
              <a:rPr lang="fr-CA" dirty="0">
                <a:solidFill>
                  <a:srgbClr val="ADDB67"/>
                </a:solidFill>
                <a:latin typeface="Consolas" panose="020B0609020204030204" pitchFamily="49" charset="0"/>
              </a:rPr>
              <a:t> </a:t>
            </a:r>
            <a:r>
              <a:rPr lang="fr-CA" dirty="0" err="1">
                <a:solidFill>
                  <a:srgbClr val="ADDB67"/>
                </a:solidFill>
                <a:latin typeface="Consolas" panose="020B0609020204030204" pitchFamily="49" charset="0"/>
              </a:rPr>
              <a:t>touched</a:t>
            </a:r>
            <a:r>
              <a:rPr lang="fr-CA" dirty="0">
                <a:solidFill>
                  <a:srgbClr val="ADDB67"/>
                </a:solidFill>
                <a:latin typeface="Consolas" panose="020B0609020204030204" pitchFamily="49" charset="0"/>
              </a:rPr>
              <a:t> by middleware </a:t>
            </a:r>
            <a:r>
              <a:rPr lang="fr-CA" dirty="0">
                <a:solidFill>
                  <a:srgbClr val="D6DEEB"/>
                </a:solidFill>
                <a:latin typeface="Consolas" panose="020B0609020204030204" pitchFamily="49" charset="0"/>
              </a:rPr>
              <a:t>`</a:t>
            </a:r>
            <a:r>
              <a:rPr lang="fr-CA" dirty="0">
                <a:solidFill>
                  <a:srgbClr val="5F7E97"/>
                </a:solidFill>
                <a:latin typeface="Consolas" panose="020B0609020204030204" pitchFamily="49" charset="0"/>
              </a:rPr>
              <a:t>,</a:t>
            </a:r>
            <a:r>
              <a:rPr lang="fr-CA" dirty="0">
                <a:solidFill>
                  <a:srgbClr val="D6DEEB"/>
                </a:solidFill>
                <a:latin typeface="Consolas" panose="020B0609020204030204" pitchFamily="49" charset="0"/>
              </a:rPr>
              <a:t> </a:t>
            </a:r>
            <a:r>
              <a:rPr lang="fr-CA" dirty="0">
                <a:solidFill>
                  <a:srgbClr val="D7DBE0"/>
                </a:solidFill>
                <a:latin typeface="Consolas" panose="020B0609020204030204" pitchFamily="49" charset="0"/>
              </a:rPr>
              <a:t>callback</a:t>
            </a:r>
            <a:r>
              <a:rPr lang="fr-CA" dirty="0">
                <a:solidFill>
                  <a:srgbClr val="D6DEEB"/>
                </a:solidFill>
                <a:latin typeface="Consolas" panose="020B0609020204030204" pitchFamily="49" charset="0"/>
              </a:rPr>
              <a:t>);</a:t>
            </a:r>
          </a:p>
          <a:p>
            <a:r>
              <a:rPr lang="fr-CA" dirty="0">
                <a:solidFill>
                  <a:srgbClr val="D6DEEB"/>
                </a:solidFill>
                <a:latin typeface="Consolas" panose="020B0609020204030204" pitchFamily="49" charset="0"/>
              </a:rPr>
              <a:t>  }</a:t>
            </a:r>
          </a:p>
          <a:p>
            <a:r>
              <a:rPr lang="fr-CA" dirty="0" err="1">
                <a:solidFill>
                  <a:srgbClr val="82AAFF"/>
                </a:solidFill>
                <a:latin typeface="Consolas" panose="020B0609020204030204" pitchFamily="49" charset="0"/>
              </a:rPr>
              <a:t>function</a:t>
            </a:r>
            <a:r>
              <a:rPr lang="fr-CA" dirty="0">
                <a:solidFill>
                  <a:srgbClr val="D6DEEB"/>
                </a:solidFill>
                <a:latin typeface="Consolas" panose="020B0609020204030204" pitchFamily="49" charset="0"/>
              </a:rPr>
              <a:t> </a:t>
            </a:r>
            <a:r>
              <a:rPr lang="fr-CA" dirty="0" err="1">
                <a:solidFill>
                  <a:srgbClr val="82AAFF"/>
                </a:solidFill>
                <a:latin typeface="Consolas" panose="020B0609020204030204" pitchFamily="49" charset="0"/>
              </a:rPr>
              <a:t>initiate</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 {</a:t>
            </a:r>
          </a:p>
          <a:p>
            <a:r>
              <a:rPr lang="fr-CA" dirty="0">
                <a:solidFill>
                  <a:srgbClr val="D6DEEB"/>
                </a:solidFill>
                <a:latin typeface="Consolas" panose="020B0609020204030204" pitchFamily="49" charset="0"/>
              </a:rPr>
              <a:t>    </a:t>
            </a:r>
            <a:r>
              <a:rPr lang="fr-CA" dirty="0" err="1">
                <a:solidFill>
                  <a:srgbClr val="82AAFF"/>
                </a:solidFill>
                <a:latin typeface="Consolas" panose="020B0609020204030204" pitchFamily="49" charset="0"/>
              </a:rPr>
              <a:t>const</a:t>
            </a:r>
            <a:r>
              <a:rPr lang="fr-CA" i="1" dirty="0">
                <a:solidFill>
                  <a:srgbClr val="C792EA"/>
                </a:solidFill>
                <a:latin typeface="Consolas" panose="020B0609020204030204" pitchFamily="49" charset="0"/>
              </a:rPr>
              <a:t> </a:t>
            </a:r>
            <a:r>
              <a:rPr lang="fr-CA" i="1" dirty="0" err="1">
                <a:solidFill>
                  <a:srgbClr val="82AAFF"/>
                </a:solidFill>
                <a:latin typeface="Consolas" panose="020B0609020204030204" pitchFamily="49" charset="0"/>
              </a:rPr>
              <a:t>someInput</a:t>
            </a:r>
            <a:r>
              <a:rPr lang="fr-CA" i="1" dirty="0">
                <a:solidFill>
                  <a:srgbClr val="C792EA"/>
                </a:solidFill>
                <a:latin typeface="Consolas" panose="020B0609020204030204" pitchFamily="49" charset="0"/>
              </a:rPr>
              <a:t> </a:t>
            </a:r>
            <a:r>
              <a:rPr lang="fr-CA" dirty="0">
                <a:solidFill>
                  <a:srgbClr val="C792EA"/>
                </a:solidFill>
                <a:latin typeface="Consolas" panose="020B0609020204030204" pitchFamily="49" charset="0"/>
              </a:rPr>
              <a:t>=</a:t>
            </a:r>
            <a:r>
              <a:rPr lang="fr-CA" i="1" dirty="0">
                <a:solidFill>
                  <a:srgbClr val="C792EA"/>
                </a:solidFill>
                <a:latin typeface="Consolas" panose="020B0609020204030204" pitchFamily="49" charset="0"/>
              </a:rPr>
              <a:t> </a:t>
            </a:r>
            <a:r>
              <a:rPr lang="fr-CA" dirty="0">
                <a:solidFill>
                  <a:srgbClr val="D9F5DD"/>
                </a:solidFill>
                <a:latin typeface="Consolas" panose="020B0609020204030204" pitchFamily="49" charset="0"/>
              </a:rPr>
              <a:t>'</a:t>
            </a:r>
            <a:r>
              <a:rPr lang="fr-CA" dirty="0">
                <a:solidFill>
                  <a:srgbClr val="ECC48D"/>
                </a:solidFill>
                <a:latin typeface="Consolas" panose="020B0609020204030204" pitchFamily="49" charset="0"/>
              </a:rPr>
              <a:t>hello </a:t>
            </a:r>
            <a:r>
              <a:rPr lang="fr-CA" dirty="0" err="1">
                <a:solidFill>
                  <a:srgbClr val="ECC48D"/>
                </a:solidFill>
                <a:latin typeface="Consolas" panose="020B0609020204030204" pitchFamily="49" charset="0"/>
              </a:rPr>
              <a:t>this</a:t>
            </a:r>
            <a:r>
              <a:rPr lang="fr-CA" dirty="0">
                <a:solidFill>
                  <a:srgbClr val="ECC48D"/>
                </a:solidFill>
                <a:latin typeface="Consolas" panose="020B0609020204030204" pitchFamily="49" charset="0"/>
              </a:rPr>
              <a:t> </a:t>
            </a:r>
            <a:r>
              <a:rPr lang="fr-CA" dirty="0" err="1">
                <a:solidFill>
                  <a:srgbClr val="ECC48D"/>
                </a:solidFill>
                <a:latin typeface="Consolas" panose="020B0609020204030204" pitchFamily="49" charset="0"/>
              </a:rPr>
              <a:t>is</a:t>
            </a:r>
            <a:r>
              <a:rPr lang="fr-CA" dirty="0">
                <a:solidFill>
                  <a:srgbClr val="ECC48D"/>
                </a:solidFill>
                <a:latin typeface="Consolas" panose="020B0609020204030204" pitchFamily="49" charset="0"/>
              </a:rPr>
              <a:t> a </a:t>
            </a:r>
            <a:r>
              <a:rPr lang="fr-CA" dirty="0" err="1">
                <a:solidFill>
                  <a:srgbClr val="ECC48D"/>
                </a:solidFill>
                <a:latin typeface="Consolas" panose="020B0609020204030204" pitchFamily="49" charset="0"/>
              </a:rPr>
              <a:t>function</a:t>
            </a:r>
            <a:r>
              <a:rPr lang="fr-CA" dirty="0">
                <a:solidFill>
                  <a:srgbClr val="ECC48D"/>
                </a:solidFill>
                <a:latin typeface="Consolas" panose="020B0609020204030204" pitchFamily="49" charset="0"/>
              </a:rPr>
              <a:t> </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a:t>
            </a:r>
          </a:p>
          <a:p>
            <a:r>
              <a:rPr lang="fr-CA" dirty="0">
                <a:solidFill>
                  <a:srgbClr val="D6DEEB"/>
                </a:solidFill>
                <a:latin typeface="Consolas" panose="020B0609020204030204" pitchFamily="49" charset="0"/>
              </a:rPr>
              <a:t>    </a:t>
            </a:r>
            <a:r>
              <a:rPr lang="fr-CA" dirty="0">
                <a:solidFill>
                  <a:srgbClr val="82AAFF"/>
                </a:solidFill>
                <a:latin typeface="Consolas" panose="020B0609020204030204" pitchFamily="49" charset="0"/>
              </a:rPr>
              <a:t>middleware</a:t>
            </a:r>
            <a:r>
              <a:rPr lang="fr-CA" dirty="0">
                <a:solidFill>
                  <a:srgbClr val="D6DEEB"/>
                </a:solidFill>
                <a:latin typeface="Consolas" panose="020B0609020204030204" pitchFamily="49" charset="0"/>
              </a:rPr>
              <a:t>(</a:t>
            </a:r>
            <a:r>
              <a:rPr lang="fr-CA" dirty="0" err="1">
                <a:solidFill>
                  <a:srgbClr val="D7DBE0"/>
                </a:solidFill>
                <a:latin typeface="Consolas" panose="020B0609020204030204" pitchFamily="49" charset="0"/>
              </a:rPr>
              <a:t>someInput</a:t>
            </a:r>
            <a:r>
              <a:rPr lang="fr-CA" dirty="0">
                <a:solidFill>
                  <a:srgbClr val="5F7E97"/>
                </a:solidFill>
                <a:latin typeface="Consolas" panose="020B0609020204030204" pitchFamily="49" charset="0"/>
              </a:rPr>
              <a:t>,</a:t>
            </a:r>
            <a:r>
              <a:rPr lang="fr-CA" dirty="0">
                <a:solidFill>
                  <a:srgbClr val="D6DEEB"/>
                </a:solidFill>
                <a:latin typeface="Consolas" panose="020B0609020204030204" pitchFamily="49" charset="0"/>
              </a:rPr>
              <a:t> </a:t>
            </a:r>
            <a:r>
              <a:rPr lang="fr-CA" dirty="0" err="1">
                <a:solidFill>
                  <a:srgbClr val="82AAFF"/>
                </a:solidFill>
                <a:latin typeface="Consolas" panose="020B0609020204030204" pitchFamily="49" charset="0"/>
              </a:rPr>
              <a:t>function</a:t>
            </a:r>
            <a:r>
              <a:rPr lang="fr-CA" dirty="0">
                <a:solidFill>
                  <a:srgbClr val="D6DEEB"/>
                </a:solidFill>
                <a:latin typeface="Consolas" panose="020B0609020204030204" pitchFamily="49" charset="0"/>
              </a:rPr>
              <a:t> </a:t>
            </a:r>
            <a:r>
              <a:rPr lang="fr-CA" dirty="0">
                <a:solidFill>
                  <a:srgbClr val="D9F5DD"/>
                </a:solidFill>
                <a:latin typeface="Consolas" panose="020B0609020204030204" pitchFamily="49" charset="0"/>
              </a:rPr>
              <a:t>(</a:t>
            </a:r>
            <a:r>
              <a:rPr lang="fr-CA" dirty="0" err="1">
                <a:solidFill>
                  <a:srgbClr val="D7DBE0"/>
                </a:solidFill>
                <a:latin typeface="Consolas" panose="020B0609020204030204" pitchFamily="49" charset="0"/>
              </a:rPr>
              <a:t>result</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 {</a:t>
            </a:r>
          </a:p>
          <a:p>
            <a:r>
              <a:rPr lang="fr-CA" dirty="0">
                <a:solidFill>
                  <a:srgbClr val="D6DEEB"/>
                </a:solidFill>
                <a:latin typeface="Consolas" panose="020B0609020204030204" pitchFamily="49" charset="0"/>
              </a:rPr>
              <a:t>      console</a:t>
            </a:r>
            <a:r>
              <a:rPr lang="fr-CA" i="1" dirty="0">
                <a:solidFill>
                  <a:srgbClr val="C792EA"/>
                </a:solidFill>
                <a:latin typeface="Consolas" panose="020B0609020204030204" pitchFamily="49" charset="0"/>
              </a:rPr>
              <a:t>.</a:t>
            </a:r>
            <a:r>
              <a:rPr lang="fr-CA" dirty="0">
                <a:solidFill>
                  <a:srgbClr val="82AAFF"/>
                </a:solidFill>
                <a:latin typeface="Consolas" panose="020B0609020204030204" pitchFamily="49" charset="0"/>
              </a:rPr>
              <a:t>log</a:t>
            </a:r>
            <a:r>
              <a:rPr lang="fr-CA" dirty="0">
                <a:solidFill>
                  <a:srgbClr val="D6DEEB"/>
                </a:solidFill>
                <a:latin typeface="Consolas" panose="020B0609020204030204" pitchFamily="49" charset="0"/>
              </a:rPr>
              <a:t>(</a:t>
            </a:r>
            <a:r>
              <a:rPr lang="fr-CA" dirty="0" err="1">
                <a:solidFill>
                  <a:srgbClr val="D7DBE0"/>
                </a:solidFill>
                <a:latin typeface="Consolas" panose="020B0609020204030204" pitchFamily="49" charset="0"/>
              </a:rPr>
              <a:t>result</a:t>
            </a:r>
            <a:r>
              <a:rPr lang="fr-CA" dirty="0">
                <a:solidFill>
                  <a:srgbClr val="D6DEEB"/>
                </a:solidFill>
                <a:latin typeface="Consolas" panose="020B0609020204030204" pitchFamily="49" charset="0"/>
              </a:rPr>
              <a:t>);</a:t>
            </a:r>
          </a:p>
          <a:p>
            <a:r>
              <a:rPr lang="fr-CA" dirty="0">
                <a:solidFill>
                  <a:srgbClr val="D6DEEB"/>
                </a:solidFill>
                <a:latin typeface="Consolas" panose="020B0609020204030204" pitchFamily="49" charset="0"/>
              </a:rPr>
              <a:t>    });</a:t>
            </a:r>
          </a:p>
          <a:p>
            <a:r>
              <a:rPr lang="fr-CA" dirty="0">
                <a:solidFill>
                  <a:srgbClr val="D6DEEB"/>
                </a:solidFill>
                <a:latin typeface="Consolas" panose="020B0609020204030204" pitchFamily="49" charset="0"/>
              </a:rPr>
              <a:t>  }</a:t>
            </a:r>
          </a:p>
          <a:p>
            <a:r>
              <a:rPr lang="fr-CA" dirty="0">
                <a:solidFill>
                  <a:srgbClr val="D6DEEB"/>
                </a:solidFill>
                <a:latin typeface="Consolas" panose="020B0609020204030204" pitchFamily="49" charset="0"/>
              </a:rPr>
              <a:t>  </a:t>
            </a:r>
            <a:r>
              <a:rPr lang="fr-CA" dirty="0" err="1">
                <a:solidFill>
                  <a:srgbClr val="82AAFF"/>
                </a:solidFill>
                <a:latin typeface="Consolas" panose="020B0609020204030204" pitchFamily="49" charset="0"/>
              </a:rPr>
              <a:t>initiate</a:t>
            </a:r>
            <a:r>
              <a:rPr lang="fr-CA" dirty="0">
                <a:solidFill>
                  <a:srgbClr val="D6DEEB"/>
                </a:solidFill>
                <a:latin typeface="Consolas" panose="020B0609020204030204" pitchFamily="49" charset="0"/>
              </a:rPr>
              <a:t>();</a:t>
            </a:r>
          </a:p>
          <a:p>
            <a:endParaRPr lang="fr-CA" dirty="0"/>
          </a:p>
        </p:txBody>
      </p:sp>
    </p:spTree>
    <p:extLst>
      <p:ext uri="{BB962C8B-B14F-4D97-AF65-F5344CB8AC3E}">
        <p14:creationId xmlns:p14="http://schemas.microsoft.com/office/powerpoint/2010/main" val="56469152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194560" y="775063"/>
            <a:ext cx="6487885" cy="461665"/>
          </a:xfrm>
          <a:prstGeom prst="rect">
            <a:avLst/>
          </a:prstGeom>
          <a:noFill/>
        </p:spPr>
        <p:txBody>
          <a:bodyPr wrap="square" rtlCol="0">
            <a:spAutoFit/>
          </a:bodyPr>
          <a:lstStyle/>
          <a:p>
            <a:r>
              <a:rPr lang="fr-CA" sz="2400" b="1">
                <a:solidFill>
                  <a:schemeClr val="accent1"/>
                </a:solidFill>
              </a:rPr>
              <a:t>Notions et concepts de base Node.js</a:t>
            </a:r>
            <a:endParaRPr lang="fr-CA" sz="2400" b="1">
              <a:ln w="0"/>
              <a:solidFill>
                <a:schemeClr val="accent1"/>
              </a:solidFill>
              <a:effectLst>
                <a:outerShdw blurRad="38100" dist="19050" dir="2700000" algn="tl" rotWithShape="0">
                  <a:schemeClr val="dk1">
                    <a:alpha val="40000"/>
                  </a:schemeClr>
                </a:outerShdw>
              </a:effectLst>
            </a:endParaRPr>
          </a:p>
        </p:txBody>
      </p:sp>
      <p:sp>
        <p:nvSpPr>
          <p:cNvPr id="3" name="TextBox 2"/>
          <p:cNvSpPr txBox="1"/>
          <p:nvPr/>
        </p:nvSpPr>
        <p:spPr>
          <a:xfrm>
            <a:off x="2264228" y="1429771"/>
            <a:ext cx="9030789" cy="369332"/>
          </a:xfrm>
          <a:prstGeom prst="rect">
            <a:avLst/>
          </a:prstGeom>
          <a:noFill/>
        </p:spPr>
        <p:txBody>
          <a:bodyPr wrap="square" rtlCol="0">
            <a:spAutoFit/>
          </a:bodyPr>
          <a:lstStyle/>
          <a:p>
            <a:pPr marL="342900" indent="-342900">
              <a:buFont typeface="Arial" panose="020B0604020202020204" pitchFamily="34" charset="0"/>
              <a:buChar char="•"/>
            </a:pPr>
            <a:r>
              <a:rPr lang="fr-CA">
                <a:ln w="0"/>
                <a:solidFill>
                  <a:schemeClr val="accent1"/>
                </a:solidFill>
                <a:effectLst>
                  <a:outerShdw blurRad="38100" dist="25400" dir="5400000" algn="ctr" rotWithShape="0">
                    <a:srgbClr val="6E747A">
                      <a:alpha val="43000"/>
                    </a:srgbClr>
                  </a:outerShdw>
                </a:effectLst>
              </a:rPr>
              <a:t>Blocking et Non-blocking dans Node.js</a:t>
            </a:r>
          </a:p>
        </p:txBody>
      </p:sp>
      <p:sp>
        <p:nvSpPr>
          <p:cNvPr id="4" name="TextBox 3"/>
          <p:cNvSpPr txBox="1"/>
          <p:nvPr/>
        </p:nvSpPr>
        <p:spPr>
          <a:xfrm>
            <a:off x="2264228" y="1931186"/>
            <a:ext cx="9518469" cy="646331"/>
          </a:xfrm>
          <a:prstGeom prst="rect">
            <a:avLst/>
          </a:prstGeom>
          <a:noFill/>
        </p:spPr>
        <p:txBody>
          <a:bodyPr wrap="square" rtlCol="0">
            <a:spAutoFit/>
          </a:bodyPr>
          <a:lstStyle/>
          <a:p>
            <a:r>
              <a:rPr lang="fr-CA" b="1" i="1"/>
              <a:t>Blocking</a:t>
            </a:r>
            <a:r>
              <a:rPr lang="fr-CA" b="1"/>
              <a:t> :</a:t>
            </a:r>
            <a:r>
              <a:rPr lang="fr-CA"/>
              <a:t> Un code JavaScript doit attendre l’exécution d’un autre code </a:t>
            </a:r>
          </a:p>
          <a:p>
            <a:r>
              <a:rPr lang="fr-CA"/>
              <a:t>non-JavaScript.</a:t>
            </a:r>
          </a:p>
        </p:txBody>
      </p:sp>
      <p:sp>
        <p:nvSpPr>
          <p:cNvPr id="5" name="TextBox 4"/>
          <p:cNvSpPr txBox="1"/>
          <p:nvPr/>
        </p:nvSpPr>
        <p:spPr>
          <a:xfrm>
            <a:off x="2342606" y="3537868"/>
            <a:ext cx="9657805" cy="2585323"/>
          </a:xfrm>
          <a:prstGeom prst="rect">
            <a:avLst/>
          </a:prstGeom>
          <a:solidFill>
            <a:schemeClr val="tx2">
              <a:lumMod val="50000"/>
            </a:schemeClr>
          </a:solidFill>
        </p:spPr>
        <p:txBody>
          <a:bodyPr wrap="square" rtlCol="0">
            <a:spAutoFit/>
          </a:bodyPr>
          <a:lstStyle/>
          <a:p>
            <a:r>
              <a:rPr lang="fr-CA" dirty="0" err="1">
                <a:solidFill>
                  <a:srgbClr val="82AAFF"/>
                </a:solidFill>
                <a:latin typeface="Consolas" panose="020B0609020204030204" pitchFamily="49" charset="0"/>
              </a:rPr>
              <a:t>const</a:t>
            </a:r>
            <a:r>
              <a:rPr lang="fr-CA" i="1" dirty="0">
                <a:solidFill>
                  <a:srgbClr val="C792EA"/>
                </a:solidFill>
                <a:latin typeface="Consolas" panose="020B0609020204030204" pitchFamily="49" charset="0"/>
              </a:rPr>
              <a:t> </a:t>
            </a:r>
            <a:r>
              <a:rPr lang="fr-CA" i="1" dirty="0" err="1">
                <a:solidFill>
                  <a:srgbClr val="82AAFF"/>
                </a:solidFill>
                <a:latin typeface="Consolas" panose="020B0609020204030204" pitchFamily="49" charset="0"/>
              </a:rPr>
              <a:t>fs</a:t>
            </a:r>
            <a:r>
              <a:rPr lang="fr-CA" i="1" dirty="0">
                <a:solidFill>
                  <a:srgbClr val="C792EA"/>
                </a:solidFill>
                <a:latin typeface="Consolas" panose="020B0609020204030204" pitchFamily="49" charset="0"/>
              </a:rPr>
              <a:t> </a:t>
            </a:r>
            <a:r>
              <a:rPr lang="fr-CA" dirty="0">
                <a:solidFill>
                  <a:srgbClr val="C792EA"/>
                </a:solidFill>
                <a:latin typeface="Consolas" panose="020B0609020204030204" pitchFamily="49" charset="0"/>
              </a:rPr>
              <a:t>=</a:t>
            </a:r>
            <a:r>
              <a:rPr lang="fr-CA" i="1" dirty="0">
                <a:solidFill>
                  <a:srgbClr val="C792EA"/>
                </a:solidFill>
                <a:latin typeface="Consolas" panose="020B0609020204030204" pitchFamily="49" charset="0"/>
              </a:rPr>
              <a:t> </a:t>
            </a:r>
            <a:r>
              <a:rPr lang="fr-CA" dirty="0" err="1">
                <a:solidFill>
                  <a:srgbClr val="82AAFF"/>
                </a:solidFill>
                <a:latin typeface="Consolas" panose="020B0609020204030204" pitchFamily="49" charset="0"/>
              </a:rPr>
              <a:t>require</a:t>
            </a:r>
            <a:r>
              <a:rPr lang="fr-CA" dirty="0">
                <a:solidFill>
                  <a:srgbClr val="D6DEEB"/>
                </a:solidFill>
                <a:latin typeface="Consolas" panose="020B0609020204030204" pitchFamily="49" charset="0"/>
              </a:rPr>
              <a:t>(</a:t>
            </a:r>
            <a:r>
              <a:rPr lang="fr-CA" dirty="0">
                <a:solidFill>
                  <a:srgbClr val="D9F5DD"/>
                </a:solidFill>
                <a:latin typeface="Consolas" panose="020B0609020204030204" pitchFamily="49" charset="0"/>
              </a:rPr>
              <a:t>'</a:t>
            </a:r>
            <a:r>
              <a:rPr lang="fr-CA" dirty="0" err="1">
                <a:solidFill>
                  <a:srgbClr val="ECC48D"/>
                </a:solidFill>
                <a:latin typeface="Consolas" panose="020B0609020204030204" pitchFamily="49" charset="0"/>
              </a:rPr>
              <a:t>fs</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a:t>
            </a:r>
          </a:p>
          <a:p>
            <a:r>
              <a:rPr lang="fr-CA" dirty="0" err="1">
                <a:solidFill>
                  <a:srgbClr val="82AAFF"/>
                </a:solidFill>
                <a:latin typeface="Consolas" panose="020B0609020204030204" pitchFamily="49" charset="0"/>
              </a:rPr>
              <a:t>const</a:t>
            </a:r>
            <a:r>
              <a:rPr lang="fr-CA" i="1" dirty="0">
                <a:solidFill>
                  <a:srgbClr val="C792EA"/>
                </a:solidFill>
                <a:latin typeface="Consolas" panose="020B0609020204030204" pitchFamily="49" charset="0"/>
              </a:rPr>
              <a:t> </a:t>
            </a:r>
            <a:r>
              <a:rPr lang="fr-CA" i="1" dirty="0" err="1">
                <a:solidFill>
                  <a:srgbClr val="82AAFF"/>
                </a:solidFill>
                <a:latin typeface="Consolas" panose="020B0609020204030204" pitchFamily="49" charset="0"/>
              </a:rPr>
              <a:t>path</a:t>
            </a:r>
            <a:r>
              <a:rPr lang="fr-CA" i="1" dirty="0">
                <a:solidFill>
                  <a:srgbClr val="C792EA"/>
                </a:solidFill>
                <a:latin typeface="Consolas" panose="020B0609020204030204" pitchFamily="49" charset="0"/>
              </a:rPr>
              <a:t> </a:t>
            </a:r>
            <a:r>
              <a:rPr lang="fr-CA" dirty="0">
                <a:solidFill>
                  <a:srgbClr val="C792EA"/>
                </a:solidFill>
                <a:latin typeface="Consolas" panose="020B0609020204030204" pitchFamily="49" charset="0"/>
              </a:rPr>
              <a:t>=</a:t>
            </a:r>
            <a:r>
              <a:rPr lang="fr-CA" i="1" dirty="0">
                <a:solidFill>
                  <a:srgbClr val="C792EA"/>
                </a:solidFill>
                <a:latin typeface="Consolas" panose="020B0609020204030204" pitchFamily="49" charset="0"/>
              </a:rPr>
              <a:t> </a:t>
            </a:r>
            <a:r>
              <a:rPr lang="fr-CA" dirty="0" err="1">
                <a:solidFill>
                  <a:srgbClr val="82AAFF"/>
                </a:solidFill>
                <a:latin typeface="Consolas" panose="020B0609020204030204" pitchFamily="49" charset="0"/>
              </a:rPr>
              <a:t>require</a:t>
            </a:r>
            <a:r>
              <a:rPr lang="fr-CA" dirty="0">
                <a:solidFill>
                  <a:srgbClr val="D6DEEB"/>
                </a:solidFill>
                <a:latin typeface="Consolas" panose="020B0609020204030204" pitchFamily="49" charset="0"/>
              </a:rPr>
              <a:t>(</a:t>
            </a:r>
            <a:r>
              <a:rPr lang="fr-CA" dirty="0">
                <a:solidFill>
                  <a:srgbClr val="D9F5DD"/>
                </a:solidFill>
                <a:latin typeface="Consolas" panose="020B0609020204030204" pitchFamily="49" charset="0"/>
              </a:rPr>
              <a:t>'</a:t>
            </a:r>
            <a:r>
              <a:rPr lang="fr-CA" dirty="0" err="1">
                <a:solidFill>
                  <a:srgbClr val="ECC48D"/>
                </a:solidFill>
                <a:latin typeface="Consolas" panose="020B0609020204030204" pitchFamily="49" charset="0"/>
              </a:rPr>
              <a:t>path</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a:t>
            </a:r>
          </a:p>
          <a:p>
            <a:r>
              <a:rPr lang="fr-CA" dirty="0" err="1">
                <a:solidFill>
                  <a:srgbClr val="82AAFF"/>
                </a:solidFill>
                <a:latin typeface="Consolas" panose="020B0609020204030204" pitchFamily="49" charset="0"/>
              </a:rPr>
              <a:t>const</a:t>
            </a:r>
            <a:r>
              <a:rPr lang="fr-CA" i="1" dirty="0">
                <a:solidFill>
                  <a:srgbClr val="C792EA"/>
                </a:solidFill>
                <a:latin typeface="Consolas" panose="020B0609020204030204" pitchFamily="49" charset="0"/>
              </a:rPr>
              <a:t> </a:t>
            </a:r>
            <a:r>
              <a:rPr lang="fr-CA" i="1" dirty="0" err="1">
                <a:solidFill>
                  <a:srgbClr val="82AAFF"/>
                </a:solidFill>
                <a:latin typeface="Consolas" panose="020B0609020204030204" pitchFamily="49" charset="0"/>
              </a:rPr>
              <a:t>filePath</a:t>
            </a:r>
            <a:r>
              <a:rPr lang="fr-CA" i="1" dirty="0">
                <a:solidFill>
                  <a:srgbClr val="C792EA"/>
                </a:solidFill>
                <a:latin typeface="Consolas" panose="020B0609020204030204" pitchFamily="49" charset="0"/>
              </a:rPr>
              <a:t> </a:t>
            </a:r>
            <a:r>
              <a:rPr lang="fr-CA" dirty="0">
                <a:solidFill>
                  <a:srgbClr val="C792EA"/>
                </a:solidFill>
                <a:latin typeface="Consolas" panose="020B0609020204030204" pitchFamily="49" charset="0"/>
              </a:rPr>
              <a:t>=</a:t>
            </a:r>
            <a:r>
              <a:rPr lang="fr-CA" i="1" dirty="0">
                <a:solidFill>
                  <a:srgbClr val="C792EA"/>
                </a:solidFill>
                <a:latin typeface="Consolas" panose="020B0609020204030204" pitchFamily="49" charset="0"/>
              </a:rPr>
              <a:t> </a:t>
            </a:r>
            <a:r>
              <a:rPr lang="fr-CA" dirty="0" err="1">
                <a:solidFill>
                  <a:srgbClr val="D6DEEB"/>
                </a:solidFill>
                <a:latin typeface="Consolas" panose="020B0609020204030204" pitchFamily="49" charset="0"/>
              </a:rPr>
              <a:t>path</a:t>
            </a:r>
            <a:r>
              <a:rPr lang="fr-CA" i="1" dirty="0" err="1">
                <a:solidFill>
                  <a:srgbClr val="C792EA"/>
                </a:solidFill>
                <a:latin typeface="Consolas" panose="020B0609020204030204" pitchFamily="49" charset="0"/>
              </a:rPr>
              <a:t>.</a:t>
            </a:r>
            <a:r>
              <a:rPr lang="fr-CA" dirty="0" err="1">
                <a:solidFill>
                  <a:srgbClr val="82AAFF"/>
                </a:solidFill>
                <a:latin typeface="Consolas" panose="020B0609020204030204" pitchFamily="49" charset="0"/>
              </a:rPr>
              <a:t>join</a:t>
            </a:r>
            <a:r>
              <a:rPr lang="fr-CA" dirty="0">
                <a:solidFill>
                  <a:srgbClr val="D6DEEB"/>
                </a:solidFill>
                <a:latin typeface="Consolas" panose="020B0609020204030204" pitchFamily="49" charset="0"/>
              </a:rPr>
              <a:t>(</a:t>
            </a:r>
            <a:r>
              <a:rPr lang="fr-CA" dirty="0">
                <a:solidFill>
                  <a:srgbClr val="D7DBE0"/>
                </a:solidFill>
                <a:latin typeface="Consolas" panose="020B0609020204030204" pitchFamily="49" charset="0"/>
              </a:rPr>
              <a:t>__dirname</a:t>
            </a:r>
            <a:r>
              <a:rPr lang="fr-CA" dirty="0">
                <a:solidFill>
                  <a:srgbClr val="C792EA"/>
                </a:solidFill>
                <a:latin typeface="Consolas" panose="020B0609020204030204" pitchFamily="49" charset="0"/>
              </a:rPr>
              <a:t>,</a:t>
            </a:r>
            <a:r>
              <a:rPr lang="fr-CA" dirty="0">
                <a:solidFill>
                  <a:srgbClr val="D9F5DD"/>
                </a:solidFill>
                <a:latin typeface="Consolas" panose="020B0609020204030204" pitchFamily="49" charset="0"/>
              </a:rPr>
              <a:t>'</a:t>
            </a:r>
            <a:r>
              <a:rPr lang="fr-CA" dirty="0">
                <a:solidFill>
                  <a:srgbClr val="ECC48D"/>
                </a:solidFill>
                <a:latin typeface="Consolas" panose="020B0609020204030204" pitchFamily="49" charset="0"/>
              </a:rPr>
              <a:t>files</a:t>
            </a:r>
            <a:r>
              <a:rPr lang="fr-CA" dirty="0">
                <a:solidFill>
                  <a:srgbClr val="D9F5DD"/>
                </a:solidFill>
                <a:latin typeface="Consolas" panose="020B0609020204030204" pitchFamily="49" charset="0"/>
              </a:rPr>
              <a:t>'</a:t>
            </a:r>
            <a:r>
              <a:rPr lang="fr-CA" dirty="0">
                <a:solidFill>
                  <a:srgbClr val="C792EA"/>
                </a:solidFill>
                <a:latin typeface="Consolas" panose="020B0609020204030204" pitchFamily="49" charset="0"/>
              </a:rPr>
              <a:t>,</a:t>
            </a:r>
            <a:r>
              <a:rPr lang="fr-CA" dirty="0">
                <a:solidFill>
                  <a:srgbClr val="D9F5DD"/>
                </a:solidFill>
                <a:latin typeface="Consolas" panose="020B0609020204030204" pitchFamily="49" charset="0"/>
              </a:rPr>
              <a:t>'</a:t>
            </a:r>
            <a:r>
              <a:rPr lang="fr-CA" dirty="0">
                <a:solidFill>
                  <a:srgbClr val="ECC48D"/>
                </a:solidFill>
                <a:latin typeface="Consolas" panose="020B0609020204030204" pitchFamily="49" charset="0"/>
              </a:rPr>
              <a:t>rawFile.txt</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a:t>
            </a:r>
          </a:p>
          <a:p>
            <a:r>
              <a:rPr lang="fr-CA" dirty="0" err="1">
                <a:solidFill>
                  <a:srgbClr val="82AAFF"/>
                </a:solidFill>
                <a:latin typeface="Consolas" panose="020B0609020204030204" pitchFamily="49" charset="0"/>
              </a:rPr>
              <a:t>const</a:t>
            </a:r>
            <a:r>
              <a:rPr lang="fr-CA" i="1" dirty="0">
                <a:solidFill>
                  <a:srgbClr val="C792EA"/>
                </a:solidFill>
                <a:latin typeface="Consolas" panose="020B0609020204030204" pitchFamily="49" charset="0"/>
              </a:rPr>
              <a:t> </a:t>
            </a:r>
            <a:r>
              <a:rPr lang="fr-CA" i="1" dirty="0">
                <a:solidFill>
                  <a:srgbClr val="82AAFF"/>
                </a:solidFill>
                <a:latin typeface="Consolas" panose="020B0609020204030204" pitchFamily="49" charset="0"/>
              </a:rPr>
              <a:t>data</a:t>
            </a:r>
            <a:r>
              <a:rPr lang="fr-CA" i="1" dirty="0">
                <a:solidFill>
                  <a:srgbClr val="C792EA"/>
                </a:solidFill>
                <a:latin typeface="Consolas" panose="020B0609020204030204" pitchFamily="49" charset="0"/>
              </a:rPr>
              <a:t> </a:t>
            </a:r>
            <a:r>
              <a:rPr lang="fr-CA" dirty="0">
                <a:solidFill>
                  <a:srgbClr val="C792EA"/>
                </a:solidFill>
                <a:latin typeface="Consolas" panose="020B0609020204030204" pitchFamily="49" charset="0"/>
              </a:rPr>
              <a:t>=</a:t>
            </a:r>
            <a:r>
              <a:rPr lang="fr-CA" i="1" dirty="0">
                <a:solidFill>
                  <a:srgbClr val="C792EA"/>
                </a:solidFill>
                <a:latin typeface="Consolas" panose="020B0609020204030204" pitchFamily="49" charset="0"/>
              </a:rPr>
              <a:t> </a:t>
            </a:r>
            <a:r>
              <a:rPr lang="fr-CA" dirty="0" err="1">
                <a:solidFill>
                  <a:srgbClr val="D6DEEB"/>
                </a:solidFill>
                <a:latin typeface="Consolas" panose="020B0609020204030204" pitchFamily="49" charset="0"/>
              </a:rPr>
              <a:t>fs</a:t>
            </a:r>
            <a:r>
              <a:rPr lang="fr-CA" i="1" dirty="0" err="1">
                <a:solidFill>
                  <a:srgbClr val="C792EA"/>
                </a:solidFill>
                <a:latin typeface="Consolas" panose="020B0609020204030204" pitchFamily="49" charset="0"/>
              </a:rPr>
              <a:t>.</a:t>
            </a:r>
            <a:r>
              <a:rPr lang="fr-CA" dirty="0" err="1">
                <a:solidFill>
                  <a:srgbClr val="82AAFF"/>
                </a:solidFill>
                <a:latin typeface="Consolas" panose="020B0609020204030204" pitchFamily="49" charset="0"/>
              </a:rPr>
              <a:t>readFileSync</a:t>
            </a:r>
            <a:r>
              <a:rPr lang="fr-CA" dirty="0">
                <a:solidFill>
                  <a:srgbClr val="D6DEEB"/>
                </a:solidFill>
                <a:latin typeface="Consolas" panose="020B0609020204030204" pitchFamily="49" charset="0"/>
              </a:rPr>
              <a:t>(</a:t>
            </a:r>
            <a:r>
              <a:rPr lang="fr-CA" dirty="0" err="1">
                <a:solidFill>
                  <a:srgbClr val="D7DBE0"/>
                </a:solidFill>
                <a:latin typeface="Consolas" panose="020B0609020204030204" pitchFamily="49" charset="0"/>
              </a:rPr>
              <a:t>filePath</a:t>
            </a:r>
            <a:r>
              <a:rPr lang="fr-CA" dirty="0">
                <a:solidFill>
                  <a:srgbClr val="D6DEEB"/>
                </a:solidFill>
                <a:latin typeface="Consolas" panose="020B0609020204030204" pitchFamily="49" charset="0"/>
              </a:rPr>
              <a:t>)</a:t>
            </a:r>
            <a:r>
              <a:rPr lang="fr-CA" i="1" dirty="0">
                <a:solidFill>
                  <a:srgbClr val="C792EA"/>
                </a:solidFill>
                <a:latin typeface="Consolas" panose="020B0609020204030204" pitchFamily="49" charset="0"/>
              </a:rPr>
              <a:t> </a:t>
            </a:r>
            <a:r>
              <a:rPr lang="fr-CA" dirty="0">
                <a:solidFill>
                  <a:srgbClr val="637777"/>
                </a:solidFill>
                <a:latin typeface="Consolas" panose="020B0609020204030204" pitchFamily="49" charset="0"/>
              </a:rPr>
              <a:t>//</a:t>
            </a:r>
            <a:r>
              <a:rPr lang="fr-CA" i="1" dirty="0">
                <a:solidFill>
                  <a:srgbClr val="637777"/>
                </a:solidFill>
                <a:latin typeface="Consolas" panose="020B0609020204030204" pitchFamily="49" charset="0"/>
              </a:rPr>
              <a:t> blocks </a:t>
            </a:r>
            <a:r>
              <a:rPr lang="fr-CA" i="1" dirty="0" err="1">
                <a:solidFill>
                  <a:srgbClr val="637777"/>
                </a:solidFill>
                <a:latin typeface="Consolas" panose="020B0609020204030204" pitchFamily="49" charset="0"/>
              </a:rPr>
              <a:t>here</a:t>
            </a:r>
            <a:r>
              <a:rPr lang="fr-CA" i="1" dirty="0">
                <a:solidFill>
                  <a:srgbClr val="637777"/>
                </a:solidFill>
                <a:latin typeface="Consolas" panose="020B0609020204030204" pitchFamily="49" charset="0"/>
              </a:rPr>
              <a:t> </a:t>
            </a:r>
            <a:r>
              <a:rPr lang="fr-CA" i="1" dirty="0" err="1">
                <a:solidFill>
                  <a:srgbClr val="637777"/>
                </a:solidFill>
                <a:latin typeface="Consolas" panose="020B0609020204030204" pitchFamily="49" charset="0"/>
              </a:rPr>
              <a:t>until</a:t>
            </a:r>
            <a:r>
              <a:rPr lang="fr-CA" i="1" dirty="0">
                <a:solidFill>
                  <a:srgbClr val="637777"/>
                </a:solidFill>
                <a:latin typeface="Consolas" panose="020B0609020204030204" pitchFamily="49" charset="0"/>
              </a:rPr>
              <a:t> file </a:t>
            </a:r>
            <a:r>
              <a:rPr lang="fr-CA" i="1" dirty="0" err="1">
                <a:solidFill>
                  <a:srgbClr val="637777"/>
                </a:solidFill>
                <a:latin typeface="Consolas" panose="020B0609020204030204" pitchFamily="49" charset="0"/>
              </a:rPr>
              <a:t>is</a:t>
            </a:r>
            <a:r>
              <a:rPr lang="fr-CA" i="1" dirty="0">
                <a:solidFill>
                  <a:srgbClr val="637777"/>
                </a:solidFill>
                <a:latin typeface="Consolas" panose="020B0609020204030204" pitchFamily="49" charset="0"/>
              </a:rPr>
              <a:t> </a:t>
            </a:r>
            <a:r>
              <a:rPr lang="fr-CA" i="1" dirty="0" err="1">
                <a:solidFill>
                  <a:srgbClr val="637777"/>
                </a:solidFill>
                <a:latin typeface="Consolas" panose="020B0609020204030204" pitchFamily="49" charset="0"/>
              </a:rPr>
              <a:t>read</a:t>
            </a:r>
            <a:endParaRPr lang="fr-CA" dirty="0">
              <a:solidFill>
                <a:srgbClr val="D6DEEB"/>
              </a:solidFill>
              <a:latin typeface="Consolas" panose="020B0609020204030204" pitchFamily="49" charset="0"/>
            </a:endParaRPr>
          </a:p>
          <a:p>
            <a:r>
              <a:rPr lang="fr-CA" dirty="0">
                <a:solidFill>
                  <a:srgbClr val="D6DEEB"/>
                </a:solidFill>
                <a:latin typeface="Consolas" panose="020B0609020204030204" pitchFamily="49" charset="0"/>
              </a:rPr>
              <a:t>console</a:t>
            </a:r>
            <a:r>
              <a:rPr lang="fr-CA" i="1" dirty="0">
                <a:solidFill>
                  <a:srgbClr val="C792EA"/>
                </a:solidFill>
                <a:latin typeface="Consolas" panose="020B0609020204030204" pitchFamily="49" charset="0"/>
              </a:rPr>
              <a:t>.</a:t>
            </a:r>
            <a:r>
              <a:rPr lang="fr-CA" dirty="0">
                <a:solidFill>
                  <a:srgbClr val="82AAFF"/>
                </a:solidFill>
                <a:latin typeface="Consolas" panose="020B0609020204030204" pitchFamily="49" charset="0"/>
              </a:rPr>
              <a:t>log</a:t>
            </a:r>
            <a:r>
              <a:rPr lang="fr-CA" dirty="0">
                <a:solidFill>
                  <a:srgbClr val="D6DEEB"/>
                </a:solidFill>
                <a:latin typeface="Consolas" panose="020B0609020204030204" pitchFamily="49" charset="0"/>
              </a:rPr>
              <a:t>(</a:t>
            </a:r>
            <a:r>
              <a:rPr lang="fr-CA" dirty="0">
                <a:solidFill>
                  <a:srgbClr val="D7DBE0"/>
                </a:solidFill>
                <a:latin typeface="Consolas" panose="020B0609020204030204" pitchFamily="49" charset="0"/>
              </a:rPr>
              <a:t>data</a:t>
            </a:r>
            <a:r>
              <a:rPr lang="fr-CA" dirty="0">
                <a:solidFill>
                  <a:srgbClr val="D6DEEB"/>
                </a:solidFill>
                <a:latin typeface="Consolas" panose="020B0609020204030204" pitchFamily="49" charset="0"/>
              </a:rPr>
              <a:t>)</a:t>
            </a:r>
          </a:p>
          <a:p>
            <a:r>
              <a:rPr lang="fr-CA" dirty="0" err="1">
                <a:solidFill>
                  <a:srgbClr val="82AAFF"/>
                </a:solidFill>
                <a:latin typeface="Consolas" panose="020B0609020204030204" pitchFamily="49" charset="0"/>
              </a:rPr>
              <a:t>moreWork</a:t>
            </a:r>
            <a:r>
              <a:rPr lang="fr-CA" dirty="0">
                <a:solidFill>
                  <a:srgbClr val="D6DEEB"/>
                </a:solidFill>
                <a:latin typeface="Consolas" panose="020B0609020204030204" pitchFamily="49" charset="0"/>
              </a:rPr>
              <a:t>() </a:t>
            </a:r>
            <a:r>
              <a:rPr lang="fr-CA" dirty="0">
                <a:solidFill>
                  <a:srgbClr val="637777"/>
                </a:solidFill>
                <a:latin typeface="Consolas" panose="020B0609020204030204" pitchFamily="49" charset="0"/>
              </a:rPr>
              <a:t>//</a:t>
            </a:r>
            <a:r>
              <a:rPr lang="fr-CA" i="1" dirty="0">
                <a:solidFill>
                  <a:srgbClr val="637777"/>
                </a:solidFill>
                <a:latin typeface="Consolas" panose="020B0609020204030204" pitchFamily="49" charset="0"/>
              </a:rPr>
              <a:t> </a:t>
            </a:r>
            <a:r>
              <a:rPr lang="fr-CA" i="1" dirty="0" err="1">
                <a:solidFill>
                  <a:srgbClr val="637777"/>
                </a:solidFill>
                <a:latin typeface="Consolas" panose="020B0609020204030204" pitchFamily="49" charset="0"/>
              </a:rPr>
              <a:t>will</a:t>
            </a:r>
            <a:r>
              <a:rPr lang="fr-CA" i="1" dirty="0">
                <a:solidFill>
                  <a:srgbClr val="637777"/>
                </a:solidFill>
                <a:latin typeface="Consolas" panose="020B0609020204030204" pitchFamily="49" charset="0"/>
              </a:rPr>
              <a:t> run </a:t>
            </a:r>
            <a:r>
              <a:rPr lang="fr-CA" i="1" dirty="0" err="1">
                <a:solidFill>
                  <a:srgbClr val="637777"/>
                </a:solidFill>
                <a:latin typeface="Consolas" panose="020B0609020204030204" pitchFamily="49" charset="0"/>
              </a:rPr>
              <a:t>after</a:t>
            </a:r>
            <a:r>
              <a:rPr lang="fr-CA" i="1" dirty="0">
                <a:solidFill>
                  <a:srgbClr val="637777"/>
                </a:solidFill>
                <a:latin typeface="Consolas" panose="020B0609020204030204" pitchFamily="49" charset="0"/>
              </a:rPr>
              <a:t> </a:t>
            </a:r>
            <a:r>
              <a:rPr lang="fr-CA" i="1" dirty="0" err="1">
                <a:solidFill>
                  <a:srgbClr val="637777"/>
                </a:solidFill>
                <a:latin typeface="Consolas" panose="020B0609020204030204" pitchFamily="49" charset="0"/>
              </a:rPr>
              <a:t>readFileSync</a:t>
            </a:r>
            <a:br>
              <a:rPr lang="fr-CA" dirty="0">
                <a:solidFill>
                  <a:srgbClr val="D6DEEB"/>
                </a:solidFill>
                <a:latin typeface="Consolas" panose="020B0609020204030204" pitchFamily="49" charset="0"/>
              </a:rPr>
            </a:br>
            <a:r>
              <a:rPr lang="fr-CA" dirty="0" err="1">
                <a:solidFill>
                  <a:srgbClr val="82AAFF"/>
                </a:solidFill>
                <a:latin typeface="Consolas" panose="020B0609020204030204" pitchFamily="49" charset="0"/>
              </a:rPr>
              <a:t>function</a:t>
            </a:r>
            <a:r>
              <a:rPr lang="fr-CA" dirty="0">
                <a:solidFill>
                  <a:srgbClr val="D6DEEB"/>
                </a:solidFill>
                <a:latin typeface="Consolas" panose="020B0609020204030204" pitchFamily="49" charset="0"/>
              </a:rPr>
              <a:t> </a:t>
            </a:r>
            <a:r>
              <a:rPr lang="fr-CA" dirty="0" err="1">
                <a:solidFill>
                  <a:srgbClr val="82AAFF"/>
                </a:solidFill>
                <a:latin typeface="Consolas" panose="020B0609020204030204" pitchFamily="49" charset="0"/>
              </a:rPr>
              <a:t>moreWork</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a:t>
            </a:r>
          </a:p>
          <a:p>
            <a:r>
              <a:rPr lang="fr-CA" dirty="0">
                <a:solidFill>
                  <a:srgbClr val="D6DEEB"/>
                </a:solidFill>
                <a:latin typeface="Consolas" panose="020B0609020204030204" pitchFamily="49" charset="0"/>
              </a:rPr>
              <a:t>    console</a:t>
            </a:r>
            <a:r>
              <a:rPr lang="fr-CA" i="1" dirty="0">
                <a:solidFill>
                  <a:srgbClr val="C792EA"/>
                </a:solidFill>
                <a:latin typeface="Consolas" panose="020B0609020204030204" pitchFamily="49" charset="0"/>
              </a:rPr>
              <a:t>.</a:t>
            </a:r>
            <a:r>
              <a:rPr lang="fr-CA" dirty="0">
                <a:solidFill>
                  <a:srgbClr val="82AAFF"/>
                </a:solidFill>
                <a:latin typeface="Consolas" panose="020B0609020204030204" pitchFamily="49" charset="0"/>
              </a:rPr>
              <a:t>log</a:t>
            </a:r>
            <a:r>
              <a:rPr lang="fr-CA" dirty="0">
                <a:solidFill>
                  <a:srgbClr val="D6DEEB"/>
                </a:solidFill>
                <a:latin typeface="Consolas" panose="020B0609020204030204" pitchFamily="49" charset="0"/>
              </a:rPr>
              <a:t>(</a:t>
            </a:r>
            <a:r>
              <a:rPr lang="fr-CA" dirty="0">
                <a:solidFill>
                  <a:srgbClr val="D9F5DD"/>
                </a:solidFill>
                <a:latin typeface="Consolas" panose="020B0609020204030204" pitchFamily="49" charset="0"/>
              </a:rPr>
              <a:t>"</a:t>
            </a:r>
            <a:r>
              <a:rPr lang="fr-CA" dirty="0">
                <a:solidFill>
                  <a:srgbClr val="ECC48D"/>
                </a:solidFill>
                <a:latin typeface="Consolas" panose="020B0609020204030204" pitchFamily="49" charset="0"/>
              </a:rPr>
              <a:t>More </a:t>
            </a:r>
            <a:r>
              <a:rPr lang="fr-CA" dirty="0" err="1">
                <a:solidFill>
                  <a:srgbClr val="ECC48D"/>
                </a:solidFill>
                <a:latin typeface="Consolas" panose="020B0609020204030204" pitchFamily="49" charset="0"/>
              </a:rPr>
              <a:t>work</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a:t>
            </a:r>
          </a:p>
          <a:p>
            <a:r>
              <a:rPr lang="fr-CA" dirty="0">
                <a:solidFill>
                  <a:srgbClr val="D6DEEB"/>
                </a:solidFill>
                <a:latin typeface="Consolas" panose="020B0609020204030204" pitchFamily="49" charset="0"/>
              </a:rPr>
              <a:t>}</a:t>
            </a:r>
            <a:endParaRPr lang="fr-CA" b="0" dirty="0">
              <a:solidFill>
                <a:srgbClr val="D6DEEB"/>
              </a:solidFill>
              <a:effectLst/>
              <a:latin typeface="Consolas" panose="020B0609020204030204" pitchFamily="49" charset="0"/>
            </a:endParaRPr>
          </a:p>
        </p:txBody>
      </p:sp>
      <p:sp>
        <p:nvSpPr>
          <p:cNvPr id="6" name="TextBox 5"/>
          <p:cNvSpPr txBox="1"/>
          <p:nvPr/>
        </p:nvSpPr>
        <p:spPr>
          <a:xfrm>
            <a:off x="2342606" y="2708366"/>
            <a:ext cx="5460274" cy="698653"/>
          </a:xfrm>
          <a:prstGeom prst="rect">
            <a:avLst/>
          </a:prstGeom>
          <a:noFill/>
        </p:spPr>
        <p:txBody>
          <a:bodyPr wrap="square" rtlCol="0">
            <a:spAutoFit/>
          </a:bodyPr>
          <a:lstStyle/>
          <a:p>
            <a:pPr lvl="0">
              <a:lnSpc>
                <a:spcPct val="107000"/>
              </a:lnSpc>
              <a:spcBef>
                <a:spcPts val="200"/>
              </a:spcBef>
            </a:pPr>
            <a:r>
              <a:rPr lang="fr-CA" sz="2000" b="1">
                <a:solidFill>
                  <a:srgbClr val="1F4D78"/>
                </a:solidFill>
                <a:latin typeface="Calibri Light" panose="020F0302020204030204" pitchFamily="34" charset="0"/>
                <a:ea typeface="Times New Roman" panose="02020603050405020304" pitchFamily="18" charset="0"/>
                <a:cs typeface="Times New Roman" panose="02020603050405020304" pitchFamily="18" charset="0"/>
              </a:rPr>
              <a:t>Exemple</a:t>
            </a:r>
            <a:r>
              <a:rPr lang="en-US" sz="2000" b="1">
                <a:solidFill>
                  <a:srgbClr val="1F4D78"/>
                </a:solidFill>
                <a:latin typeface="Calibri Light" panose="020F0302020204030204" pitchFamily="34" charset="0"/>
                <a:ea typeface="Times New Roman" panose="02020603050405020304" pitchFamily="18" charset="0"/>
                <a:cs typeface="Times New Roman" panose="02020603050405020304" pitchFamily="18" charset="0"/>
              </a:rPr>
              <a:t> blocking (tp02) : </a:t>
            </a:r>
            <a:endParaRPr lang="fr-CA" sz="2000" b="1">
              <a:solidFill>
                <a:srgbClr val="1F4D78"/>
              </a:solidFill>
              <a:latin typeface="Calibri Light" panose="020F0302020204030204" pitchFamily="34" charset="0"/>
              <a:ea typeface="Times New Roman" panose="02020603050405020304" pitchFamily="18" charset="0"/>
              <a:cs typeface="Times New Roman" panose="02020603050405020304" pitchFamily="18" charset="0"/>
            </a:endParaRPr>
          </a:p>
          <a:p>
            <a:endParaRPr lang="fr-CA"/>
          </a:p>
        </p:txBody>
      </p:sp>
    </p:spTree>
    <p:extLst>
      <p:ext uri="{BB962C8B-B14F-4D97-AF65-F5344CB8AC3E}">
        <p14:creationId xmlns:p14="http://schemas.microsoft.com/office/powerpoint/2010/main" val="376260428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194560" y="775063"/>
            <a:ext cx="6487885" cy="461665"/>
          </a:xfrm>
          <a:prstGeom prst="rect">
            <a:avLst/>
          </a:prstGeom>
          <a:noFill/>
        </p:spPr>
        <p:txBody>
          <a:bodyPr wrap="square" rtlCol="0">
            <a:spAutoFit/>
          </a:bodyPr>
          <a:lstStyle/>
          <a:p>
            <a:r>
              <a:rPr lang="fr-CA" sz="2400" b="1">
                <a:solidFill>
                  <a:schemeClr val="accent1"/>
                </a:solidFill>
              </a:rPr>
              <a:t>Notions et concepts de base Node.js</a:t>
            </a:r>
            <a:endParaRPr lang="fr-CA" sz="2400" b="1">
              <a:ln w="0"/>
              <a:solidFill>
                <a:schemeClr val="accent1"/>
              </a:solidFill>
              <a:effectLst>
                <a:outerShdw blurRad="38100" dist="19050" dir="2700000" algn="tl" rotWithShape="0">
                  <a:schemeClr val="dk1">
                    <a:alpha val="40000"/>
                  </a:schemeClr>
                </a:outerShdw>
              </a:effectLst>
            </a:endParaRPr>
          </a:p>
        </p:txBody>
      </p:sp>
      <p:sp>
        <p:nvSpPr>
          <p:cNvPr id="3" name="TextBox 2"/>
          <p:cNvSpPr txBox="1"/>
          <p:nvPr/>
        </p:nvSpPr>
        <p:spPr>
          <a:xfrm>
            <a:off x="2264228" y="1429771"/>
            <a:ext cx="9030789" cy="369332"/>
          </a:xfrm>
          <a:prstGeom prst="rect">
            <a:avLst/>
          </a:prstGeom>
          <a:noFill/>
        </p:spPr>
        <p:txBody>
          <a:bodyPr wrap="square" rtlCol="0">
            <a:spAutoFit/>
          </a:bodyPr>
          <a:lstStyle/>
          <a:p>
            <a:pPr marL="342900" indent="-342900">
              <a:buFont typeface="Arial" panose="020B0604020202020204" pitchFamily="34" charset="0"/>
              <a:buChar char="•"/>
            </a:pPr>
            <a:r>
              <a:rPr lang="fr-CA">
                <a:ln w="0"/>
                <a:solidFill>
                  <a:schemeClr val="accent1"/>
                </a:solidFill>
                <a:effectLst>
                  <a:outerShdw blurRad="38100" dist="25400" dir="5400000" algn="ctr" rotWithShape="0">
                    <a:srgbClr val="6E747A">
                      <a:alpha val="43000"/>
                    </a:srgbClr>
                  </a:outerShdw>
                </a:effectLst>
              </a:rPr>
              <a:t>Blocking et Non-blocking dans Node.js</a:t>
            </a:r>
          </a:p>
        </p:txBody>
      </p:sp>
      <p:sp>
        <p:nvSpPr>
          <p:cNvPr id="4" name="TextBox 3"/>
          <p:cNvSpPr txBox="1"/>
          <p:nvPr/>
        </p:nvSpPr>
        <p:spPr>
          <a:xfrm>
            <a:off x="2264228" y="1931186"/>
            <a:ext cx="9518469" cy="646331"/>
          </a:xfrm>
          <a:prstGeom prst="rect">
            <a:avLst/>
          </a:prstGeom>
          <a:noFill/>
        </p:spPr>
        <p:txBody>
          <a:bodyPr wrap="square" rtlCol="0">
            <a:spAutoFit/>
          </a:bodyPr>
          <a:lstStyle/>
          <a:p>
            <a:r>
              <a:rPr lang="fr-CA" b="1" i="1"/>
              <a:t>Non-Blocking</a:t>
            </a:r>
            <a:r>
              <a:rPr lang="fr-CA" b="1"/>
              <a:t> :</a:t>
            </a:r>
            <a:r>
              <a:rPr lang="fr-CA"/>
              <a:t> Une fonction appelle une autre et passe un callback puis elle continue l’exécution sans attendre le résultat de l’appelle.</a:t>
            </a:r>
          </a:p>
        </p:txBody>
      </p:sp>
      <p:sp>
        <p:nvSpPr>
          <p:cNvPr id="5" name="TextBox 4"/>
          <p:cNvSpPr txBox="1"/>
          <p:nvPr/>
        </p:nvSpPr>
        <p:spPr>
          <a:xfrm>
            <a:off x="2342606" y="3354988"/>
            <a:ext cx="9657805" cy="3139321"/>
          </a:xfrm>
          <a:prstGeom prst="rect">
            <a:avLst/>
          </a:prstGeom>
          <a:solidFill>
            <a:schemeClr val="tx2">
              <a:lumMod val="50000"/>
            </a:schemeClr>
          </a:solidFill>
        </p:spPr>
        <p:txBody>
          <a:bodyPr wrap="square" rtlCol="0">
            <a:spAutoFit/>
          </a:bodyPr>
          <a:lstStyle/>
          <a:p>
            <a:r>
              <a:rPr lang="fr-CA" dirty="0" err="1">
                <a:solidFill>
                  <a:srgbClr val="82AAFF"/>
                </a:solidFill>
                <a:latin typeface="Consolas" panose="020B0609020204030204" pitchFamily="49" charset="0"/>
              </a:rPr>
              <a:t>const</a:t>
            </a:r>
            <a:r>
              <a:rPr lang="fr-CA" i="1" dirty="0">
                <a:solidFill>
                  <a:srgbClr val="C792EA"/>
                </a:solidFill>
                <a:latin typeface="Consolas" panose="020B0609020204030204" pitchFamily="49" charset="0"/>
              </a:rPr>
              <a:t> </a:t>
            </a:r>
            <a:r>
              <a:rPr lang="fr-CA" i="1" dirty="0" err="1">
                <a:solidFill>
                  <a:srgbClr val="82AAFF"/>
                </a:solidFill>
                <a:latin typeface="Consolas" panose="020B0609020204030204" pitchFamily="49" charset="0"/>
              </a:rPr>
              <a:t>fs</a:t>
            </a:r>
            <a:r>
              <a:rPr lang="fr-CA" i="1" dirty="0">
                <a:solidFill>
                  <a:srgbClr val="C792EA"/>
                </a:solidFill>
                <a:latin typeface="Consolas" panose="020B0609020204030204" pitchFamily="49" charset="0"/>
              </a:rPr>
              <a:t> </a:t>
            </a:r>
            <a:r>
              <a:rPr lang="fr-CA" dirty="0">
                <a:solidFill>
                  <a:srgbClr val="C792EA"/>
                </a:solidFill>
                <a:latin typeface="Consolas" panose="020B0609020204030204" pitchFamily="49" charset="0"/>
              </a:rPr>
              <a:t>=</a:t>
            </a:r>
            <a:r>
              <a:rPr lang="fr-CA" i="1" dirty="0">
                <a:solidFill>
                  <a:srgbClr val="C792EA"/>
                </a:solidFill>
                <a:latin typeface="Consolas" panose="020B0609020204030204" pitchFamily="49" charset="0"/>
              </a:rPr>
              <a:t> </a:t>
            </a:r>
            <a:r>
              <a:rPr lang="fr-CA" dirty="0" err="1">
                <a:solidFill>
                  <a:srgbClr val="82AAFF"/>
                </a:solidFill>
                <a:latin typeface="Consolas" panose="020B0609020204030204" pitchFamily="49" charset="0"/>
              </a:rPr>
              <a:t>require</a:t>
            </a:r>
            <a:r>
              <a:rPr lang="fr-CA" dirty="0">
                <a:solidFill>
                  <a:srgbClr val="D6DEEB"/>
                </a:solidFill>
                <a:latin typeface="Consolas" panose="020B0609020204030204" pitchFamily="49" charset="0"/>
              </a:rPr>
              <a:t>(</a:t>
            </a:r>
            <a:r>
              <a:rPr lang="fr-CA" dirty="0">
                <a:solidFill>
                  <a:srgbClr val="D9F5DD"/>
                </a:solidFill>
                <a:latin typeface="Consolas" panose="020B0609020204030204" pitchFamily="49" charset="0"/>
              </a:rPr>
              <a:t>'</a:t>
            </a:r>
            <a:r>
              <a:rPr lang="fr-CA" dirty="0" err="1">
                <a:solidFill>
                  <a:srgbClr val="ECC48D"/>
                </a:solidFill>
                <a:latin typeface="Consolas" panose="020B0609020204030204" pitchFamily="49" charset="0"/>
              </a:rPr>
              <a:t>fs</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a:t>
            </a:r>
          </a:p>
          <a:p>
            <a:r>
              <a:rPr lang="fr-CA" dirty="0" err="1">
                <a:solidFill>
                  <a:srgbClr val="82AAFF"/>
                </a:solidFill>
                <a:latin typeface="Consolas" panose="020B0609020204030204" pitchFamily="49" charset="0"/>
              </a:rPr>
              <a:t>const</a:t>
            </a:r>
            <a:r>
              <a:rPr lang="fr-CA" i="1" dirty="0">
                <a:solidFill>
                  <a:srgbClr val="C792EA"/>
                </a:solidFill>
                <a:latin typeface="Consolas" panose="020B0609020204030204" pitchFamily="49" charset="0"/>
              </a:rPr>
              <a:t> </a:t>
            </a:r>
            <a:r>
              <a:rPr lang="fr-CA" i="1" dirty="0" err="1">
                <a:solidFill>
                  <a:srgbClr val="82AAFF"/>
                </a:solidFill>
                <a:latin typeface="Consolas" panose="020B0609020204030204" pitchFamily="49" charset="0"/>
              </a:rPr>
              <a:t>path</a:t>
            </a:r>
            <a:r>
              <a:rPr lang="fr-CA" i="1" dirty="0">
                <a:solidFill>
                  <a:srgbClr val="C792EA"/>
                </a:solidFill>
                <a:latin typeface="Consolas" panose="020B0609020204030204" pitchFamily="49" charset="0"/>
              </a:rPr>
              <a:t> </a:t>
            </a:r>
            <a:r>
              <a:rPr lang="fr-CA" dirty="0">
                <a:solidFill>
                  <a:srgbClr val="C792EA"/>
                </a:solidFill>
                <a:latin typeface="Consolas" panose="020B0609020204030204" pitchFamily="49" charset="0"/>
              </a:rPr>
              <a:t>=</a:t>
            </a:r>
            <a:r>
              <a:rPr lang="fr-CA" i="1" dirty="0">
                <a:solidFill>
                  <a:srgbClr val="C792EA"/>
                </a:solidFill>
                <a:latin typeface="Consolas" panose="020B0609020204030204" pitchFamily="49" charset="0"/>
              </a:rPr>
              <a:t> </a:t>
            </a:r>
            <a:r>
              <a:rPr lang="fr-CA" dirty="0" err="1">
                <a:solidFill>
                  <a:srgbClr val="82AAFF"/>
                </a:solidFill>
                <a:latin typeface="Consolas" panose="020B0609020204030204" pitchFamily="49" charset="0"/>
              </a:rPr>
              <a:t>require</a:t>
            </a:r>
            <a:r>
              <a:rPr lang="fr-CA" dirty="0">
                <a:solidFill>
                  <a:srgbClr val="D6DEEB"/>
                </a:solidFill>
                <a:latin typeface="Consolas" panose="020B0609020204030204" pitchFamily="49" charset="0"/>
              </a:rPr>
              <a:t>(</a:t>
            </a:r>
            <a:r>
              <a:rPr lang="fr-CA" dirty="0">
                <a:solidFill>
                  <a:srgbClr val="D9F5DD"/>
                </a:solidFill>
                <a:latin typeface="Consolas" panose="020B0609020204030204" pitchFamily="49" charset="0"/>
              </a:rPr>
              <a:t>'</a:t>
            </a:r>
            <a:r>
              <a:rPr lang="fr-CA" dirty="0" err="1">
                <a:solidFill>
                  <a:srgbClr val="ECC48D"/>
                </a:solidFill>
                <a:latin typeface="Consolas" panose="020B0609020204030204" pitchFamily="49" charset="0"/>
              </a:rPr>
              <a:t>path</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a:t>
            </a:r>
          </a:p>
          <a:p>
            <a:r>
              <a:rPr lang="fr-CA" dirty="0" err="1">
                <a:solidFill>
                  <a:srgbClr val="82AAFF"/>
                </a:solidFill>
                <a:latin typeface="Consolas" panose="020B0609020204030204" pitchFamily="49" charset="0"/>
              </a:rPr>
              <a:t>const</a:t>
            </a:r>
            <a:r>
              <a:rPr lang="fr-CA" i="1" dirty="0">
                <a:solidFill>
                  <a:srgbClr val="C792EA"/>
                </a:solidFill>
                <a:latin typeface="Consolas" panose="020B0609020204030204" pitchFamily="49" charset="0"/>
              </a:rPr>
              <a:t> </a:t>
            </a:r>
            <a:r>
              <a:rPr lang="fr-CA" i="1" dirty="0" err="1">
                <a:solidFill>
                  <a:srgbClr val="82AAFF"/>
                </a:solidFill>
                <a:latin typeface="Consolas" panose="020B0609020204030204" pitchFamily="49" charset="0"/>
              </a:rPr>
              <a:t>filePath</a:t>
            </a:r>
            <a:r>
              <a:rPr lang="fr-CA" i="1" dirty="0">
                <a:solidFill>
                  <a:srgbClr val="C792EA"/>
                </a:solidFill>
                <a:latin typeface="Consolas" panose="020B0609020204030204" pitchFamily="49" charset="0"/>
              </a:rPr>
              <a:t> </a:t>
            </a:r>
            <a:r>
              <a:rPr lang="fr-CA" dirty="0">
                <a:solidFill>
                  <a:srgbClr val="C792EA"/>
                </a:solidFill>
                <a:latin typeface="Consolas" panose="020B0609020204030204" pitchFamily="49" charset="0"/>
              </a:rPr>
              <a:t>=</a:t>
            </a:r>
            <a:r>
              <a:rPr lang="fr-CA" i="1" dirty="0">
                <a:solidFill>
                  <a:srgbClr val="C792EA"/>
                </a:solidFill>
                <a:latin typeface="Consolas" panose="020B0609020204030204" pitchFamily="49" charset="0"/>
              </a:rPr>
              <a:t> </a:t>
            </a:r>
            <a:r>
              <a:rPr lang="fr-CA" dirty="0" err="1">
                <a:solidFill>
                  <a:srgbClr val="D6DEEB"/>
                </a:solidFill>
                <a:latin typeface="Consolas" panose="020B0609020204030204" pitchFamily="49" charset="0"/>
              </a:rPr>
              <a:t>path</a:t>
            </a:r>
            <a:r>
              <a:rPr lang="fr-CA" i="1" dirty="0" err="1">
                <a:solidFill>
                  <a:srgbClr val="C792EA"/>
                </a:solidFill>
                <a:latin typeface="Consolas" panose="020B0609020204030204" pitchFamily="49" charset="0"/>
              </a:rPr>
              <a:t>.</a:t>
            </a:r>
            <a:r>
              <a:rPr lang="fr-CA" dirty="0" err="1">
                <a:solidFill>
                  <a:srgbClr val="82AAFF"/>
                </a:solidFill>
                <a:latin typeface="Consolas" panose="020B0609020204030204" pitchFamily="49" charset="0"/>
              </a:rPr>
              <a:t>join</a:t>
            </a:r>
            <a:r>
              <a:rPr lang="fr-CA" dirty="0">
                <a:solidFill>
                  <a:srgbClr val="D6DEEB"/>
                </a:solidFill>
                <a:latin typeface="Consolas" panose="020B0609020204030204" pitchFamily="49" charset="0"/>
              </a:rPr>
              <a:t>(</a:t>
            </a:r>
            <a:r>
              <a:rPr lang="fr-CA" dirty="0">
                <a:solidFill>
                  <a:srgbClr val="D7DBE0"/>
                </a:solidFill>
                <a:latin typeface="Consolas" panose="020B0609020204030204" pitchFamily="49" charset="0"/>
              </a:rPr>
              <a:t>__dirname</a:t>
            </a:r>
            <a:r>
              <a:rPr lang="fr-CA" dirty="0">
                <a:solidFill>
                  <a:srgbClr val="C792EA"/>
                </a:solidFill>
                <a:latin typeface="Consolas" panose="020B0609020204030204" pitchFamily="49" charset="0"/>
              </a:rPr>
              <a:t>,</a:t>
            </a:r>
            <a:r>
              <a:rPr lang="fr-CA" dirty="0">
                <a:solidFill>
                  <a:srgbClr val="D9F5DD"/>
                </a:solidFill>
                <a:latin typeface="Consolas" panose="020B0609020204030204" pitchFamily="49" charset="0"/>
              </a:rPr>
              <a:t>'</a:t>
            </a:r>
            <a:r>
              <a:rPr lang="fr-CA" dirty="0">
                <a:solidFill>
                  <a:srgbClr val="ECC48D"/>
                </a:solidFill>
                <a:latin typeface="Consolas" panose="020B0609020204030204" pitchFamily="49" charset="0"/>
              </a:rPr>
              <a:t>files</a:t>
            </a:r>
            <a:r>
              <a:rPr lang="fr-CA" dirty="0">
                <a:solidFill>
                  <a:srgbClr val="D9F5DD"/>
                </a:solidFill>
                <a:latin typeface="Consolas" panose="020B0609020204030204" pitchFamily="49" charset="0"/>
              </a:rPr>
              <a:t>'</a:t>
            </a:r>
            <a:r>
              <a:rPr lang="fr-CA" dirty="0">
                <a:solidFill>
                  <a:srgbClr val="C792EA"/>
                </a:solidFill>
                <a:latin typeface="Consolas" panose="020B0609020204030204" pitchFamily="49" charset="0"/>
              </a:rPr>
              <a:t>,</a:t>
            </a:r>
            <a:r>
              <a:rPr lang="fr-CA" dirty="0">
                <a:solidFill>
                  <a:srgbClr val="D9F5DD"/>
                </a:solidFill>
                <a:latin typeface="Consolas" panose="020B0609020204030204" pitchFamily="49" charset="0"/>
              </a:rPr>
              <a:t>'</a:t>
            </a:r>
            <a:r>
              <a:rPr lang="fr-CA" dirty="0">
                <a:solidFill>
                  <a:srgbClr val="ECC48D"/>
                </a:solidFill>
                <a:latin typeface="Consolas" panose="020B0609020204030204" pitchFamily="49" charset="0"/>
              </a:rPr>
              <a:t>rawFile.txt</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a:t>
            </a:r>
          </a:p>
          <a:p>
            <a:r>
              <a:rPr lang="fr-CA" dirty="0" err="1">
                <a:solidFill>
                  <a:srgbClr val="D6DEEB"/>
                </a:solidFill>
                <a:latin typeface="Consolas" panose="020B0609020204030204" pitchFamily="49" charset="0"/>
              </a:rPr>
              <a:t>fs</a:t>
            </a:r>
            <a:r>
              <a:rPr lang="fr-CA" i="1" dirty="0" err="1">
                <a:solidFill>
                  <a:srgbClr val="C792EA"/>
                </a:solidFill>
                <a:latin typeface="Consolas" panose="020B0609020204030204" pitchFamily="49" charset="0"/>
              </a:rPr>
              <a:t>.</a:t>
            </a:r>
            <a:r>
              <a:rPr lang="fr-CA" dirty="0" err="1">
                <a:solidFill>
                  <a:srgbClr val="82AAFF"/>
                </a:solidFill>
                <a:latin typeface="Consolas" panose="020B0609020204030204" pitchFamily="49" charset="0"/>
              </a:rPr>
              <a:t>readFile</a:t>
            </a:r>
            <a:r>
              <a:rPr lang="fr-CA" dirty="0">
                <a:solidFill>
                  <a:srgbClr val="D6DEEB"/>
                </a:solidFill>
                <a:latin typeface="Consolas" panose="020B0609020204030204" pitchFamily="49" charset="0"/>
              </a:rPr>
              <a:t>(</a:t>
            </a:r>
            <a:r>
              <a:rPr lang="fr-CA" dirty="0" err="1">
                <a:solidFill>
                  <a:srgbClr val="D7DBE0"/>
                </a:solidFill>
                <a:latin typeface="Consolas" panose="020B0609020204030204" pitchFamily="49" charset="0"/>
              </a:rPr>
              <a:t>filePath</a:t>
            </a:r>
            <a:r>
              <a:rPr lang="fr-CA" dirty="0">
                <a:solidFill>
                  <a:srgbClr val="D6DEEB"/>
                </a:solidFill>
                <a:latin typeface="Consolas" panose="020B0609020204030204" pitchFamily="49" charset="0"/>
              </a:rPr>
              <a:t>, </a:t>
            </a:r>
            <a:r>
              <a:rPr lang="fr-CA" dirty="0">
                <a:solidFill>
                  <a:srgbClr val="D9F5DD"/>
                </a:solidFill>
                <a:latin typeface="Consolas" panose="020B0609020204030204" pitchFamily="49" charset="0"/>
              </a:rPr>
              <a:t>(</a:t>
            </a:r>
            <a:r>
              <a:rPr lang="fr-CA" dirty="0" err="1">
                <a:solidFill>
                  <a:srgbClr val="D7DBE0"/>
                </a:solidFill>
                <a:latin typeface="Consolas" panose="020B0609020204030204" pitchFamily="49" charset="0"/>
              </a:rPr>
              <a:t>err</a:t>
            </a:r>
            <a:r>
              <a:rPr lang="fr-CA" dirty="0">
                <a:solidFill>
                  <a:srgbClr val="D6DEEB"/>
                </a:solidFill>
                <a:latin typeface="Consolas" panose="020B0609020204030204" pitchFamily="49" charset="0"/>
              </a:rPr>
              <a:t>, </a:t>
            </a:r>
            <a:r>
              <a:rPr lang="fr-CA" dirty="0">
                <a:solidFill>
                  <a:srgbClr val="D7DBE0"/>
                </a:solidFill>
                <a:latin typeface="Consolas" panose="020B0609020204030204" pitchFamily="49" charset="0"/>
              </a:rPr>
              <a:t>data</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 </a:t>
            </a:r>
            <a:r>
              <a:rPr lang="fr-CA" dirty="0">
                <a:solidFill>
                  <a:srgbClr val="82AAFF"/>
                </a:solidFill>
                <a:latin typeface="Consolas" panose="020B0609020204030204" pitchFamily="49" charset="0"/>
              </a:rPr>
              <a:t>=&gt;</a:t>
            </a:r>
            <a:r>
              <a:rPr lang="fr-CA" dirty="0">
                <a:solidFill>
                  <a:srgbClr val="D6DEEB"/>
                </a:solidFill>
                <a:latin typeface="Consolas" panose="020B0609020204030204" pitchFamily="49" charset="0"/>
              </a:rPr>
              <a:t> {</a:t>
            </a:r>
          </a:p>
          <a:p>
            <a:r>
              <a:rPr lang="fr-CA" dirty="0">
                <a:solidFill>
                  <a:srgbClr val="D6DEEB"/>
                </a:solidFill>
                <a:latin typeface="Consolas" panose="020B0609020204030204" pitchFamily="49" charset="0"/>
              </a:rPr>
              <a:t>    </a:t>
            </a:r>
            <a:r>
              <a:rPr lang="fr-CA" dirty="0">
                <a:solidFill>
                  <a:srgbClr val="C792EA"/>
                </a:solidFill>
                <a:latin typeface="Consolas" panose="020B0609020204030204" pitchFamily="49" charset="0"/>
              </a:rPr>
              <a:t>if</a:t>
            </a:r>
            <a:r>
              <a:rPr lang="fr-CA" dirty="0">
                <a:solidFill>
                  <a:srgbClr val="D6DEEB"/>
                </a:solidFill>
                <a:latin typeface="Consolas" panose="020B0609020204030204" pitchFamily="49" charset="0"/>
              </a:rPr>
              <a:t> (</a:t>
            </a:r>
            <a:r>
              <a:rPr lang="fr-CA" dirty="0" err="1">
                <a:solidFill>
                  <a:srgbClr val="D7DBE0"/>
                </a:solidFill>
                <a:latin typeface="Consolas" panose="020B0609020204030204" pitchFamily="49" charset="0"/>
              </a:rPr>
              <a:t>err</a:t>
            </a:r>
            <a:r>
              <a:rPr lang="fr-CA" dirty="0">
                <a:solidFill>
                  <a:srgbClr val="D6DEEB"/>
                </a:solidFill>
                <a:latin typeface="Consolas" panose="020B0609020204030204" pitchFamily="49" charset="0"/>
              </a:rPr>
              <a:t>) </a:t>
            </a:r>
            <a:r>
              <a:rPr lang="fr-CA" dirty="0" err="1">
                <a:solidFill>
                  <a:srgbClr val="7FDBCA"/>
                </a:solidFill>
                <a:latin typeface="Consolas" panose="020B0609020204030204" pitchFamily="49" charset="0"/>
              </a:rPr>
              <a:t>throw</a:t>
            </a:r>
            <a:r>
              <a:rPr lang="fr-CA" dirty="0">
                <a:solidFill>
                  <a:srgbClr val="D6DEEB"/>
                </a:solidFill>
                <a:latin typeface="Consolas" panose="020B0609020204030204" pitchFamily="49" charset="0"/>
              </a:rPr>
              <a:t> </a:t>
            </a:r>
            <a:r>
              <a:rPr lang="fr-CA" dirty="0" err="1">
                <a:solidFill>
                  <a:srgbClr val="D7DBE0"/>
                </a:solidFill>
                <a:latin typeface="Consolas" panose="020B0609020204030204" pitchFamily="49" charset="0"/>
              </a:rPr>
              <a:t>err</a:t>
            </a:r>
            <a:r>
              <a:rPr lang="fr-CA" dirty="0">
                <a:solidFill>
                  <a:srgbClr val="D6DEEB"/>
                </a:solidFill>
                <a:latin typeface="Consolas" panose="020B0609020204030204" pitchFamily="49" charset="0"/>
              </a:rPr>
              <a:t>;</a:t>
            </a:r>
          </a:p>
          <a:p>
            <a:r>
              <a:rPr lang="fr-CA" dirty="0">
                <a:solidFill>
                  <a:srgbClr val="D6DEEB"/>
                </a:solidFill>
                <a:latin typeface="Consolas" panose="020B0609020204030204" pitchFamily="49" charset="0"/>
              </a:rPr>
              <a:t>    console</a:t>
            </a:r>
            <a:r>
              <a:rPr lang="fr-CA" i="1" dirty="0">
                <a:solidFill>
                  <a:srgbClr val="C792EA"/>
                </a:solidFill>
                <a:latin typeface="Consolas" panose="020B0609020204030204" pitchFamily="49" charset="0"/>
              </a:rPr>
              <a:t>.</a:t>
            </a:r>
            <a:r>
              <a:rPr lang="fr-CA" dirty="0">
                <a:solidFill>
                  <a:srgbClr val="82AAFF"/>
                </a:solidFill>
                <a:latin typeface="Consolas" panose="020B0609020204030204" pitchFamily="49" charset="0"/>
              </a:rPr>
              <a:t>log</a:t>
            </a:r>
            <a:r>
              <a:rPr lang="fr-CA" dirty="0">
                <a:solidFill>
                  <a:srgbClr val="D6DEEB"/>
                </a:solidFill>
                <a:latin typeface="Consolas" panose="020B0609020204030204" pitchFamily="49" charset="0"/>
              </a:rPr>
              <a:t>(</a:t>
            </a:r>
            <a:r>
              <a:rPr lang="fr-CA" dirty="0">
                <a:solidFill>
                  <a:srgbClr val="D7DBE0"/>
                </a:solidFill>
                <a:latin typeface="Consolas" panose="020B0609020204030204" pitchFamily="49" charset="0"/>
              </a:rPr>
              <a:t>data</a:t>
            </a:r>
            <a:r>
              <a:rPr lang="fr-CA" dirty="0">
                <a:solidFill>
                  <a:srgbClr val="D6DEEB"/>
                </a:solidFill>
                <a:latin typeface="Consolas" panose="020B0609020204030204" pitchFamily="49" charset="0"/>
              </a:rPr>
              <a:t>);</a:t>
            </a:r>
          </a:p>
          <a:p>
            <a:r>
              <a:rPr lang="fr-CA" dirty="0">
                <a:solidFill>
                  <a:srgbClr val="D6DEEB"/>
                </a:solidFill>
                <a:latin typeface="Consolas" panose="020B0609020204030204" pitchFamily="49" charset="0"/>
              </a:rPr>
              <a:t>  }); </a:t>
            </a:r>
            <a:br>
              <a:rPr lang="fr-CA" dirty="0">
                <a:solidFill>
                  <a:srgbClr val="D6DEEB"/>
                </a:solidFill>
                <a:latin typeface="Consolas" panose="020B0609020204030204" pitchFamily="49" charset="0"/>
              </a:rPr>
            </a:br>
            <a:r>
              <a:rPr lang="fr-CA" dirty="0" err="1">
                <a:solidFill>
                  <a:srgbClr val="82AAFF"/>
                </a:solidFill>
                <a:latin typeface="Consolas" panose="020B0609020204030204" pitchFamily="49" charset="0"/>
              </a:rPr>
              <a:t>moreWork</a:t>
            </a:r>
            <a:r>
              <a:rPr lang="fr-CA" dirty="0">
                <a:solidFill>
                  <a:srgbClr val="D6DEEB"/>
                </a:solidFill>
                <a:latin typeface="Consolas" panose="020B0609020204030204" pitchFamily="49" charset="0"/>
              </a:rPr>
              <a:t>(); </a:t>
            </a:r>
            <a:r>
              <a:rPr lang="fr-CA" dirty="0">
                <a:solidFill>
                  <a:srgbClr val="637777"/>
                </a:solidFill>
                <a:latin typeface="Consolas" panose="020B0609020204030204" pitchFamily="49" charset="0"/>
              </a:rPr>
              <a:t>//</a:t>
            </a:r>
            <a:r>
              <a:rPr lang="fr-CA" i="1" dirty="0">
                <a:solidFill>
                  <a:srgbClr val="637777"/>
                </a:solidFill>
                <a:latin typeface="Consolas" panose="020B0609020204030204" pitchFamily="49" charset="0"/>
              </a:rPr>
              <a:t> </a:t>
            </a:r>
            <a:r>
              <a:rPr lang="fr-CA" i="1" dirty="0" err="1">
                <a:solidFill>
                  <a:srgbClr val="637777"/>
                </a:solidFill>
                <a:latin typeface="Consolas" panose="020B0609020204030204" pitchFamily="49" charset="0"/>
              </a:rPr>
              <a:t>will</a:t>
            </a:r>
            <a:r>
              <a:rPr lang="fr-CA" i="1" dirty="0">
                <a:solidFill>
                  <a:srgbClr val="637777"/>
                </a:solidFill>
                <a:latin typeface="Consolas" panose="020B0609020204030204" pitchFamily="49" charset="0"/>
              </a:rPr>
              <a:t> run </a:t>
            </a:r>
            <a:r>
              <a:rPr lang="fr-CA" i="1" dirty="0" err="1">
                <a:solidFill>
                  <a:srgbClr val="637777"/>
                </a:solidFill>
                <a:latin typeface="Consolas" panose="020B0609020204030204" pitchFamily="49" charset="0"/>
              </a:rPr>
              <a:t>before</a:t>
            </a:r>
            <a:r>
              <a:rPr lang="fr-CA" i="1" dirty="0">
                <a:solidFill>
                  <a:srgbClr val="637777"/>
                </a:solidFill>
                <a:latin typeface="Consolas" panose="020B0609020204030204" pitchFamily="49" charset="0"/>
              </a:rPr>
              <a:t> console.log </a:t>
            </a:r>
            <a:r>
              <a:rPr lang="fr-CA" i="1" dirty="0" err="1">
                <a:solidFill>
                  <a:srgbClr val="637777"/>
                </a:solidFill>
                <a:latin typeface="Consolas" panose="020B0609020204030204" pitchFamily="49" charset="0"/>
              </a:rPr>
              <a:t>inside</a:t>
            </a:r>
            <a:r>
              <a:rPr lang="fr-CA" i="1" dirty="0">
                <a:solidFill>
                  <a:srgbClr val="637777"/>
                </a:solidFill>
                <a:latin typeface="Consolas" panose="020B0609020204030204" pitchFamily="49" charset="0"/>
              </a:rPr>
              <a:t> </a:t>
            </a:r>
            <a:r>
              <a:rPr lang="fr-CA" i="1" dirty="0" err="1">
                <a:solidFill>
                  <a:srgbClr val="637777"/>
                </a:solidFill>
                <a:latin typeface="Consolas" panose="020B0609020204030204" pitchFamily="49" charset="0"/>
              </a:rPr>
              <a:t>readFile</a:t>
            </a:r>
            <a:br>
              <a:rPr lang="fr-CA" dirty="0">
                <a:solidFill>
                  <a:srgbClr val="D6DEEB"/>
                </a:solidFill>
                <a:latin typeface="Consolas" panose="020B0609020204030204" pitchFamily="49" charset="0"/>
              </a:rPr>
            </a:br>
            <a:r>
              <a:rPr lang="fr-CA" dirty="0" err="1">
                <a:solidFill>
                  <a:srgbClr val="82AAFF"/>
                </a:solidFill>
                <a:latin typeface="Consolas" panose="020B0609020204030204" pitchFamily="49" charset="0"/>
              </a:rPr>
              <a:t>function</a:t>
            </a:r>
            <a:r>
              <a:rPr lang="fr-CA" dirty="0">
                <a:solidFill>
                  <a:srgbClr val="D6DEEB"/>
                </a:solidFill>
                <a:latin typeface="Consolas" panose="020B0609020204030204" pitchFamily="49" charset="0"/>
              </a:rPr>
              <a:t> </a:t>
            </a:r>
            <a:r>
              <a:rPr lang="fr-CA" dirty="0" err="1">
                <a:solidFill>
                  <a:srgbClr val="82AAFF"/>
                </a:solidFill>
                <a:latin typeface="Consolas" panose="020B0609020204030204" pitchFamily="49" charset="0"/>
              </a:rPr>
              <a:t>moreWork</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a:t>
            </a:r>
          </a:p>
          <a:p>
            <a:r>
              <a:rPr lang="fr-CA" dirty="0">
                <a:solidFill>
                  <a:srgbClr val="D6DEEB"/>
                </a:solidFill>
                <a:latin typeface="Consolas" panose="020B0609020204030204" pitchFamily="49" charset="0"/>
              </a:rPr>
              <a:t>    console</a:t>
            </a:r>
            <a:r>
              <a:rPr lang="fr-CA" i="1" dirty="0">
                <a:solidFill>
                  <a:srgbClr val="C792EA"/>
                </a:solidFill>
                <a:latin typeface="Consolas" panose="020B0609020204030204" pitchFamily="49" charset="0"/>
              </a:rPr>
              <a:t>.</a:t>
            </a:r>
            <a:r>
              <a:rPr lang="fr-CA" dirty="0">
                <a:solidFill>
                  <a:srgbClr val="82AAFF"/>
                </a:solidFill>
                <a:latin typeface="Consolas" panose="020B0609020204030204" pitchFamily="49" charset="0"/>
              </a:rPr>
              <a:t>log</a:t>
            </a:r>
            <a:r>
              <a:rPr lang="fr-CA" dirty="0">
                <a:solidFill>
                  <a:srgbClr val="D6DEEB"/>
                </a:solidFill>
                <a:latin typeface="Consolas" panose="020B0609020204030204" pitchFamily="49" charset="0"/>
              </a:rPr>
              <a:t>(</a:t>
            </a:r>
            <a:r>
              <a:rPr lang="fr-CA" dirty="0">
                <a:solidFill>
                  <a:srgbClr val="D9F5DD"/>
                </a:solidFill>
                <a:latin typeface="Consolas" panose="020B0609020204030204" pitchFamily="49" charset="0"/>
              </a:rPr>
              <a:t>"</a:t>
            </a:r>
            <a:r>
              <a:rPr lang="fr-CA" dirty="0">
                <a:solidFill>
                  <a:srgbClr val="ECC48D"/>
                </a:solidFill>
                <a:latin typeface="Consolas" panose="020B0609020204030204" pitchFamily="49" charset="0"/>
              </a:rPr>
              <a:t>More </a:t>
            </a:r>
            <a:r>
              <a:rPr lang="fr-CA" dirty="0" err="1">
                <a:solidFill>
                  <a:srgbClr val="ECC48D"/>
                </a:solidFill>
                <a:latin typeface="Consolas" panose="020B0609020204030204" pitchFamily="49" charset="0"/>
              </a:rPr>
              <a:t>work</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a:t>
            </a:r>
          </a:p>
          <a:p>
            <a:r>
              <a:rPr lang="fr-CA" dirty="0">
                <a:solidFill>
                  <a:srgbClr val="D6DEEB"/>
                </a:solidFill>
                <a:latin typeface="Consolas" panose="020B0609020204030204" pitchFamily="49" charset="0"/>
              </a:rPr>
              <a:t>}</a:t>
            </a:r>
            <a:endParaRPr lang="fr-CA" b="0" dirty="0">
              <a:solidFill>
                <a:srgbClr val="D6DEEB"/>
              </a:solidFill>
              <a:effectLst/>
              <a:latin typeface="Consolas" panose="020B0609020204030204" pitchFamily="49" charset="0"/>
            </a:endParaRPr>
          </a:p>
        </p:txBody>
      </p:sp>
      <p:sp>
        <p:nvSpPr>
          <p:cNvPr id="6" name="TextBox 5"/>
          <p:cNvSpPr txBox="1"/>
          <p:nvPr/>
        </p:nvSpPr>
        <p:spPr>
          <a:xfrm>
            <a:off x="2342606" y="2708366"/>
            <a:ext cx="5460274" cy="407035"/>
          </a:xfrm>
          <a:prstGeom prst="rect">
            <a:avLst/>
          </a:prstGeom>
          <a:noFill/>
        </p:spPr>
        <p:txBody>
          <a:bodyPr wrap="square" rtlCol="0">
            <a:spAutoFit/>
          </a:bodyPr>
          <a:lstStyle/>
          <a:p>
            <a:pPr lvl="0">
              <a:lnSpc>
                <a:spcPct val="107000"/>
              </a:lnSpc>
              <a:spcBef>
                <a:spcPts val="200"/>
              </a:spcBef>
            </a:pPr>
            <a:r>
              <a:rPr lang="fr-CA" sz="2000" b="1">
                <a:solidFill>
                  <a:srgbClr val="1F4D78"/>
                </a:solidFill>
                <a:latin typeface="Calibri Light" panose="020F0302020204030204" pitchFamily="34" charset="0"/>
                <a:ea typeface="Times New Roman" panose="02020603050405020304" pitchFamily="18" charset="0"/>
                <a:cs typeface="Times New Roman" panose="02020603050405020304" pitchFamily="18" charset="0"/>
              </a:rPr>
              <a:t>Exemple</a:t>
            </a:r>
            <a:r>
              <a:rPr lang="en-US" sz="2000" b="1">
                <a:solidFill>
                  <a:srgbClr val="1F4D78"/>
                </a:solidFill>
                <a:latin typeface="Calibri Light" panose="020F0302020204030204" pitchFamily="34" charset="0"/>
                <a:ea typeface="Times New Roman" panose="02020603050405020304" pitchFamily="18" charset="0"/>
                <a:cs typeface="Times New Roman" panose="02020603050405020304" pitchFamily="18" charset="0"/>
              </a:rPr>
              <a:t> non-blocking (tp03) : </a:t>
            </a:r>
            <a:endParaRPr lang="fr-CA" sz="2000" b="1">
              <a:solidFill>
                <a:srgbClr val="1F4D78"/>
              </a:solidFill>
              <a:latin typeface="Calibri Light" panose="020F03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826855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194560" y="775063"/>
            <a:ext cx="6487885" cy="461665"/>
          </a:xfrm>
          <a:prstGeom prst="rect">
            <a:avLst/>
          </a:prstGeom>
          <a:noFill/>
        </p:spPr>
        <p:txBody>
          <a:bodyPr wrap="square" rtlCol="0">
            <a:spAutoFit/>
          </a:bodyPr>
          <a:lstStyle/>
          <a:p>
            <a:r>
              <a:rPr lang="fr-CA" sz="2400" b="1">
                <a:solidFill>
                  <a:schemeClr val="accent1"/>
                </a:solidFill>
              </a:rPr>
              <a:t>Notions et concepts de base Node.js</a:t>
            </a:r>
            <a:endParaRPr lang="fr-CA" sz="2400" b="1">
              <a:ln w="0"/>
              <a:solidFill>
                <a:schemeClr val="accent1"/>
              </a:solidFill>
              <a:effectLst>
                <a:outerShdw blurRad="38100" dist="19050" dir="2700000" algn="tl" rotWithShape="0">
                  <a:schemeClr val="dk1">
                    <a:alpha val="40000"/>
                  </a:schemeClr>
                </a:outerShdw>
              </a:effectLst>
            </a:endParaRPr>
          </a:p>
        </p:txBody>
      </p:sp>
      <p:sp>
        <p:nvSpPr>
          <p:cNvPr id="3" name="TextBox 2"/>
          <p:cNvSpPr txBox="1"/>
          <p:nvPr/>
        </p:nvSpPr>
        <p:spPr>
          <a:xfrm>
            <a:off x="2264228" y="1429771"/>
            <a:ext cx="9030789" cy="369332"/>
          </a:xfrm>
          <a:prstGeom prst="rect">
            <a:avLst/>
          </a:prstGeom>
          <a:noFill/>
        </p:spPr>
        <p:txBody>
          <a:bodyPr wrap="square" rtlCol="0">
            <a:spAutoFit/>
          </a:bodyPr>
          <a:lstStyle/>
          <a:p>
            <a:pPr marL="342900" indent="-342900">
              <a:buFont typeface="Arial" panose="020B0604020202020204" pitchFamily="34" charset="0"/>
              <a:buChar char="•"/>
            </a:pPr>
            <a:r>
              <a:rPr lang="fr-CA">
                <a:ln w="0"/>
                <a:solidFill>
                  <a:schemeClr val="accent1"/>
                </a:solidFill>
                <a:effectLst>
                  <a:outerShdw blurRad="38100" dist="25400" dir="5400000" algn="ctr" rotWithShape="0">
                    <a:srgbClr val="6E747A">
                      <a:alpha val="43000"/>
                    </a:srgbClr>
                  </a:outerShdw>
                </a:effectLst>
              </a:rPr>
              <a:t>Callbacks</a:t>
            </a:r>
          </a:p>
        </p:txBody>
      </p:sp>
      <p:sp>
        <p:nvSpPr>
          <p:cNvPr id="4" name="TextBox 3"/>
          <p:cNvSpPr txBox="1"/>
          <p:nvPr/>
        </p:nvSpPr>
        <p:spPr>
          <a:xfrm>
            <a:off x="2264228" y="1931186"/>
            <a:ext cx="9518469" cy="646331"/>
          </a:xfrm>
          <a:prstGeom prst="rect">
            <a:avLst/>
          </a:prstGeom>
          <a:noFill/>
        </p:spPr>
        <p:txBody>
          <a:bodyPr wrap="square" rtlCol="0">
            <a:spAutoFit/>
          </a:bodyPr>
          <a:lstStyle/>
          <a:p>
            <a:r>
              <a:rPr lang="fr-CA"/>
              <a:t>Un callback est une fonction simple qui est passée en paramètre à une autre fonction et sera exécutée seulement quand l’évènement se produit.</a:t>
            </a:r>
          </a:p>
        </p:txBody>
      </p:sp>
      <p:sp>
        <p:nvSpPr>
          <p:cNvPr id="5" name="TextBox 4"/>
          <p:cNvSpPr txBox="1"/>
          <p:nvPr/>
        </p:nvSpPr>
        <p:spPr>
          <a:xfrm>
            <a:off x="2264228" y="2797640"/>
            <a:ext cx="9657805" cy="2672783"/>
          </a:xfrm>
          <a:prstGeom prst="rect">
            <a:avLst/>
          </a:prstGeom>
          <a:solidFill>
            <a:schemeClr val="tx2">
              <a:lumMod val="50000"/>
            </a:schemeClr>
          </a:solidFill>
        </p:spPr>
        <p:txBody>
          <a:bodyPr wrap="square" rtlCol="0">
            <a:spAutoFit/>
          </a:bodyPr>
          <a:lstStyle/>
          <a:p>
            <a:pPr>
              <a:lnSpc>
                <a:spcPct val="107000"/>
              </a:lnSpc>
              <a:spcAft>
                <a:spcPts val="800"/>
              </a:spcAft>
            </a:pPr>
            <a:r>
              <a:rPr lang="fr-CA" sz="1600" u="sng" dirty="0">
                <a:solidFill>
                  <a:schemeClr val="bg1"/>
                </a:solidFill>
                <a:latin typeface="Calibri Light" panose="020F0302020204030204" pitchFamily="34" charset="0"/>
                <a:ea typeface="Times New Roman" panose="02020603050405020304" pitchFamily="18" charset="0"/>
                <a:cs typeface="Times New Roman" panose="02020603050405020304" pitchFamily="18" charset="0"/>
              </a:rPr>
              <a:t>Exemple</a:t>
            </a:r>
            <a:r>
              <a:rPr lang="en-US" sz="1600" u="sng" dirty="0">
                <a:solidFill>
                  <a:schemeClr val="bg1"/>
                </a:solidFill>
                <a:latin typeface="Calibri Light" panose="020F0302020204030204" pitchFamily="34" charset="0"/>
                <a:ea typeface="Times New Roman" panose="02020603050405020304" pitchFamily="18" charset="0"/>
                <a:cs typeface="Times New Roman" panose="02020603050405020304" pitchFamily="18" charset="0"/>
              </a:rPr>
              <a:t> callback 1</a:t>
            </a:r>
            <a:r>
              <a:rPr lang="en-US" sz="1600" b="1" u="sng" dirty="0">
                <a:solidFill>
                  <a:schemeClr val="bg1"/>
                </a:solidFill>
                <a:latin typeface="Calibri" panose="020F0502020204030204" pitchFamily="34" charset="0"/>
                <a:ea typeface="Calibri" panose="020F0502020204030204" pitchFamily="34" charset="0"/>
                <a:cs typeface="Arial" panose="020B0604020202020204" pitchFamily="34" charset="0"/>
              </a:rPr>
              <a:t> </a:t>
            </a:r>
          </a:p>
          <a:p>
            <a:pPr>
              <a:lnSpc>
                <a:spcPct val="107000"/>
              </a:lnSpc>
              <a:spcAft>
                <a:spcPts val="800"/>
              </a:spcAft>
            </a:pPr>
            <a:r>
              <a:rPr lang="fr-CA" dirty="0" err="1">
                <a:solidFill>
                  <a:srgbClr val="D6DEEB"/>
                </a:solidFill>
                <a:latin typeface="Consolas" panose="020B0609020204030204" pitchFamily="49" charset="0"/>
              </a:rPr>
              <a:t>window</a:t>
            </a:r>
            <a:r>
              <a:rPr lang="fr-CA" i="1" dirty="0" err="1">
                <a:solidFill>
                  <a:srgbClr val="C792EA"/>
                </a:solidFill>
                <a:latin typeface="Consolas" panose="020B0609020204030204" pitchFamily="49" charset="0"/>
              </a:rPr>
              <a:t>.</a:t>
            </a:r>
            <a:r>
              <a:rPr lang="fr-CA" dirty="0" err="1">
                <a:solidFill>
                  <a:srgbClr val="82AAFF"/>
                </a:solidFill>
                <a:latin typeface="Consolas" panose="020B0609020204030204" pitchFamily="49" charset="0"/>
              </a:rPr>
              <a:t>addEventListener</a:t>
            </a:r>
            <a:r>
              <a:rPr lang="fr-CA" dirty="0">
                <a:solidFill>
                  <a:srgbClr val="D6DEEB"/>
                </a:solidFill>
                <a:latin typeface="Consolas" panose="020B0609020204030204" pitchFamily="49" charset="0"/>
              </a:rPr>
              <a:t>(</a:t>
            </a:r>
            <a:r>
              <a:rPr lang="fr-CA" dirty="0">
                <a:solidFill>
                  <a:srgbClr val="D9F5DD"/>
                </a:solidFill>
                <a:latin typeface="Consolas" panose="020B0609020204030204" pitchFamily="49" charset="0"/>
              </a:rPr>
              <a:t>'</a:t>
            </a:r>
            <a:r>
              <a:rPr lang="fr-CA" dirty="0" err="1">
                <a:solidFill>
                  <a:srgbClr val="ECC48D"/>
                </a:solidFill>
                <a:latin typeface="Consolas" panose="020B0609020204030204" pitchFamily="49" charset="0"/>
              </a:rPr>
              <a:t>load</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 </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 </a:t>
            </a:r>
            <a:r>
              <a:rPr lang="fr-CA" dirty="0">
                <a:solidFill>
                  <a:srgbClr val="82AAFF"/>
                </a:solidFill>
                <a:latin typeface="Consolas" panose="020B0609020204030204" pitchFamily="49" charset="0"/>
              </a:rPr>
              <a:t>=&gt;</a:t>
            </a:r>
            <a:r>
              <a:rPr lang="fr-CA" dirty="0">
                <a:solidFill>
                  <a:srgbClr val="D6DEEB"/>
                </a:solidFill>
                <a:latin typeface="Consolas" panose="020B0609020204030204" pitchFamily="49" charset="0"/>
              </a:rPr>
              <a:t> {</a:t>
            </a:r>
          </a:p>
          <a:p>
            <a:r>
              <a:rPr lang="fr-CA" dirty="0">
                <a:solidFill>
                  <a:srgbClr val="D6DEEB"/>
                </a:solidFill>
                <a:latin typeface="Consolas" panose="020B0609020204030204" pitchFamily="49" charset="0"/>
              </a:rPr>
              <a:t>    </a:t>
            </a:r>
            <a:r>
              <a:rPr lang="fr-CA" dirty="0">
                <a:solidFill>
                  <a:srgbClr val="637777"/>
                </a:solidFill>
                <a:latin typeface="Consolas" panose="020B0609020204030204" pitchFamily="49" charset="0"/>
              </a:rPr>
              <a:t>//</a:t>
            </a:r>
            <a:r>
              <a:rPr lang="fr-CA" i="1" dirty="0">
                <a:solidFill>
                  <a:srgbClr val="637777"/>
                </a:solidFill>
                <a:latin typeface="Consolas" panose="020B0609020204030204" pitchFamily="49" charset="0"/>
              </a:rPr>
              <a:t> </a:t>
            </a:r>
            <a:r>
              <a:rPr lang="fr-CA" i="1" dirty="0" err="1">
                <a:solidFill>
                  <a:srgbClr val="637777"/>
                </a:solidFill>
                <a:latin typeface="Consolas" panose="020B0609020204030204" pitchFamily="49" charset="0"/>
              </a:rPr>
              <a:t>window</a:t>
            </a:r>
            <a:r>
              <a:rPr lang="fr-CA" i="1" dirty="0">
                <a:solidFill>
                  <a:srgbClr val="637777"/>
                </a:solidFill>
                <a:latin typeface="Consolas" panose="020B0609020204030204" pitchFamily="49" charset="0"/>
              </a:rPr>
              <a:t> </a:t>
            </a:r>
            <a:r>
              <a:rPr lang="fr-CA" i="1" dirty="0" err="1">
                <a:solidFill>
                  <a:srgbClr val="637777"/>
                </a:solidFill>
                <a:latin typeface="Consolas" panose="020B0609020204030204" pitchFamily="49" charset="0"/>
              </a:rPr>
              <a:t>loaded</a:t>
            </a:r>
            <a:endParaRPr lang="fr-CA" dirty="0">
              <a:solidFill>
                <a:srgbClr val="D6DEEB"/>
              </a:solidFill>
              <a:latin typeface="Consolas" panose="020B0609020204030204" pitchFamily="49" charset="0"/>
            </a:endParaRPr>
          </a:p>
          <a:p>
            <a:r>
              <a:rPr lang="fr-CA" dirty="0">
                <a:solidFill>
                  <a:srgbClr val="D6DEEB"/>
                </a:solidFill>
                <a:latin typeface="Consolas" panose="020B0609020204030204" pitchFamily="49" charset="0"/>
              </a:rPr>
              <a:t>});</a:t>
            </a:r>
            <a:endParaRPr lang="fr-CA"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200"/>
              </a:spcBef>
              <a:spcAft>
                <a:spcPts val="800"/>
              </a:spcAft>
            </a:pPr>
            <a:r>
              <a:rPr lang="en-US" sz="1600" u="sng" dirty="0">
                <a:solidFill>
                  <a:schemeClr val="bg1"/>
                </a:solidFill>
                <a:latin typeface="Calibri Light" panose="020F0302020204030204" pitchFamily="34" charset="0"/>
                <a:ea typeface="Times New Roman" panose="02020603050405020304" pitchFamily="18" charset="0"/>
                <a:cs typeface="Times New Roman" panose="02020603050405020304" pitchFamily="18" charset="0"/>
              </a:rPr>
              <a:t>Example callback 2</a:t>
            </a:r>
            <a:endParaRPr lang="fr-CA" sz="1600" u="sng" dirty="0">
              <a:solidFill>
                <a:schemeClr val="bg1"/>
              </a:solidFill>
              <a:latin typeface="Calibri Light" panose="020F0302020204030204" pitchFamily="34" charset="0"/>
              <a:ea typeface="Times New Roman" panose="02020603050405020304" pitchFamily="18" charset="0"/>
              <a:cs typeface="Times New Roman" panose="02020603050405020304" pitchFamily="18" charset="0"/>
            </a:endParaRPr>
          </a:p>
          <a:p>
            <a:r>
              <a:rPr lang="en-US" dirty="0" err="1">
                <a:solidFill>
                  <a:srgbClr val="82AAFF"/>
                </a:solidFill>
                <a:latin typeface="Consolas" panose="020B0609020204030204" pitchFamily="49" charset="0"/>
              </a:rPr>
              <a:t>setTimeout</a:t>
            </a:r>
            <a:r>
              <a:rPr lang="en-US" dirty="0">
                <a:solidFill>
                  <a:srgbClr val="D6DEEB"/>
                </a:solidFill>
                <a:latin typeface="Consolas" panose="020B0609020204030204" pitchFamily="49" charset="0"/>
              </a:rPr>
              <a:t>(</a:t>
            </a:r>
            <a:r>
              <a:rPr lang="en-US" dirty="0">
                <a:solidFill>
                  <a:srgbClr val="D9F5DD"/>
                </a:solidFill>
                <a:latin typeface="Consolas" panose="020B0609020204030204" pitchFamily="49" charset="0"/>
              </a:rPr>
              <a:t>()</a:t>
            </a:r>
            <a:r>
              <a:rPr lang="en-US" dirty="0">
                <a:solidFill>
                  <a:srgbClr val="D6DEEB"/>
                </a:solidFill>
                <a:latin typeface="Consolas" panose="020B0609020204030204" pitchFamily="49" charset="0"/>
              </a:rPr>
              <a:t> </a:t>
            </a:r>
            <a:r>
              <a:rPr lang="en-US" dirty="0">
                <a:solidFill>
                  <a:srgbClr val="82AAFF"/>
                </a:solidFill>
                <a:latin typeface="Consolas" panose="020B0609020204030204" pitchFamily="49" charset="0"/>
              </a:rPr>
              <a:t>=&gt;</a:t>
            </a:r>
            <a:r>
              <a:rPr lang="en-US" dirty="0">
                <a:solidFill>
                  <a:srgbClr val="D6DEEB"/>
                </a:solidFill>
                <a:latin typeface="Consolas" panose="020B0609020204030204" pitchFamily="49" charset="0"/>
              </a:rPr>
              <a:t> {</a:t>
            </a:r>
          </a:p>
          <a:p>
            <a:r>
              <a:rPr lang="en-US" dirty="0">
                <a:solidFill>
                  <a:srgbClr val="D6DEEB"/>
                </a:solidFill>
                <a:latin typeface="Consolas" panose="020B0609020204030204" pitchFamily="49" charset="0"/>
              </a:rPr>
              <a:t>    </a:t>
            </a:r>
            <a:r>
              <a:rPr lang="en-US" dirty="0">
                <a:solidFill>
                  <a:srgbClr val="637777"/>
                </a:solidFill>
                <a:latin typeface="Consolas" panose="020B0609020204030204" pitchFamily="49" charset="0"/>
              </a:rPr>
              <a:t>//</a:t>
            </a:r>
            <a:r>
              <a:rPr lang="en-US" i="1" dirty="0">
                <a:solidFill>
                  <a:srgbClr val="637777"/>
                </a:solidFill>
                <a:latin typeface="Consolas" panose="020B0609020204030204" pitchFamily="49" charset="0"/>
              </a:rPr>
              <a:t> runs after 2 seconds</a:t>
            </a:r>
            <a:endParaRPr lang="en-US" dirty="0">
              <a:solidFill>
                <a:srgbClr val="D6DEEB"/>
              </a:solidFill>
              <a:latin typeface="Consolas" panose="020B0609020204030204" pitchFamily="49" charset="0"/>
            </a:endParaRPr>
          </a:p>
          <a:p>
            <a:r>
              <a:rPr lang="en-US" dirty="0">
                <a:solidFill>
                  <a:srgbClr val="D6DEEB"/>
                </a:solidFill>
                <a:latin typeface="Consolas" panose="020B0609020204030204" pitchFamily="49" charset="0"/>
              </a:rPr>
              <a:t>}, </a:t>
            </a:r>
            <a:r>
              <a:rPr lang="en-US" dirty="0">
                <a:solidFill>
                  <a:srgbClr val="F78C6C"/>
                </a:solidFill>
                <a:latin typeface="Consolas" panose="020B0609020204030204" pitchFamily="49" charset="0"/>
              </a:rPr>
              <a:t>2000</a:t>
            </a:r>
            <a:r>
              <a:rPr lang="en-US" dirty="0">
                <a:solidFill>
                  <a:srgbClr val="D6DEEB"/>
                </a:solidFill>
                <a:latin typeface="Consolas" panose="020B0609020204030204" pitchFamily="49" charset="0"/>
              </a:rPr>
              <a:t>);</a:t>
            </a:r>
            <a:endParaRPr lang="en-US" b="0" dirty="0">
              <a:solidFill>
                <a:srgbClr val="D6DEEB"/>
              </a:solidFill>
              <a:effectLst/>
              <a:latin typeface="Consolas" panose="020B0609020204030204" pitchFamily="49" charset="0"/>
            </a:endParaRPr>
          </a:p>
        </p:txBody>
      </p:sp>
    </p:spTree>
    <p:extLst>
      <p:ext uri="{BB962C8B-B14F-4D97-AF65-F5344CB8AC3E}">
        <p14:creationId xmlns:p14="http://schemas.microsoft.com/office/powerpoint/2010/main" val="20730532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194560" y="775063"/>
            <a:ext cx="6487885" cy="461665"/>
          </a:xfrm>
          <a:prstGeom prst="rect">
            <a:avLst/>
          </a:prstGeom>
          <a:noFill/>
        </p:spPr>
        <p:txBody>
          <a:bodyPr wrap="square" rtlCol="0">
            <a:spAutoFit/>
          </a:bodyPr>
          <a:lstStyle/>
          <a:p>
            <a:r>
              <a:rPr lang="fr-CA" sz="2400" b="1">
                <a:solidFill>
                  <a:schemeClr val="accent1"/>
                </a:solidFill>
              </a:rPr>
              <a:t>Notions et concepts de base Node.js</a:t>
            </a:r>
            <a:endParaRPr lang="fr-CA" sz="2400" b="1">
              <a:ln w="0"/>
              <a:solidFill>
                <a:schemeClr val="accent1"/>
              </a:solidFill>
              <a:effectLst>
                <a:outerShdw blurRad="38100" dist="19050" dir="2700000" algn="tl" rotWithShape="0">
                  <a:schemeClr val="dk1">
                    <a:alpha val="40000"/>
                  </a:schemeClr>
                </a:outerShdw>
              </a:effectLst>
            </a:endParaRPr>
          </a:p>
        </p:txBody>
      </p:sp>
      <p:sp>
        <p:nvSpPr>
          <p:cNvPr id="3" name="TextBox 2"/>
          <p:cNvSpPr txBox="1"/>
          <p:nvPr/>
        </p:nvSpPr>
        <p:spPr>
          <a:xfrm>
            <a:off x="2264228" y="1429771"/>
            <a:ext cx="9030789" cy="369332"/>
          </a:xfrm>
          <a:prstGeom prst="rect">
            <a:avLst/>
          </a:prstGeom>
          <a:noFill/>
        </p:spPr>
        <p:txBody>
          <a:bodyPr wrap="square" rtlCol="0">
            <a:spAutoFit/>
          </a:bodyPr>
          <a:lstStyle/>
          <a:p>
            <a:pPr marL="342900" indent="-342900">
              <a:buFont typeface="Arial" panose="020B0604020202020204" pitchFamily="34" charset="0"/>
              <a:buChar char="•"/>
            </a:pPr>
            <a:r>
              <a:rPr lang="fr-CA">
                <a:ln w="0"/>
                <a:solidFill>
                  <a:schemeClr val="accent1"/>
                </a:solidFill>
                <a:effectLst>
                  <a:outerShdw blurRad="38100" dist="25400" dir="5400000" algn="ctr" rotWithShape="0">
                    <a:srgbClr val="6E747A">
                      <a:alpha val="43000"/>
                    </a:srgbClr>
                  </a:outerShdw>
                </a:effectLst>
              </a:rPr>
              <a:t>Gestion des erreurs dans les callbacks</a:t>
            </a:r>
          </a:p>
        </p:txBody>
      </p:sp>
      <p:sp>
        <p:nvSpPr>
          <p:cNvPr id="4" name="TextBox 3"/>
          <p:cNvSpPr txBox="1"/>
          <p:nvPr/>
        </p:nvSpPr>
        <p:spPr>
          <a:xfrm>
            <a:off x="2264228" y="1931186"/>
            <a:ext cx="9518469" cy="923330"/>
          </a:xfrm>
          <a:prstGeom prst="rect">
            <a:avLst/>
          </a:prstGeom>
          <a:noFill/>
        </p:spPr>
        <p:txBody>
          <a:bodyPr wrap="square" rtlCol="0">
            <a:spAutoFit/>
          </a:bodyPr>
          <a:lstStyle/>
          <a:p>
            <a:r>
              <a:rPr lang="fr-CA" dirty="0"/>
              <a:t>L’approche adoptée par Node.js est de passer l’objet </a:t>
            </a:r>
            <a:r>
              <a:rPr lang="fr-CA" dirty="0" err="1"/>
              <a:t>error</a:t>
            </a:r>
            <a:r>
              <a:rPr lang="fr-CA" dirty="0"/>
              <a:t> toujours comme premier paramètre dans la fonction callback. S’il y a une erreur, ce paramètre contient la description et le </a:t>
            </a:r>
            <a:r>
              <a:rPr lang="fr-CA" dirty="0" err="1"/>
              <a:t>stacktrace</a:t>
            </a:r>
            <a:r>
              <a:rPr lang="fr-CA" dirty="0"/>
              <a:t> sinon il sera </a:t>
            </a:r>
            <a:r>
              <a:rPr lang="fr-CA" dirty="0" err="1"/>
              <a:t>null</a:t>
            </a:r>
            <a:r>
              <a:rPr lang="fr-CA" dirty="0"/>
              <a:t>.</a:t>
            </a:r>
          </a:p>
        </p:txBody>
      </p:sp>
      <p:sp>
        <p:nvSpPr>
          <p:cNvPr id="5" name="TextBox 4"/>
          <p:cNvSpPr txBox="1"/>
          <p:nvPr/>
        </p:nvSpPr>
        <p:spPr>
          <a:xfrm>
            <a:off x="2264228" y="3311445"/>
            <a:ext cx="9657805" cy="2862322"/>
          </a:xfrm>
          <a:prstGeom prst="rect">
            <a:avLst/>
          </a:prstGeom>
          <a:solidFill>
            <a:schemeClr val="tx2">
              <a:lumMod val="50000"/>
            </a:schemeClr>
          </a:solidFill>
        </p:spPr>
        <p:txBody>
          <a:bodyPr wrap="square" rtlCol="0">
            <a:spAutoFit/>
          </a:bodyPr>
          <a:lstStyle/>
          <a:p>
            <a:r>
              <a:rPr lang="fr-CA" dirty="0" err="1">
                <a:solidFill>
                  <a:srgbClr val="82AAFF"/>
                </a:solidFill>
                <a:latin typeface="Consolas" panose="020B0609020204030204" pitchFamily="49" charset="0"/>
              </a:rPr>
              <a:t>const</a:t>
            </a:r>
            <a:r>
              <a:rPr lang="fr-CA" i="1" dirty="0">
                <a:solidFill>
                  <a:srgbClr val="C792EA"/>
                </a:solidFill>
                <a:latin typeface="Consolas" panose="020B0609020204030204" pitchFamily="49" charset="0"/>
              </a:rPr>
              <a:t> </a:t>
            </a:r>
            <a:r>
              <a:rPr lang="fr-CA" i="1" dirty="0" err="1">
                <a:solidFill>
                  <a:srgbClr val="82AAFF"/>
                </a:solidFill>
                <a:latin typeface="Consolas" panose="020B0609020204030204" pitchFamily="49" charset="0"/>
              </a:rPr>
              <a:t>fs</a:t>
            </a:r>
            <a:r>
              <a:rPr lang="fr-CA" i="1" dirty="0">
                <a:solidFill>
                  <a:srgbClr val="C792EA"/>
                </a:solidFill>
                <a:latin typeface="Consolas" panose="020B0609020204030204" pitchFamily="49" charset="0"/>
              </a:rPr>
              <a:t> </a:t>
            </a:r>
            <a:r>
              <a:rPr lang="fr-CA" dirty="0">
                <a:solidFill>
                  <a:srgbClr val="C792EA"/>
                </a:solidFill>
                <a:latin typeface="Consolas" panose="020B0609020204030204" pitchFamily="49" charset="0"/>
              </a:rPr>
              <a:t>=</a:t>
            </a:r>
            <a:r>
              <a:rPr lang="fr-CA" i="1" dirty="0">
                <a:solidFill>
                  <a:srgbClr val="C792EA"/>
                </a:solidFill>
                <a:latin typeface="Consolas" panose="020B0609020204030204" pitchFamily="49" charset="0"/>
              </a:rPr>
              <a:t> </a:t>
            </a:r>
            <a:r>
              <a:rPr lang="fr-CA" dirty="0" err="1">
                <a:solidFill>
                  <a:srgbClr val="82AAFF"/>
                </a:solidFill>
                <a:latin typeface="Consolas" panose="020B0609020204030204" pitchFamily="49" charset="0"/>
              </a:rPr>
              <a:t>require</a:t>
            </a:r>
            <a:r>
              <a:rPr lang="fr-CA" dirty="0">
                <a:solidFill>
                  <a:srgbClr val="D6DEEB"/>
                </a:solidFill>
                <a:latin typeface="Consolas" panose="020B0609020204030204" pitchFamily="49" charset="0"/>
              </a:rPr>
              <a:t>(</a:t>
            </a:r>
            <a:r>
              <a:rPr lang="fr-CA" dirty="0">
                <a:solidFill>
                  <a:srgbClr val="D9F5DD"/>
                </a:solidFill>
                <a:latin typeface="Consolas" panose="020B0609020204030204" pitchFamily="49" charset="0"/>
              </a:rPr>
              <a:t>'</a:t>
            </a:r>
            <a:r>
              <a:rPr lang="fr-CA" dirty="0" err="1">
                <a:solidFill>
                  <a:srgbClr val="ECC48D"/>
                </a:solidFill>
                <a:latin typeface="Consolas" panose="020B0609020204030204" pitchFamily="49" charset="0"/>
              </a:rPr>
              <a:t>fs</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a:t>
            </a:r>
          </a:p>
          <a:p>
            <a:r>
              <a:rPr lang="fr-CA" dirty="0" err="1">
                <a:solidFill>
                  <a:srgbClr val="D6DEEB"/>
                </a:solidFill>
                <a:latin typeface="Consolas" panose="020B0609020204030204" pitchFamily="49" charset="0"/>
              </a:rPr>
              <a:t>fs</a:t>
            </a:r>
            <a:r>
              <a:rPr lang="fr-CA" i="1" dirty="0" err="1">
                <a:solidFill>
                  <a:srgbClr val="C792EA"/>
                </a:solidFill>
                <a:latin typeface="Consolas" panose="020B0609020204030204" pitchFamily="49" charset="0"/>
              </a:rPr>
              <a:t>.</a:t>
            </a:r>
            <a:r>
              <a:rPr lang="fr-CA" dirty="0" err="1">
                <a:solidFill>
                  <a:srgbClr val="82AAFF"/>
                </a:solidFill>
                <a:latin typeface="Consolas" panose="020B0609020204030204" pitchFamily="49" charset="0"/>
              </a:rPr>
              <a:t>readFile</a:t>
            </a:r>
            <a:r>
              <a:rPr lang="fr-CA" dirty="0">
                <a:solidFill>
                  <a:srgbClr val="D6DEEB"/>
                </a:solidFill>
                <a:latin typeface="Consolas" panose="020B0609020204030204" pitchFamily="49" charset="0"/>
              </a:rPr>
              <a:t>(</a:t>
            </a:r>
            <a:r>
              <a:rPr lang="fr-CA" dirty="0">
                <a:solidFill>
                  <a:srgbClr val="D9F5DD"/>
                </a:solidFill>
                <a:latin typeface="Consolas" panose="020B0609020204030204" pitchFamily="49" charset="0"/>
              </a:rPr>
              <a:t>'</a:t>
            </a:r>
            <a:r>
              <a:rPr lang="fr-CA" dirty="0">
                <a:solidFill>
                  <a:srgbClr val="ECC48D"/>
                </a:solidFill>
                <a:latin typeface="Consolas" panose="020B0609020204030204" pitchFamily="49" charset="0"/>
              </a:rPr>
              <a:t>/</a:t>
            </a:r>
            <a:r>
              <a:rPr lang="fr-CA" dirty="0" err="1">
                <a:solidFill>
                  <a:srgbClr val="ECC48D"/>
                </a:solidFill>
                <a:latin typeface="Consolas" panose="020B0609020204030204" pitchFamily="49" charset="0"/>
              </a:rPr>
              <a:t>file.json</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 </a:t>
            </a:r>
            <a:r>
              <a:rPr lang="fr-CA" dirty="0">
                <a:solidFill>
                  <a:srgbClr val="D9F5DD"/>
                </a:solidFill>
                <a:latin typeface="Consolas" panose="020B0609020204030204" pitchFamily="49" charset="0"/>
              </a:rPr>
              <a:t>(</a:t>
            </a:r>
            <a:r>
              <a:rPr lang="fr-CA" dirty="0" err="1">
                <a:solidFill>
                  <a:srgbClr val="D7DBE0"/>
                </a:solidFill>
                <a:latin typeface="Consolas" panose="020B0609020204030204" pitchFamily="49" charset="0"/>
              </a:rPr>
              <a:t>err</a:t>
            </a:r>
            <a:r>
              <a:rPr lang="fr-CA" dirty="0">
                <a:solidFill>
                  <a:srgbClr val="D6DEEB"/>
                </a:solidFill>
                <a:latin typeface="Consolas" panose="020B0609020204030204" pitchFamily="49" charset="0"/>
              </a:rPr>
              <a:t>, </a:t>
            </a:r>
            <a:r>
              <a:rPr lang="fr-CA" dirty="0">
                <a:solidFill>
                  <a:srgbClr val="D7DBE0"/>
                </a:solidFill>
                <a:latin typeface="Consolas" panose="020B0609020204030204" pitchFamily="49" charset="0"/>
              </a:rPr>
              <a:t>data</a:t>
            </a:r>
            <a:r>
              <a:rPr lang="fr-CA" dirty="0">
                <a:solidFill>
                  <a:srgbClr val="D9F5DD"/>
                </a:solidFill>
                <a:latin typeface="Consolas" panose="020B0609020204030204" pitchFamily="49" charset="0"/>
              </a:rPr>
              <a:t>)</a:t>
            </a:r>
            <a:r>
              <a:rPr lang="fr-CA" dirty="0">
                <a:solidFill>
                  <a:srgbClr val="D6DEEB"/>
                </a:solidFill>
                <a:latin typeface="Consolas" panose="020B0609020204030204" pitchFamily="49" charset="0"/>
              </a:rPr>
              <a:t> </a:t>
            </a:r>
            <a:r>
              <a:rPr lang="fr-CA" dirty="0">
                <a:solidFill>
                  <a:srgbClr val="82AAFF"/>
                </a:solidFill>
                <a:latin typeface="Consolas" panose="020B0609020204030204" pitchFamily="49" charset="0"/>
              </a:rPr>
              <a:t>=&gt;</a:t>
            </a:r>
            <a:r>
              <a:rPr lang="fr-CA" dirty="0">
                <a:solidFill>
                  <a:srgbClr val="D6DEEB"/>
                </a:solidFill>
                <a:latin typeface="Consolas" panose="020B0609020204030204" pitchFamily="49" charset="0"/>
              </a:rPr>
              <a:t> {</a:t>
            </a:r>
          </a:p>
          <a:p>
            <a:r>
              <a:rPr lang="fr-CA" dirty="0">
                <a:solidFill>
                  <a:srgbClr val="D6DEEB"/>
                </a:solidFill>
                <a:latin typeface="Consolas" panose="020B0609020204030204" pitchFamily="49" charset="0"/>
              </a:rPr>
              <a:t>  </a:t>
            </a:r>
            <a:r>
              <a:rPr lang="fr-CA" dirty="0">
                <a:solidFill>
                  <a:srgbClr val="C792EA"/>
                </a:solidFill>
                <a:latin typeface="Consolas" panose="020B0609020204030204" pitchFamily="49" charset="0"/>
              </a:rPr>
              <a:t>if</a:t>
            </a:r>
            <a:r>
              <a:rPr lang="fr-CA" dirty="0">
                <a:solidFill>
                  <a:srgbClr val="D6DEEB"/>
                </a:solidFill>
                <a:latin typeface="Consolas" panose="020B0609020204030204" pitchFamily="49" charset="0"/>
              </a:rPr>
              <a:t> (</a:t>
            </a:r>
            <a:r>
              <a:rPr lang="fr-CA" dirty="0" err="1">
                <a:solidFill>
                  <a:srgbClr val="D7DBE0"/>
                </a:solidFill>
                <a:latin typeface="Consolas" panose="020B0609020204030204" pitchFamily="49" charset="0"/>
              </a:rPr>
              <a:t>err</a:t>
            </a:r>
            <a:r>
              <a:rPr lang="fr-CA" dirty="0">
                <a:solidFill>
                  <a:srgbClr val="D6DEEB"/>
                </a:solidFill>
                <a:latin typeface="Consolas" panose="020B0609020204030204" pitchFamily="49" charset="0"/>
              </a:rPr>
              <a:t>) {</a:t>
            </a:r>
          </a:p>
          <a:p>
            <a:r>
              <a:rPr lang="fr-CA" dirty="0">
                <a:solidFill>
                  <a:srgbClr val="D6DEEB"/>
                </a:solidFill>
                <a:latin typeface="Consolas" panose="020B0609020204030204" pitchFamily="49" charset="0"/>
              </a:rPr>
              <a:t>    </a:t>
            </a:r>
            <a:r>
              <a:rPr lang="fr-CA" dirty="0">
                <a:solidFill>
                  <a:srgbClr val="637777"/>
                </a:solidFill>
                <a:latin typeface="Consolas" panose="020B0609020204030204" pitchFamily="49" charset="0"/>
              </a:rPr>
              <a:t>//</a:t>
            </a:r>
            <a:r>
              <a:rPr lang="fr-CA" i="1" dirty="0">
                <a:solidFill>
                  <a:srgbClr val="637777"/>
                </a:solidFill>
                <a:latin typeface="Consolas" panose="020B0609020204030204" pitchFamily="49" charset="0"/>
              </a:rPr>
              <a:t> </a:t>
            </a:r>
            <a:r>
              <a:rPr lang="fr-CA" i="1" dirty="0" err="1">
                <a:solidFill>
                  <a:srgbClr val="637777"/>
                </a:solidFill>
                <a:latin typeface="Consolas" panose="020B0609020204030204" pitchFamily="49" charset="0"/>
              </a:rPr>
              <a:t>handle</a:t>
            </a:r>
            <a:r>
              <a:rPr lang="fr-CA" i="1" dirty="0">
                <a:solidFill>
                  <a:srgbClr val="637777"/>
                </a:solidFill>
                <a:latin typeface="Consolas" panose="020B0609020204030204" pitchFamily="49" charset="0"/>
              </a:rPr>
              <a:t> </a:t>
            </a:r>
            <a:r>
              <a:rPr lang="fr-CA" i="1" dirty="0" err="1">
                <a:solidFill>
                  <a:srgbClr val="637777"/>
                </a:solidFill>
                <a:latin typeface="Consolas" panose="020B0609020204030204" pitchFamily="49" charset="0"/>
              </a:rPr>
              <a:t>error</a:t>
            </a:r>
            <a:endParaRPr lang="fr-CA" dirty="0">
              <a:solidFill>
                <a:srgbClr val="D6DEEB"/>
              </a:solidFill>
              <a:latin typeface="Consolas" panose="020B0609020204030204" pitchFamily="49" charset="0"/>
            </a:endParaRPr>
          </a:p>
          <a:p>
            <a:r>
              <a:rPr lang="fr-CA" dirty="0">
                <a:solidFill>
                  <a:srgbClr val="D6DEEB"/>
                </a:solidFill>
                <a:latin typeface="Consolas" panose="020B0609020204030204" pitchFamily="49" charset="0"/>
              </a:rPr>
              <a:t>    console</a:t>
            </a:r>
            <a:r>
              <a:rPr lang="fr-CA" i="1" dirty="0">
                <a:solidFill>
                  <a:srgbClr val="C792EA"/>
                </a:solidFill>
                <a:latin typeface="Consolas" panose="020B0609020204030204" pitchFamily="49" charset="0"/>
              </a:rPr>
              <a:t>.</a:t>
            </a:r>
            <a:r>
              <a:rPr lang="fr-CA" dirty="0">
                <a:solidFill>
                  <a:srgbClr val="82AAFF"/>
                </a:solidFill>
                <a:latin typeface="Consolas" panose="020B0609020204030204" pitchFamily="49" charset="0"/>
              </a:rPr>
              <a:t>log</a:t>
            </a:r>
            <a:r>
              <a:rPr lang="fr-CA" dirty="0">
                <a:solidFill>
                  <a:srgbClr val="D6DEEB"/>
                </a:solidFill>
                <a:latin typeface="Consolas" panose="020B0609020204030204" pitchFamily="49" charset="0"/>
              </a:rPr>
              <a:t>(</a:t>
            </a:r>
            <a:r>
              <a:rPr lang="fr-CA" dirty="0" err="1">
                <a:solidFill>
                  <a:srgbClr val="D7DBE0"/>
                </a:solidFill>
                <a:latin typeface="Consolas" panose="020B0609020204030204" pitchFamily="49" charset="0"/>
              </a:rPr>
              <a:t>err</a:t>
            </a:r>
            <a:r>
              <a:rPr lang="fr-CA" dirty="0">
                <a:solidFill>
                  <a:srgbClr val="D6DEEB"/>
                </a:solidFill>
                <a:latin typeface="Consolas" panose="020B0609020204030204" pitchFamily="49" charset="0"/>
              </a:rPr>
              <a:t>);</a:t>
            </a:r>
          </a:p>
          <a:p>
            <a:r>
              <a:rPr lang="fr-CA" dirty="0">
                <a:solidFill>
                  <a:srgbClr val="D6DEEB"/>
                </a:solidFill>
                <a:latin typeface="Consolas" panose="020B0609020204030204" pitchFamily="49" charset="0"/>
              </a:rPr>
              <a:t>    </a:t>
            </a:r>
            <a:r>
              <a:rPr lang="fr-CA" i="1" dirty="0">
                <a:solidFill>
                  <a:srgbClr val="C792EA"/>
                </a:solidFill>
                <a:latin typeface="Consolas" panose="020B0609020204030204" pitchFamily="49" charset="0"/>
              </a:rPr>
              <a:t>return</a:t>
            </a:r>
            <a:r>
              <a:rPr lang="fr-CA" dirty="0">
                <a:solidFill>
                  <a:srgbClr val="D6DEEB"/>
                </a:solidFill>
                <a:latin typeface="Consolas" panose="020B0609020204030204" pitchFamily="49" charset="0"/>
              </a:rPr>
              <a:t>;</a:t>
            </a:r>
          </a:p>
          <a:p>
            <a:r>
              <a:rPr lang="fr-CA" dirty="0">
                <a:solidFill>
                  <a:srgbClr val="D6DEEB"/>
                </a:solidFill>
                <a:latin typeface="Consolas" panose="020B0609020204030204" pitchFamily="49" charset="0"/>
              </a:rPr>
              <a:t>  }</a:t>
            </a:r>
          </a:p>
          <a:p>
            <a:r>
              <a:rPr lang="fr-CA" dirty="0">
                <a:solidFill>
                  <a:srgbClr val="D6DEEB"/>
                </a:solidFill>
                <a:latin typeface="Consolas" panose="020B0609020204030204" pitchFamily="49" charset="0"/>
              </a:rPr>
              <a:t>  </a:t>
            </a:r>
            <a:r>
              <a:rPr lang="fr-CA" dirty="0">
                <a:solidFill>
                  <a:srgbClr val="637777"/>
                </a:solidFill>
                <a:latin typeface="Consolas" panose="020B0609020204030204" pitchFamily="49" charset="0"/>
              </a:rPr>
              <a:t>//</a:t>
            </a:r>
            <a:r>
              <a:rPr lang="fr-CA" i="1" dirty="0">
                <a:solidFill>
                  <a:srgbClr val="637777"/>
                </a:solidFill>
                <a:latin typeface="Consolas" panose="020B0609020204030204" pitchFamily="49" charset="0"/>
              </a:rPr>
              <a:t> no </a:t>
            </a:r>
            <a:r>
              <a:rPr lang="fr-CA" i="1" dirty="0" err="1">
                <a:solidFill>
                  <a:srgbClr val="637777"/>
                </a:solidFill>
                <a:latin typeface="Consolas" panose="020B0609020204030204" pitchFamily="49" charset="0"/>
              </a:rPr>
              <a:t>errors</a:t>
            </a:r>
            <a:r>
              <a:rPr lang="fr-CA" i="1" dirty="0">
                <a:solidFill>
                  <a:srgbClr val="637777"/>
                </a:solidFill>
                <a:latin typeface="Consolas" panose="020B0609020204030204" pitchFamily="49" charset="0"/>
              </a:rPr>
              <a:t>, process data</a:t>
            </a:r>
            <a:endParaRPr lang="fr-CA" dirty="0">
              <a:solidFill>
                <a:srgbClr val="D6DEEB"/>
              </a:solidFill>
              <a:latin typeface="Consolas" panose="020B0609020204030204" pitchFamily="49" charset="0"/>
            </a:endParaRPr>
          </a:p>
          <a:p>
            <a:r>
              <a:rPr lang="fr-CA" dirty="0">
                <a:solidFill>
                  <a:srgbClr val="D6DEEB"/>
                </a:solidFill>
                <a:latin typeface="Consolas" panose="020B0609020204030204" pitchFamily="49" charset="0"/>
              </a:rPr>
              <a:t>  console</a:t>
            </a:r>
            <a:r>
              <a:rPr lang="fr-CA" i="1" dirty="0">
                <a:solidFill>
                  <a:srgbClr val="C792EA"/>
                </a:solidFill>
                <a:latin typeface="Consolas" panose="020B0609020204030204" pitchFamily="49" charset="0"/>
              </a:rPr>
              <a:t>.</a:t>
            </a:r>
            <a:r>
              <a:rPr lang="fr-CA" dirty="0">
                <a:solidFill>
                  <a:srgbClr val="82AAFF"/>
                </a:solidFill>
                <a:latin typeface="Consolas" panose="020B0609020204030204" pitchFamily="49" charset="0"/>
              </a:rPr>
              <a:t>log</a:t>
            </a:r>
            <a:r>
              <a:rPr lang="fr-CA" dirty="0">
                <a:solidFill>
                  <a:srgbClr val="D6DEEB"/>
                </a:solidFill>
                <a:latin typeface="Consolas" panose="020B0609020204030204" pitchFamily="49" charset="0"/>
              </a:rPr>
              <a:t>(</a:t>
            </a:r>
            <a:r>
              <a:rPr lang="fr-CA" dirty="0">
                <a:solidFill>
                  <a:srgbClr val="D7DBE0"/>
                </a:solidFill>
                <a:latin typeface="Consolas" panose="020B0609020204030204" pitchFamily="49" charset="0"/>
              </a:rPr>
              <a:t>data</a:t>
            </a:r>
            <a:r>
              <a:rPr lang="fr-CA" dirty="0">
                <a:solidFill>
                  <a:srgbClr val="D6DEEB"/>
                </a:solidFill>
                <a:latin typeface="Consolas" panose="020B0609020204030204" pitchFamily="49" charset="0"/>
              </a:rPr>
              <a:t>);</a:t>
            </a:r>
          </a:p>
          <a:p>
            <a:r>
              <a:rPr lang="fr-CA" dirty="0">
                <a:solidFill>
                  <a:srgbClr val="D6DEEB"/>
                </a:solidFill>
                <a:latin typeface="Consolas" panose="020B0609020204030204" pitchFamily="49" charset="0"/>
              </a:rPr>
              <a:t>});</a:t>
            </a:r>
          </a:p>
        </p:txBody>
      </p:sp>
      <p:sp>
        <p:nvSpPr>
          <p:cNvPr id="6" name="TextBox 5"/>
          <p:cNvSpPr txBox="1"/>
          <p:nvPr/>
        </p:nvSpPr>
        <p:spPr>
          <a:xfrm>
            <a:off x="2264228" y="2862784"/>
            <a:ext cx="3352800" cy="407035"/>
          </a:xfrm>
          <a:prstGeom prst="rect">
            <a:avLst/>
          </a:prstGeom>
          <a:noFill/>
        </p:spPr>
        <p:txBody>
          <a:bodyPr wrap="square" rtlCol="0">
            <a:spAutoFit/>
          </a:bodyPr>
          <a:lstStyle/>
          <a:p>
            <a:pPr>
              <a:lnSpc>
                <a:spcPct val="107000"/>
              </a:lnSpc>
              <a:spcBef>
                <a:spcPts val="200"/>
              </a:spcBef>
            </a:pPr>
            <a:r>
              <a:rPr lang="fr-CA" sz="2000" b="1">
                <a:solidFill>
                  <a:srgbClr val="1F4D78"/>
                </a:solidFill>
                <a:latin typeface="Calibri Light" panose="020F0302020204030204" pitchFamily="34" charset="0"/>
                <a:ea typeface="Times New Roman" panose="02020603050405020304" pitchFamily="18" charset="0"/>
                <a:cs typeface="Times New Roman" panose="02020603050405020304" pitchFamily="18" charset="0"/>
              </a:rPr>
              <a:t>Exemple</a:t>
            </a:r>
          </a:p>
        </p:txBody>
      </p:sp>
    </p:spTree>
    <p:extLst>
      <p:ext uri="{BB962C8B-B14F-4D97-AF65-F5344CB8AC3E}">
        <p14:creationId xmlns:p14="http://schemas.microsoft.com/office/powerpoint/2010/main" val="372490109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194560" y="775063"/>
            <a:ext cx="6487885" cy="461665"/>
          </a:xfrm>
          <a:prstGeom prst="rect">
            <a:avLst/>
          </a:prstGeom>
          <a:noFill/>
        </p:spPr>
        <p:txBody>
          <a:bodyPr wrap="square" rtlCol="0">
            <a:spAutoFit/>
          </a:bodyPr>
          <a:lstStyle/>
          <a:p>
            <a:r>
              <a:rPr lang="fr-CA" sz="2400" b="1">
                <a:solidFill>
                  <a:schemeClr val="accent1"/>
                </a:solidFill>
              </a:rPr>
              <a:t>Notions et concepts de base Node.js</a:t>
            </a:r>
            <a:endParaRPr lang="fr-CA" sz="2400" b="1">
              <a:ln w="0"/>
              <a:solidFill>
                <a:schemeClr val="accent1"/>
              </a:solidFill>
              <a:effectLst>
                <a:outerShdw blurRad="38100" dist="19050" dir="2700000" algn="tl" rotWithShape="0">
                  <a:schemeClr val="dk1">
                    <a:alpha val="40000"/>
                  </a:schemeClr>
                </a:outerShdw>
              </a:effectLst>
            </a:endParaRPr>
          </a:p>
        </p:txBody>
      </p:sp>
      <p:sp>
        <p:nvSpPr>
          <p:cNvPr id="3" name="TextBox 2"/>
          <p:cNvSpPr txBox="1"/>
          <p:nvPr/>
        </p:nvSpPr>
        <p:spPr>
          <a:xfrm>
            <a:off x="2264228" y="1256671"/>
            <a:ext cx="9030789" cy="369332"/>
          </a:xfrm>
          <a:prstGeom prst="rect">
            <a:avLst/>
          </a:prstGeom>
          <a:noFill/>
        </p:spPr>
        <p:txBody>
          <a:bodyPr wrap="square" rtlCol="0">
            <a:spAutoFit/>
          </a:bodyPr>
          <a:lstStyle/>
          <a:p>
            <a:pPr marL="342900" indent="-342900">
              <a:buFont typeface="Arial" panose="020B0604020202020204" pitchFamily="34" charset="0"/>
              <a:buChar char="•"/>
            </a:pPr>
            <a:r>
              <a:rPr lang="fr-CA">
                <a:ln w="0"/>
                <a:solidFill>
                  <a:schemeClr val="accent1"/>
                </a:solidFill>
                <a:effectLst>
                  <a:outerShdw blurRad="38100" dist="25400" dir="5400000" algn="ctr" rotWithShape="0">
                    <a:srgbClr val="6E747A">
                      <a:alpha val="43000"/>
                    </a:srgbClr>
                  </a:outerShdw>
                </a:effectLst>
              </a:rPr>
              <a:t>Gestion des erreurs dans les callbacks</a:t>
            </a:r>
          </a:p>
        </p:txBody>
      </p:sp>
      <p:sp>
        <p:nvSpPr>
          <p:cNvPr id="4" name="TextBox 3"/>
          <p:cNvSpPr txBox="1"/>
          <p:nvPr/>
        </p:nvSpPr>
        <p:spPr>
          <a:xfrm>
            <a:off x="2264228" y="1694502"/>
            <a:ext cx="9518469" cy="2031325"/>
          </a:xfrm>
          <a:prstGeom prst="rect">
            <a:avLst/>
          </a:prstGeom>
          <a:noFill/>
        </p:spPr>
        <p:txBody>
          <a:bodyPr wrap="square" lIns="91440" tIns="45720" rIns="91440" bIns="45720" rtlCol="0" anchor="t">
            <a:spAutoFit/>
          </a:bodyPr>
          <a:lstStyle/>
          <a:p>
            <a:r>
              <a:rPr lang="fr-CA" i="1" dirty="0">
                <a:ln w="0"/>
                <a:effectLst>
                  <a:outerShdw blurRad="38100" dist="19050" dir="2700000" algn="tl" rotWithShape="0">
                    <a:schemeClr val="dk1">
                      <a:alpha val="40000"/>
                    </a:schemeClr>
                  </a:outerShdw>
                </a:effectLst>
              </a:rPr>
              <a:t>Inconvénients des callbacks</a:t>
            </a:r>
            <a:r>
              <a:rPr lang="fr-CA" dirty="0">
                <a:ln w="0"/>
                <a:effectLst>
                  <a:outerShdw blurRad="38100" dist="19050" dir="2700000" algn="tl" rotWithShape="0">
                    <a:schemeClr val="dk1">
                      <a:alpha val="40000"/>
                    </a:schemeClr>
                  </a:outerShdw>
                </a:effectLst>
              </a:rPr>
              <a:t> </a:t>
            </a:r>
          </a:p>
          <a:p>
            <a:r>
              <a:rPr lang="fr-CA" dirty="0"/>
              <a:t>c’est utile seulement pour les cas simples. Le code pourrait devenir complexe et difficile à maintenir s’il y a beaucoup  des callbacks. </a:t>
            </a:r>
          </a:p>
          <a:p>
            <a:endParaRPr lang="fr-CA" dirty="0"/>
          </a:p>
          <a:p>
            <a:r>
              <a:rPr lang="fr-CA" i="1" dirty="0">
                <a:ln w="0"/>
                <a:effectLst>
                  <a:outerShdw blurRad="38100" dist="19050" dir="2700000" algn="tl" rotWithShape="0">
                    <a:schemeClr val="dk1">
                      <a:alpha val="40000"/>
                    </a:schemeClr>
                  </a:outerShdw>
                </a:effectLst>
              </a:rPr>
              <a:t>Alternative des callbacks </a:t>
            </a:r>
          </a:p>
          <a:p>
            <a:r>
              <a:rPr lang="fr-CA" dirty="0"/>
              <a:t>à partir ES6, JavaScript a introduit des fonctionnalités </a:t>
            </a:r>
            <a:r>
              <a:rPr lang="fr-CA" b="1" dirty="0"/>
              <a:t>Promises (ES6</a:t>
            </a:r>
            <a:r>
              <a:rPr lang="fr-CA" dirty="0"/>
              <a:t>) et </a:t>
            </a:r>
            <a:r>
              <a:rPr lang="fr-CA" b="1" dirty="0" err="1"/>
              <a:t>Async</a:t>
            </a:r>
            <a:r>
              <a:rPr lang="fr-CA" b="1" dirty="0"/>
              <a:t>/</a:t>
            </a:r>
            <a:r>
              <a:rPr lang="fr-CA" b="1" dirty="0" err="1"/>
              <a:t>Await</a:t>
            </a:r>
            <a:r>
              <a:rPr lang="fr-CA" b="1" dirty="0"/>
              <a:t> (ES2017)</a:t>
            </a:r>
            <a:r>
              <a:rPr lang="fr-CA" dirty="0"/>
              <a:t> pour contourner l’utilisation des callbacks dans des fonctions asynchrones.</a:t>
            </a:r>
          </a:p>
        </p:txBody>
      </p:sp>
      <p:sp>
        <p:nvSpPr>
          <p:cNvPr id="7" name="TextBox 6"/>
          <p:cNvSpPr txBox="1"/>
          <p:nvPr/>
        </p:nvSpPr>
        <p:spPr>
          <a:xfrm>
            <a:off x="2264228" y="3814270"/>
            <a:ext cx="6313713" cy="369332"/>
          </a:xfrm>
          <a:prstGeom prst="rect">
            <a:avLst/>
          </a:prstGeom>
          <a:noFill/>
        </p:spPr>
        <p:txBody>
          <a:bodyPr wrap="square" rtlCol="0">
            <a:spAutoFit/>
          </a:bodyPr>
          <a:lstStyle/>
          <a:p>
            <a:pPr marL="342900" indent="-342900">
              <a:buFont typeface="Arial" panose="020B0604020202020204" pitchFamily="34" charset="0"/>
              <a:buChar char="•"/>
            </a:pPr>
            <a:r>
              <a:rPr lang="fr-CA" dirty="0">
                <a:ln w="0"/>
                <a:solidFill>
                  <a:schemeClr val="accent1"/>
                </a:solidFill>
                <a:effectLst>
                  <a:outerShdw blurRad="38100" dist="25400" dir="5400000" algn="ctr" rotWithShape="0">
                    <a:srgbClr val="6E747A">
                      <a:alpha val="43000"/>
                    </a:srgbClr>
                  </a:outerShdw>
                </a:effectLst>
              </a:rPr>
              <a:t>Node.js global </a:t>
            </a:r>
            <a:r>
              <a:rPr lang="fr-CA" dirty="0" err="1">
                <a:ln w="0"/>
                <a:solidFill>
                  <a:schemeClr val="accent1"/>
                </a:solidFill>
                <a:effectLst>
                  <a:outerShdw blurRad="38100" dist="25400" dir="5400000" algn="ctr" rotWithShape="0">
                    <a:srgbClr val="6E747A">
                      <a:alpha val="43000"/>
                    </a:srgbClr>
                  </a:outerShdw>
                </a:effectLst>
              </a:rPr>
              <a:t>objects</a:t>
            </a:r>
            <a:endParaRPr lang="fr-CA" dirty="0">
              <a:ln w="0"/>
              <a:solidFill>
                <a:schemeClr val="accent1"/>
              </a:solidFill>
              <a:effectLst>
                <a:outerShdw blurRad="38100" dist="25400" dir="5400000" algn="ctr" rotWithShape="0">
                  <a:srgbClr val="6E747A">
                    <a:alpha val="43000"/>
                  </a:srgbClr>
                </a:outerShdw>
              </a:effectLst>
            </a:endParaRPr>
          </a:p>
        </p:txBody>
      </p:sp>
      <p:sp>
        <p:nvSpPr>
          <p:cNvPr id="8" name="TextBox 7"/>
          <p:cNvSpPr txBox="1"/>
          <p:nvPr/>
        </p:nvSpPr>
        <p:spPr>
          <a:xfrm>
            <a:off x="2194560" y="4183602"/>
            <a:ext cx="9161417" cy="2607060"/>
          </a:xfrm>
          <a:prstGeom prst="rect">
            <a:avLst/>
          </a:prstGeom>
          <a:noFill/>
        </p:spPr>
        <p:txBody>
          <a:bodyPr wrap="square" lIns="91440" tIns="45720" rIns="91440" bIns="45720" rtlCol="0" anchor="t">
            <a:spAutoFit/>
          </a:bodyPr>
          <a:lstStyle/>
          <a:p>
            <a:pPr>
              <a:lnSpc>
                <a:spcPct val="107000"/>
              </a:lnSpc>
              <a:spcAft>
                <a:spcPts val="800"/>
              </a:spcAft>
            </a:pPr>
            <a:r>
              <a:rPr lang="fr-CA" dirty="0">
                <a:latin typeface="Calibri"/>
                <a:ea typeface="Calibri" panose="020F0502020204030204" pitchFamily="34" charset="0"/>
                <a:cs typeface="Arial"/>
              </a:rPr>
              <a:t>Ce sont des classes et fonctions offert par Node qui ont un scope global et nous n’avons pas besoin de les importer pour pouvoir les utiliser. Ils sont disponibles partout</a:t>
            </a:r>
          </a:p>
          <a:p>
            <a:pPr>
              <a:lnSpc>
                <a:spcPct val="107000"/>
              </a:lnSpc>
              <a:spcAft>
                <a:spcPts val="800"/>
              </a:spcAft>
            </a:pPr>
            <a:r>
              <a:rPr lang="fr-CA" i="1" dirty="0">
                <a:ln w="0"/>
                <a:effectLst>
                  <a:outerShdw blurRad="38100" dist="19050" dir="2700000" algn="tl" rotWithShape="0">
                    <a:schemeClr val="dk1">
                      <a:alpha val="40000"/>
                    </a:schemeClr>
                  </a:outerShdw>
                </a:effectLst>
                <a:latin typeface="Calibri Light" panose="020F0302020204030204" pitchFamily="34" charset="0"/>
                <a:ea typeface="Times New Roman" panose="02020603050405020304" pitchFamily="18" charset="0"/>
                <a:cs typeface="Times New Roman" panose="02020603050405020304" pitchFamily="18" charset="0"/>
              </a:rPr>
              <a:t>Exemple 01</a:t>
            </a:r>
          </a:p>
          <a:p>
            <a:pPr>
              <a:lnSpc>
                <a:spcPts val="1425"/>
              </a:lnSpc>
            </a:pPr>
            <a:r>
              <a:rPr lang="fr-CA" sz="1600" dirty="0">
                <a:solidFill>
                  <a:schemeClr val="tx1">
                    <a:lumMod val="85000"/>
                    <a:lumOff val="15000"/>
                  </a:schemeClr>
                </a:solidFill>
                <a:latin typeface="Consolas" panose="020B0609020204030204" pitchFamily="49" charset="0"/>
                <a:ea typeface="Times New Roman" panose="02020603050405020304" pitchFamily="18" charset="0"/>
                <a:cs typeface="Times New Roman" panose="02020603050405020304" pitchFamily="18" charset="0"/>
              </a:rPr>
              <a:t>console</a:t>
            </a:r>
            <a:r>
              <a:rPr lang="fr-CA" sz="1600" i="1" dirty="0">
                <a:solidFill>
                  <a:schemeClr val="tx1">
                    <a:lumMod val="85000"/>
                    <a:lumOff val="15000"/>
                  </a:schemeClr>
                </a:solidFill>
                <a:latin typeface="Consolas" panose="020B0609020204030204" pitchFamily="49" charset="0"/>
                <a:ea typeface="Times New Roman" panose="02020603050405020304" pitchFamily="18" charset="0"/>
                <a:cs typeface="Times New Roman" panose="02020603050405020304" pitchFamily="18" charset="0"/>
              </a:rPr>
              <a:t>.</a:t>
            </a:r>
            <a:r>
              <a:rPr lang="fr-CA" sz="1600" dirty="0">
                <a:solidFill>
                  <a:schemeClr val="tx1">
                    <a:lumMod val="85000"/>
                    <a:lumOff val="15000"/>
                  </a:schemeClr>
                </a:solidFill>
                <a:latin typeface="Consolas" panose="020B0609020204030204" pitchFamily="49" charset="0"/>
                <a:ea typeface="Times New Roman" panose="02020603050405020304" pitchFamily="18" charset="0"/>
                <a:cs typeface="Times New Roman" panose="02020603050405020304" pitchFamily="18" charset="0"/>
              </a:rPr>
              <a:t>log("Hello World!!!")</a:t>
            </a:r>
            <a:endParaRPr lang="fr-CA" dirty="0">
              <a:solidFill>
                <a:schemeClr val="tx1">
                  <a:lumMod val="85000"/>
                  <a:lumOff val="15000"/>
                </a:schemeClr>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CA" dirty="0">
                <a:latin typeface="Calibri" panose="020F0502020204030204" pitchFamily="34" charset="0"/>
                <a:ea typeface="Calibri" panose="020F0502020204030204" pitchFamily="34" charset="0"/>
                <a:cs typeface="Arial" panose="020B0604020202020204" pitchFamily="34" charset="0"/>
              </a:rPr>
              <a:t>Console fait partie du </a:t>
            </a:r>
            <a:r>
              <a:rPr lang="fr-CA" dirty="0" err="1">
                <a:latin typeface="Calibri" panose="020F0502020204030204" pitchFamily="34" charset="0"/>
                <a:ea typeface="Calibri" panose="020F0502020204030204" pitchFamily="34" charset="0"/>
                <a:cs typeface="Arial" panose="020B0604020202020204" pitchFamily="34" charset="0"/>
              </a:rPr>
              <a:t>namespace</a:t>
            </a:r>
            <a:r>
              <a:rPr lang="fr-CA" dirty="0">
                <a:latin typeface="Calibri" panose="020F0502020204030204" pitchFamily="34" charset="0"/>
                <a:ea typeface="Calibri" panose="020F0502020204030204" pitchFamily="34" charset="0"/>
                <a:cs typeface="Arial" panose="020B0604020202020204" pitchFamily="34" charset="0"/>
              </a:rPr>
              <a:t> global donc c’est équivalent à</a:t>
            </a:r>
          </a:p>
          <a:p>
            <a:pPr>
              <a:lnSpc>
                <a:spcPts val="1425"/>
              </a:lnSpc>
            </a:pPr>
            <a:r>
              <a:rPr lang="en-US" sz="1600" dirty="0">
                <a:solidFill>
                  <a:schemeClr val="tx1">
                    <a:lumMod val="85000"/>
                    <a:lumOff val="15000"/>
                  </a:schemeClr>
                </a:solidFill>
                <a:latin typeface="Consolas" panose="020B0609020204030204" pitchFamily="49" charset="0"/>
                <a:ea typeface="Times New Roman" panose="02020603050405020304" pitchFamily="18" charset="0"/>
                <a:cs typeface="Times New Roman" panose="02020603050405020304" pitchFamily="18" charset="0"/>
              </a:rPr>
              <a:t>global.console.log("Hello World!!!")</a:t>
            </a:r>
          </a:p>
          <a:p>
            <a:pPr>
              <a:lnSpc>
                <a:spcPct val="107000"/>
              </a:lnSpc>
              <a:spcAft>
                <a:spcPts val="800"/>
              </a:spcAft>
            </a:pPr>
            <a:r>
              <a:rPr lang="fr-CA" dirty="0">
                <a:ln w="0"/>
                <a:effectLst>
                  <a:outerShdw blurRad="38100" dist="19050" dir="2700000" algn="tl" rotWithShape="0">
                    <a:schemeClr val="dk1">
                      <a:alpha val="40000"/>
                    </a:schemeClr>
                  </a:outerShdw>
                </a:effectLst>
                <a:latin typeface="Calibri Light" panose="020F0302020204030204" pitchFamily="34" charset="0"/>
                <a:ea typeface="Times New Roman" panose="02020603050405020304" pitchFamily="18" charset="0"/>
                <a:cs typeface="Times New Roman" panose="02020603050405020304" pitchFamily="18" charset="0"/>
              </a:rPr>
              <a:t>Exemple 02 </a:t>
            </a:r>
          </a:p>
          <a:p>
            <a:pPr>
              <a:lnSpc>
                <a:spcPct val="107000"/>
              </a:lnSpc>
              <a:spcAft>
                <a:spcPts val="800"/>
              </a:spcAft>
            </a:pPr>
            <a:r>
              <a:rPr lang="fr-CA" sz="1600" dirty="0">
                <a:solidFill>
                  <a:schemeClr val="tx1">
                    <a:lumMod val="85000"/>
                    <a:lumOff val="15000"/>
                  </a:schemeClr>
                </a:solidFill>
                <a:latin typeface="Consolas" panose="020B0609020204030204" pitchFamily="49" charset="0"/>
                <a:ea typeface="Times New Roman" panose="02020603050405020304" pitchFamily="18" charset="0"/>
                <a:cs typeface="Times New Roman" panose="02020603050405020304" pitchFamily="18" charset="0"/>
              </a:rPr>
              <a:t>console.log(__</a:t>
            </a:r>
            <a:r>
              <a:rPr lang="fr-CA" sz="1600" dirty="0" err="1">
                <a:solidFill>
                  <a:schemeClr val="tx1">
                    <a:lumMod val="85000"/>
                    <a:lumOff val="15000"/>
                  </a:schemeClr>
                </a:solidFill>
                <a:latin typeface="Consolas" panose="020B0609020204030204" pitchFamily="49" charset="0"/>
                <a:ea typeface="Times New Roman" panose="02020603050405020304" pitchFamily="18" charset="0"/>
                <a:cs typeface="Times New Roman" panose="02020603050405020304" pitchFamily="18" charset="0"/>
              </a:rPr>
              <a:t>dirname</a:t>
            </a:r>
            <a:r>
              <a:rPr lang="fr-CA" sz="1600" dirty="0">
                <a:solidFill>
                  <a:schemeClr val="tx1">
                    <a:lumMod val="85000"/>
                    <a:lumOff val="15000"/>
                  </a:schemeClr>
                </a:solidFill>
                <a:latin typeface="Consolas" panose="020B0609020204030204" pitchFamily="49" charset="0"/>
                <a:ea typeface="Times New Roman" panose="02020603050405020304" pitchFamily="18" charset="0"/>
                <a:cs typeface="Times New Roman" panose="02020603050405020304" pitchFamily="18" charset="0"/>
              </a:rPr>
              <a:t>); console.log(__</a:t>
            </a:r>
            <a:r>
              <a:rPr lang="fr-CA" sz="1600" dirty="0" err="1">
                <a:solidFill>
                  <a:schemeClr val="tx1">
                    <a:lumMod val="85000"/>
                    <a:lumOff val="15000"/>
                  </a:schemeClr>
                </a:solidFill>
                <a:latin typeface="Consolas" panose="020B0609020204030204" pitchFamily="49" charset="0"/>
                <a:ea typeface="Times New Roman" panose="02020603050405020304" pitchFamily="18" charset="0"/>
                <a:cs typeface="Times New Roman" panose="02020603050405020304" pitchFamily="18" charset="0"/>
              </a:rPr>
              <a:t>filename</a:t>
            </a:r>
            <a:r>
              <a:rPr lang="fr-CA" sz="1600" dirty="0">
                <a:solidFill>
                  <a:schemeClr val="tx1">
                    <a:lumMod val="85000"/>
                    <a:lumOff val="15000"/>
                  </a:schemeClr>
                </a:solidFill>
                <a:latin typeface="Consolas" panose="020B0609020204030204" pitchFamily="49" charset="0"/>
                <a:ea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5257764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194560" y="775063"/>
            <a:ext cx="6487885" cy="461665"/>
          </a:xfrm>
          <a:prstGeom prst="rect">
            <a:avLst/>
          </a:prstGeom>
          <a:noFill/>
        </p:spPr>
        <p:txBody>
          <a:bodyPr wrap="square" rtlCol="0">
            <a:spAutoFit/>
          </a:bodyPr>
          <a:lstStyle/>
          <a:p>
            <a:r>
              <a:rPr lang="fr-CA" sz="2400" b="1">
                <a:solidFill>
                  <a:schemeClr val="accent1"/>
                </a:solidFill>
              </a:rPr>
              <a:t>Notions et concepts de base Node.js</a:t>
            </a:r>
            <a:endParaRPr lang="fr-CA" sz="2400" b="1">
              <a:ln w="0"/>
              <a:solidFill>
                <a:schemeClr val="accent1"/>
              </a:solidFill>
              <a:effectLst>
                <a:outerShdw blurRad="38100" dist="19050" dir="2700000" algn="tl" rotWithShape="0">
                  <a:schemeClr val="dk1">
                    <a:alpha val="40000"/>
                  </a:schemeClr>
                </a:outerShdw>
              </a:effectLst>
            </a:endParaRPr>
          </a:p>
        </p:txBody>
      </p:sp>
      <p:sp>
        <p:nvSpPr>
          <p:cNvPr id="3" name="TextBox 2"/>
          <p:cNvSpPr txBox="1"/>
          <p:nvPr/>
        </p:nvSpPr>
        <p:spPr>
          <a:xfrm>
            <a:off x="2264228" y="1429771"/>
            <a:ext cx="9030789" cy="369332"/>
          </a:xfrm>
          <a:prstGeom prst="rect">
            <a:avLst/>
          </a:prstGeom>
          <a:solidFill>
            <a:schemeClr val="bg1"/>
          </a:solidFill>
        </p:spPr>
        <p:txBody>
          <a:bodyPr wrap="square" lIns="91440" tIns="45720" rIns="91440" bIns="45720" rtlCol="0" anchor="t">
            <a:spAutoFit/>
          </a:bodyPr>
          <a:lstStyle/>
          <a:p>
            <a:pPr marL="342900" indent="-342900">
              <a:buFont typeface="Arial" panose="020B0604020202020204" pitchFamily="34" charset="0"/>
              <a:buChar char="•"/>
            </a:pPr>
            <a:r>
              <a:rPr lang="fr-CA">
                <a:ln w="0"/>
                <a:solidFill>
                  <a:schemeClr val="accent1"/>
                </a:solidFill>
                <a:effectLst>
                  <a:outerShdw blurRad="38100" dist="25400" dir="5400000" algn="ctr" rotWithShape="0">
                    <a:srgbClr val="6E747A">
                      <a:alpha val="43000"/>
                    </a:srgbClr>
                  </a:outerShdw>
                </a:effectLst>
              </a:rPr>
              <a:t>Events dans Node.js</a:t>
            </a:r>
          </a:p>
        </p:txBody>
      </p:sp>
      <p:sp>
        <p:nvSpPr>
          <p:cNvPr id="4" name="TextBox 3"/>
          <p:cNvSpPr txBox="1"/>
          <p:nvPr/>
        </p:nvSpPr>
        <p:spPr>
          <a:xfrm>
            <a:off x="2264228" y="1931186"/>
            <a:ext cx="9518469" cy="646331"/>
          </a:xfrm>
          <a:prstGeom prst="rect">
            <a:avLst/>
          </a:prstGeom>
          <a:noFill/>
        </p:spPr>
        <p:txBody>
          <a:bodyPr wrap="square" lIns="91440" tIns="45720" rIns="91440" bIns="45720" rtlCol="0" anchor="t">
            <a:spAutoFit/>
          </a:bodyPr>
          <a:lstStyle/>
          <a:p>
            <a:r>
              <a:rPr lang="fr-CA" dirty="0"/>
              <a:t>Node.js offre la bibliothèque </a:t>
            </a:r>
            <a:r>
              <a:rPr lang="fr-CA" u="sng" dirty="0" err="1"/>
              <a:t>events</a:t>
            </a:r>
            <a:r>
              <a:rPr lang="fr-CA" u="sng" dirty="0"/>
              <a:t> module</a:t>
            </a:r>
            <a:r>
              <a:rPr lang="fr-CA" dirty="0"/>
              <a:t> qui contient la classe </a:t>
            </a:r>
            <a:r>
              <a:rPr lang="fr-CA" u="sng" dirty="0" err="1"/>
              <a:t>EventEmitter</a:t>
            </a:r>
            <a:r>
              <a:rPr lang="fr-CA" dirty="0"/>
              <a:t> qui gère les évènements dans </a:t>
            </a:r>
            <a:r>
              <a:rPr lang="fr-CA" dirty="0" err="1"/>
              <a:t>node</a:t>
            </a:r>
            <a:r>
              <a:rPr lang="fr-CA" dirty="0"/>
              <a:t>.</a:t>
            </a:r>
          </a:p>
        </p:txBody>
      </p:sp>
      <p:sp>
        <p:nvSpPr>
          <p:cNvPr id="5" name="TextBox 4"/>
          <p:cNvSpPr txBox="1"/>
          <p:nvPr/>
        </p:nvSpPr>
        <p:spPr>
          <a:xfrm>
            <a:off x="2256364" y="2709600"/>
            <a:ext cx="9534195" cy="421654"/>
          </a:xfrm>
          <a:prstGeom prst="rect">
            <a:avLst/>
          </a:prstGeom>
          <a:noFill/>
        </p:spPr>
        <p:txBody>
          <a:bodyPr wrap="square" rtlCol="0">
            <a:spAutoFit/>
          </a:bodyPr>
          <a:lstStyle/>
          <a:p>
            <a:pPr>
              <a:lnSpc>
                <a:spcPct val="107000"/>
              </a:lnSpc>
              <a:spcBef>
                <a:spcPts val="200"/>
              </a:spcBef>
            </a:pPr>
            <a:r>
              <a:rPr lang="fr-CA" sz="2000" b="1">
                <a:solidFill>
                  <a:srgbClr val="1F4D78"/>
                </a:solidFill>
                <a:latin typeface="Calibri Light" panose="020F0302020204030204" pitchFamily="34" charset="0"/>
                <a:ea typeface="Times New Roman" panose="02020603050405020304" pitchFamily="18" charset="0"/>
                <a:cs typeface="Times New Roman" panose="02020603050405020304" pitchFamily="18" charset="0"/>
              </a:rPr>
              <a:t>Exemple(tp04.js)</a:t>
            </a:r>
          </a:p>
        </p:txBody>
      </p:sp>
      <p:sp>
        <p:nvSpPr>
          <p:cNvPr id="6" name="TextBox 5"/>
          <p:cNvSpPr txBox="1"/>
          <p:nvPr/>
        </p:nvSpPr>
        <p:spPr>
          <a:xfrm>
            <a:off x="2264228" y="3213717"/>
            <a:ext cx="9773892" cy="2585323"/>
          </a:xfrm>
          <a:prstGeom prst="rect">
            <a:avLst/>
          </a:prstGeom>
          <a:noFill/>
        </p:spPr>
        <p:txBody>
          <a:bodyPr wrap="square" lIns="91440" tIns="45720" rIns="91440" bIns="45720" rtlCol="0" anchor="t">
            <a:spAutoFit/>
          </a:bodyPr>
          <a:lstStyle/>
          <a:p>
            <a:r>
              <a:rPr lang="en-US" dirty="0">
                <a:solidFill>
                  <a:srgbClr val="82AAFF"/>
                </a:solidFill>
                <a:highlight>
                  <a:srgbClr val="000000"/>
                </a:highlight>
                <a:latin typeface="Consolas"/>
              </a:rPr>
              <a:t>const</a:t>
            </a:r>
            <a:r>
              <a:rPr lang="en-US" i="1" dirty="0">
                <a:solidFill>
                  <a:srgbClr val="C792EA"/>
                </a:solidFill>
                <a:highlight>
                  <a:srgbClr val="000000"/>
                </a:highlight>
                <a:latin typeface="Consolas"/>
              </a:rPr>
              <a:t> </a:t>
            </a:r>
            <a:r>
              <a:rPr lang="en-US" i="1" dirty="0" err="1">
                <a:solidFill>
                  <a:srgbClr val="82AAFF"/>
                </a:solidFill>
                <a:highlight>
                  <a:srgbClr val="000000"/>
                </a:highlight>
                <a:latin typeface="Consolas"/>
              </a:rPr>
              <a:t>EventEmitter</a:t>
            </a:r>
            <a:r>
              <a:rPr lang="en-US" i="1" dirty="0">
                <a:solidFill>
                  <a:srgbClr val="C792EA"/>
                </a:solidFill>
                <a:highlight>
                  <a:srgbClr val="000000"/>
                </a:highlight>
                <a:latin typeface="Consolas"/>
              </a:rPr>
              <a:t> </a:t>
            </a:r>
            <a:r>
              <a:rPr lang="en-US" dirty="0">
                <a:solidFill>
                  <a:srgbClr val="C792EA"/>
                </a:solidFill>
                <a:highlight>
                  <a:srgbClr val="000000"/>
                </a:highlight>
                <a:latin typeface="Consolas"/>
              </a:rPr>
              <a:t>=</a:t>
            </a:r>
            <a:r>
              <a:rPr lang="en-US" i="1" dirty="0">
                <a:solidFill>
                  <a:srgbClr val="C792EA"/>
                </a:solidFill>
                <a:highlight>
                  <a:srgbClr val="000000"/>
                </a:highlight>
                <a:latin typeface="Consolas"/>
              </a:rPr>
              <a:t> </a:t>
            </a:r>
            <a:r>
              <a:rPr lang="en-US" dirty="0">
                <a:solidFill>
                  <a:srgbClr val="82AAFF"/>
                </a:solidFill>
                <a:highlight>
                  <a:srgbClr val="000000"/>
                </a:highlight>
                <a:latin typeface="Consolas"/>
              </a:rPr>
              <a:t>require</a:t>
            </a:r>
            <a:r>
              <a:rPr lang="en-US" dirty="0">
                <a:solidFill>
                  <a:srgbClr val="D6DEEB"/>
                </a:solidFill>
                <a:highlight>
                  <a:srgbClr val="000000"/>
                </a:highlight>
                <a:latin typeface="Consolas"/>
              </a:rPr>
              <a:t>(</a:t>
            </a:r>
            <a:r>
              <a:rPr lang="en-US" dirty="0">
                <a:solidFill>
                  <a:srgbClr val="D9F5DD"/>
                </a:solidFill>
                <a:highlight>
                  <a:srgbClr val="000000"/>
                </a:highlight>
                <a:latin typeface="Consolas"/>
              </a:rPr>
              <a:t>'</a:t>
            </a:r>
            <a:r>
              <a:rPr lang="en-US" dirty="0">
                <a:solidFill>
                  <a:srgbClr val="ECC48D"/>
                </a:solidFill>
                <a:highlight>
                  <a:srgbClr val="000000"/>
                </a:highlight>
                <a:latin typeface="Consolas"/>
              </a:rPr>
              <a:t>events</a:t>
            </a:r>
            <a:r>
              <a:rPr lang="en-US" dirty="0">
                <a:solidFill>
                  <a:srgbClr val="D9F5DD"/>
                </a:solidFill>
                <a:highlight>
                  <a:srgbClr val="000000"/>
                </a:highlight>
                <a:latin typeface="Consolas"/>
              </a:rPr>
              <a:t>'</a:t>
            </a:r>
            <a:r>
              <a:rPr lang="en-US" dirty="0">
                <a:solidFill>
                  <a:srgbClr val="D6DEEB"/>
                </a:solidFill>
                <a:highlight>
                  <a:srgbClr val="000000"/>
                </a:highlight>
                <a:latin typeface="Consolas"/>
              </a:rPr>
              <a:t>)</a:t>
            </a:r>
            <a:r>
              <a:rPr lang="en-US" i="1" dirty="0">
                <a:solidFill>
                  <a:srgbClr val="C792EA"/>
                </a:solidFill>
                <a:highlight>
                  <a:srgbClr val="000000"/>
                </a:highlight>
                <a:latin typeface="Consolas"/>
              </a:rPr>
              <a:t> </a:t>
            </a:r>
            <a:r>
              <a:rPr lang="en-US" dirty="0">
                <a:solidFill>
                  <a:srgbClr val="637777"/>
                </a:solidFill>
                <a:highlight>
                  <a:srgbClr val="000000"/>
                </a:highlight>
                <a:latin typeface="Consolas"/>
              </a:rPr>
              <a:t>//</a:t>
            </a:r>
            <a:r>
              <a:rPr lang="en-US" i="1" dirty="0">
                <a:solidFill>
                  <a:srgbClr val="637777"/>
                </a:solidFill>
                <a:highlight>
                  <a:srgbClr val="000000"/>
                </a:highlight>
                <a:latin typeface="Consolas"/>
              </a:rPr>
              <a:t> importer le module events </a:t>
            </a:r>
            <a:endParaRPr lang="en-US" dirty="0">
              <a:solidFill>
                <a:srgbClr val="D6DEEB"/>
              </a:solidFill>
              <a:highlight>
                <a:srgbClr val="000000"/>
              </a:highlight>
              <a:latin typeface="Consolas" panose="020B0609020204030204" pitchFamily="49" charset="0"/>
            </a:endParaRPr>
          </a:p>
          <a:p>
            <a:r>
              <a:rPr lang="en-US" dirty="0">
                <a:solidFill>
                  <a:srgbClr val="82AAFF"/>
                </a:solidFill>
                <a:highlight>
                  <a:srgbClr val="000000"/>
                </a:highlight>
                <a:latin typeface="Consolas"/>
              </a:rPr>
              <a:t>const</a:t>
            </a:r>
            <a:r>
              <a:rPr lang="en-US" i="1" dirty="0">
                <a:solidFill>
                  <a:srgbClr val="C792EA"/>
                </a:solidFill>
                <a:highlight>
                  <a:srgbClr val="000000"/>
                </a:highlight>
                <a:latin typeface="Consolas"/>
              </a:rPr>
              <a:t> </a:t>
            </a:r>
            <a:r>
              <a:rPr lang="en-US" i="1" dirty="0" err="1">
                <a:solidFill>
                  <a:srgbClr val="82AAFF"/>
                </a:solidFill>
                <a:highlight>
                  <a:srgbClr val="000000"/>
                </a:highlight>
                <a:latin typeface="Consolas"/>
              </a:rPr>
              <a:t>eventEmitter</a:t>
            </a:r>
            <a:r>
              <a:rPr lang="en-US" i="1" dirty="0">
                <a:solidFill>
                  <a:srgbClr val="C792EA"/>
                </a:solidFill>
                <a:highlight>
                  <a:srgbClr val="000000"/>
                </a:highlight>
                <a:latin typeface="Consolas"/>
              </a:rPr>
              <a:t> </a:t>
            </a:r>
            <a:r>
              <a:rPr lang="en-US" dirty="0">
                <a:solidFill>
                  <a:srgbClr val="C792EA"/>
                </a:solidFill>
                <a:highlight>
                  <a:srgbClr val="000000"/>
                </a:highlight>
                <a:latin typeface="Consolas"/>
              </a:rPr>
              <a:t>=</a:t>
            </a:r>
            <a:r>
              <a:rPr lang="en-US" i="1" dirty="0">
                <a:solidFill>
                  <a:srgbClr val="C792EA"/>
                </a:solidFill>
                <a:highlight>
                  <a:srgbClr val="000000"/>
                </a:highlight>
                <a:latin typeface="Consolas"/>
              </a:rPr>
              <a:t> </a:t>
            </a:r>
            <a:r>
              <a:rPr lang="en-US" dirty="0">
                <a:solidFill>
                  <a:srgbClr val="7FDBCA"/>
                </a:solidFill>
                <a:highlight>
                  <a:srgbClr val="000000"/>
                </a:highlight>
                <a:latin typeface="Consolas"/>
              </a:rPr>
              <a:t>new</a:t>
            </a:r>
            <a:r>
              <a:rPr lang="en-US" i="1" dirty="0">
                <a:solidFill>
                  <a:srgbClr val="C792EA"/>
                </a:solidFill>
                <a:highlight>
                  <a:srgbClr val="000000"/>
                </a:highlight>
                <a:latin typeface="Consolas"/>
              </a:rPr>
              <a:t> </a:t>
            </a:r>
            <a:r>
              <a:rPr lang="en-US" dirty="0" err="1">
                <a:solidFill>
                  <a:srgbClr val="82AAFF"/>
                </a:solidFill>
                <a:highlight>
                  <a:srgbClr val="000000"/>
                </a:highlight>
                <a:latin typeface="Consolas"/>
              </a:rPr>
              <a:t>EventEmitter</a:t>
            </a:r>
            <a:r>
              <a:rPr lang="en-US" dirty="0">
                <a:solidFill>
                  <a:srgbClr val="D6DEEB"/>
                </a:solidFill>
                <a:highlight>
                  <a:srgbClr val="000000"/>
                </a:highlight>
                <a:latin typeface="Consolas"/>
              </a:rPr>
              <a:t>()</a:t>
            </a:r>
            <a:r>
              <a:rPr lang="en-US" i="1" dirty="0">
                <a:solidFill>
                  <a:srgbClr val="C792EA"/>
                </a:solidFill>
                <a:highlight>
                  <a:srgbClr val="000000"/>
                </a:highlight>
                <a:latin typeface="Consolas"/>
              </a:rPr>
              <a:t> </a:t>
            </a:r>
            <a:r>
              <a:rPr lang="en-US" dirty="0">
                <a:solidFill>
                  <a:srgbClr val="637777"/>
                </a:solidFill>
                <a:highlight>
                  <a:srgbClr val="000000"/>
                </a:highlight>
                <a:latin typeface="Consolas"/>
              </a:rPr>
              <a:t>//</a:t>
            </a:r>
            <a:r>
              <a:rPr lang="en-US" i="1" dirty="0">
                <a:solidFill>
                  <a:srgbClr val="637777"/>
                </a:solidFill>
                <a:highlight>
                  <a:srgbClr val="000000"/>
                </a:highlight>
                <a:latin typeface="Consolas"/>
              </a:rPr>
              <a:t> </a:t>
            </a:r>
            <a:r>
              <a:rPr lang="en-US" i="1" dirty="0" err="1">
                <a:solidFill>
                  <a:srgbClr val="637777"/>
                </a:solidFill>
                <a:highlight>
                  <a:srgbClr val="000000"/>
                </a:highlight>
                <a:latin typeface="Consolas"/>
              </a:rPr>
              <a:t>instancier</a:t>
            </a:r>
            <a:r>
              <a:rPr lang="en-US" i="1" dirty="0">
                <a:solidFill>
                  <a:srgbClr val="637777"/>
                </a:solidFill>
                <a:highlight>
                  <a:srgbClr val="000000"/>
                </a:highlight>
                <a:latin typeface="Consolas"/>
              </a:rPr>
              <a:t> un </a:t>
            </a:r>
            <a:r>
              <a:rPr lang="en-US" i="1" dirty="0" err="1">
                <a:solidFill>
                  <a:srgbClr val="637777"/>
                </a:solidFill>
                <a:highlight>
                  <a:srgbClr val="000000"/>
                </a:highlight>
                <a:latin typeface="Consolas"/>
              </a:rPr>
              <a:t>objet</a:t>
            </a:r>
            <a:r>
              <a:rPr lang="en-US" i="1" dirty="0">
                <a:solidFill>
                  <a:srgbClr val="637777"/>
                </a:solidFill>
                <a:highlight>
                  <a:srgbClr val="000000"/>
                </a:highlight>
                <a:latin typeface="Consolas"/>
              </a:rPr>
              <a:t> de type </a:t>
            </a:r>
            <a:r>
              <a:rPr lang="en-US" i="1" dirty="0" err="1">
                <a:solidFill>
                  <a:srgbClr val="637777"/>
                </a:solidFill>
                <a:highlight>
                  <a:srgbClr val="000000"/>
                </a:highlight>
                <a:latin typeface="Consolas"/>
              </a:rPr>
              <a:t>EventEmitter</a:t>
            </a:r>
            <a:endParaRPr lang="en-US" dirty="0">
              <a:solidFill>
                <a:srgbClr val="D6DEEB"/>
              </a:solidFill>
              <a:highlight>
                <a:srgbClr val="000000"/>
              </a:highlight>
              <a:latin typeface="Consolas"/>
            </a:endParaRPr>
          </a:p>
          <a:p>
            <a:r>
              <a:rPr lang="en-US" dirty="0" err="1">
                <a:solidFill>
                  <a:srgbClr val="D6DEEB"/>
                </a:solidFill>
                <a:highlight>
                  <a:srgbClr val="000000"/>
                </a:highlight>
                <a:latin typeface="Consolas"/>
              </a:rPr>
              <a:t>eventEmitter</a:t>
            </a:r>
            <a:r>
              <a:rPr lang="en-US" i="1" dirty="0" err="1">
                <a:solidFill>
                  <a:srgbClr val="C792EA"/>
                </a:solidFill>
                <a:highlight>
                  <a:srgbClr val="000000"/>
                </a:highlight>
                <a:latin typeface="Consolas"/>
              </a:rPr>
              <a:t>.</a:t>
            </a:r>
            <a:r>
              <a:rPr lang="en-US" dirty="0" err="1">
                <a:solidFill>
                  <a:srgbClr val="82AAFF"/>
                </a:solidFill>
                <a:highlight>
                  <a:srgbClr val="000000"/>
                </a:highlight>
                <a:latin typeface="Consolas"/>
              </a:rPr>
              <a:t>on</a:t>
            </a:r>
            <a:r>
              <a:rPr lang="en-US" dirty="0">
                <a:solidFill>
                  <a:srgbClr val="D6DEEB"/>
                </a:solidFill>
                <a:highlight>
                  <a:srgbClr val="000000"/>
                </a:highlight>
                <a:latin typeface="Consolas"/>
              </a:rPr>
              <a:t>(</a:t>
            </a:r>
            <a:r>
              <a:rPr lang="en-US" dirty="0">
                <a:solidFill>
                  <a:srgbClr val="D9F5DD"/>
                </a:solidFill>
                <a:highlight>
                  <a:srgbClr val="000000"/>
                </a:highlight>
                <a:latin typeface="Consolas"/>
              </a:rPr>
              <a:t>'</a:t>
            </a:r>
            <a:r>
              <a:rPr lang="en-US" dirty="0">
                <a:solidFill>
                  <a:srgbClr val="ECC48D"/>
                </a:solidFill>
                <a:highlight>
                  <a:srgbClr val="000000"/>
                </a:highlight>
                <a:latin typeface="Consolas"/>
              </a:rPr>
              <a:t>start</a:t>
            </a:r>
            <a:r>
              <a:rPr lang="en-US" dirty="0">
                <a:solidFill>
                  <a:srgbClr val="D9F5DD"/>
                </a:solidFill>
                <a:highlight>
                  <a:srgbClr val="000000"/>
                </a:highlight>
                <a:latin typeface="Consolas"/>
              </a:rPr>
              <a:t>'</a:t>
            </a:r>
            <a:r>
              <a:rPr lang="en-US" dirty="0">
                <a:solidFill>
                  <a:srgbClr val="D6DEEB"/>
                </a:solidFill>
                <a:highlight>
                  <a:srgbClr val="000000"/>
                </a:highlight>
                <a:latin typeface="Consolas"/>
              </a:rPr>
              <a:t>, </a:t>
            </a:r>
            <a:r>
              <a:rPr lang="en-US" dirty="0">
                <a:solidFill>
                  <a:srgbClr val="D9F5DD"/>
                </a:solidFill>
                <a:highlight>
                  <a:srgbClr val="000000"/>
                </a:highlight>
                <a:latin typeface="Consolas"/>
              </a:rPr>
              <a:t>()</a:t>
            </a:r>
            <a:r>
              <a:rPr lang="en-US" dirty="0">
                <a:solidFill>
                  <a:srgbClr val="D6DEEB"/>
                </a:solidFill>
                <a:highlight>
                  <a:srgbClr val="000000"/>
                </a:highlight>
                <a:latin typeface="Consolas"/>
              </a:rPr>
              <a:t> </a:t>
            </a:r>
            <a:r>
              <a:rPr lang="en-US" dirty="0">
                <a:solidFill>
                  <a:srgbClr val="82AAFF"/>
                </a:solidFill>
                <a:highlight>
                  <a:srgbClr val="000000"/>
                </a:highlight>
                <a:latin typeface="Consolas"/>
              </a:rPr>
              <a:t>=&gt;</a:t>
            </a:r>
            <a:r>
              <a:rPr lang="en-US" dirty="0">
                <a:solidFill>
                  <a:srgbClr val="D6DEEB"/>
                </a:solidFill>
                <a:highlight>
                  <a:srgbClr val="000000"/>
                </a:highlight>
                <a:latin typeface="Consolas"/>
              </a:rPr>
              <a:t> {</a:t>
            </a:r>
          </a:p>
          <a:p>
            <a:r>
              <a:rPr lang="en-US" dirty="0">
                <a:solidFill>
                  <a:srgbClr val="D6DEEB"/>
                </a:solidFill>
                <a:highlight>
                  <a:srgbClr val="000000"/>
                </a:highlight>
                <a:latin typeface="Consolas"/>
              </a:rPr>
              <a:t>  console</a:t>
            </a:r>
            <a:r>
              <a:rPr lang="en-US" i="1" dirty="0">
                <a:solidFill>
                  <a:srgbClr val="C792EA"/>
                </a:solidFill>
                <a:highlight>
                  <a:srgbClr val="000000"/>
                </a:highlight>
                <a:latin typeface="Consolas"/>
              </a:rPr>
              <a:t>.</a:t>
            </a:r>
            <a:r>
              <a:rPr lang="en-US" dirty="0">
                <a:solidFill>
                  <a:srgbClr val="82AAFF"/>
                </a:solidFill>
                <a:highlight>
                  <a:srgbClr val="000000"/>
                </a:highlight>
                <a:latin typeface="Consolas"/>
              </a:rPr>
              <a:t>log</a:t>
            </a:r>
            <a:r>
              <a:rPr lang="en-US" dirty="0">
                <a:solidFill>
                  <a:srgbClr val="D6DEEB"/>
                </a:solidFill>
                <a:highlight>
                  <a:srgbClr val="000000"/>
                </a:highlight>
                <a:latin typeface="Consolas"/>
              </a:rPr>
              <a:t>(</a:t>
            </a:r>
            <a:r>
              <a:rPr lang="en-US" dirty="0">
                <a:solidFill>
                  <a:srgbClr val="D9F5DD"/>
                </a:solidFill>
                <a:highlight>
                  <a:srgbClr val="000000"/>
                </a:highlight>
                <a:latin typeface="Consolas"/>
              </a:rPr>
              <a:t>'</a:t>
            </a:r>
            <a:r>
              <a:rPr lang="en-US" dirty="0">
                <a:solidFill>
                  <a:srgbClr val="ECC48D"/>
                </a:solidFill>
                <a:highlight>
                  <a:srgbClr val="000000"/>
                </a:highlight>
                <a:latin typeface="Consolas"/>
              </a:rPr>
              <a:t>started</a:t>
            </a:r>
            <a:r>
              <a:rPr lang="en-US" dirty="0">
                <a:solidFill>
                  <a:srgbClr val="D9F5DD"/>
                </a:solidFill>
                <a:highlight>
                  <a:srgbClr val="000000"/>
                </a:highlight>
                <a:latin typeface="Consolas"/>
              </a:rPr>
              <a:t>'</a:t>
            </a:r>
            <a:r>
              <a:rPr lang="en-US" dirty="0">
                <a:solidFill>
                  <a:srgbClr val="D6DEEB"/>
                </a:solidFill>
                <a:highlight>
                  <a:srgbClr val="000000"/>
                </a:highlight>
                <a:latin typeface="Consolas"/>
              </a:rPr>
              <a:t>);</a:t>
            </a:r>
          </a:p>
          <a:p>
            <a:r>
              <a:rPr lang="en-US" dirty="0">
                <a:solidFill>
                  <a:srgbClr val="D6DEEB"/>
                </a:solidFill>
                <a:highlight>
                  <a:srgbClr val="000000"/>
                </a:highlight>
                <a:latin typeface="Consolas"/>
              </a:rPr>
              <a:t>}); </a:t>
            </a:r>
            <a:r>
              <a:rPr lang="en-US" dirty="0">
                <a:solidFill>
                  <a:srgbClr val="637777"/>
                </a:solidFill>
                <a:highlight>
                  <a:srgbClr val="000000"/>
                </a:highlight>
                <a:latin typeface="Consolas"/>
              </a:rPr>
              <a:t>//</a:t>
            </a:r>
            <a:r>
              <a:rPr lang="en-US" i="1" dirty="0">
                <a:solidFill>
                  <a:srgbClr val="637777"/>
                </a:solidFill>
                <a:highlight>
                  <a:srgbClr val="000000"/>
                </a:highlight>
                <a:latin typeface="Consolas"/>
              </a:rPr>
              <a:t> </a:t>
            </a:r>
            <a:r>
              <a:rPr lang="en-US" i="1" dirty="0" err="1">
                <a:solidFill>
                  <a:srgbClr val="637777"/>
                </a:solidFill>
                <a:highlight>
                  <a:srgbClr val="000000"/>
                </a:highlight>
                <a:latin typeface="Consolas"/>
              </a:rPr>
              <a:t>Définir</a:t>
            </a:r>
            <a:r>
              <a:rPr lang="en-US" i="1" dirty="0">
                <a:solidFill>
                  <a:srgbClr val="637777"/>
                </a:solidFill>
                <a:highlight>
                  <a:srgbClr val="000000"/>
                </a:highlight>
                <a:latin typeface="Consolas"/>
              </a:rPr>
              <a:t> le type </a:t>
            </a:r>
            <a:r>
              <a:rPr lang="en-US" i="1" dirty="0" err="1">
                <a:solidFill>
                  <a:srgbClr val="637777"/>
                </a:solidFill>
                <a:highlight>
                  <a:srgbClr val="000000"/>
                </a:highlight>
                <a:latin typeface="Consolas"/>
              </a:rPr>
              <a:t>d’évènement</a:t>
            </a:r>
            <a:r>
              <a:rPr lang="en-US" i="1" dirty="0">
                <a:solidFill>
                  <a:srgbClr val="637777"/>
                </a:solidFill>
                <a:highlight>
                  <a:srgbClr val="000000"/>
                </a:highlight>
                <a:latin typeface="Consolas"/>
              </a:rPr>
              <a:t> et </a:t>
            </a:r>
            <a:r>
              <a:rPr lang="en-US" i="1" dirty="0" err="1">
                <a:solidFill>
                  <a:srgbClr val="637777"/>
                </a:solidFill>
                <a:highlight>
                  <a:srgbClr val="000000"/>
                </a:highlight>
                <a:latin typeface="Consolas"/>
              </a:rPr>
              <a:t>l’action</a:t>
            </a:r>
            <a:r>
              <a:rPr lang="en-US" i="1" dirty="0">
                <a:solidFill>
                  <a:srgbClr val="637777"/>
                </a:solidFill>
                <a:highlight>
                  <a:srgbClr val="000000"/>
                </a:highlight>
                <a:latin typeface="Consolas"/>
              </a:rPr>
              <a:t> à </a:t>
            </a:r>
            <a:r>
              <a:rPr lang="en-US" i="1" dirty="0" err="1">
                <a:solidFill>
                  <a:srgbClr val="637777"/>
                </a:solidFill>
                <a:highlight>
                  <a:srgbClr val="000000"/>
                </a:highlight>
                <a:latin typeface="Consolas"/>
              </a:rPr>
              <a:t>exécuter</a:t>
            </a:r>
            <a:r>
              <a:rPr lang="en-US" i="1" dirty="0">
                <a:solidFill>
                  <a:srgbClr val="637777"/>
                </a:solidFill>
                <a:highlight>
                  <a:srgbClr val="000000"/>
                </a:highlight>
                <a:latin typeface="Consolas"/>
              </a:rPr>
              <a:t> </a:t>
            </a:r>
            <a:endParaRPr lang="en-US" dirty="0">
              <a:solidFill>
                <a:srgbClr val="D6DEEB"/>
              </a:solidFill>
              <a:highlight>
                <a:srgbClr val="000000"/>
              </a:highlight>
              <a:latin typeface="Consolas" panose="020B0609020204030204" pitchFamily="49" charset="0"/>
            </a:endParaRPr>
          </a:p>
          <a:p>
            <a:br>
              <a:rPr lang="en-US" dirty="0">
                <a:highlight>
                  <a:srgbClr val="000000"/>
                </a:highlight>
                <a:latin typeface="Consolas" panose="020B0609020204030204" pitchFamily="49" charset="0"/>
              </a:rPr>
            </a:br>
            <a:r>
              <a:rPr lang="en-US" dirty="0">
                <a:solidFill>
                  <a:srgbClr val="637777"/>
                </a:solidFill>
                <a:highlight>
                  <a:srgbClr val="000000"/>
                </a:highlight>
                <a:latin typeface="Consolas"/>
              </a:rPr>
              <a:t>//</a:t>
            </a:r>
            <a:r>
              <a:rPr lang="en-US" i="1" dirty="0">
                <a:solidFill>
                  <a:srgbClr val="637777"/>
                </a:solidFill>
                <a:highlight>
                  <a:srgbClr val="000000"/>
                </a:highlight>
                <a:latin typeface="Consolas"/>
              </a:rPr>
              <a:t>lancer un </a:t>
            </a:r>
            <a:r>
              <a:rPr lang="en-US" i="1" dirty="0" err="1">
                <a:solidFill>
                  <a:srgbClr val="637777"/>
                </a:solidFill>
                <a:highlight>
                  <a:srgbClr val="000000"/>
                </a:highlight>
                <a:latin typeface="Consolas"/>
              </a:rPr>
              <a:t>évènement</a:t>
            </a:r>
            <a:r>
              <a:rPr lang="en-US" i="1" dirty="0">
                <a:solidFill>
                  <a:srgbClr val="637777"/>
                </a:solidFill>
                <a:highlight>
                  <a:srgbClr val="000000"/>
                </a:highlight>
                <a:latin typeface="Consolas"/>
              </a:rPr>
              <a:t>  </a:t>
            </a:r>
            <a:endParaRPr lang="en-US" dirty="0">
              <a:solidFill>
                <a:srgbClr val="D6DEEB"/>
              </a:solidFill>
              <a:highlight>
                <a:srgbClr val="000000"/>
              </a:highlight>
              <a:latin typeface="Consolas"/>
            </a:endParaRPr>
          </a:p>
          <a:p>
            <a:r>
              <a:rPr lang="en-US" dirty="0" err="1">
                <a:solidFill>
                  <a:srgbClr val="D6DEEB"/>
                </a:solidFill>
                <a:highlight>
                  <a:srgbClr val="000000"/>
                </a:highlight>
                <a:latin typeface="Consolas"/>
              </a:rPr>
              <a:t>eventEmitter</a:t>
            </a:r>
            <a:r>
              <a:rPr lang="en-US" i="1" dirty="0" err="1">
                <a:solidFill>
                  <a:srgbClr val="C792EA"/>
                </a:solidFill>
                <a:highlight>
                  <a:srgbClr val="000000"/>
                </a:highlight>
                <a:latin typeface="Consolas"/>
              </a:rPr>
              <a:t>.</a:t>
            </a:r>
            <a:r>
              <a:rPr lang="en-US" dirty="0" err="1">
                <a:solidFill>
                  <a:srgbClr val="82AAFF"/>
                </a:solidFill>
                <a:highlight>
                  <a:srgbClr val="000000"/>
                </a:highlight>
                <a:latin typeface="Consolas"/>
              </a:rPr>
              <a:t>emit</a:t>
            </a:r>
            <a:r>
              <a:rPr lang="en-US" dirty="0">
                <a:solidFill>
                  <a:srgbClr val="D6DEEB"/>
                </a:solidFill>
                <a:highlight>
                  <a:srgbClr val="000000"/>
                </a:highlight>
                <a:latin typeface="Consolas"/>
              </a:rPr>
              <a:t>(</a:t>
            </a:r>
            <a:r>
              <a:rPr lang="en-US" dirty="0">
                <a:solidFill>
                  <a:srgbClr val="D9F5DD"/>
                </a:solidFill>
                <a:highlight>
                  <a:srgbClr val="000000"/>
                </a:highlight>
                <a:latin typeface="Consolas"/>
              </a:rPr>
              <a:t>'</a:t>
            </a:r>
            <a:r>
              <a:rPr lang="en-US" dirty="0">
                <a:solidFill>
                  <a:srgbClr val="ECC48D"/>
                </a:solidFill>
                <a:highlight>
                  <a:srgbClr val="000000"/>
                </a:highlight>
                <a:latin typeface="Consolas"/>
              </a:rPr>
              <a:t>start</a:t>
            </a:r>
            <a:r>
              <a:rPr lang="en-US" dirty="0">
                <a:solidFill>
                  <a:srgbClr val="D9F5DD"/>
                </a:solidFill>
                <a:highlight>
                  <a:srgbClr val="000000"/>
                </a:highlight>
                <a:latin typeface="Consolas"/>
              </a:rPr>
              <a:t>'</a:t>
            </a:r>
            <a:r>
              <a:rPr lang="en-US" dirty="0">
                <a:solidFill>
                  <a:srgbClr val="D6DEEB"/>
                </a:solidFill>
                <a:highlight>
                  <a:srgbClr val="000000"/>
                </a:highlight>
                <a:latin typeface="Consolas"/>
              </a:rPr>
              <a:t>);</a:t>
            </a:r>
          </a:p>
        </p:txBody>
      </p:sp>
      <p:sp>
        <p:nvSpPr>
          <p:cNvPr id="9" name="TextBox 8"/>
          <p:cNvSpPr txBox="1"/>
          <p:nvPr/>
        </p:nvSpPr>
        <p:spPr>
          <a:xfrm>
            <a:off x="2256364" y="5774762"/>
            <a:ext cx="9773892" cy="923330"/>
          </a:xfrm>
          <a:prstGeom prst="rect">
            <a:avLst/>
          </a:prstGeom>
          <a:noFill/>
        </p:spPr>
        <p:txBody>
          <a:bodyPr wrap="square" rtlCol="0">
            <a:spAutoFit/>
          </a:bodyPr>
          <a:lstStyle/>
          <a:p>
            <a:r>
              <a:rPr lang="fr-CA"/>
              <a:t>Tous les objets qui émettent un évènement sont des instances de la classe EventEmitter (par héritage). Ces classes expose la méthode EventEmitter.on()  qui permet d’attacher une ou plusieurs fonctions.</a:t>
            </a:r>
          </a:p>
        </p:txBody>
      </p:sp>
    </p:spTree>
    <p:extLst>
      <p:ext uri="{BB962C8B-B14F-4D97-AF65-F5344CB8AC3E}">
        <p14:creationId xmlns:p14="http://schemas.microsoft.com/office/powerpoint/2010/main" val="185510665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194560" y="775063"/>
            <a:ext cx="6487885" cy="461665"/>
          </a:xfrm>
          <a:prstGeom prst="rect">
            <a:avLst/>
          </a:prstGeom>
          <a:noFill/>
        </p:spPr>
        <p:txBody>
          <a:bodyPr wrap="square" rtlCol="0">
            <a:spAutoFit/>
          </a:bodyPr>
          <a:lstStyle/>
          <a:p>
            <a:r>
              <a:rPr lang="fr-CA" sz="2400" b="1" dirty="0">
                <a:solidFill>
                  <a:schemeClr val="accent1"/>
                </a:solidFill>
              </a:rPr>
              <a:t>Notions et concepts de base Node.js</a:t>
            </a:r>
            <a:endParaRPr lang="fr-CA" sz="2400" b="1" dirty="0">
              <a:ln w="0"/>
              <a:solidFill>
                <a:schemeClr val="accent1"/>
              </a:solidFill>
              <a:effectLst>
                <a:outerShdw blurRad="38100" dist="19050" dir="2700000" algn="tl" rotWithShape="0">
                  <a:schemeClr val="dk1">
                    <a:alpha val="40000"/>
                  </a:schemeClr>
                </a:outerShdw>
              </a:effectLst>
            </a:endParaRPr>
          </a:p>
        </p:txBody>
      </p:sp>
      <p:sp>
        <p:nvSpPr>
          <p:cNvPr id="3" name="TextBox 2"/>
          <p:cNvSpPr txBox="1"/>
          <p:nvPr/>
        </p:nvSpPr>
        <p:spPr>
          <a:xfrm>
            <a:off x="2264228" y="1429771"/>
            <a:ext cx="9030789" cy="369332"/>
          </a:xfrm>
          <a:prstGeom prst="rect">
            <a:avLst/>
          </a:prstGeom>
          <a:noFill/>
        </p:spPr>
        <p:txBody>
          <a:bodyPr wrap="square" lIns="91440" tIns="45720" rIns="91440" bIns="45720" rtlCol="0" anchor="t">
            <a:spAutoFit/>
          </a:bodyPr>
          <a:lstStyle/>
          <a:p>
            <a:pPr marL="342900" indent="-342900">
              <a:buFont typeface="Arial" panose="020B0604020202020204" pitchFamily="34" charset="0"/>
              <a:buChar char="•"/>
            </a:pPr>
            <a:r>
              <a:rPr lang="fr-CA" dirty="0">
                <a:ln w="0"/>
                <a:solidFill>
                  <a:schemeClr val="accent1"/>
                </a:solidFill>
                <a:effectLst>
                  <a:outerShdw blurRad="38100" dist="25400" dir="5400000" algn="ctr" rotWithShape="0">
                    <a:srgbClr val="6E747A">
                      <a:alpha val="43000"/>
                    </a:srgbClr>
                  </a:outerShdw>
                </a:effectLst>
              </a:rPr>
              <a:t>Bloc </a:t>
            </a:r>
            <a:r>
              <a:rPr lang="fr-CA" dirty="0" err="1">
                <a:ln w="0"/>
                <a:solidFill>
                  <a:schemeClr val="accent1"/>
                </a:solidFill>
                <a:effectLst>
                  <a:outerShdw blurRad="38100" dist="25400" dir="5400000" algn="ctr" rotWithShape="0">
                    <a:srgbClr val="6E747A">
                      <a:alpha val="43000"/>
                    </a:srgbClr>
                  </a:outerShdw>
                </a:effectLst>
              </a:rPr>
              <a:t>then</a:t>
            </a:r>
            <a:r>
              <a:rPr lang="fr-CA" dirty="0">
                <a:ln w="0"/>
                <a:solidFill>
                  <a:schemeClr val="accent1"/>
                </a:solidFill>
                <a:effectLst>
                  <a:outerShdw blurRad="38100" dist="25400" dir="5400000" algn="ctr" rotWithShape="0">
                    <a:srgbClr val="6E747A">
                      <a:alpha val="43000"/>
                    </a:srgbClr>
                  </a:outerShdw>
                </a:effectLst>
              </a:rPr>
              <a:t> et catch</a:t>
            </a:r>
          </a:p>
        </p:txBody>
      </p:sp>
      <p:sp>
        <p:nvSpPr>
          <p:cNvPr id="4" name="TextBox 3"/>
          <p:cNvSpPr txBox="1"/>
          <p:nvPr/>
        </p:nvSpPr>
        <p:spPr>
          <a:xfrm>
            <a:off x="2264228" y="1789672"/>
            <a:ext cx="9518469" cy="1477328"/>
          </a:xfrm>
          <a:prstGeom prst="rect">
            <a:avLst/>
          </a:prstGeom>
          <a:noFill/>
        </p:spPr>
        <p:txBody>
          <a:bodyPr wrap="square" lIns="91440" tIns="45720" rIns="91440" bIns="45720" rtlCol="0" anchor="t">
            <a:spAutoFit/>
          </a:bodyPr>
          <a:lstStyle/>
          <a:p>
            <a:r>
              <a:rPr lang="fr-FR" dirty="0" err="1"/>
              <a:t>then</a:t>
            </a:r>
            <a:r>
              <a:rPr lang="fr-FR" dirty="0"/>
              <a:t> et catch sont utilisés pour gérer les promesses en JavaScript lors d'un appel asynchrone.</a:t>
            </a:r>
          </a:p>
          <a:p>
            <a:endParaRPr lang="fr-FR" dirty="0"/>
          </a:p>
          <a:p>
            <a:r>
              <a:rPr lang="fr-FR" dirty="0" err="1"/>
              <a:t>then</a:t>
            </a:r>
            <a:r>
              <a:rPr lang="fr-FR" dirty="0"/>
              <a:t>() exécute une action lorsque la promesse est résolue avec succès.</a:t>
            </a:r>
          </a:p>
          <a:p>
            <a:r>
              <a:rPr lang="fr-FR" dirty="0"/>
              <a:t>catch() capture les erreurs si la promesse échoue.</a:t>
            </a:r>
            <a:endParaRPr lang="fr-CA" dirty="0"/>
          </a:p>
        </p:txBody>
      </p:sp>
      <p:sp>
        <p:nvSpPr>
          <p:cNvPr id="5" name="TextBox 4"/>
          <p:cNvSpPr txBox="1"/>
          <p:nvPr/>
        </p:nvSpPr>
        <p:spPr>
          <a:xfrm>
            <a:off x="2264228" y="3429531"/>
            <a:ext cx="9534195" cy="421654"/>
          </a:xfrm>
          <a:prstGeom prst="rect">
            <a:avLst/>
          </a:prstGeom>
          <a:noFill/>
        </p:spPr>
        <p:txBody>
          <a:bodyPr wrap="square" lIns="91440" tIns="45720" rIns="91440" bIns="45720" rtlCol="0" anchor="t">
            <a:spAutoFit/>
          </a:bodyPr>
          <a:lstStyle/>
          <a:p>
            <a:pPr>
              <a:lnSpc>
                <a:spcPct val="107000"/>
              </a:lnSpc>
              <a:spcBef>
                <a:spcPts val="200"/>
              </a:spcBef>
            </a:pPr>
            <a:r>
              <a:rPr lang="fr-CA" sz="2000" b="1">
                <a:solidFill>
                  <a:srgbClr val="1F4D78"/>
                </a:solidFill>
                <a:latin typeface="Calibri Light"/>
                <a:ea typeface="Times New Roman" panose="02020603050405020304" pitchFamily="18" charset="0"/>
                <a:cs typeface="Times New Roman"/>
              </a:rPr>
              <a:t>Exemple</a:t>
            </a:r>
          </a:p>
        </p:txBody>
      </p:sp>
      <p:sp>
        <p:nvSpPr>
          <p:cNvPr id="6" name="TextBox 5"/>
          <p:cNvSpPr txBox="1"/>
          <p:nvPr/>
        </p:nvSpPr>
        <p:spPr>
          <a:xfrm>
            <a:off x="2194560" y="4013716"/>
            <a:ext cx="9773892" cy="1754326"/>
          </a:xfrm>
          <a:prstGeom prst="rect">
            <a:avLst/>
          </a:prstGeom>
          <a:noFill/>
        </p:spPr>
        <p:txBody>
          <a:bodyPr wrap="square" lIns="91440" tIns="45720" rIns="91440" bIns="45720" rtlCol="0" anchor="t">
            <a:spAutoFit/>
          </a:bodyPr>
          <a:lstStyle>
            <a:defPPr>
              <a:defRPr lang="fr-FR"/>
            </a:defPPr>
            <a:lvl1pPr>
              <a:defRPr>
                <a:solidFill>
                  <a:srgbClr val="82AAFF"/>
                </a:solidFill>
                <a:highlight>
                  <a:srgbClr val="000000"/>
                </a:highlight>
                <a:latin typeface="Consolas"/>
              </a:defRPr>
            </a:lvl1pPr>
          </a:lstStyle>
          <a:p>
            <a:r>
              <a:rPr lang="fr-FR" dirty="0" err="1"/>
              <a:t>fetch</a:t>
            </a:r>
            <a:r>
              <a:rPr lang="fr-FR" dirty="0"/>
              <a:t>("https://jsonplaceholder.typicode.com/</a:t>
            </a:r>
            <a:r>
              <a:rPr lang="fr-FR" dirty="0" err="1"/>
              <a:t>posts</a:t>
            </a:r>
            <a:r>
              <a:rPr lang="fr-FR" dirty="0"/>
              <a:t>/1")</a:t>
            </a:r>
          </a:p>
          <a:p>
            <a:r>
              <a:rPr lang="fr-FR" dirty="0"/>
              <a:t>    .</a:t>
            </a:r>
            <a:r>
              <a:rPr lang="fr-FR" dirty="0" err="1"/>
              <a:t>then</a:t>
            </a:r>
            <a:r>
              <a:rPr lang="fr-FR" dirty="0"/>
              <a:t>(</a:t>
            </a:r>
            <a:r>
              <a:rPr lang="fr-FR" dirty="0" err="1"/>
              <a:t>response</a:t>
            </a:r>
            <a:r>
              <a:rPr lang="fr-FR" dirty="0"/>
              <a:t> =&gt; </a:t>
            </a:r>
            <a:r>
              <a:rPr lang="fr-FR" dirty="0" err="1"/>
              <a:t>response.json</a:t>
            </a:r>
            <a:r>
              <a:rPr lang="fr-FR" dirty="0"/>
              <a:t>()) // Convertit la réponse en JSON</a:t>
            </a:r>
          </a:p>
          <a:p>
            <a:r>
              <a:rPr lang="fr-FR" dirty="0"/>
              <a:t>    .</a:t>
            </a:r>
            <a:r>
              <a:rPr lang="fr-FR" dirty="0" err="1"/>
              <a:t>then</a:t>
            </a:r>
            <a:r>
              <a:rPr lang="fr-FR" dirty="0"/>
              <a:t>(data =&gt; console.log("Données reçues :", data)) // Affiche les 		données reçues</a:t>
            </a:r>
          </a:p>
          <a:p>
            <a:r>
              <a:rPr lang="fr-FR" dirty="0"/>
              <a:t>    .catch(</a:t>
            </a:r>
            <a:r>
              <a:rPr lang="fr-FR" dirty="0" err="1"/>
              <a:t>error</a:t>
            </a:r>
            <a:r>
              <a:rPr lang="fr-FR" dirty="0"/>
              <a:t> =&gt; </a:t>
            </a:r>
            <a:r>
              <a:rPr lang="fr-FR" dirty="0" err="1"/>
              <a:t>console.error</a:t>
            </a:r>
            <a:r>
              <a:rPr lang="fr-FR" dirty="0"/>
              <a:t>("Erreur lors de la requête :", </a:t>
            </a:r>
            <a:r>
              <a:rPr lang="fr-FR" dirty="0" err="1"/>
              <a:t>error</a:t>
            </a:r>
            <a:r>
              <a:rPr lang="fr-FR" dirty="0"/>
              <a:t>)); // </a:t>
            </a:r>
          </a:p>
          <a:p>
            <a:r>
              <a:rPr lang="fr-FR" dirty="0"/>
              <a:t>	Capture une erreur éventuelle</a:t>
            </a:r>
          </a:p>
        </p:txBody>
      </p:sp>
    </p:spTree>
    <p:extLst>
      <p:ext uri="{BB962C8B-B14F-4D97-AF65-F5344CB8AC3E}">
        <p14:creationId xmlns:p14="http://schemas.microsoft.com/office/powerpoint/2010/main" val="366272712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194560" y="775063"/>
            <a:ext cx="6487885" cy="461665"/>
          </a:xfrm>
          <a:prstGeom prst="rect">
            <a:avLst/>
          </a:prstGeom>
          <a:noFill/>
        </p:spPr>
        <p:txBody>
          <a:bodyPr wrap="square" rtlCol="0">
            <a:spAutoFit/>
          </a:bodyPr>
          <a:lstStyle/>
          <a:p>
            <a:r>
              <a:rPr lang="fr-CA" sz="2400" b="1">
                <a:solidFill>
                  <a:schemeClr val="accent1"/>
                </a:solidFill>
              </a:rPr>
              <a:t>Notions et concepts de base Node.js</a:t>
            </a:r>
            <a:endParaRPr lang="fr-CA" sz="2400" b="1">
              <a:ln w="0"/>
              <a:solidFill>
                <a:schemeClr val="accent1"/>
              </a:solidFill>
              <a:effectLst>
                <a:outerShdw blurRad="38100" dist="19050" dir="2700000" algn="tl" rotWithShape="0">
                  <a:schemeClr val="dk1">
                    <a:alpha val="40000"/>
                  </a:schemeClr>
                </a:outerShdw>
              </a:effectLst>
            </a:endParaRPr>
          </a:p>
        </p:txBody>
      </p:sp>
      <p:sp>
        <p:nvSpPr>
          <p:cNvPr id="3" name="TextBox 2"/>
          <p:cNvSpPr txBox="1"/>
          <p:nvPr/>
        </p:nvSpPr>
        <p:spPr>
          <a:xfrm>
            <a:off x="2264228" y="1429771"/>
            <a:ext cx="9030789" cy="369332"/>
          </a:xfrm>
          <a:prstGeom prst="rect">
            <a:avLst/>
          </a:prstGeom>
          <a:noFill/>
        </p:spPr>
        <p:txBody>
          <a:bodyPr wrap="square" lIns="91440" tIns="45720" rIns="91440" bIns="45720" rtlCol="0" anchor="t">
            <a:spAutoFit/>
          </a:bodyPr>
          <a:lstStyle/>
          <a:p>
            <a:pPr marL="342900" indent="-342900">
              <a:buFont typeface="Arial" panose="020B0604020202020204" pitchFamily="34" charset="0"/>
              <a:buChar char="•"/>
            </a:pPr>
            <a:r>
              <a:rPr lang="fr-CA" err="1">
                <a:ln w="0"/>
                <a:solidFill>
                  <a:schemeClr val="accent1"/>
                </a:solidFill>
                <a:effectLst>
                  <a:outerShdw blurRad="38100" dist="25400" dir="5400000" algn="ctr" rotWithShape="0">
                    <a:srgbClr val="6E747A">
                      <a:alpha val="43000"/>
                    </a:srgbClr>
                  </a:outerShdw>
                </a:effectLst>
              </a:rPr>
              <a:t>Async</a:t>
            </a:r>
            <a:r>
              <a:rPr lang="fr-CA">
                <a:ln w="0"/>
                <a:solidFill>
                  <a:schemeClr val="accent1"/>
                </a:solidFill>
                <a:effectLst>
                  <a:outerShdw blurRad="38100" dist="25400" dir="5400000" algn="ctr" rotWithShape="0">
                    <a:srgbClr val="6E747A">
                      <a:alpha val="43000"/>
                    </a:srgbClr>
                  </a:outerShdw>
                </a:effectLst>
              </a:rPr>
              <a:t> et </a:t>
            </a:r>
            <a:r>
              <a:rPr lang="fr-CA" err="1">
                <a:ln w="0"/>
                <a:solidFill>
                  <a:schemeClr val="accent1"/>
                </a:solidFill>
                <a:effectLst>
                  <a:outerShdw blurRad="38100" dist="25400" dir="5400000" algn="ctr" rotWithShape="0">
                    <a:srgbClr val="6E747A">
                      <a:alpha val="43000"/>
                    </a:srgbClr>
                  </a:outerShdw>
                </a:effectLst>
              </a:rPr>
              <a:t>Await</a:t>
            </a:r>
          </a:p>
        </p:txBody>
      </p:sp>
      <p:sp>
        <p:nvSpPr>
          <p:cNvPr id="5" name="TextBox 4"/>
          <p:cNvSpPr txBox="1"/>
          <p:nvPr/>
        </p:nvSpPr>
        <p:spPr>
          <a:xfrm>
            <a:off x="2267250" y="1795201"/>
            <a:ext cx="9534195" cy="421654"/>
          </a:xfrm>
          <a:prstGeom prst="rect">
            <a:avLst/>
          </a:prstGeom>
          <a:noFill/>
        </p:spPr>
        <p:txBody>
          <a:bodyPr wrap="square" lIns="91440" tIns="45720" rIns="91440" bIns="45720" rtlCol="0" anchor="t">
            <a:spAutoFit/>
          </a:bodyPr>
          <a:lstStyle/>
          <a:p>
            <a:pPr>
              <a:lnSpc>
                <a:spcPct val="107000"/>
              </a:lnSpc>
              <a:spcBef>
                <a:spcPts val="200"/>
              </a:spcBef>
            </a:pPr>
            <a:r>
              <a:rPr lang="fr-CA" sz="2000" b="1">
                <a:solidFill>
                  <a:srgbClr val="1F4D78"/>
                </a:solidFill>
                <a:latin typeface="Calibri Light"/>
                <a:ea typeface="Times New Roman" panose="02020603050405020304" pitchFamily="18" charset="0"/>
                <a:cs typeface="Times New Roman"/>
              </a:rPr>
              <a:t>Exemple</a:t>
            </a:r>
          </a:p>
        </p:txBody>
      </p:sp>
      <p:sp>
        <p:nvSpPr>
          <p:cNvPr id="6" name="TextBox 5"/>
          <p:cNvSpPr txBox="1"/>
          <p:nvPr/>
        </p:nvSpPr>
        <p:spPr>
          <a:xfrm>
            <a:off x="2264228" y="2310203"/>
            <a:ext cx="9773892" cy="4247317"/>
          </a:xfrm>
          <a:prstGeom prst="rect">
            <a:avLst/>
          </a:prstGeom>
          <a:noFill/>
        </p:spPr>
        <p:txBody>
          <a:bodyPr wrap="square" lIns="91440" tIns="45720" rIns="91440" bIns="45720" rtlCol="0" anchor="t">
            <a:spAutoFit/>
          </a:bodyPr>
          <a:lstStyle/>
          <a:p>
            <a:r>
              <a:rPr lang="en-US" dirty="0">
                <a:solidFill>
                  <a:srgbClr val="82AAFF"/>
                </a:solidFill>
                <a:highlight>
                  <a:srgbClr val="000000"/>
                </a:highlight>
                <a:latin typeface="Consolas"/>
              </a:rPr>
              <a:t>const </a:t>
            </a:r>
            <a:r>
              <a:rPr lang="en-US" dirty="0" err="1">
                <a:solidFill>
                  <a:srgbClr val="82AAFF"/>
                </a:solidFill>
                <a:highlight>
                  <a:srgbClr val="000000"/>
                </a:highlight>
                <a:latin typeface="Consolas"/>
              </a:rPr>
              <a:t>sayHello</a:t>
            </a:r>
            <a:r>
              <a:rPr lang="en-US" dirty="0">
                <a:solidFill>
                  <a:srgbClr val="82AAFF"/>
                </a:solidFill>
                <a:highlight>
                  <a:srgbClr val="000000"/>
                </a:highlight>
                <a:latin typeface="Consolas"/>
              </a:rPr>
              <a:t> = async function () {
  return 'Hello';
};</a:t>
            </a:r>
            <a:endParaRPr lang="en-US" dirty="0"/>
          </a:p>
          <a:p>
            <a:endParaRPr lang="en-US" dirty="0">
              <a:solidFill>
                <a:srgbClr val="82AAFF"/>
              </a:solidFill>
              <a:highlight>
                <a:srgbClr val="000000"/>
              </a:highlight>
              <a:latin typeface="Consolas"/>
            </a:endParaRPr>
          </a:p>
          <a:p>
            <a:r>
              <a:rPr lang="en-US" dirty="0">
                <a:solidFill>
                  <a:srgbClr val="82AAFF"/>
                </a:solidFill>
                <a:highlight>
                  <a:srgbClr val="000000"/>
                </a:highlight>
                <a:latin typeface="Consolas"/>
              </a:rPr>
              <a:t>const </a:t>
            </a:r>
            <a:r>
              <a:rPr lang="en-US" dirty="0" err="1">
                <a:solidFill>
                  <a:srgbClr val="82AAFF"/>
                </a:solidFill>
                <a:highlight>
                  <a:srgbClr val="000000"/>
                </a:highlight>
                <a:latin typeface="Consolas"/>
              </a:rPr>
              <a:t>sayHello</a:t>
            </a:r>
            <a:r>
              <a:rPr lang="en-US" dirty="0">
                <a:solidFill>
                  <a:srgbClr val="82AAFF"/>
                </a:solidFill>
                <a:highlight>
                  <a:srgbClr val="000000"/>
                </a:highlight>
                <a:latin typeface="Consolas"/>
              </a:rPr>
              <a:t> = function() {
 return new Promise((resolve, reject) =&gt; {
  resolve('Hello');
 });
}</a:t>
            </a:r>
            <a:endParaRPr lang="en-US" dirty="0">
              <a:solidFill>
                <a:srgbClr val="000000"/>
              </a:solidFill>
              <a:latin typeface="Century Gothic" panose="020B0502020202020204"/>
            </a:endParaRPr>
          </a:p>
          <a:p>
            <a:endParaRPr lang="en-US" dirty="0">
              <a:solidFill>
                <a:srgbClr val="82AAFF"/>
              </a:solidFill>
              <a:highlight>
                <a:srgbClr val="000000"/>
              </a:highlight>
              <a:latin typeface="Consolas"/>
            </a:endParaRPr>
          </a:p>
          <a:p>
            <a:r>
              <a:rPr lang="en-US" dirty="0">
                <a:solidFill>
                  <a:srgbClr val="82AAFF"/>
                </a:solidFill>
                <a:highlight>
                  <a:srgbClr val="000000"/>
                </a:highlight>
                <a:latin typeface="Consolas"/>
              </a:rPr>
              <a:t>const </a:t>
            </a:r>
            <a:r>
              <a:rPr lang="en-US" dirty="0" err="1">
                <a:solidFill>
                  <a:srgbClr val="82AAFF"/>
                </a:solidFill>
                <a:highlight>
                  <a:srgbClr val="000000"/>
                </a:highlight>
                <a:latin typeface="Consolas"/>
              </a:rPr>
              <a:t>sayHello</a:t>
            </a:r>
            <a:r>
              <a:rPr lang="en-US" dirty="0">
                <a:solidFill>
                  <a:srgbClr val="82AAFF"/>
                </a:solidFill>
                <a:highlight>
                  <a:srgbClr val="000000"/>
                </a:highlight>
                <a:latin typeface="Consolas"/>
              </a:rPr>
              <a:t> = function () {
  return </a:t>
            </a:r>
            <a:r>
              <a:rPr lang="en-US" dirty="0" err="1">
                <a:solidFill>
                  <a:srgbClr val="82AAFF"/>
                </a:solidFill>
                <a:highlight>
                  <a:srgbClr val="000000"/>
                </a:highlight>
                <a:latin typeface="Consolas"/>
              </a:rPr>
              <a:t>Promise.resolve</a:t>
            </a:r>
            <a:r>
              <a:rPr lang="en-US" dirty="0">
                <a:solidFill>
                  <a:srgbClr val="82AAFF"/>
                </a:solidFill>
                <a:highlight>
                  <a:srgbClr val="000000"/>
                </a:highlight>
                <a:latin typeface="Consolas"/>
              </a:rPr>
              <a:t>('Hello');
};</a:t>
            </a:r>
            <a:endParaRPr lang="en-US" dirty="0"/>
          </a:p>
          <a:p>
            <a:endParaRPr lang="en-US" dirty="0">
              <a:solidFill>
                <a:srgbClr val="82AAFF"/>
              </a:solidFill>
              <a:highlight>
                <a:srgbClr val="000000"/>
              </a:highlight>
              <a:latin typeface="Consolas"/>
            </a:endParaRPr>
          </a:p>
          <a:p>
            <a:r>
              <a:rPr lang="en-US" dirty="0">
                <a:solidFill>
                  <a:srgbClr val="82AAFF"/>
                </a:solidFill>
                <a:highlight>
                  <a:srgbClr val="000000"/>
                </a:highlight>
                <a:latin typeface="Consolas"/>
              </a:rPr>
              <a:t>Les trois examples ci-dessus </a:t>
            </a:r>
            <a:r>
              <a:rPr lang="en-US" dirty="0" err="1">
                <a:solidFill>
                  <a:srgbClr val="82AAFF"/>
                </a:solidFill>
                <a:highlight>
                  <a:srgbClr val="000000"/>
                </a:highlight>
                <a:latin typeface="Consolas"/>
              </a:rPr>
              <a:t>sont</a:t>
            </a:r>
            <a:r>
              <a:rPr lang="en-US" dirty="0">
                <a:solidFill>
                  <a:srgbClr val="82AAFF"/>
                </a:solidFill>
                <a:highlight>
                  <a:srgbClr val="000000"/>
                </a:highlight>
                <a:latin typeface="Consolas"/>
              </a:rPr>
              <a:t> </a:t>
            </a:r>
            <a:r>
              <a:rPr lang="en-US" dirty="0" err="1">
                <a:solidFill>
                  <a:srgbClr val="82AAFF"/>
                </a:solidFill>
                <a:highlight>
                  <a:srgbClr val="000000"/>
                </a:highlight>
                <a:latin typeface="Consolas"/>
              </a:rPr>
              <a:t>égaux</a:t>
            </a:r>
            <a:r>
              <a:rPr lang="en-US" dirty="0">
                <a:solidFill>
                  <a:srgbClr val="82AAFF"/>
                </a:solidFill>
                <a:highlight>
                  <a:srgbClr val="000000"/>
                </a:highlight>
                <a:latin typeface="Consolas"/>
              </a:rPr>
              <a:t>.</a:t>
            </a:r>
          </a:p>
        </p:txBody>
      </p:sp>
    </p:spTree>
    <p:extLst>
      <p:ext uri="{BB962C8B-B14F-4D97-AF65-F5344CB8AC3E}">
        <p14:creationId xmlns:p14="http://schemas.microsoft.com/office/powerpoint/2010/main" val="218877872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194560" y="775063"/>
            <a:ext cx="6487885" cy="461665"/>
          </a:xfrm>
          <a:prstGeom prst="rect">
            <a:avLst/>
          </a:prstGeom>
          <a:noFill/>
        </p:spPr>
        <p:txBody>
          <a:bodyPr wrap="square" rtlCol="0">
            <a:spAutoFit/>
          </a:bodyPr>
          <a:lstStyle/>
          <a:p>
            <a:r>
              <a:rPr lang="fr-CA" sz="2400" b="1" dirty="0">
                <a:solidFill>
                  <a:schemeClr val="accent1"/>
                </a:solidFill>
              </a:rPr>
              <a:t>Exercice Node.js</a:t>
            </a:r>
            <a:endParaRPr lang="fr-CA" sz="2400" b="1" dirty="0">
              <a:ln w="0"/>
              <a:solidFill>
                <a:schemeClr val="accent1"/>
              </a:solidFill>
              <a:effectLst>
                <a:outerShdw blurRad="38100" dist="19050" dir="2700000" algn="tl" rotWithShape="0">
                  <a:schemeClr val="dk1">
                    <a:alpha val="40000"/>
                  </a:schemeClr>
                </a:outerShdw>
              </a:effectLst>
            </a:endParaRPr>
          </a:p>
        </p:txBody>
      </p:sp>
      <p:sp>
        <p:nvSpPr>
          <p:cNvPr id="3" name="TextBox 2"/>
          <p:cNvSpPr txBox="1"/>
          <p:nvPr/>
        </p:nvSpPr>
        <p:spPr>
          <a:xfrm>
            <a:off x="2264227" y="3452204"/>
            <a:ext cx="9030789" cy="646331"/>
          </a:xfrm>
          <a:prstGeom prst="rect">
            <a:avLst/>
          </a:prstGeom>
          <a:noFill/>
        </p:spPr>
        <p:txBody>
          <a:bodyPr wrap="square" rtlCol="0">
            <a:spAutoFit/>
          </a:bodyPr>
          <a:lstStyle/>
          <a:p>
            <a:pPr marL="285750" indent="-285750">
              <a:buFont typeface="Wingdings" panose="05000000000000000000" pitchFamily="2" charset="2"/>
              <a:buChar char="v"/>
            </a:pPr>
            <a:r>
              <a:rPr lang="fr-CA" dirty="0"/>
              <a:t>Créer une fonction asynchrone qui permet d’additionner deux paramètres et retourne le résultat (tp05.js)</a:t>
            </a:r>
            <a:endParaRPr lang="fr-CA" dirty="0">
              <a:ln w="0"/>
              <a:solidFill>
                <a:schemeClr val="accent1"/>
              </a:solidFill>
              <a:effectLst>
                <a:outerShdw blurRad="38100" dist="25400" dir="5400000" algn="ctr" rotWithShape="0">
                  <a:srgbClr val="6E747A">
                    <a:alpha val="43000"/>
                  </a:srgbClr>
                </a:outerShdw>
              </a:effectLst>
            </a:endParaRPr>
          </a:p>
        </p:txBody>
      </p:sp>
      <p:sp>
        <p:nvSpPr>
          <p:cNvPr id="7" name="TextBox 6"/>
          <p:cNvSpPr txBox="1"/>
          <p:nvPr/>
        </p:nvSpPr>
        <p:spPr>
          <a:xfrm>
            <a:off x="2577736" y="4442843"/>
            <a:ext cx="8717280" cy="646331"/>
          </a:xfrm>
          <a:prstGeom prst="rect">
            <a:avLst/>
          </a:prstGeom>
          <a:noFill/>
        </p:spPr>
        <p:txBody>
          <a:bodyPr wrap="square" lIns="91440" tIns="45720" rIns="91440" bIns="45720" rtlCol="0" anchor="t">
            <a:spAutoFit/>
          </a:bodyPr>
          <a:lstStyle/>
          <a:p>
            <a:r>
              <a:rPr lang="fr-CA" dirty="0"/>
              <a:t>On va définir une fonction qui prend deux paramètres et retourne la somme. Cette fonction doit être asynchrone en utilisant </a:t>
            </a:r>
            <a:r>
              <a:rPr lang="fr-CA" dirty="0" err="1"/>
              <a:t>async</a:t>
            </a:r>
            <a:r>
              <a:rPr lang="fr-CA" dirty="0"/>
              <a:t>. </a:t>
            </a:r>
            <a:endParaRPr lang="en-US" dirty="0"/>
          </a:p>
        </p:txBody>
      </p:sp>
      <p:sp>
        <p:nvSpPr>
          <p:cNvPr id="4" name="TextBox 3">
            <a:extLst>
              <a:ext uri="{FF2B5EF4-FFF2-40B4-BE49-F238E27FC236}">
                <a16:creationId xmlns:a16="http://schemas.microsoft.com/office/drawing/2014/main" id="{E5E97584-1076-8AAC-AB70-C49137A9790C}"/>
              </a:ext>
            </a:extLst>
          </p:cNvPr>
          <p:cNvSpPr txBox="1"/>
          <p:nvPr/>
        </p:nvSpPr>
        <p:spPr>
          <a:xfrm>
            <a:off x="2264227" y="1353571"/>
            <a:ext cx="9030789" cy="1754326"/>
          </a:xfrm>
          <a:prstGeom prst="rect">
            <a:avLst/>
          </a:prstGeom>
          <a:noFill/>
        </p:spPr>
        <p:txBody>
          <a:bodyPr wrap="square" rtlCol="0">
            <a:spAutoFit/>
          </a:bodyPr>
          <a:lstStyle>
            <a:defPPr>
              <a:defRPr lang="fr-FR"/>
            </a:defPPr>
            <a:lvl1pPr marL="342900" indent="-342900">
              <a:buFont typeface="Arial" panose="020B0604020202020204" pitchFamily="34" charset="0"/>
              <a:buChar char="•"/>
            </a:lvl1pPr>
          </a:lstStyle>
          <a:p>
            <a:pPr>
              <a:buFont typeface="Wingdings" panose="05000000000000000000" pitchFamily="2" charset="2"/>
              <a:buChar char="v"/>
            </a:pPr>
            <a:r>
              <a:rPr lang="fr-FR" dirty="0"/>
              <a:t>Traitement de message avec callback</a:t>
            </a:r>
          </a:p>
          <a:p>
            <a:pPr lvl="1"/>
            <a:r>
              <a:rPr lang="fr-FR" dirty="0"/>
              <a:t>- Créez une fonction </a:t>
            </a:r>
            <a:r>
              <a:rPr lang="fr-FR" dirty="0" err="1"/>
              <a:t>traiterMessage</a:t>
            </a:r>
            <a:r>
              <a:rPr lang="fr-FR" dirty="0"/>
              <a:t>(message, callback) qui reçoit un message et l'affiche.</a:t>
            </a:r>
          </a:p>
          <a:p>
            <a:pPr lvl="1"/>
            <a:r>
              <a:rPr lang="fr-FR" dirty="0"/>
              <a:t>- Une fois le message reçu, appliquez un traitement en appelant la fonction </a:t>
            </a:r>
            <a:r>
              <a:rPr lang="fr-FR" dirty="0" err="1"/>
              <a:t>afficherMajuscules</a:t>
            </a:r>
            <a:r>
              <a:rPr lang="fr-FR" dirty="0"/>
              <a:t>(texte).</a:t>
            </a:r>
          </a:p>
          <a:p>
            <a:pPr lvl="1"/>
            <a:r>
              <a:rPr lang="fr-FR" dirty="0"/>
              <a:t>- </a:t>
            </a:r>
            <a:r>
              <a:rPr lang="fr-FR" dirty="0" err="1"/>
              <a:t>afficherMajuscules</a:t>
            </a:r>
            <a:r>
              <a:rPr lang="fr-FR" dirty="0"/>
              <a:t>(texte) doit afficher le message en majuscules.</a:t>
            </a:r>
            <a:endParaRPr lang="fr-CA" dirty="0"/>
          </a:p>
        </p:txBody>
      </p:sp>
    </p:spTree>
    <p:extLst>
      <p:ext uri="{BB962C8B-B14F-4D97-AF65-F5344CB8AC3E}">
        <p14:creationId xmlns:p14="http://schemas.microsoft.com/office/powerpoint/2010/main" val="67160348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9304" y="3698928"/>
            <a:ext cx="9401176" cy="662894"/>
          </a:xfrm>
        </p:spPr>
        <p:txBody>
          <a:bodyPr>
            <a:noAutofit/>
          </a:bodyPr>
          <a:lstStyle/>
          <a:p>
            <a:r>
              <a:rPr lang="fr-CA" sz="3200"/>
              <a:t>Node Package Manager npm</a:t>
            </a:r>
          </a:p>
        </p:txBody>
      </p:sp>
      <p:sp>
        <p:nvSpPr>
          <p:cNvPr id="4" name="Subtitle 3"/>
          <p:cNvSpPr>
            <a:spLocks noGrp="1"/>
          </p:cNvSpPr>
          <p:nvPr>
            <p:ph type="subTitle" idx="1"/>
          </p:nvPr>
        </p:nvSpPr>
        <p:spPr/>
        <p:txBody>
          <a:bodyPr/>
          <a:lstStyle/>
          <a:p>
            <a:r>
              <a:rPr lang="fr-CA"/>
              <a:t>Comprendre comment gérer les dépendances node.js en utilisant npm, comprendre les concepts de base comment créer un module, comment utiliser le fichier package.json et le fichier .env</a:t>
            </a:r>
          </a:p>
        </p:txBody>
      </p:sp>
      <p:sp>
        <p:nvSpPr>
          <p:cNvPr id="5" name="Title 1"/>
          <p:cNvSpPr txBox="1">
            <a:spLocks/>
          </p:cNvSpPr>
          <p:nvPr/>
        </p:nvSpPr>
        <p:spPr>
          <a:xfrm>
            <a:off x="4563018" y="2889216"/>
            <a:ext cx="2778308" cy="662894"/>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sz="3200"/>
              <a:t>Chapitre 03</a:t>
            </a:r>
          </a:p>
        </p:txBody>
      </p:sp>
    </p:spTree>
    <p:extLst>
      <p:ext uri="{BB962C8B-B14F-4D97-AF65-F5344CB8AC3E}">
        <p14:creationId xmlns:p14="http://schemas.microsoft.com/office/powerpoint/2010/main" val="3588302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2194560" y="775063"/>
            <a:ext cx="6487885" cy="461665"/>
          </a:xfrm>
          <a:prstGeom prst="rect">
            <a:avLst/>
          </a:prstGeom>
          <a:noFill/>
        </p:spPr>
        <p:txBody>
          <a:bodyPr wrap="square" rtlCol="0">
            <a:spAutoFit/>
          </a:bodyPr>
          <a:lstStyle/>
          <a:p>
            <a:r>
              <a:rPr lang="fr-CA" sz="2400" b="1">
                <a:solidFill>
                  <a:schemeClr val="accent1"/>
                </a:solidFill>
              </a:rPr>
              <a:t>Introduction</a:t>
            </a:r>
            <a:endParaRPr lang="fr-CA" sz="2400" b="1">
              <a:ln w="0"/>
              <a:solidFill>
                <a:schemeClr val="accent1"/>
              </a:solidFill>
              <a:effectLst>
                <a:outerShdw blurRad="38100" dist="19050" dir="2700000" algn="tl" rotWithShape="0">
                  <a:schemeClr val="dk1">
                    <a:alpha val="40000"/>
                  </a:schemeClr>
                </a:outerShdw>
              </a:effectLst>
            </a:endParaRPr>
          </a:p>
        </p:txBody>
      </p:sp>
      <p:sp>
        <p:nvSpPr>
          <p:cNvPr id="3" name="TextBox 2"/>
          <p:cNvSpPr txBox="1"/>
          <p:nvPr/>
        </p:nvSpPr>
        <p:spPr>
          <a:xfrm>
            <a:off x="2264228" y="1769405"/>
            <a:ext cx="9030789" cy="1200329"/>
          </a:xfrm>
          <a:prstGeom prst="rect">
            <a:avLst/>
          </a:prstGeom>
          <a:noFill/>
        </p:spPr>
        <p:txBody>
          <a:bodyPr wrap="square" rtlCol="0">
            <a:spAutoFit/>
          </a:bodyPr>
          <a:lstStyle/>
          <a:p>
            <a:r>
              <a:rPr lang="fr-CA"/>
              <a:t>npm c’est le gestionnaire standard des packages node qui se trouvent dans le registre. Il est utilisé pour télécharger et gérer les dépendances. Le registre des packages node contient plus de 2.1 millions packages (c’est la plus grande repository du même code dans le monde).</a:t>
            </a:r>
            <a:endParaRPr lang="fr-CA">
              <a:ln w="0"/>
              <a:solidFill>
                <a:schemeClr val="accent1"/>
              </a:solidFill>
              <a:effectLst>
                <a:outerShdw blurRad="38100" dist="25400" dir="5400000" algn="ctr" rotWithShape="0">
                  <a:srgbClr val="6E747A">
                    <a:alpha val="43000"/>
                  </a:srgbClr>
                </a:outerShdw>
              </a:effectLst>
            </a:endParaRPr>
          </a:p>
        </p:txBody>
      </p:sp>
      <p:sp>
        <p:nvSpPr>
          <p:cNvPr id="5" name="TextBox 4"/>
          <p:cNvSpPr txBox="1"/>
          <p:nvPr/>
        </p:nvSpPr>
        <p:spPr>
          <a:xfrm>
            <a:off x="2264228" y="1391475"/>
            <a:ext cx="9030789" cy="369332"/>
          </a:xfrm>
          <a:prstGeom prst="rect">
            <a:avLst/>
          </a:prstGeom>
          <a:noFill/>
        </p:spPr>
        <p:txBody>
          <a:bodyPr wrap="square" rtlCol="0">
            <a:spAutoFit/>
          </a:bodyPr>
          <a:lstStyle/>
          <a:p>
            <a:r>
              <a:rPr lang="fr-CA">
                <a:ln w="0"/>
                <a:solidFill>
                  <a:schemeClr val="accent1"/>
                </a:solidFill>
                <a:effectLst>
                  <a:outerShdw blurRad="38100" dist="25400" dir="5400000" algn="ctr" rotWithShape="0">
                    <a:srgbClr val="6E747A">
                      <a:alpha val="43000"/>
                    </a:srgbClr>
                  </a:outerShdw>
                </a:effectLst>
              </a:rPr>
              <a:t>C’est quoi npm</a:t>
            </a:r>
          </a:p>
        </p:txBody>
      </p:sp>
      <p:sp>
        <p:nvSpPr>
          <p:cNvPr id="4" name="TextBox 3"/>
          <p:cNvSpPr txBox="1"/>
          <p:nvPr/>
        </p:nvSpPr>
        <p:spPr>
          <a:xfrm>
            <a:off x="2194560" y="3230880"/>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Utiliser npm pour installer des dépendances</a:t>
            </a:r>
          </a:p>
        </p:txBody>
      </p:sp>
      <p:sp>
        <p:nvSpPr>
          <p:cNvPr id="6" name="TextBox 5"/>
          <p:cNvSpPr txBox="1"/>
          <p:nvPr/>
        </p:nvSpPr>
        <p:spPr>
          <a:xfrm>
            <a:off x="2264228" y="4358696"/>
            <a:ext cx="9248503" cy="923330"/>
          </a:xfrm>
          <a:prstGeom prst="rect">
            <a:avLst/>
          </a:prstGeom>
          <a:noFill/>
        </p:spPr>
        <p:txBody>
          <a:bodyPr wrap="square" rtlCol="0">
            <a:spAutoFit/>
          </a:bodyPr>
          <a:lstStyle/>
          <a:p>
            <a:r>
              <a:rPr lang="fr-CA"/>
              <a:t>La première étape pour commencer un projet node.js est d’initialiser le workspace via la commande suivante qui va générer un projet vide avec les paramètres par default. </a:t>
            </a:r>
          </a:p>
        </p:txBody>
      </p:sp>
      <p:sp>
        <p:nvSpPr>
          <p:cNvPr id="8" name="TextBox 7"/>
          <p:cNvSpPr txBox="1"/>
          <p:nvPr/>
        </p:nvSpPr>
        <p:spPr>
          <a:xfrm>
            <a:off x="2325189" y="5643152"/>
            <a:ext cx="1724298" cy="369332"/>
          </a:xfrm>
          <a:prstGeom prst="rect">
            <a:avLst/>
          </a:prstGeom>
          <a:solidFill>
            <a:schemeClr val="tx2">
              <a:lumMod val="50000"/>
            </a:schemeClr>
          </a:solidFill>
        </p:spPr>
        <p:txBody>
          <a:bodyPr wrap="square" rtlCol="0">
            <a:spAutoFit/>
          </a:bodyPr>
          <a:lstStyle>
            <a:defPPr>
              <a:defRPr lang="fr-FR"/>
            </a:defPPr>
            <a:lvl1pPr>
              <a:defRPr>
                <a:solidFill>
                  <a:srgbClr val="82AAFF"/>
                </a:solidFill>
                <a:latin typeface="Consolas" panose="020B0609020204030204" pitchFamily="49" charset="0"/>
              </a:defRPr>
            </a:lvl1pPr>
          </a:lstStyle>
          <a:p>
            <a:r>
              <a:rPr lang="fr-CA"/>
              <a:t>npm init -y</a:t>
            </a:r>
          </a:p>
        </p:txBody>
      </p:sp>
      <p:sp>
        <p:nvSpPr>
          <p:cNvPr id="9" name="TextBox 8"/>
          <p:cNvSpPr txBox="1"/>
          <p:nvPr/>
        </p:nvSpPr>
        <p:spPr>
          <a:xfrm>
            <a:off x="2264228" y="3928876"/>
            <a:ext cx="3918857" cy="369332"/>
          </a:xfrm>
          <a:prstGeom prst="rect">
            <a:avLst/>
          </a:prstGeom>
          <a:noFill/>
        </p:spPr>
        <p:txBody>
          <a:bodyPr wrap="square" rtlCol="0">
            <a:spAutoFit/>
          </a:bodyPr>
          <a:lstStyle>
            <a:defPPr>
              <a:defRPr lang="fr-FR"/>
            </a:defPPr>
            <a:lvl1pPr>
              <a:defRPr>
                <a:ln w="0"/>
                <a:solidFill>
                  <a:schemeClr val="accent1"/>
                </a:solidFill>
                <a:effectLst>
                  <a:outerShdw blurRad="38100" dist="25400" dir="5400000" algn="ctr" rotWithShape="0">
                    <a:srgbClr val="6E747A">
                      <a:alpha val="43000"/>
                    </a:srgbClr>
                  </a:outerShdw>
                </a:effectLst>
              </a:defRPr>
            </a:lvl1pPr>
          </a:lstStyle>
          <a:p>
            <a:r>
              <a:rPr lang="fr-CA" dirty="0"/>
              <a:t>Initialiser une application node.js</a:t>
            </a:r>
          </a:p>
        </p:txBody>
      </p:sp>
    </p:spTree>
    <p:extLst>
      <p:ext uri="{BB962C8B-B14F-4D97-AF65-F5344CB8AC3E}">
        <p14:creationId xmlns:p14="http://schemas.microsoft.com/office/powerpoint/2010/main" val="95891402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4" grpId="0"/>
      <p:bldP spid="6" grpId="0"/>
      <p:bldP spid="8" grpId="0" animBg="1"/>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p:cNvSpPr txBox="1"/>
          <p:nvPr/>
        </p:nvSpPr>
        <p:spPr>
          <a:xfrm>
            <a:off x="2333896" y="2434051"/>
            <a:ext cx="9030789" cy="646331"/>
          </a:xfrm>
          <a:prstGeom prst="rect">
            <a:avLst/>
          </a:prstGeom>
          <a:noFill/>
        </p:spPr>
        <p:txBody>
          <a:bodyPr wrap="square" rtlCol="0">
            <a:spAutoFit/>
          </a:bodyPr>
          <a:lstStyle/>
          <a:p>
            <a:r>
              <a:rPr lang="fr-CA" dirty="0"/>
              <a:t>Cette commande rajoute le package-</a:t>
            </a:r>
            <a:r>
              <a:rPr lang="fr-CA" dirty="0" err="1"/>
              <a:t>name</a:t>
            </a:r>
            <a:r>
              <a:rPr lang="fr-CA" dirty="0"/>
              <a:t> au fichier </a:t>
            </a:r>
            <a:r>
              <a:rPr lang="fr-CA" dirty="0" err="1"/>
              <a:t>package.json</a:t>
            </a:r>
            <a:r>
              <a:rPr lang="fr-CA" dirty="0"/>
              <a:t> et installe la dépendance dans le repository locale  </a:t>
            </a:r>
            <a:r>
              <a:rPr lang="fr-CA" dirty="0" err="1"/>
              <a:t>node_modules</a:t>
            </a:r>
            <a:endParaRPr lang="fr-CA" dirty="0">
              <a:ln w="0"/>
              <a:solidFill>
                <a:schemeClr val="accent1"/>
              </a:solidFill>
              <a:effectLst>
                <a:outerShdw blurRad="38100" dist="25400" dir="5400000" algn="ctr" rotWithShape="0">
                  <a:srgbClr val="6E747A">
                    <a:alpha val="43000"/>
                  </a:srgbClr>
                </a:outerShdw>
              </a:effectLst>
            </a:endParaRPr>
          </a:p>
        </p:txBody>
      </p:sp>
      <p:sp>
        <p:nvSpPr>
          <p:cNvPr id="5" name="TextBox 4"/>
          <p:cNvSpPr txBox="1"/>
          <p:nvPr/>
        </p:nvSpPr>
        <p:spPr>
          <a:xfrm>
            <a:off x="2264228" y="1391475"/>
            <a:ext cx="9030789" cy="369332"/>
          </a:xfrm>
          <a:prstGeom prst="rect">
            <a:avLst/>
          </a:prstGeom>
          <a:noFill/>
        </p:spPr>
        <p:txBody>
          <a:bodyPr wrap="square" rtlCol="0">
            <a:spAutoFit/>
          </a:bodyPr>
          <a:lstStyle>
            <a:defPPr>
              <a:defRPr lang="fr-FR"/>
            </a:defPPr>
            <a:lvl1pPr>
              <a:defRPr>
                <a:ln w="0"/>
                <a:solidFill>
                  <a:schemeClr val="accent1"/>
                </a:solidFill>
                <a:effectLst>
                  <a:outerShdw blurRad="38100" dist="25400" dir="5400000" algn="ctr" rotWithShape="0">
                    <a:srgbClr val="6E747A">
                      <a:alpha val="43000"/>
                    </a:srgbClr>
                  </a:outerShdw>
                </a:effectLst>
              </a:defRPr>
            </a:lvl1pPr>
          </a:lstStyle>
          <a:p>
            <a:r>
              <a:rPr lang="fr-CA"/>
              <a:t>Installer un seul module</a:t>
            </a:r>
          </a:p>
        </p:txBody>
      </p:sp>
      <p:sp>
        <p:nvSpPr>
          <p:cNvPr id="4" name="TextBox 3"/>
          <p:cNvSpPr txBox="1"/>
          <p:nvPr/>
        </p:nvSpPr>
        <p:spPr>
          <a:xfrm>
            <a:off x="2168434" y="820756"/>
            <a:ext cx="8038012" cy="461665"/>
          </a:xfrm>
          <a:prstGeom prst="rect">
            <a:avLst/>
          </a:prstGeom>
          <a:noFill/>
        </p:spPr>
        <p:txBody>
          <a:bodyPr wrap="square" lIns="91440" tIns="45720" rIns="91440" bIns="45720" rtlCol="0" anchor="t">
            <a:spAutoFit/>
          </a:bodyPr>
          <a:lstStyle>
            <a:defPPr>
              <a:defRPr lang="fr-FR"/>
            </a:defPPr>
            <a:lvl1pPr>
              <a:defRPr sz="2400" b="1">
                <a:solidFill>
                  <a:schemeClr val="accent1"/>
                </a:solidFill>
              </a:defRPr>
            </a:lvl1pPr>
          </a:lstStyle>
          <a:p>
            <a:r>
              <a:rPr lang="fr-CA" dirty="0">
                <a:solidFill>
                  <a:schemeClr val="tx1"/>
                </a:solidFill>
              </a:rPr>
              <a:t>Utiliser </a:t>
            </a:r>
            <a:r>
              <a:rPr lang="fr-CA" dirty="0" err="1">
                <a:solidFill>
                  <a:schemeClr val="tx1"/>
                </a:solidFill>
              </a:rPr>
              <a:t>npm</a:t>
            </a:r>
            <a:r>
              <a:rPr lang="fr-CA" dirty="0">
                <a:solidFill>
                  <a:schemeClr val="tx1"/>
                </a:solidFill>
              </a:rPr>
              <a:t> pour installer des dépendances</a:t>
            </a:r>
          </a:p>
        </p:txBody>
      </p:sp>
      <p:sp>
        <p:nvSpPr>
          <p:cNvPr id="6" name="TextBox 5"/>
          <p:cNvSpPr txBox="1"/>
          <p:nvPr/>
        </p:nvSpPr>
        <p:spPr>
          <a:xfrm>
            <a:off x="2333896" y="3264664"/>
            <a:ext cx="9248503" cy="1477328"/>
          </a:xfrm>
          <a:prstGeom prst="rect">
            <a:avLst/>
          </a:prstGeom>
          <a:noFill/>
        </p:spPr>
        <p:txBody>
          <a:bodyPr wrap="square" rtlCol="0">
            <a:spAutoFit/>
          </a:bodyPr>
          <a:lstStyle/>
          <a:p>
            <a:r>
              <a:rPr lang="fr-CA" dirty="0"/>
              <a:t>Les deux options importantes qu’on peut passer à cette commande :</a:t>
            </a:r>
          </a:p>
          <a:p>
            <a:r>
              <a:rPr lang="fr-CA" dirty="0">
                <a:solidFill>
                  <a:srgbClr val="0070C0"/>
                </a:solidFill>
              </a:rPr>
              <a:t>-S ou --</a:t>
            </a:r>
            <a:r>
              <a:rPr lang="fr-CA" dirty="0" err="1">
                <a:solidFill>
                  <a:srgbClr val="0070C0"/>
                </a:solidFill>
              </a:rPr>
              <a:t>save</a:t>
            </a:r>
            <a:r>
              <a:rPr lang="fr-CA" dirty="0"/>
              <a:t> : la dépendance va être livrée en production (c’est l’action par défaut).</a:t>
            </a:r>
          </a:p>
          <a:p>
            <a:r>
              <a:rPr lang="fr-CA" dirty="0">
                <a:solidFill>
                  <a:srgbClr val="0070C0"/>
                </a:solidFill>
              </a:rPr>
              <a:t>-D ou --</a:t>
            </a:r>
            <a:r>
              <a:rPr lang="fr-CA" dirty="0" err="1">
                <a:solidFill>
                  <a:srgbClr val="0070C0"/>
                </a:solidFill>
              </a:rPr>
              <a:t>save</a:t>
            </a:r>
            <a:r>
              <a:rPr lang="fr-CA" dirty="0">
                <a:solidFill>
                  <a:srgbClr val="0070C0"/>
                </a:solidFill>
              </a:rPr>
              <a:t>-dev</a:t>
            </a:r>
            <a:r>
              <a:rPr lang="fr-CA" dirty="0"/>
              <a:t> : installer la dépendance pour le développement. Elle ne sera pas dans le bundle qui s’en va en production.</a:t>
            </a:r>
          </a:p>
        </p:txBody>
      </p:sp>
      <p:sp>
        <p:nvSpPr>
          <p:cNvPr id="7" name="TextBox 6"/>
          <p:cNvSpPr txBox="1"/>
          <p:nvPr/>
        </p:nvSpPr>
        <p:spPr>
          <a:xfrm>
            <a:off x="2333896" y="1869861"/>
            <a:ext cx="4153989" cy="369332"/>
          </a:xfrm>
          <a:prstGeom prst="rect">
            <a:avLst/>
          </a:prstGeom>
          <a:solidFill>
            <a:schemeClr val="tx2">
              <a:lumMod val="50000"/>
            </a:schemeClr>
          </a:solidFill>
        </p:spPr>
        <p:txBody>
          <a:bodyPr wrap="square" rtlCol="0">
            <a:spAutoFit/>
          </a:bodyPr>
          <a:lstStyle>
            <a:defPPr>
              <a:defRPr lang="fr-FR"/>
            </a:defPPr>
            <a:lvl1pPr>
              <a:defRPr>
                <a:solidFill>
                  <a:srgbClr val="82AAFF"/>
                </a:solidFill>
                <a:latin typeface="Consolas" panose="020B0609020204030204" pitchFamily="49" charset="0"/>
              </a:defRPr>
            </a:lvl1pPr>
          </a:lstStyle>
          <a:p>
            <a:r>
              <a:rPr lang="fr-CA" dirty="0" err="1"/>
              <a:t>npm</a:t>
            </a:r>
            <a:r>
              <a:rPr lang="fr-CA" dirty="0"/>
              <a:t> </a:t>
            </a:r>
            <a:r>
              <a:rPr lang="fr-CA" dirty="0" err="1"/>
              <a:t>install</a:t>
            </a:r>
            <a:r>
              <a:rPr lang="fr-CA" dirty="0"/>
              <a:t> &lt;package-</a:t>
            </a:r>
            <a:r>
              <a:rPr lang="fr-CA" dirty="0" err="1"/>
              <a:t>name</a:t>
            </a:r>
            <a:r>
              <a:rPr lang="fr-CA" dirty="0"/>
              <a:t>&gt;</a:t>
            </a:r>
          </a:p>
        </p:txBody>
      </p:sp>
      <p:sp>
        <p:nvSpPr>
          <p:cNvPr id="11" name="TextBox 10"/>
          <p:cNvSpPr txBox="1"/>
          <p:nvPr/>
        </p:nvSpPr>
        <p:spPr>
          <a:xfrm>
            <a:off x="2412274" y="5027550"/>
            <a:ext cx="9065623" cy="646331"/>
          </a:xfrm>
          <a:prstGeom prst="rect">
            <a:avLst/>
          </a:prstGeom>
          <a:noFill/>
        </p:spPr>
        <p:txBody>
          <a:bodyPr wrap="square" rtlCol="0">
            <a:spAutoFit/>
          </a:bodyPr>
          <a:lstStyle/>
          <a:p>
            <a:pPr lvl="0"/>
            <a:r>
              <a:rPr lang="fr-CA"/>
              <a:t>Exemple</a:t>
            </a:r>
          </a:p>
          <a:p>
            <a:pPr lvl="0"/>
            <a:r>
              <a:rPr lang="fr-CA"/>
              <a:t>Installer une dépendance par default (-S ou --save) </a:t>
            </a:r>
          </a:p>
        </p:txBody>
      </p:sp>
      <p:sp>
        <p:nvSpPr>
          <p:cNvPr id="12" name="Rectangle 11"/>
          <p:cNvSpPr/>
          <p:nvPr/>
        </p:nvSpPr>
        <p:spPr>
          <a:xfrm>
            <a:off x="2412274" y="5774773"/>
            <a:ext cx="3097323" cy="369332"/>
          </a:xfrm>
          <a:prstGeom prst="rect">
            <a:avLst/>
          </a:prstGeom>
          <a:solidFill>
            <a:schemeClr val="tx2">
              <a:lumMod val="50000"/>
            </a:schemeClr>
          </a:solidFill>
        </p:spPr>
        <p:txBody>
          <a:bodyPr wrap="square" rtlCol="0">
            <a:spAutoFit/>
          </a:bodyPr>
          <a:lstStyle/>
          <a:p>
            <a:r>
              <a:rPr lang="fr-CA" dirty="0" err="1">
                <a:solidFill>
                  <a:srgbClr val="82AAFF"/>
                </a:solidFill>
                <a:latin typeface="Consolas" panose="020B0609020204030204" pitchFamily="49" charset="0"/>
              </a:rPr>
              <a:t>npm</a:t>
            </a:r>
            <a:r>
              <a:rPr lang="fr-CA" dirty="0">
                <a:solidFill>
                  <a:srgbClr val="82AAFF"/>
                </a:solidFill>
                <a:latin typeface="Consolas" panose="020B0609020204030204" pitchFamily="49" charset="0"/>
              </a:rPr>
              <a:t> </a:t>
            </a:r>
            <a:r>
              <a:rPr lang="fr-CA" dirty="0" err="1">
                <a:solidFill>
                  <a:srgbClr val="82AAFF"/>
                </a:solidFill>
                <a:latin typeface="Consolas" panose="020B0609020204030204" pitchFamily="49" charset="0"/>
              </a:rPr>
              <a:t>install</a:t>
            </a:r>
            <a:r>
              <a:rPr lang="fr-CA" dirty="0">
                <a:solidFill>
                  <a:srgbClr val="82AAFF"/>
                </a:solidFill>
                <a:latin typeface="Consolas" panose="020B0609020204030204" pitchFamily="49" charset="0"/>
              </a:rPr>
              <a:t> </a:t>
            </a:r>
            <a:r>
              <a:rPr lang="fr-CA" dirty="0" err="1">
                <a:solidFill>
                  <a:srgbClr val="82AAFF"/>
                </a:solidFill>
                <a:latin typeface="Consolas" panose="020B0609020204030204" pitchFamily="49" charset="0"/>
              </a:rPr>
              <a:t>json</a:t>
            </a:r>
            <a:r>
              <a:rPr lang="fr-CA" dirty="0">
                <a:solidFill>
                  <a:srgbClr val="82AAFF"/>
                </a:solidFill>
                <a:latin typeface="Consolas" panose="020B0609020204030204" pitchFamily="49" charset="0"/>
              </a:rPr>
              <a:t>-format</a:t>
            </a:r>
          </a:p>
        </p:txBody>
      </p:sp>
    </p:spTree>
    <p:extLst>
      <p:ext uri="{BB962C8B-B14F-4D97-AF65-F5344CB8AC3E}">
        <p14:creationId xmlns:p14="http://schemas.microsoft.com/office/powerpoint/2010/main" val="127469879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animBg="1"/>
      <p:bldP spid="11" grpId="0"/>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p:cNvSpPr txBox="1"/>
          <p:nvPr/>
        </p:nvSpPr>
        <p:spPr>
          <a:xfrm>
            <a:off x="2264228" y="1391475"/>
            <a:ext cx="9030789" cy="369332"/>
          </a:xfrm>
          <a:prstGeom prst="rect">
            <a:avLst/>
          </a:prstGeom>
          <a:noFill/>
        </p:spPr>
        <p:txBody>
          <a:bodyPr wrap="square" rtlCol="0">
            <a:spAutoFit/>
          </a:bodyPr>
          <a:lstStyle>
            <a:defPPr>
              <a:defRPr lang="fr-FR"/>
            </a:defPPr>
            <a:lvl1pPr>
              <a:defRPr>
                <a:ln w="0"/>
                <a:solidFill>
                  <a:schemeClr val="accent1"/>
                </a:solidFill>
                <a:effectLst>
                  <a:outerShdw blurRad="38100" dist="25400" dir="5400000" algn="ctr" rotWithShape="0">
                    <a:srgbClr val="6E747A">
                      <a:alpha val="43000"/>
                    </a:srgbClr>
                  </a:outerShdw>
                </a:effectLst>
              </a:defRPr>
            </a:lvl1pPr>
          </a:lstStyle>
          <a:p>
            <a:r>
              <a:rPr lang="fr-CA"/>
              <a:t>Installer un seul module</a:t>
            </a:r>
          </a:p>
        </p:txBody>
      </p:sp>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Utiliser npm pour installer des dépendances</a:t>
            </a:r>
          </a:p>
        </p:txBody>
      </p:sp>
      <p:sp>
        <p:nvSpPr>
          <p:cNvPr id="11" name="TextBox 10"/>
          <p:cNvSpPr txBox="1"/>
          <p:nvPr/>
        </p:nvSpPr>
        <p:spPr>
          <a:xfrm>
            <a:off x="2264228" y="1869861"/>
            <a:ext cx="9065623" cy="1200329"/>
          </a:xfrm>
          <a:prstGeom prst="rect">
            <a:avLst/>
          </a:prstGeom>
          <a:noFill/>
        </p:spPr>
        <p:txBody>
          <a:bodyPr wrap="square" rtlCol="0">
            <a:spAutoFit/>
          </a:bodyPr>
          <a:lstStyle/>
          <a:p>
            <a:pPr lvl="0"/>
            <a:r>
              <a:rPr lang="fr-CA"/>
              <a:t>Exemple</a:t>
            </a:r>
          </a:p>
          <a:p>
            <a:pPr lvl="0"/>
            <a:r>
              <a:rPr lang="fr-CA"/>
              <a:t>Installer une dépendance pour le développement seulement donc on va désinstaller le même module installé dans l’exemple précédent puis on le réinstalle pour développement.</a:t>
            </a:r>
          </a:p>
        </p:txBody>
      </p:sp>
      <p:sp>
        <p:nvSpPr>
          <p:cNvPr id="12" name="Rectangle 11"/>
          <p:cNvSpPr/>
          <p:nvPr/>
        </p:nvSpPr>
        <p:spPr>
          <a:xfrm>
            <a:off x="2264228" y="3249288"/>
            <a:ext cx="5138058" cy="646331"/>
          </a:xfrm>
          <a:prstGeom prst="rect">
            <a:avLst/>
          </a:prstGeom>
          <a:solidFill>
            <a:schemeClr val="tx2">
              <a:lumMod val="50000"/>
            </a:schemeClr>
          </a:solidFill>
        </p:spPr>
        <p:txBody>
          <a:bodyPr wrap="square" rtlCol="0">
            <a:spAutoFit/>
          </a:bodyPr>
          <a:lstStyle/>
          <a:p>
            <a:r>
              <a:rPr lang="fr-CA">
                <a:solidFill>
                  <a:srgbClr val="82AAFF"/>
                </a:solidFill>
                <a:latin typeface="Consolas" panose="020B0609020204030204" pitchFamily="49" charset="0"/>
              </a:rPr>
              <a:t>npm uninstall json-format </a:t>
            </a:r>
          </a:p>
          <a:p>
            <a:r>
              <a:rPr lang="fr-CA">
                <a:solidFill>
                  <a:srgbClr val="82AAFF"/>
                </a:solidFill>
                <a:latin typeface="Consolas" panose="020B0609020204030204" pitchFamily="49" charset="0"/>
              </a:rPr>
              <a:t>npm install json-format --save-dev</a:t>
            </a:r>
          </a:p>
        </p:txBody>
      </p:sp>
      <p:sp>
        <p:nvSpPr>
          <p:cNvPr id="9" name="TextBox 8"/>
          <p:cNvSpPr txBox="1"/>
          <p:nvPr/>
        </p:nvSpPr>
        <p:spPr>
          <a:xfrm>
            <a:off x="2264227" y="4107445"/>
            <a:ext cx="9030789" cy="369332"/>
          </a:xfrm>
          <a:prstGeom prst="rect">
            <a:avLst/>
          </a:prstGeom>
          <a:noFill/>
        </p:spPr>
        <p:txBody>
          <a:bodyPr wrap="square" rtlCol="0">
            <a:spAutoFit/>
          </a:bodyPr>
          <a:lstStyle>
            <a:defPPr>
              <a:defRPr lang="fr-FR"/>
            </a:defPPr>
            <a:lvl1pPr>
              <a:defRPr>
                <a:ln w="0"/>
                <a:solidFill>
                  <a:schemeClr val="accent1"/>
                </a:solidFill>
                <a:effectLst>
                  <a:outerShdw blurRad="38100" dist="25400" dir="5400000" algn="ctr" rotWithShape="0">
                    <a:srgbClr val="6E747A">
                      <a:alpha val="43000"/>
                    </a:srgbClr>
                  </a:outerShdw>
                </a:effectLst>
              </a:defRPr>
            </a:lvl1pPr>
          </a:lstStyle>
          <a:p>
            <a:r>
              <a:rPr lang="fr-CA"/>
              <a:t>Installer toutes les dépendances du package.json</a:t>
            </a:r>
          </a:p>
        </p:txBody>
      </p:sp>
      <p:sp>
        <p:nvSpPr>
          <p:cNvPr id="2" name="TextBox 1"/>
          <p:cNvSpPr txBox="1"/>
          <p:nvPr/>
        </p:nvSpPr>
        <p:spPr>
          <a:xfrm>
            <a:off x="2264226" y="4585831"/>
            <a:ext cx="9030789" cy="923330"/>
          </a:xfrm>
          <a:prstGeom prst="rect">
            <a:avLst/>
          </a:prstGeom>
          <a:noFill/>
        </p:spPr>
        <p:txBody>
          <a:bodyPr wrap="square" rtlCol="0">
            <a:spAutoFit/>
          </a:bodyPr>
          <a:lstStyle/>
          <a:p>
            <a:r>
              <a:rPr lang="fr-CA" dirty="0"/>
              <a:t>Si le répertoire du projet contient  un fichier </a:t>
            </a:r>
            <a:r>
              <a:rPr lang="fr-CA" dirty="0" err="1"/>
              <a:t>package.json</a:t>
            </a:r>
            <a:r>
              <a:rPr lang="fr-CA" dirty="0"/>
              <a:t>, on peut les installer via cette commande</a:t>
            </a:r>
          </a:p>
          <a:p>
            <a:endParaRPr lang="fr-CA" dirty="0"/>
          </a:p>
        </p:txBody>
      </p:sp>
      <p:sp>
        <p:nvSpPr>
          <p:cNvPr id="13" name="Rectangle 12"/>
          <p:cNvSpPr/>
          <p:nvPr/>
        </p:nvSpPr>
        <p:spPr>
          <a:xfrm>
            <a:off x="2264226" y="5544288"/>
            <a:ext cx="1741717" cy="369332"/>
          </a:xfrm>
          <a:prstGeom prst="rect">
            <a:avLst/>
          </a:prstGeom>
          <a:solidFill>
            <a:schemeClr val="tx2">
              <a:lumMod val="50000"/>
            </a:schemeClr>
          </a:solidFill>
        </p:spPr>
        <p:txBody>
          <a:bodyPr wrap="square" rtlCol="0">
            <a:spAutoFit/>
          </a:bodyPr>
          <a:lstStyle/>
          <a:p>
            <a:r>
              <a:rPr lang="fr-CA" dirty="0" err="1">
                <a:solidFill>
                  <a:srgbClr val="82AAFF"/>
                </a:solidFill>
                <a:latin typeface="Consolas" panose="020B0609020204030204" pitchFamily="49" charset="0"/>
              </a:rPr>
              <a:t>npm</a:t>
            </a:r>
            <a:r>
              <a:rPr lang="fr-CA" dirty="0">
                <a:solidFill>
                  <a:srgbClr val="82AAFF"/>
                </a:solidFill>
                <a:latin typeface="Consolas" panose="020B0609020204030204" pitchFamily="49" charset="0"/>
              </a:rPr>
              <a:t> </a:t>
            </a:r>
            <a:r>
              <a:rPr lang="fr-CA" dirty="0" err="1">
                <a:solidFill>
                  <a:srgbClr val="82AAFF"/>
                </a:solidFill>
                <a:latin typeface="Consolas" panose="020B0609020204030204" pitchFamily="49" charset="0"/>
              </a:rPr>
              <a:t>install</a:t>
            </a:r>
            <a:endParaRPr lang="fr-CA" dirty="0">
              <a:solidFill>
                <a:srgbClr val="82AAFF"/>
              </a:solidFill>
              <a:latin typeface="Consolas" panose="020B0609020204030204" pitchFamily="49" charset="0"/>
            </a:endParaRPr>
          </a:p>
        </p:txBody>
      </p:sp>
      <p:sp>
        <p:nvSpPr>
          <p:cNvPr id="8" name="TextBox 7"/>
          <p:cNvSpPr txBox="1"/>
          <p:nvPr/>
        </p:nvSpPr>
        <p:spPr>
          <a:xfrm>
            <a:off x="2264226" y="5948748"/>
            <a:ext cx="9353006" cy="646331"/>
          </a:xfrm>
          <a:prstGeom prst="rect">
            <a:avLst/>
          </a:prstGeom>
          <a:noFill/>
        </p:spPr>
        <p:txBody>
          <a:bodyPr wrap="square" rtlCol="0">
            <a:spAutoFit/>
          </a:bodyPr>
          <a:lstStyle/>
          <a:p>
            <a:r>
              <a:rPr lang="fr-CA"/>
              <a:t>Cette commande va installer toutes les dépendances dans un répertoire node_modules (Si ce répertoire n’existe pas, ça va être créé automatiquement).</a:t>
            </a:r>
          </a:p>
        </p:txBody>
      </p:sp>
    </p:spTree>
    <p:extLst>
      <p:ext uri="{BB962C8B-B14F-4D97-AF65-F5344CB8AC3E}">
        <p14:creationId xmlns:p14="http://schemas.microsoft.com/office/powerpoint/2010/main" val="160500498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2" grpId="0" animBg="1"/>
      <p:bldP spid="9" grpId="0"/>
      <p:bldP spid="2" grpId="0"/>
      <p:bldP spid="13" grpId="0" animBg="1"/>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p:cNvSpPr txBox="1"/>
          <p:nvPr/>
        </p:nvSpPr>
        <p:spPr>
          <a:xfrm>
            <a:off x="2264228" y="1391475"/>
            <a:ext cx="9030789" cy="369332"/>
          </a:xfrm>
          <a:prstGeom prst="rect">
            <a:avLst/>
          </a:prstGeom>
          <a:noFill/>
        </p:spPr>
        <p:txBody>
          <a:bodyPr wrap="square" rtlCol="0">
            <a:spAutoFit/>
          </a:bodyPr>
          <a:lstStyle>
            <a:defPPr>
              <a:defRPr lang="fr-FR"/>
            </a:defPPr>
            <a:lvl1pPr>
              <a:defRPr>
                <a:ln w="0"/>
                <a:solidFill>
                  <a:schemeClr val="accent1"/>
                </a:solidFill>
                <a:effectLst>
                  <a:outerShdw blurRad="38100" dist="25400" dir="5400000" algn="ctr" rotWithShape="0">
                    <a:srgbClr val="6E747A">
                      <a:alpha val="43000"/>
                    </a:srgbClr>
                  </a:outerShdw>
                </a:effectLst>
              </a:defRPr>
            </a:lvl1pPr>
          </a:lstStyle>
          <a:p>
            <a:r>
              <a:rPr lang="fr-CA">
                <a:effectLst/>
              </a:rPr>
              <a:t>Mettre à jour un package</a:t>
            </a:r>
            <a:endParaRPr lang="fr-CA"/>
          </a:p>
        </p:txBody>
      </p:sp>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dirty="0">
                <a:highlight>
                  <a:srgbClr val="FFFF00"/>
                </a:highlight>
              </a:rPr>
              <a:t>Utiliser </a:t>
            </a:r>
            <a:r>
              <a:rPr lang="fr-CA" dirty="0" err="1">
                <a:highlight>
                  <a:srgbClr val="FFFF00"/>
                </a:highlight>
              </a:rPr>
              <a:t>npm</a:t>
            </a:r>
            <a:r>
              <a:rPr lang="fr-CA" dirty="0">
                <a:highlight>
                  <a:srgbClr val="FFFF00"/>
                </a:highlight>
              </a:rPr>
              <a:t> pour installer des dépendances</a:t>
            </a:r>
          </a:p>
        </p:txBody>
      </p:sp>
      <p:sp>
        <p:nvSpPr>
          <p:cNvPr id="11" name="TextBox 10"/>
          <p:cNvSpPr txBox="1"/>
          <p:nvPr/>
        </p:nvSpPr>
        <p:spPr>
          <a:xfrm>
            <a:off x="2264228" y="1869861"/>
            <a:ext cx="9065623" cy="646331"/>
          </a:xfrm>
          <a:prstGeom prst="rect">
            <a:avLst/>
          </a:prstGeom>
          <a:noFill/>
        </p:spPr>
        <p:txBody>
          <a:bodyPr wrap="square" rtlCol="0">
            <a:spAutoFit/>
          </a:bodyPr>
          <a:lstStyle/>
          <a:p>
            <a:pPr lvl="0"/>
            <a:r>
              <a:rPr lang="fr-CA" dirty="0"/>
              <a:t>Pour mettre à jour tous les packages package.js à la dernière version stable on utilise la commande suivante</a:t>
            </a:r>
          </a:p>
        </p:txBody>
      </p:sp>
      <p:sp>
        <p:nvSpPr>
          <p:cNvPr id="12" name="Rectangle 11"/>
          <p:cNvSpPr/>
          <p:nvPr/>
        </p:nvSpPr>
        <p:spPr>
          <a:xfrm>
            <a:off x="2264226" y="2550508"/>
            <a:ext cx="1593671" cy="369332"/>
          </a:xfrm>
          <a:prstGeom prst="rect">
            <a:avLst/>
          </a:prstGeom>
          <a:solidFill>
            <a:schemeClr val="tx2">
              <a:lumMod val="50000"/>
            </a:schemeClr>
          </a:solidFill>
        </p:spPr>
        <p:txBody>
          <a:bodyPr wrap="square" rtlCol="0">
            <a:spAutoFit/>
          </a:bodyPr>
          <a:lstStyle/>
          <a:p>
            <a:r>
              <a:rPr lang="fr-CA" dirty="0" err="1">
                <a:solidFill>
                  <a:srgbClr val="82AAFF"/>
                </a:solidFill>
                <a:latin typeface="Consolas" panose="020B0609020204030204" pitchFamily="49" charset="0"/>
              </a:rPr>
              <a:t>npm</a:t>
            </a:r>
            <a:r>
              <a:rPr lang="fr-CA" dirty="0">
                <a:solidFill>
                  <a:srgbClr val="82AAFF"/>
                </a:solidFill>
                <a:latin typeface="Consolas" panose="020B0609020204030204" pitchFamily="49" charset="0"/>
              </a:rPr>
              <a:t> update</a:t>
            </a:r>
          </a:p>
        </p:txBody>
      </p:sp>
      <p:sp>
        <p:nvSpPr>
          <p:cNvPr id="9" name="TextBox 8"/>
          <p:cNvSpPr txBox="1"/>
          <p:nvPr/>
        </p:nvSpPr>
        <p:spPr>
          <a:xfrm>
            <a:off x="2264227" y="4107445"/>
            <a:ext cx="9030789" cy="369332"/>
          </a:xfrm>
          <a:prstGeom prst="rect">
            <a:avLst/>
          </a:prstGeom>
          <a:noFill/>
        </p:spPr>
        <p:txBody>
          <a:bodyPr wrap="square" rtlCol="0">
            <a:spAutoFit/>
          </a:bodyPr>
          <a:lstStyle>
            <a:defPPr>
              <a:defRPr lang="fr-FR"/>
            </a:defPPr>
            <a:lvl1pPr>
              <a:defRPr>
                <a:ln w="0"/>
                <a:solidFill>
                  <a:schemeClr val="accent1"/>
                </a:solidFill>
                <a:effectLst>
                  <a:outerShdw blurRad="38100" dist="25400" dir="5400000" algn="ctr" rotWithShape="0">
                    <a:srgbClr val="6E747A">
                      <a:alpha val="43000"/>
                    </a:srgbClr>
                  </a:outerShdw>
                </a:effectLst>
              </a:defRPr>
            </a:lvl1pPr>
          </a:lstStyle>
          <a:p>
            <a:r>
              <a:rPr lang="fr-CA">
                <a:effectLst/>
              </a:rPr>
              <a:t>Gestion des versions (versioning)</a:t>
            </a:r>
            <a:endParaRPr lang="fr-CA"/>
          </a:p>
        </p:txBody>
      </p:sp>
      <p:sp>
        <p:nvSpPr>
          <p:cNvPr id="2" name="TextBox 1"/>
          <p:cNvSpPr txBox="1"/>
          <p:nvPr/>
        </p:nvSpPr>
        <p:spPr>
          <a:xfrm>
            <a:off x="2264225" y="4585831"/>
            <a:ext cx="9030789" cy="646331"/>
          </a:xfrm>
          <a:prstGeom prst="rect">
            <a:avLst/>
          </a:prstGeom>
          <a:noFill/>
        </p:spPr>
        <p:txBody>
          <a:bodyPr wrap="square" rtlCol="0">
            <a:spAutoFit/>
          </a:bodyPr>
          <a:lstStyle/>
          <a:p>
            <a:r>
              <a:rPr lang="fr-CA"/>
              <a:t>npm gère les versions des packages, on peut spécifier la version qu’on veut utiliser durant l’installation.</a:t>
            </a:r>
          </a:p>
        </p:txBody>
      </p:sp>
      <p:sp>
        <p:nvSpPr>
          <p:cNvPr id="13" name="Rectangle 12"/>
          <p:cNvSpPr/>
          <p:nvPr/>
        </p:nvSpPr>
        <p:spPr>
          <a:xfrm>
            <a:off x="2264225" y="3532111"/>
            <a:ext cx="3509557" cy="369332"/>
          </a:xfrm>
          <a:prstGeom prst="rect">
            <a:avLst/>
          </a:prstGeom>
          <a:solidFill>
            <a:schemeClr val="tx2">
              <a:lumMod val="50000"/>
            </a:schemeClr>
          </a:solidFill>
        </p:spPr>
        <p:txBody>
          <a:bodyPr wrap="square" rtlCol="0">
            <a:spAutoFit/>
          </a:bodyPr>
          <a:lstStyle/>
          <a:p>
            <a:r>
              <a:rPr lang="fr-CA" dirty="0" err="1">
                <a:solidFill>
                  <a:srgbClr val="82AAFF"/>
                </a:solidFill>
                <a:latin typeface="Consolas" panose="020B0609020204030204" pitchFamily="49" charset="0"/>
              </a:rPr>
              <a:t>npm</a:t>
            </a:r>
            <a:r>
              <a:rPr lang="fr-CA" dirty="0">
                <a:solidFill>
                  <a:srgbClr val="82AAFF"/>
                </a:solidFill>
                <a:latin typeface="Consolas" panose="020B0609020204030204" pitchFamily="49" charset="0"/>
              </a:rPr>
              <a:t> update &lt;package-</a:t>
            </a:r>
            <a:r>
              <a:rPr lang="fr-CA" dirty="0" err="1">
                <a:solidFill>
                  <a:srgbClr val="82AAFF"/>
                </a:solidFill>
                <a:latin typeface="Consolas" panose="020B0609020204030204" pitchFamily="49" charset="0"/>
              </a:rPr>
              <a:t>name</a:t>
            </a:r>
            <a:r>
              <a:rPr lang="fr-CA" dirty="0">
                <a:solidFill>
                  <a:srgbClr val="82AAFF"/>
                </a:solidFill>
                <a:latin typeface="Consolas" panose="020B0609020204030204" pitchFamily="49" charset="0"/>
              </a:rPr>
              <a:t>&gt;</a:t>
            </a:r>
          </a:p>
        </p:txBody>
      </p:sp>
      <p:sp>
        <p:nvSpPr>
          <p:cNvPr id="8" name="TextBox 7"/>
          <p:cNvSpPr txBox="1"/>
          <p:nvPr/>
        </p:nvSpPr>
        <p:spPr>
          <a:xfrm>
            <a:off x="2264225" y="5346991"/>
            <a:ext cx="9353006" cy="923330"/>
          </a:xfrm>
          <a:prstGeom prst="rect">
            <a:avLst/>
          </a:prstGeom>
          <a:solidFill>
            <a:schemeClr val="tx2">
              <a:lumMod val="50000"/>
            </a:schemeClr>
          </a:solidFill>
        </p:spPr>
        <p:txBody>
          <a:bodyPr wrap="square" rtlCol="0">
            <a:spAutoFit/>
          </a:bodyPr>
          <a:lstStyle>
            <a:defPPr>
              <a:defRPr lang="fr-FR"/>
            </a:defPPr>
            <a:lvl1pPr>
              <a:defRPr>
                <a:solidFill>
                  <a:srgbClr val="82AAFF"/>
                </a:solidFill>
                <a:latin typeface="Consolas" panose="020B0609020204030204" pitchFamily="49" charset="0"/>
              </a:defRPr>
            </a:lvl1pPr>
          </a:lstStyle>
          <a:p>
            <a:r>
              <a:rPr lang="fr-CA"/>
              <a:t>Exemple </a:t>
            </a:r>
          </a:p>
          <a:p>
            <a:r>
              <a:rPr lang="en-US"/>
              <a:t>npm install &lt;package-name&gt;@&lt;version&gt;</a:t>
            </a:r>
            <a:endParaRPr lang="fr-CA"/>
          </a:p>
          <a:p>
            <a:r>
              <a:rPr lang="fr-CA"/>
              <a:t>npm install dotenv@5.2.0</a:t>
            </a:r>
          </a:p>
        </p:txBody>
      </p:sp>
      <p:sp>
        <p:nvSpPr>
          <p:cNvPr id="10" name="TextBox 9"/>
          <p:cNvSpPr txBox="1"/>
          <p:nvPr/>
        </p:nvSpPr>
        <p:spPr>
          <a:xfrm>
            <a:off x="2264228" y="3051135"/>
            <a:ext cx="9065623" cy="369332"/>
          </a:xfrm>
          <a:prstGeom prst="rect">
            <a:avLst/>
          </a:prstGeom>
          <a:noFill/>
        </p:spPr>
        <p:txBody>
          <a:bodyPr wrap="square" rtlCol="0">
            <a:spAutoFit/>
          </a:bodyPr>
          <a:lstStyle/>
          <a:p>
            <a:pPr lvl="0"/>
            <a:r>
              <a:rPr lang="fr-CA" dirty="0"/>
              <a:t>Pour mettre à jour un seul package à sa dernière version stable</a:t>
            </a:r>
          </a:p>
        </p:txBody>
      </p:sp>
    </p:spTree>
    <p:extLst>
      <p:ext uri="{BB962C8B-B14F-4D97-AF65-F5344CB8AC3E}">
        <p14:creationId xmlns:p14="http://schemas.microsoft.com/office/powerpoint/2010/main" val="168901902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2" grpId="0" animBg="1"/>
      <p:bldP spid="9" grpId="0"/>
      <p:bldP spid="2" grpId="0"/>
      <p:bldP spid="13" grpId="0" animBg="1"/>
      <p:bldP spid="8" grpId="0" animBg="1"/>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p:cNvSpPr txBox="1"/>
          <p:nvPr/>
        </p:nvSpPr>
        <p:spPr>
          <a:xfrm>
            <a:off x="2264228" y="1391475"/>
            <a:ext cx="9030789"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Exécution des taches (tasks) </a:t>
            </a:r>
          </a:p>
        </p:txBody>
      </p:sp>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Utiliser npm pour installer des dépendances</a:t>
            </a:r>
          </a:p>
        </p:txBody>
      </p:sp>
      <p:sp>
        <p:nvSpPr>
          <p:cNvPr id="11" name="TextBox 10"/>
          <p:cNvSpPr txBox="1"/>
          <p:nvPr/>
        </p:nvSpPr>
        <p:spPr>
          <a:xfrm>
            <a:off x="2264228" y="1869861"/>
            <a:ext cx="9065623" cy="646331"/>
          </a:xfrm>
          <a:prstGeom prst="rect">
            <a:avLst/>
          </a:prstGeom>
          <a:noFill/>
        </p:spPr>
        <p:txBody>
          <a:bodyPr wrap="square" rtlCol="0">
            <a:spAutoFit/>
          </a:bodyPr>
          <a:lstStyle/>
          <a:p>
            <a:pPr lvl="0"/>
            <a:r>
              <a:rPr lang="fr-CA"/>
              <a:t>On peut définir dans le package.json des actions à exécuter en utilisant la commande.</a:t>
            </a:r>
          </a:p>
        </p:txBody>
      </p:sp>
      <p:sp>
        <p:nvSpPr>
          <p:cNvPr id="12" name="Rectangle 11"/>
          <p:cNvSpPr/>
          <p:nvPr/>
        </p:nvSpPr>
        <p:spPr>
          <a:xfrm>
            <a:off x="2264227" y="2594053"/>
            <a:ext cx="2708368" cy="369332"/>
          </a:xfrm>
          <a:prstGeom prst="rect">
            <a:avLst/>
          </a:prstGeom>
          <a:solidFill>
            <a:schemeClr val="tx2">
              <a:lumMod val="50000"/>
            </a:schemeClr>
          </a:solidFill>
        </p:spPr>
        <p:txBody>
          <a:bodyPr wrap="square" rtlCol="0">
            <a:spAutoFit/>
          </a:bodyPr>
          <a:lstStyle/>
          <a:p>
            <a:r>
              <a:rPr lang="fr-CA">
                <a:solidFill>
                  <a:srgbClr val="82AAFF"/>
                </a:solidFill>
                <a:latin typeface="Consolas" panose="020B0609020204030204" pitchFamily="49" charset="0"/>
              </a:rPr>
              <a:t>npm run &lt;task-name&gt;</a:t>
            </a:r>
          </a:p>
        </p:txBody>
      </p:sp>
      <p:sp>
        <p:nvSpPr>
          <p:cNvPr id="2" name="TextBox 1"/>
          <p:cNvSpPr txBox="1"/>
          <p:nvPr/>
        </p:nvSpPr>
        <p:spPr>
          <a:xfrm>
            <a:off x="2264225" y="3645304"/>
            <a:ext cx="9030789" cy="369332"/>
          </a:xfrm>
          <a:prstGeom prst="rect">
            <a:avLst/>
          </a:prstGeom>
          <a:noFill/>
        </p:spPr>
        <p:txBody>
          <a:bodyPr wrap="square" rtlCol="0">
            <a:spAutoFit/>
          </a:bodyPr>
          <a:lstStyle/>
          <a:p>
            <a:r>
              <a:rPr lang="fr-CA"/>
              <a:t>On peut exécuter tout fichier .js via la commande node fichier.js</a:t>
            </a:r>
          </a:p>
        </p:txBody>
      </p:sp>
      <p:sp>
        <p:nvSpPr>
          <p:cNvPr id="10" name="TextBox 9"/>
          <p:cNvSpPr txBox="1"/>
          <p:nvPr/>
        </p:nvSpPr>
        <p:spPr>
          <a:xfrm>
            <a:off x="2264228" y="3321110"/>
            <a:ext cx="9065623"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Exécution une application node.js</a:t>
            </a:r>
          </a:p>
        </p:txBody>
      </p:sp>
      <p:sp>
        <p:nvSpPr>
          <p:cNvPr id="3" name="TextBox 2"/>
          <p:cNvSpPr txBox="1"/>
          <p:nvPr/>
        </p:nvSpPr>
        <p:spPr>
          <a:xfrm>
            <a:off x="2264225" y="4128085"/>
            <a:ext cx="7750632" cy="1754326"/>
          </a:xfrm>
          <a:prstGeom prst="rect">
            <a:avLst/>
          </a:prstGeom>
          <a:solidFill>
            <a:schemeClr val="tx2">
              <a:lumMod val="50000"/>
            </a:schemeClr>
          </a:solidFill>
        </p:spPr>
        <p:txBody>
          <a:bodyPr wrap="square" rtlCol="0">
            <a:spAutoFit/>
          </a:bodyPr>
          <a:lstStyle>
            <a:defPPr>
              <a:defRPr lang="fr-FR"/>
            </a:defPPr>
            <a:lvl1pPr>
              <a:defRPr>
                <a:solidFill>
                  <a:srgbClr val="82AAFF"/>
                </a:solidFill>
                <a:latin typeface="Consolas" panose="020B0609020204030204" pitchFamily="49" charset="0"/>
              </a:defRPr>
            </a:lvl1pPr>
          </a:lstStyle>
          <a:p>
            <a:r>
              <a:rPr lang="fr-CA"/>
              <a:t>Exemple </a:t>
            </a:r>
          </a:p>
          <a:p>
            <a:r>
              <a:rPr lang="fr-CA"/>
              <a:t>{</a:t>
            </a:r>
          </a:p>
          <a:p>
            <a:r>
              <a:rPr lang="fr-CA"/>
              <a:t>  "scripts": {</a:t>
            </a:r>
          </a:p>
          <a:p>
            <a:r>
              <a:rPr lang="fr-CA"/>
              <a:t>    "start": "node index.js",</a:t>
            </a:r>
          </a:p>
          <a:p>
            <a:r>
              <a:rPr lang="fr-CA"/>
              <a:t>  }</a:t>
            </a:r>
          </a:p>
          <a:p>
            <a:r>
              <a:rPr lang="fr-CA"/>
              <a:t>}</a:t>
            </a:r>
          </a:p>
        </p:txBody>
      </p:sp>
      <p:sp>
        <p:nvSpPr>
          <p:cNvPr id="6" name="TextBox 5"/>
          <p:cNvSpPr txBox="1"/>
          <p:nvPr/>
        </p:nvSpPr>
        <p:spPr>
          <a:xfrm>
            <a:off x="2264225" y="6156960"/>
            <a:ext cx="1872346" cy="369332"/>
          </a:xfrm>
          <a:prstGeom prst="rect">
            <a:avLst/>
          </a:prstGeom>
          <a:solidFill>
            <a:schemeClr val="tx2">
              <a:lumMod val="50000"/>
            </a:schemeClr>
          </a:solidFill>
        </p:spPr>
        <p:txBody>
          <a:bodyPr wrap="square" rtlCol="0">
            <a:spAutoFit/>
          </a:bodyPr>
          <a:lstStyle>
            <a:defPPr>
              <a:defRPr lang="fr-FR"/>
            </a:defPPr>
            <a:lvl1pPr>
              <a:defRPr>
                <a:solidFill>
                  <a:srgbClr val="82AAFF"/>
                </a:solidFill>
                <a:latin typeface="Consolas" panose="020B0609020204030204" pitchFamily="49" charset="0"/>
              </a:defRPr>
            </a:lvl1pPr>
          </a:lstStyle>
          <a:p>
            <a:r>
              <a:rPr lang="fr-CA"/>
              <a:t>npm run start</a:t>
            </a:r>
          </a:p>
        </p:txBody>
      </p:sp>
    </p:spTree>
    <p:extLst>
      <p:ext uri="{BB962C8B-B14F-4D97-AF65-F5344CB8AC3E}">
        <p14:creationId xmlns:p14="http://schemas.microsoft.com/office/powerpoint/2010/main" val="421104444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p:tgtEl>
                                          <p:spTgt spid="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2" grpId="0" animBg="1"/>
      <p:bldP spid="2" grpId="0"/>
      <p:bldP spid="10" grpId="0"/>
      <p:bldP spid="3" grpId="0" animBg="1"/>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p:cNvSpPr txBox="1"/>
          <p:nvPr/>
        </p:nvSpPr>
        <p:spPr>
          <a:xfrm>
            <a:off x="2264228" y="1391475"/>
            <a:ext cx="9030789"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package.json</a:t>
            </a:r>
          </a:p>
        </p:txBody>
      </p:sp>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Comprendre package et package-lock</a:t>
            </a:r>
          </a:p>
        </p:txBody>
      </p:sp>
      <p:sp>
        <p:nvSpPr>
          <p:cNvPr id="11" name="TextBox 10"/>
          <p:cNvSpPr txBox="1"/>
          <p:nvPr/>
        </p:nvSpPr>
        <p:spPr>
          <a:xfrm>
            <a:off x="2264228" y="1869861"/>
            <a:ext cx="9065623" cy="646331"/>
          </a:xfrm>
          <a:prstGeom prst="rect">
            <a:avLst/>
          </a:prstGeom>
          <a:noFill/>
        </p:spPr>
        <p:txBody>
          <a:bodyPr wrap="square" rtlCol="0">
            <a:spAutoFit/>
          </a:bodyPr>
          <a:lstStyle/>
          <a:p>
            <a:pPr lvl="0"/>
            <a:r>
              <a:rPr lang="fr-CA"/>
              <a:t>C’est le package qui décrit d’une façon générale notre projet et les dépendances qu’il a besoin pour fonctionner.</a:t>
            </a:r>
          </a:p>
        </p:txBody>
      </p:sp>
      <p:sp>
        <p:nvSpPr>
          <p:cNvPr id="2" name="TextBox 1"/>
          <p:cNvSpPr txBox="1"/>
          <p:nvPr/>
        </p:nvSpPr>
        <p:spPr>
          <a:xfrm>
            <a:off x="2264225" y="3131494"/>
            <a:ext cx="9030789" cy="923330"/>
          </a:xfrm>
          <a:prstGeom prst="rect">
            <a:avLst/>
          </a:prstGeom>
          <a:noFill/>
        </p:spPr>
        <p:txBody>
          <a:bodyPr wrap="square" rtlCol="0">
            <a:spAutoFit/>
          </a:bodyPr>
          <a:lstStyle/>
          <a:p>
            <a:r>
              <a:rPr lang="fr-CA"/>
              <a:t>C’est un fichier qui ressemble à package.json mais avec beaucoup plus d’informations. Le but de ce fichier package-lock est de faire un lock sur la dépendance avec sa version d’installation.</a:t>
            </a:r>
          </a:p>
        </p:txBody>
      </p:sp>
      <p:sp>
        <p:nvSpPr>
          <p:cNvPr id="10" name="TextBox 9"/>
          <p:cNvSpPr txBox="1"/>
          <p:nvPr/>
        </p:nvSpPr>
        <p:spPr>
          <a:xfrm>
            <a:off x="2264228" y="2702801"/>
            <a:ext cx="9065623"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package-lock.json</a:t>
            </a:r>
          </a:p>
        </p:txBody>
      </p:sp>
      <p:sp>
        <p:nvSpPr>
          <p:cNvPr id="7" name="TextBox 6"/>
          <p:cNvSpPr txBox="1"/>
          <p:nvPr/>
        </p:nvSpPr>
        <p:spPr>
          <a:xfrm>
            <a:off x="2264225" y="4275909"/>
            <a:ext cx="8229604" cy="2308324"/>
          </a:xfrm>
          <a:prstGeom prst="rect">
            <a:avLst/>
          </a:prstGeom>
          <a:noFill/>
        </p:spPr>
        <p:txBody>
          <a:bodyPr wrap="square" rtlCol="0">
            <a:spAutoFit/>
          </a:bodyPr>
          <a:lstStyle/>
          <a:p>
            <a:r>
              <a:rPr lang="fr-CA"/>
              <a:t>Exemple </a:t>
            </a:r>
          </a:p>
          <a:p>
            <a:r>
              <a:rPr lang="fr-CA"/>
              <a:t>Nous avons installé un package mongoose avec la version 6.6.6 avec la commande suivante </a:t>
            </a:r>
          </a:p>
          <a:p>
            <a:r>
              <a:rPr lang="fr-CA">
                <a:solidFill>
                  <a:srgbClr val="0070C0"/>
                </a:solidFill>
              </a:rPr>
              <a:t> npm install mongoose@6.6.6 </a:t>
            </a:r>
          </a:p>
          <a:p>
            <a:r>
              <a:rPr lang="fr-CA"/>
              <a:t>package-lock.json va avoir la version 6.6.6 par contre package.json va avoir la version </a:t>
            </a:r>
            <a:r>
              <a:rPr lang="fr-CA" b="1"/>
              <a:t>^6.6.6</a:t>
            </a:r>
            <a:r>
              <a:rPr lang="fr-CA"/>
              <a:t>. Le caret ici signifie que notre module est compatible avec toute version supérieure pour la même version majeure. Par exemple 6.7.0, 6.8.1 …etc.</a:t>
            </a:r>
          </a:p>
        </p:txBody>
      </p:sp>
    </p:spTree>
    <p:extLst>
      <p:ext uri="{BB962C8B-B14F-4D97-AF65-F5344CB8AC3E}">
        <p14:creationId xmlns:p14="http://schemas.microsoft.com/office/powerpoint/2010/main" val="27334706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2" grpId="0"/>
      <p:bldP spid="10"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p:cNvSpPr txBox="1"/>
          <p:nvPr/>
        </p:nvSpPr>
        <p:spPr>
          <a:xfrm>
            <a:off x="2264228" y="1391475"/>
            <a:ext cx="9030789"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Local dependencies (par défaut)</a:t>
            </a:r>
          </a:p>
        </p:txBody>
      </p:sp>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Global et local dependencies</a:t>
            </a:r>
          </a:p>
        </p:txBody>
      </p:sp>
      <p:sp>
        <p:nvSpPr>
          <p:cNvPr id="11" name="TextBox 10"/>
          <p:cNvSpPr txBox="1"/>
          <p:nvPr/>
        </p:nvSpPr>
        <p:spPr>
          <a:xfrm>
            <a:off x="2264228" y="1869861"/>
            <a:ext cx="9065623" cy="646331"/>
          </a:xfrm>
          <a:prstGeom prst="rect">
            <a:avLst/>
          </a:prstGeom>
          <a:noFill/>
        </p:spPr>
        <p:txBody>
          <a:bodyPr wrap="square" rtlCol="0">
            <a:spAutoFit/>
          </a:bodyPr>
          <a:lstStyle/>
          <a:p>
            <a:pPr lvl="0"/>
            <a:r>
              <a:rPr lang="fr-CA"/>
              <a:t>C’est l’installation par défaut npm. Les packages seront déposés dans le répertoire local </a:t>
            </a:r>
            <a:r>
              <a:rPr lang="fr-CA" b="1"/>
              <a:t>node_modules</a:t>
            </a:r>
            <a:r>
              <a:rPr lang="fr-CA"/>
              <a:t>  et seront accessible seulement dans le projet.</a:t>
            </a:r>
          </a:p>
        </p:txBody>
      </p:sp>
      <p:sp>
        <p:nvSpPr>
          <p:cNvPr id="2" name="TextBox 1"/>
          <p:cNvSpPr txBox="1"/>
          <p:nvPr/>
        </p:nvSpPr>
        <p:spPr>
          <a:xfrm>
            <a:off x="2264225" y="3131494"/>
            <a:ext cx="9030789" cy="1200329"/>
          </a:xfrm>
          <a:prstGeom prst="rect">
            <a:avLst/>
          </a:prstGeom>
          <a:noFill/>
        </p:spPr>
        <p:txBody>
          <a:bodyPr wrap="square" rtlCol="0">
            <a:spAutoFit/>
          </a:bodyPr>
          <a:lstStyle/>
          <a:p>
            <a:r>
              <a:rPr lang="fr-CA"/>
              <a:t>Les modules seront accessibles partout dans tous les projets. Ils seront déposés généralement dans {prefix}/lib/node_modules    ou </a:t>
            </a:r>
            <a:r>
              <a:rPr lang="fr-CA" b="1"/>
              <a:t>prefix</a:t>
            </a:r>
            <a:r>
              <a:rPr lang="fr-CA"/>
              <a:t> généralement c’est quelque chose comme </a:t>
            </a:r>
            <a:r>
              <a:rPr lang="fr-CA" b="1"/>
              <a:t>/usr/local. </a:t>
            </a:r>
          </a:p>
          <a:p>
            <a:r>
              <a:rPr lang="en-US"/>
              <a:t>Pour windows %AppData%\npm\node_modules</a:t>
            </a:r>
            <a:endParaRPr lang="fr-CA"/>
          </a:p>
        </p:txBody>
      </p:sp>
      <p:sp>
        <p:nvSpPr>
          <p:cNvPr id="10" name="TextBox 9"/>
          <p:cNvSpPr txBox="1"/>
          <p:nvPr/>
        </p:nvSpPr>
        <p:spPr>
          <a:xfrm>
            <a:off x="2264228" y="2702801"/>
            <a:ext cx="9065623"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Global dependencies</a:t>
            </a:r>
          </a:p>
        </p:txBody>
      </p:sp>
      <p:sp>
        <p:nvSpPr>
          <p:cNvPr id="3" name="TextBox 2"/>
          <p:cNvSpPr txBox="1"/>
          <p:nvPr/>
        </p:nvSpPr>
        <p:spPr>
          <a:xfrm>
            <a:off x="2264225" y="4563293"/>
            <a:ext cx="8534400" cy="1477328"/>
          </a:xfrm>
          <a:prstGeom prst="rect">
            <a:avLst/>
          </a:prstGeom>
          <a:noFill/>
        </p:spPr>
        <p:txBody>
          <a:bodyPr wrap="square" rtlCol="0">
            <a:spAutoFit/>
          </a:bodyPr>
          <a:lstStyle/>
          <a:p>
            <a:r>
              <a:rPr lang="fr-CA"/>
              <a:t>Les dépendances globales placent le module dans Node.js, qui dépend du système d'exploitation et sera accessible à partir de n'importe quel projet sans qu'il soit nécessaire de l'installer séparément pour chaque projet lors de la configuration. Ils nous permettent d'utiliser le module comme un outil n'importe où sur l'ordinateur local.</a:t>
            </a:r>
          </a:p>
        </p:txBody>
      </p:sp>
    </p:spTree>
    <p:extLst>
      <p:ext uri="{BB962C8B-B14F-4D97-AF65-F5344CB8AC3E}">
        <p14:creationId xmlns:p14="http://schemas.microsoft.com/office/powerpoint/2010/main" val="225226471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2" grpId="0"/>
      <p:bldP spid="10" grpId="0"/>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p:cNvSpPr txBox="1"/>
          <p:nvPr/>
        </p:nvSpPr>
        <p:spPr>
          <a:xfrm>
            <a:off x="2264228" y="1391475"/>
            <a:ext cx="9030789"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Définition</a:t>
            </a:r>
          </a:p>
        </p:txBody>
      </p:sp>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Modules dans node</a:t>
            </a:r>
          </a:p>
        </p:txBody>
      </p:sp>
      <p:sp>
        <p:nvSpPr>
          <p:cNvPr id="11" name="TextBox 10"/>
          <p:cNvSpPr txBox="1"/>
          <p:nvPr/>
        </p:nvSpPr>
        <p:spPr>
          <a:xfrm>
            <a:off x="2264228" y="1817607"/>
            <a:ext cx="9065623" cy="923330"/>
          </a:xfrm>
          <a:prstGeom prst="rect">
            <a:avLst/>
          </a:prstGeom>
          <a:noFill/>
        </p:spPr>
        <p:txBody>
          <a:bodyPr wrap="square" rtlCol="0">
            <a:spAutoFit/>
          </a:bodyPr>
          <a:lstStyle/>
          <a:p>
            <a:pPr lvl="0"/>
            <a:r>
              <a:rPr lang="fr-CA"/>
              <a:t>Un module est un ensemble de bloque de code (fonctions, classes …etc) qui permet d’être utilisé par d’autres modules ou applications. Les modules pourraient être un seul fichier ou bien plusieurs fichiers et/ou répertoires. </a:t>
            </a:r>
          </a:p>
        </p:txBody>
      </p:sp>
      <p:sp>
        <p:nvSpPr>
          <p:cNvPr id="2" name="TextBox 1"/>
          <p:cNvSpPr txBox="1"/>
          <p:nvPr/>
        </p:nvSpPr>
        <p:spPr>
          <a:xfrm>
            <a:off x="2264225" y="3410172"/>
            <a:ext cx="4293329" cy="369332"/>
          </a:xfrm>
          <a:prstGeom prst="rect">
            <a:avLst/>
          </a:prstGeom>
          <a:noFill/>
        </p:spPr>
        <p:txBody>
          <a:bodyPr wrap="square" rtlCol="0">
            <a:spAutoFit/>
          </a:bodyPr>
          <a:lstStyle/>
          <a:p>
            <a:pPr marL="285750" indent="-285750">
              <a:buFont typeface="Arial" panose="020B0604020202020204" pitchFamily="34" charset="0"/>
              <a:buChar char="•"/>
            </a:pPr>
            <a:r>
              <a:rPr lang="fr-CA" i="1"/>
              <a:t>Modules core</a:t>
            </a:r>
            <a:endParaRPr lang="fr-CA"/>
          </a:p>
        </p:txBody>
      </p:sp>
      <p:sp>
        <p:nvSpPr>
          <p:cNvPr id="10" name="TextBox 9"/>
          <p:cNvSpPr txBox="1"/>
          <p:nvPr/>
        </p:nvSpPr>
        <p:spPr>
          <a:xfrm>
            <a:off x="2246810" y="2767094"/>
            <a:ext cx="9065623"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Type des modules </a:t>
            </a:r>
          </a:p>
        </p:txBody>
      </p:sp>
      <p:sp>
        <p:nvSpPr>
          <p:cNvPr id="3" name="TextBox 2"/>
          <p:cNvSpPr txBox="1"/>
          <p:nvPr/>
        </p:nvSpPr>
        <p:spPr>
          <a:xfrm>
            <a:off x="2290354" y="3753356"/>
            <a:ext cx="8534400" cy="923330"/>
          </a:xfrm>
          <a:prstGeom prst="rect">
            <a:avLst/>
          </a:prstGeom>
          <a:noFill/>
        </p:spPr>
        <p:txBody>
          <a:bodyPr wrap="square" rtlCol="0">
            <a:spAutoFit/>
          </a:bodyPr>
          <a:lstStyle/>
          <a:p>
            <a:r>
              <a:rPr lang="fr-CA"/>
              <a:t>nodejs a plusieurs built-in modules qui font partie de la plateforme qui viennent avec l’installation de node(http, https, fs… etc.). Ses modules pourront être chargés dans l’application avec l’instruction </a:t>
            </a:r>
            <a:r>
              <a:rPr lang="fr-CA">
                <a:solidFill>
                  <a:srgbClr val="0070C0"/>
                </a:solidFill>
              </a:rPr>
              <a:t>require</a:t>
            </a:r>
          </a:p>
        </p:txBody>
      </p:sp>
      <p:sp>
        <p:nvSpPr>
          <p:cNvPr id="6" name="TextBox 5"/>
          <p:cNvSpPr txBox="1"/>
          <p:nvPr/>
        </p:nvSpPr>
        <p:spPr>
          <a:xfrm>
            <a:off x="2290354" y="4757664"/>
            <a:ext cx="3849189" cy="646331"/>
          </a:xfrm>
          <a:prstGeom prst="rect">
            <a:avLst/>
          </a:prstGeom>
          <a:noFill/>
        </p:spPr>
        <p:txBody>
          <a:bodyPr wrap="square" rtlCol="0">
            <a:spAutoFit/>
          </a:bodyPr>
          <a:lstStyle/>
          <a:p>
            <a:r>
              <a:rPr lang="fr-CA"/>
              <a:t>Exemple </a:t>
            </a:r>
          </a:p>
          <a:p>
            <a:r>
              <a:rPr lang="fr-CA"/>
              <a:t>const http = require('http');</a:t>
            </a:r>
          </a:p>
        </p:txBody>
      </p:sp>
      <p:sp>
        <p:nvSpPr>
          <p:cNvPr id="9" name="TextBox 8"/>
          <p:cNvSpPr txBox="1"/>
          <p:nvPr/>
        </p:nvSpPr>
        <p:spPr>
          <a:xfrm>
            <a:off x="2290354" y="5548126"/>
            <a:ext cx="4293329" cy="369332"/>
          </a:xfrm>
          <a:prstGeom prst="rect">
            <a:avLst/>
          </a:prstGeom>
          <a:noFill/>
        </p:spPr>
        <p:txBody>
          <a:bodyPr wrap="square" rtlCol="0">
            <a:spAutoFit/>
          </a:bodyPr>
          <a:lstStyle/>
          <a:p>
            <a:pPr marL="285750" indent="-285750">
              <a:buFont typeface="Arial" panose="020B0604020202020204" pitchFamily="34" charset="0"/>
              <a:buChar char="•"/>
            </a:pPr>
            <a:r>
              <a:rPr lang="fr-CA" i="1"/>
              <a:t>Modules locaux</a:t>
            </a:r>
            <a:endParaRPr lang="fr-CA"/>
          </a:p>
        </p:txBody>
      </p:sp>
      <p:sp>
        <p:nvSpPr>
          <p:cNvPr id="12" name="TextBox 11"/>
          <p:cNvSpPr txBox="1"/>
          <p:nvPr/>
        </p:nvSpPr>
        <p:spPr>
          <a:xfrm>
            <a:off x="2316483" y="5865568"/>
            <a:ext cx="8534400" cy="369332"/>
          </a:xfrm>
          <a:prstGeom prst="rect">
            <a:avLst/>
          </a:prstGeom>
          <a:noFill/>
        </p:spPr>
        <p:txBody>
          <a:bodyPr wrap="square" rtlCol="0">
            <a:spAutoFit/>
          </a:bodyPr>
          <a:lstStyle/>
          <a:p>
            <a:r>
              <a:rPr lang="fr-CA"/>
              <a:t>ce sont des modules crées localement dans l’application nodejs. </a:t>
            </a:r>
            <a:endParaRPr lang="fr-CA">
              <a:solidFill>
                <a:srgbClr val="0070C0"/>
              </a:solidFill>
            </a:endParaRPr>
          </a:p>
        </p:txBody>
      </p:sp>
    </p:spTree>
    <p:extLst>
      <p:ext uri="{BB962C8B-B14F-4D97-AF65-F5344CB8AC3E}">
        <p14:creationId xmlns:p14="http://schemas.microsoft.com/office/powerpoint/2010/main" val="385272930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2" grpId="0"/>
      <p:bldP spid="10" grpId="0"/>
      <p:bldP spid="3" grpId="0"/>
      <p:bldP spid="6" grpId="0"/>
      <p:bldP spid="9" grpId="0"/>
      <p:bldP spid="12"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p:cNvSpPr txBox="1"/>
          <p:nvPr/>
        </p:nvSpPr>
        <p:spPr>
          <a:xfrm>
            <a:off x="2264228" y="1391475"/>
            <a:ext cx="9030789"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Exemple</a:t>
            </a:r>
          </a:p>
        </p:txBody>
      </p:sp>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Modules dans node</a:t>
            </a:r>
          </a:p>
        </p:txBody>
      </p:sp>
      <p:sp>
        <p:nvSpPr>
          <p:cNvPr id="11" name="TextBox 10"/>
          <p:cNvSpPr txBox="1"/>
          <p:nvPr/>
        </p:nvSpPr>
        <p:spPr>
          <a:xfrm>
            <a:off x="2264228" y="1817607"/>
            <a:ext cx="9065623" cy="646331"/>
          </a:xfrm>
          <a:prstGeom prst="rect">
            <a:avLst/>
          </a:prstGeom>
          <a:noFill/>
        </p:spPr>
        <p:txBody>
          <a:bodyPr wrap="square" rtlCol="0">
            <a:spAutoFit/>
          </a:bodyPr>
          <a:lstStyle/>
          <a:p>
            <a:pPr lvl="0"/>
            <a:r>
              <a:rPr lang="fr-CA"/>
              <a:t>On va créer un module local appelé calculator.js et puis on va le consommer dans notre application.</a:t>
            </a:r>
          </a:p>
        </p:txBody>
      </p:sp>
      <p:sp>
        <p:nvSpPr>
          <p:cNvPr id="3" name="TextBox 2"/>
          <p:cNvSpPr txBox="1"/>
          <p:nvPr/>
        </p:nvSpPr>
        <p:spPr>
          <a:xfrm>
            <a:off x="2290354" y="2638657"/>
            <a:ext cx="8534400" cy="3970318"/>
          </a:xfrm>
          <a:prstGeom prst="rect">
            <a:avLst/>
          </a:prstGeom>
          <a:solidFill>
            <a:schemeClr val="tx2">
              <a:lumMod val="50000"/>
            </a:schemeClr>
          </a:solidFill>
        </p:spPr>
        <p:txBody>
          <a:bodyPr wrap="square" rtlCol="0">
            <a:spAutoFit/>
          </a:bodyPr>
          <a:lstStyle>
            <a:defPPr>
              <a:defRPr lang="fr-FR"/>
            </a:defPPr>
            <a:lvl1pPr>
              <a:defRPr>
                <a:solidFill>
                  <a:srgbClr val="82AAFF"/>
                </a:solidFill>
                <a:latin typeface="Consolas" panose="020B0609020204030204" pitchFamily="49" charset="0"/>
              </a:defRPr>
            </a:lvl1pPr>
          </a:lstStyle>
          <a:p>
            <a:r>
              <a:rPr lang="en-US"/>
              <a:t>Filename: calculator.js (tp06.js)</a:t>
            </a:r>
          </a:p>
          <a:p>
            <a:endParaRPr lang="en-US"/>
          </a:p>
          <a:p>
            <a:r>
              <a:rPr lang="fr-CA">
                <a:solidFill>
                  <a:srgbClr val="ADDB67"/>
                </a:solidFill>
              </a:rPr>
              <a:t>exports</a:t>
            </a:r>
            <a:r>
              <a:rPr lang="fr-CA" i="1">
                <a:solidFill>
                  <a:srgbClr val="C792EA"/>
                </a:solidFill>
              </a:rPr>
              <a:t>.</a:t>
            </a:r>
            <a:r>
              <a:rPr lang="fr-CA"/>
              <a:t>add</a:t>
            </a:r>
            <a:r>
              <a:rPr lang="fr-CA">
                <a:solidFill>
                  <a:srgbClr val="D6DEEB"/>
                </a:solidFill>
              </a:rPr>
              <a:t> </a:t>
            </a:r>
            <a:r>
              <a:rPr lang="fr-CA">
                <a:solidFill>
                  <a:srgbClr val="C792EA"/>
                </a:solidFill>
              </a:rPr>
              <a:t>=</a:t>
            </a:r>
            <a:r>
              <a:rPr lang="fr-CA">
                <a:solidFill>
                  <a:srgbClr val="D6DEEB"/>
                </a:solidFill>
              </a:rPr>
              <a:t> </a:t>
            </a:r>
            <a:r>
              <a:rPr lang="fr-CA"/>
              <a:t>function</a:t>
            </a:r>
            <a:r>
              <a:rPr lang="fr-CA">
                <a:solidFill>
                  <a:srgbClr val="D6DEEB"/>
                </a:solidFill>
              </a:rPr>
              <a:t> </a:t>
            </a:r>
            <a:r>
              <a:rPr lang="fr-CA">
                <a:solidFill>
                  <a:srgbClr val="D9F5DD"/>
                </a:solidFill>
              </a:rPr>
              <a:t>(</a:t>
            </a:r>
            <a:r>
              <a:rPr lang="fr-CA">
                <a:solidFill>
                  <a:srgbClr val="D7DBE0"/>
                </a:solidFill>
              </a:rPr>
              <a:t>x</a:t>
            </a:r>
            <a:r>
              <a:rPr lang="fr-CA">
                <a:solidFill>
                  <a:srgbClr val="D6DEEB"/>
                </a:solidFill>
              </a:rPr>
              <a:t>, </a:t>
            </a:r>
            <a:r>
              <a:rPr lang="fr-CA">
                <a:solidFill>
                  <a:srgbClr val="D7DBE0"/>
                </a:solidFill>
              </a:rPr>
              <a:t>y</a:t>
            </a:r>
            <a:r>
              <a:rPr lang="fr-CA">
                <a:solidFill>
                  <a:srgbClr val="D9F5DD"/>
                </a:solidFill>
              </a:rPr>
              <a:t>)</a:t>
            </a:r>
            <a:r>
              <a:rPr lang="fr-CA">
                <a:solidFill>
                  <a:srgbClr val="D6DEEB"/>
                </a:solidFill>
              </a:rPr>
              <a:t> { </a:t>
            </a:r>
          </a:p>
          <a:p>
            <a:r>
              <a:rPr lang="fr-CA">
                <a:solidFill>
                  <a:srgbClr val="D6DEEB"/>
                </a:solidFill>
              </a:rPr>
              <a:t>    </a:t>
            </a:r>
            <a:r>
              <a:rPr lang="fr-CA" i="1">
                <a:solidFill>
                  <a:srgbClr val="C792EA"/>
                </a:solidFill>
              </a:rPr>
              <a:t>return</a:t>
            </a:r>
            <a:r>
              <a:rPr lang="fr-CA">
                <a:solidFill>
                  <a:srgbClr val="D6DEEB"/>
                </a:solidFill>
              </a:rPr>
              <a:t> </a:t>
            </a:r>
            <a:r>
              <a:rPr lang="fr-CA">
                <a:solidFill>
                  <a:srgbClr val="D7DBE0"/>
                </a:solidFill>
              </a:rPr>
              <a:t>x</a:t>
            </a:r>
            <a:r>
              <a:rPr lang="fr-CA">
                <a:solidFill>
                  <a:srgbClr val="D6DEEB"/>
                </a:solidFill>
              </a:rPr>
              <a:t> </a:t>
            </a:r>
            <a:r>
              <a:rPr lang="fr-CA">
                <a:solidFill>
                  <a:srgbClr val="C792EA"/>
                </a:solidFill>
              </a:rPr>
              <a:t>+</a:t>
            </a:r>
            <a:r>
              <a:rPr lang="fr-CA">
                <a:solidFill>
                  <a:srgbClr val="D6DEEB"/>
                </a:solidFill>
              </a:rPr>
              <a:t> </a:t>
            </a:r>
            <a:r>
              <a:rPr lang="fr-CA">
                <a:solidFill>
                  <a:srgbClr val="D7DBE0"/>
                </a:solidFill>
              </a:rPr>
              <a:t>y</a:t>
            </a:r>
            <a:r>
              <a:rPr lang="fr-CA">
                <a:solidFill>
                  <a:srgbClr val="D6DEEB"/>
                </a:solidFill>
              </a:rPr>
              <a:t>; </a:t>
            </a:r>
          </a:p>
          <a:p>
            <a:r>
              <a:rPr lang="fr-CA">
                <a:solidFill>
                  <a:srgbClr val="D6DEEB"/>
                </a:solidFill>
              </a:rPr>
              <a:t>}; </a:t>
            </a:r>
          </a:p>
          <a:p>
            <a:r>
              <a:rPr lang="fr-CA">
                <a:solidFill>
                  <a:srgbClr val="ADDB67"/>
                </a:solidFill>
              </a:rPr>
              <a:t>exports</a:t>
            </a:r>
            <a:r>
              <a:rPr lang="fr-CA" i="1">
                <a:solidFill>
                  <a:srgbClr val="C792EA"/>
                </a:solidFill>
              </a:rPr>
              <a:t>.</a:t>
            </a:r>
            <a:r>
              <a:rPr lang="fr-CA"/>
              <a:t>sub</a:t>
            </a:r>
            <a:r>
              <a:rPr lang="fr-CA">
                <a:solidFill>
                  <a:srgbClr val="D6DEEB"/>
                </a:solidFill>
              </a:rPr>
              <a:t> </a:t>
            </a:r>
            <a:r>
              <a:rPr lang="fr-CA">
                <a:solidFill>
                  <a:srgbClr val="C792EA"/>
                </a:solidFill>
              </a:rPr>
              <a:t>=</a:t>
            </a:r>
            <a:r>
              <a:rPr lang="fr-CA">
                <a:solidFill>
                  <a:srgbClr val="D6DEEB"/>
                </a:solidFill>
              </a:rPr>
              <a:t> </a:t>
            </a:r>
            <a:r>
              <a:rPr lang="fr-CA"/>
              <a:t>function</a:t>
            </a:r>
            <a:r>
              <a:rPr lang="fr-CA">
                <a:solidFill>
                  <a:srgbClr val="D6DEEB"/>
                </a:solidFill>
              </a:rPr>
              <a:t> </a:t>
            </a:r>
            <a:r>
              <a:rPr lang="fr-CA">
                <a:solidFill>
                  <a:srgbClr val="D9F5DD"/>
                </a:solidFill>
              </a:rPr>
              <a:t>(</a:t>
            </a:r>
            <a:r>
              <a:rPr lang="fr-CA">
                <a:solidFill>
                  <a:srgbClr val="D7DBE0"/>
                </a:solidFill>
              </a:rPr>
              <a:t>x</a:t>
            </a:r>
            <a:r>
              <a:rPr lang="fr-CA">
                <a:solidFill>
                  <a:srgbClr val="D6DEEB"/>
                </a:solidFill>
              </a:rPr>
              <a:t>, </a:t>
            </a:r>
            <a:r>
              <a:rPr lang="fr-CA">
                <a:solidFill>
                  <a:srgbClr val="D7DBE0"/>
                </a:solidFill>
              </a:rPr>
              <a:t>y</a:t>
            </a:r>
            <a:r>
              <a:rPr lang="fr-CA">
                <a:solidFill>
                  <a:srgbClr val="D9F5DD"/>
                </a:solidFill>
              </a:rPr>
              <a:t>)</a:t>
            </a:r>
            <a:r>
              <a:rPr lang="fr-CA">
                <a:solidFill>
                  <a:srgbClr val="D6DEEB"/>
                </a:solidFill>
              </a:rPr>
              <a:t> { </a:t>
            </a:r>
          </a:p>
          <a:p>
            <a:r>
              <a:rPr lang="fr-CA">
                <a:solidFill>
                  <a:srgbClr val="D6DEEB"/>
                </a:solidFill>
              </a:rPr>
              <a:t>    </a:t>
            </a:r>
            <a:r>
              <a:rPr lang="fr-CA" i="1">
                <a:solidFill>
                  <a:srgbClr val="C792EA"/>
                </a:solidFill>
              </a:rPr>
              <a:t>return</a:t>
            </a:r>
            <a:r>
              <a:rPr lang="fr-CA">
                <a:solidFill>
                  <a:srgbClr val="D6DEEB"/>
                </a:solidFill>
              </a:rPr>
              <a:t> </a:t>
            </a:r>
            <a:r>
              <a:rPr lang="fr-CA">
                <a:solidFill>
                  <a:srgbClr val="D7DBE0"/>
                </a:solidFill>
              </a:rPr>
              <a:t>x</a:t>
            </a:r>
            <a:r>
              <a:rPr lang="fr-CA">
                <a:solidFill>
                  <a:srgbClr val="D6DEEB"/>
                </a:solidFill>
              </a:rPr>
              <a:t> </a:t>
            </a:r>
            <a:r>
              <a:rPr lang="fr-CA">
                <a:solidFill>
                  <a:srgbClr val="C792EA"/>
                </a:solidFill>
              </a:rPr>
              <a:t>-</a:t>
            </a:r>
            <a:r>
              <a:rPr lang="fr-CA">
                <a:solidFill>
                  <a:srgbClr val="D6DEEB"/>
                </a:solidFill>
              </a:rPr>
              <a:t> </a:t>
            </a:r>
            <a:r>
              <a:rPr lang="fr-CA">
                <a:solidFill>
                  <a:srgbClr val="D7DBE0"/>
                </a:solidFill>
              </a:rPr>
              <a:t>y</a:t>
            </a:r>
            <a:r>
              <a:rPr lang="fr-CA">
                <a:solidFill>
                  <a:srgbClr val="D6DEEB"/>
                </a:solidFill>
              </a:rPr>
              <a:t>; </a:t>
            </a:r>
          </a:p>
          <a:p>
            <a:r>
              <a:rPr lang="fr-CA">
                <a:solidFill>
                  <a:srgbClr val="D6DEEB"/>
                </a:solidFill>
              </a:rPr>
              <a:t>}; </a:t>
            </a:r>
          </a:p>
          <a:p>
            <a:r>
              <a:rPr lang="fr-CA">
                <a:solidFill>
                  <a:srgbClr val="ADDB67"/>
                </a:solidFill>
              </a:rPr>
              <a:t>exports</a:t>
            </a:r>
            <a:r>
              <a:rPr lang="fr-CA" i="1">
                <a:solidFill>
                  <a:srgbClr val="C792EA"/>
                </a:solidFill>
              </a:rPr>
              <a:t>.</a:t>
            </a:r>
            <a:r>
              <a:rPr lang="fr-CA"/>
              <a:t>mult</a:t>
            </a:r>
            <a:r>
              <a:rPr lang="fr-CA">
                <a:solidFill>
                  <a:srgbClr val="D6DEEB"/>
                </a:solidFill>
              </a:rPr>
              <a:t> </a:t>
            </a:r>
            <a:r>
              <a:rPr lang="fr-CA">
                <a:solidFill>
                  <a:srgbClr val="C792EA"/>
                </a:solidFill>
              </a:rPr>
              <a:t>=</a:t>
            </a:r>
            <a:r>
              <a:rPr lang="fr-CA">
                <a:solidFill>
                  <a:srgbClr val="D6DEEB"/>
                </a:solidFill>
              </a:rPr>
              <a:t> </a:t>
            </a:r>
            <a:r>
              <a:rPr lang="fr-CA"/>
              <a:t>function</a:t>
            </a:r>
            <a:r>
              <a:rPr lang="fr-CA">
                <a:solidFill>
                  <a:srgbClr val="D6DEEB"/>
                </a:solidFill>
              </a:rPr>
              <a:t> </a:t>
            </a:r>
            <a:r>
              <a:rPr lang="fr-CA">
                <a:solidFill>
                  <a:srgbClr val="D9F5DD"/>
                </a:solidFill>
              </a:rPr>
              <a:t>(</a:t>
            </a:r>
            <a:r>
              <a:rPr lang="fr-CA">
                <a:solidFill>
                  <a:srgbClr val="D7DBE0"/>
                </a:solidFill>
              </a:rPr>
              <a:t>x</a:t>
            </a:r>
            <a:r>
              <a:rPr lang="fr-CA">
                <a:solidFill>
                  <a:srgbClr val="D6DEEB"/>
                </a:solidFill>
              </a:rPr>
              <a:t>, </a:t>
            </a:r>
            <a:r>
              <a:rPr lang="fr-CA">
                <a:solidFill>
                  <a:srgbClr val="D7DBE0"/>
                </a:solidFill>
              </a:rPr>
              <a:t>y</a:t>
            </a:r>
            <a:r>
              <a:rPr lang="fr-CA">
                <a:solidFill>
                  <a:srgbClr val="D9F5DD"/>
                </a:solidFill>
              </a:rPr>
              <a:t>)</a:t>
            </a:r>
            <a:r>
              <a:rPr lang="fr-CA">
                <a:solidFill>
                  <a:srgbClr val="D6DEEB"/>
                </a:solidFill>
              </a:rPr>
              <a:t> { </a:t>
            </a:r>
          </a:p>
          <a:p>
            <a:r>
              <a:rPr lang="fr-CA">
                <a:solidFill>
                  <a:srgbClr val="D6DEEB"/>
                </a:solidFill>
              </a:rPr>
              <a:t>    </a:t>
            </a:r>
            <a:r>
              <a:rPr lang="fr-CA" i="1">
                <a:solidFill>
                  <a:srgbClr val="C792EA"/>
                </a:solidFill>
              </a:rPr>
              <a:t>return</a:t>
            </a:r>
            <a:r>
              <a:rPr lang="fr-CA">
                <a:solidFill>
                  <a:srgbClr val="D6DEEB"/>
                </a:solidFill>
              </a:rPr>
              <a:t> </a:t>
            </a:r>
            <a:r>
              <a:rPr lang="fr-CA">
                <a:solidFill>
                  <a:srgbClr val="D7DBE0"/>
                </a:solidFill>
              </a:rPr>
              <a:t>x</a:t>
            </a:r>
            <a:r>
              <a:rPr lang="fr-CA">
                <a:solidFill>
                  <a:srgbClr val="D6DEEB"/>
                </a:solidFill>
              </a:rPr>
              <a:t> </a:t>
            </a:r>
            <a:r>
              <a:rPr lang="fr-CA">
                <a:solidFill>
                  <a:srgbClr val="C792EA"/>
                </a:solidFill>
              </a:rPr>
              <a:t>*</a:t>
            </a:r>
            <a:r>
              <a:rPr lang="fr-CA">
                <a:solidFill>
                  <a:srgbClr val="D6DEEB"/>
                </a:solidFill>
              </a:rPr>
              <a:t> </a:t>
            </a:r>
            <a:r>
              <a:rPr lang="fr-CA">
                <a:solidFill>
                  <a:srgbClr val="D7DBE0"/>
                </a:solidFill>
              </a:rPr>
              <a:t>y</a:t>
            </a:r>
            <a:r>
              <a:rPr lang="fr-CA">
                <a:solidFill>
                  <a:srgbClr val="D6DEEB"/>
                </a:solidFill>
              </a:rPr>
              <a:t>; </a:t>
            </a:r>
          </a:p>
          <a:p>
            <a:r>
              <a:rPr lang="fr-CA">
                <a:solidFill>
                  <a:srgbClr val="D6DEEB"/>
                </a:solidFill>
              </a:rPr>
              <a:t>}; </a:t>
            </a:r>
          </a:p>
          <a:p>
            <a:r>
              <a:rPr lang="fr-CA">
                <a:solidFill>
                  <a:srgbClr val="ADDB67"/>
                </a:solidFill>
              </a:rPr>
              <a:t>exports</a:t>
            </a:r>
            <a:r>
              <a:rPr lang="fr-CA" i="1">
                <a:solidFill>
                  <a:srgbClr val="C792EA"/>
                </a:solidFill>
              </a:rPr>
              <a:t>.</a:t>
            </a:r>
            <a:r>
              <a:rPr lang="fr-CA"/>
              <a:t>div</a:t>
            </a:r>
            <a:r>
              <a:rPr lang="fr-CA">
                <a:solidFill>
                  <a:srgbClr val="D6DEEB"/>
                </a:solidFill>
              </a:rPr>
              <a:t> </a:t>
            </a:r>
            <a:r>
              <a:rPr lang="fr-CA">
                <a:solidFill>
                  <a:srgbClr val="C792EA"/>
                </a:solidFill>
              </a:rPr>
              <a:t>=</a:t>
            </a:r>
            <a:r>
              <a:rPr lang="fr-CA">
                <a:solidFill>
                  <a:srgbClr val="D6DEEB"/>
                </a:solidFill>
              </a:rPr>
              <a:t> </a:t>
            </a:r>
            <a:r>
              <a:rPr lang="fr-CA"/>
              <a:t>function</a:t>
            </a:r>
            <a:r>
              <a:rPr lang="fr-CA">
                <a:solidFill>
                  <a:srgbClr val="D6DEEB"/>
                </a:solidFill>
              </a:rPr>
              <a:t> </a:t>
            </a:r>
            <a:r>
              <a:rPr lang="fr-CA">
                <a:solidFill>
                  <a:srgbClr val="D9F5DD"/>
                </a:solidFill>
              </a:rPr>
              <a:t>(</a:t>
            </a:r>
            <a:r>
              <a:rPr lang="fr-CA">
                <a:solidFill>
                  <a:srgbClr val="D7DBE0"/>
                </a:solidFill>
              </a:rPr>
              <a:t>x</a:t>
            </a:r>
            <a:r>
              <a:rPr lang="fr-CA">
                <a:solidFill>
                  <a:srgbClr val="D6DEEB"/>
                </a:solidFill>
              </a:rPr>
              <a:t>, </a:t>
            </a:r>
            <a:r>
              <a:rPr lang="fr-CA">
                <a:solidFill>
                  <a:srgbClr val="D7DBE0"/>
                </a:solidFill>
              </a:rPr>
              <a:t>y</a:t>
            </a:r>
            <a:r>
              <a:rPr lang="fr-CA">
                <a:solidFill>
                  <a:srgbClr val="D9F5DD"/>
                </a:solidFill>
              </a:rPr>
              <a:t>)</a:t>
            </a:r>
            <a:r>
              <a:rPr lang="fr-CA">
                <a:solidFill>
                  <a:srgbClr val="D6DEEB"/>
                </a:solidFill>
              </a:rPr>
              <a:t> { </a:t>
            </a:r>
          </a:p>
          <a:p>
            <a:r>
              <a:rPr lang="fr-CA">
                <a:solidFill>
                  <a:srgbClr val="D6DEEB"/>
                </a:solidFill>
              </a:rPr>
              <a:t>    </a:t>
            </a:r>
            <a:r>
              <a:rPr lang="fr-CA" i="1">
                <a:solidFill>
                  <a:srgbClr val="C792EA"/>
                </a:solidFill>
              </a:rPr>
              <a:t>return</a:t>
            </a:r>
            <a:r>
              <a:rPr lang="fr-CA">
                <a:solidFill>
                  <a:srgbClr val="D6DEEB"/>
                </a:solidFill>
              </a:rPr>
              <a:t> </a:t>
            </a:r>
            <a:r>
              <a:rPr lang="fr-CA">
                <a:solidFill>
                  <a:srgbClr val="D7DBE0"/>
                </a:solidFill>
              </a:rPr>
              <a:t>x</a:t>
            </a:r>
            <a:r>
              <a:rPr lang="fr-CA">
                <a:solidFill>
                  <a:srgbClr val="D6DEEB"/>
                </a:solidFill>
              </a:rPr>
              <a:t> </a:t>
            </a:r>
            <a:r>
              <a:rPr lang="fr-CA">
                <a:solidFill>
                  <a:srgbClr val="C792EA"/>
                </a:solidFill>
              </a:rPr>
              <a:t>/</a:t>
            </a:r>
            <a:r>
              <a:rPr lang="fr-CA">
                <a:solidFill>
                  <a:srgbClr val="D6DEEB"/>
                </a:solidFill>
              </a:rPr>
              <a:t> </a:t>
            </a:r>
            <a:r>
              <a:rPr lang="fr-CA">
                <a:solidFill>
                  <a:srgbClr val="D7DBE0"/>
                </a:solidFill>
              </a:rPr>
              <a:t>y</a:t>
            </a:r>
            <a:r>
              <a:rPr lang="fr-CA">
                <a:solidFill>
                  <a:srgbClr val="D6DEEB"/>
                </a:solidFill>
              </a:rPr>
              <a:t>; </a:t>
            </a:r>
          </a:p>
          <a:p>
            <a:r>
              <a:rPr lang="fr-CA">
                <a:solidFill>
                  <a:srgbClr val="D6DEEB"/>
                </a:solidFill>
              </a:rPr>
              <a:t>};</a:t>
            </a:r>
          </a:p>
        </p:txBody>
      </p:sp>
    </p:spTree>
    <p:extLst>
      <p:ext uri="{BB962C8B-B14F-4D97-AF65-F5344CB8AC3E}">
        <p14:creationId xmlns:p14="http://schemas.microsoft.com/office/powerpoint/2010/main" val="288152337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p:cNvSpPr txBox="1"/>
          <p:nvPr/>
        </p:nvSpPr>
        <p:spPr>
          <a:xfrm>
            <a:off x="2264228" y="1391475"/>
            <a:ext cx="9030789"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Exemple</a:t>
            </a:r>
          </a:p>
        </p:txBody>
      </p:sp>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Modules dans node</a:t>
            </a:r>
          </a:p>
        </p:txBody>
      </p:sp>
      <p:sp>
        <p:nvSpPr>
          <p:cNvPr id="11" name="TextBox 10"/>
          <p:cNvSpPr txBox="1"/>
          <p:nvPr/>
        </p:nvSpPr>
        <p:spPr>
          <a:xfrm>
            <a:off x="2290354" y="1837105"/>
            <a:ext cx="9065623" cy="369332"/>
          </a:xfrm>
          <a:prstGeom prst="rect">
            <a:avLst/>
          </a:prstGeom>
          <a:noFill/>
        </p:spPr>
        <p:txBody>
          <a:bodyPr wrap="square" rtlCol="0">
            <a:spAutoFit/>
          </a:bodyPr>
          <a:lstStyle/>
          <a:p>
            <a:pPr lvl="0"/>
            <a:r>
              <a:rPr lang="fr-CA"/>
              <a:t>On va utiliser le calculator créé précédemment dans notre application index.js</a:t>
            </a:r>
          </a:p>
        </p:txBody>
      </p:sp>
      <p:sp>
        <p:nvSpPr>
          <p:cNvPr id="3" name="TextBox 2"/>
          <p:cNvSpPr txBox="1"/>
          <p:nvPr/>
        </p:nvSpPr>
        <p:spPr>
          <a:xfrm>
            <a:off x="2290354" y="2455773"/>
            <a:ext cx="8534400" cy="2585323"/>
          </a:xfrm>
          <a:prstGeom prst="rect">
            <a:avLst/>
          </a:prstGeom>
          <a:solidFill>
            <a:schemeClr val="tx2">
              <a:lumMod val="50000"/>
            </a:schemeClr>
          </a:solidFill>
        </p:spPr>
        <p:txBody>
          <a:bodyPr wrap="square" lIns="91440" tIns="45720" rIns="91440" bIns="45720" rtlCol="0" anchor="t">
            <a:spAutoFit/>
          </a:bodyPr>
          <a:lstStyle>
            <a:defPPr>
              <a:defRPr lang="fr-FR"/>
            </a:defPPr>
            <a:lvl1pPr>
              <a:defRPr>
                <a:solidFill>
                  <a:srgbClr val="82AAFF"/>
                </a:solidFill>
                <a:latin typeface="Consolas" panose="020B0609020204030204" pitchFamily="49" charset="0"/>
              </a:defRPr>
            </a:lvl1pPr>
          </a:lstStyle>
          <a:p>
            <a:r>
              <a:rPr lang="en-US" b="1"/>
              <a:t>Filename: index.js</a:t>
            </a:r>
          </a:p>
          <a:p>
            <a:endParaRPr lang="fr-CA"/>
          </a:p>
          <a:p>
            <a:r>
              <a:rPr lang="fr-CA" err="1">
                <a:latin typeface="Consolas"/>
              </a:rPr>
              <a:t>const</a:t>
            </a:r>
            <a:r>
              <a:rPr lang="fr-CA" i="1">
                <a:solidFill>
                  <a:srgbClr val="C792EA"/>
                </a:solidFill>
                <a:latin typeface="Consolas"/>
              </a:rPr>
              <a:t> </a:t>
            </a:r>
            <a:r>
              <a:rPr lang="fr-CA" i="1" err="1">
                <a:latin typeface="Consolas"/>
              </a:rPr>
              <a:t>calculator</a:t>
            </a:r>
            <a:r>
              <a:rPr lang="fr-CA" i="1">
                <a:solidFill>
                  <a:srgbClr val="C792EA"/>
                </a:solidFill>
                <a:latin typeface="Consolas"/>
              </a:rPr>
              <a:t> </a:t>
            </a:r>
            <a:r>
              <a:rPr lang="fr-CA">
                <a:solidFill>
                  <a:srgbClr val="C792EA"/>
                </a:solidFill>
                <a:latin typeface="Consolas"/>
              </a:rPr>
              <a:t>=</a:t>
            </a:r>
            <a:r>
              <a:rPr lang="fr-CA" i="1">
                <a:solidFill>
                  <a:srgbClr val="C792EA"/>
                </a:solidFill>
                <a:latin typeface="Consolas"/>
              </a:rPr>
              <a:t> </a:t>
            </a:r>
            <a:r>
              <a:rPr lang="fr-CA" err="1">
                <a:latin typeface="Consolas"/>
              </a:rPr>
              <a:t>require</a:t>
            </a:r>
            <a:r>
              <a:rPr lang="fr-CA">
                <a:solidFill>
                  <a:srgbClr val="D6DEEB"/>
                </a:solidFill>
                <a:latin typeface="Consolas"/>
              </a:rPr>
              <a:t>(</a:t>
            </a:r>
            <a:r>
              <a:rPr lang="fr-CA">
                <a:solidFill>
                  <a:srgbClr val="D9F5DD"/>
                </a:solidFill>
                <a:latin typeface="Consolas"/>
              </a:rPr>
              <a:t>'</a:t>
            </a:r>
            <a:r>
              <a:rPr lang="fr-CA">
                <a:solidFill>
                  <a:srgbClr val="ECC48D"/>
                </a:solidFill>
                <a:latin typeface="Consolas"/>
              </a:rPr>
              <a:t>./</a:t>
            </a:r>
            <a:r>
              <a:rPr lang="en-US">
                <a:latin typeface="Consolas"/>
              </a:rPr>
              <a:t>calculator</a:t>
            </a:r>
            <a:r>
              <a:rPr lang="fr-CA">
                <a:solidFill>
                  <a:srgbClr val="D9F5DD"/>
                </a:solidFill>
                <a:latin typeface="Consolas"/>
              </a:rPr>
              <a:t>'</a:t>
            </a:r>
            <a:r>
              <a:rPr lang="fr-CA">
                <a:solidFill>
                  <a:srgbClr val="D6DEEB"/>
                </a:solidFill>
                <a:latin typeface="Consolas"/>
              </a:rPr>
              <a:t>)</a:t>
            </a:r>
          </a:p>
          <a:p>
            <a:br>
              <a:rPr lang="fr-CA">
                <a:solidFill>
                  <a:srgbClr val="D6DEEB"/>
                </a:solidFill>
              </a:rPr>
            </a:br>
            <a:r>
              <a:rPr lang="fr-CA">
                <a:solidFill>
                  <a:srgbClr val="D6DEEB"/>
                </a:solidFill>
              </a:rPr>
              <a:t>console</a:t>
            </a:r>
            <a:r>
              <a:rPr lang="fr-CA" i="1">
                <a:solidFill>
                  <a:srgbClr val="C792EA"/>
                </a:solidFill>
              </a:rPr>
              <a:t>.</a:t>
            </a:r>
            <a:r>
              <a:rPr lang="fr-CA"/>
              <a:t>log</a:t>
            </a:r>
            <a:r>
              <a:rPr lang="fr-CA">
                <a:solidFill>
                  <a:srgbClr val="D6DEEB"/>
                </a:solidFill>
              </a:rPr>
              <a:t>(calculator</a:t>
            </a:r>
            <a:r>
              <a:rPr lang="fr-CA" i="1">
                <a:solidFill>
                  <a:srgbClr val="C792EA"/>
                </a:solidFill>
              </a:rPr>
              <a:t>.</a:t>
            </a:r>
            <a:r>
              <a:rPr lang="fr-CA"/>
              <a:t>add</a:t>
            </a:r>
            <a:r>
              <a:rPr lang="fr-CA">
                <a:solidFill>
                  <a:srgbClr val="D6DEEB"/>
                </a:solidFill>
              </a:rPr>
              <a:t>(</a:t>
            </a:r>
            <a:r>
              <a:rPr lang="fr-CA">
                <a:solidFill>
                  <a:srgbClr val="F78C6C"/>
                </a:solidFill>
              </a:rPr>
              <a:t>10</a:t>
            </a:r>
            <a:r>
              <a:rPr lang="fr-CA">
                <a:solidFill>
                  <a:srgbClr val="D6DEEB"/>
                </a:solidFill>
              </a:rPr>
              <a:t>,</a:t>
            </a:r>
            <a:r>
              <a:rPr lang="fr-CA">
                <a:solidFill>
                  <a:srgbClr val="F78C6C"/>
                </a:solidFill>
              </a:rPr>
              <a:t>20</a:t>
            </a:r>
            <a:r>
              <a:rPr lang="fr-CA">
                <a:solidFill>
                  <a:srgbClr val="D6DEEB"/>
                </a:solidFill>
              </a:rPr>
              <a:t>))</a:t>
            </a:r>
          </a:p>
          <a:p>
            <a:r>
              <a:rPr lang="fr-CA">
                <a:solidFill>
                  <a:srgbClr val="D6DEEB"/>
                </a:solidFill>
              </a:rPr>
              <a:t>console</a:t>
            </a:r>
            <a:r>
              <a:rPr lang="fr-CA" i="1">
                <a:solidFill>
                  <a:srgbClr val="C792EA"/>
                </a:solidFill>
              </a:rPr>
              <a:t>.</a:t>
            </a:r>
            <a:r>
              <a:rPr lang="fr-CA"/>
              <a:t>log</a:t>
            </a:r>
            <a:r>
              <a:rPr lang="fr-CA">
                <a:solidFill>
                  <a:srgbClr val="D6DEEB"/>
                </a:solidFill>
              </a:rPr>
              <a:t>(calculator</a:t>
            </a:r>
            <a:r>
              <a:rPr lang="fr-CA" i="1">
                <a:solidFill>
                  <a:srgbClr val="C792EA"/>
                </a:solidFill>
              </a:rPr>
              <a:t>.</a:t>
            </a:r>
            <a:r>
              <a:rPr lang="fr-CA"/>
              <a:t>sub</a:t>
            </a:r>
            <a:r>
              <a:rPr lang="fr-CA">
                <a:solidFill>
                  <a:srgbClr val="D6DEEB"/>
                </a:solidFill>
              </a:rPr>
              <a:t>(</a:t>
            </a:r>
            <a:r>
              <a:rPr lang="fr-CA">
                <a:solidFill>
                  <a:srgbClr val="F78C6C"/>
                </a:solidFill>
              </a:rPr>
              <a:t>10</a:t>
            </a:r>
            <a:r>
              <a:rPr lang="fr-CA">
                <a:solidFill>
                  <a:srgbClr val="D6DEEB"/>
                </a:solidFill>
              </a:rPr>
              <a:t>,</a:t>
            </a:r>
            <a:r>
              <a:rPr lang="fr-CA">
                <a:solidFill>
                  <a:srgbClr val="F78C6C"/>
                </a:solidFill>
              </a:rPr>
              <a:t>3</a:t>
            </a:r>
            <a:r>
              <a:rPr lang="fr-CA">
                <a:solidFill>
                  <a:srgbClr val="D6DEEB"/>
                </a:solidFill>
              </a:rPr>
              <a:t>))</a:t>
            </a:r>
          </a:p>
          <a:p>
            <a:r>
              <a:rPr lang="fr-CA">
                <a:solidFill>
                  <a:srgbClr val="D6DEEB"/>
                </a:solidFill>
              </a:rPr>
              <a:t>console</a:t>
            </a:r>
            <a:r>
              <a:rPr lang="fr-CA" i="1">
                <a:solidFill>
                  <a:srgbClr val="C792EA"/>
                </a:solidFill>
              </a:rPr>
              <a:t>.</a:t>
            </a:r>
            <a:r>
              <a:rPr lang="fr-CA"/>
              <a:t>log</a:t>
            </a:r>
            <a:r>
              <a:rPr lang="fr-CA">
                <a:solidFill>
                  <a:srgbClr val="D6DEEB"/>
                </a:solidFill>
              </a:rPr>
              <a:t>(calculator</a:t>
            </a:r>
            <a:r>
              <a:rPr lang="fr-CA" i="1">
                <a:solidFill>
                  <a:srgbClr val="C792EA"/>
                </a:solidFill>
              </a:rPr>
              <a:t>.</a:t>
            </a:r>
            <a:r>
              <a:rPr lang="fr-CA"/>
              <a:t>mult</a:t>
            </a:r>
            <a:r>
              <a:rPr lang="fr-CA">
                <a:solidFill>
                  <a:srgbClr val="D6DEEB"/>
                </a:solidFill>
              </a:rPr>
              <a:t>(</a:t>
            </a:r>
            <a:r>
              <a:rPr lang="fr-CA">
                <a:solidFill>
                  <a:srgbClr val="F78C6C"/>
                </a:solidFill>
              </a:rPr>
              <a:t>10</a:t>
            </a:r>
            <a:r>
              <a:rPr lang="fr-CA">
                <a:solidFill>
                  <a:srgbClr val="D6DEEB"/>
                </a:solidFill>
              </a:rPr>
              <a:t>,</a:t>
            </a:r>
            <a:r>
              <a:rPr lang="fr-CA">
                <a:solidFill>
                  <a:srgbClr val="F78C6C"/>
                </a:solidFill>
              </a:rPr>
              <a:t>20</a:t>
            </a:r>
            <a:r>
              <a:rPr lang="fr-CA">
                <a:solidFill>
                  <a:srgbClr val="D6DEEB"/>
                </a:solidFill>
              </a:rPr>
              <a:t>))</a:t>
            </a:r>
          </a:p>
          <a:p>
            <a:r>
              <a:rPr lang="fr-CA">
                <a:solidFill>
                  <a:srgbClr val="D6DEEB"/>
                </a:solidFill>
              </a:rPr>
              <a:t>console</a:t>
            </a:r>
            <a:r>
              <a:rPr lang="fr-CA" i="1">
                <a:solidFill>
                  <a:srgbClr val="C792EA"/>
                </a:solidFill>
              </a:rPr>
              <a:t>.</a:t>
            </a:r>
            <a:r>
              <a:rPr lang="fr-CA"/>
              <a:t>log</a:t>
            </a:r>
            <a:r>
              <a:rPr lang="fr-CA">
                <a:solidFill>
                  <a:srgbClr val="D6DEEB"/>
                </a:solidFill>
              </a:rPr>
              <a:t>(calculator</a:t>
            </a:r>
            <a:r>
              <a:rPr lang="fr-CA" i="1">
                <a:solidFill>
                  <a:srgbClr val="C792EA"/>
                </a:solidFill>
              </a:rPr>
              <a:t>.</a:t>
            </a:r>
            <a:r>
              <a:rPr lang="fr-CA"/>
              <a:t>div</a:t>
            </a:r>
            <a:r>
              <a:rPr lang="fr-CA">
                <a:solidFill>
                  <a:srgbClr val="D6DEEB"/>
                </a:solidFill>
              </a:rPr>
              <a:t>(</a:t>
            </a:r>
            <a:r>
              <a:rPr lang="fr-CA">
                <a:solidFill>
                  <a:srgbClr val="F78C6C"/>
                </a:solidFill>
              </a:rPr>
              <a:t>10</a:t>
            </a:r>
            <a:r>
              <a:rPr lang="fr-CA">
                <a:solidFill>
                  <a:srgbClr val="D6DEEB"/>
                </a:solidFill>
              </a:rPr>
              <a:t>,</a:t>
            </a:r>
            <a:r>
              <a:rPr lang="fr-CA">
                <a:solidFill>
                  <a:srgbClr val="F78C6C"/>
                </a:solidFill>
              </a:rPr>
              <a:t>2</a:t>
            </a:r>
            <a:r>
              <a:rPr lang="fr-CA">
                <a:solidFill>
                  <a:srgbClr val="D6DEEB"/>
                </a:solidFill>
              </a:rPr>
              <a:t>))</a:t>
            </a:r>
          </a:p>
          <a:p>
            <a:endParaRPr lang="fr-CA">
              <a:solidFill>
                <a:srgbClr val="D6DEEB"/>
              </a:solidFill>
            </a:endParaRPr>
          </a:p>
        </p:txBody>
      </p:sp>
      <p:sp>
        <p:nvSpPr>
          <p:cNvPr id="2" name="TextBox 1"/>
          <p:cNvSpPr txBox="1"/>
          <p:nvPr/>
        </p:nvSpPr>
        <p:spPr>
          <a:xfrm>
            <a:off x="2290354" y="5290432"/>
            <a:ext cx="4532811"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Modules externes </a:t>
            </a:r>
          </a:p>
        </p:txBody>
      </p:sp>
      <p:sp>
        <p:nvSpPr>
          <p:cNvPr id="6" name="TextBox 5"/>
          <p:cNvSpPr txBox="1"/>
          <p:nvPr/>
        </p:nvSpPr>
        <p:spPr>
          <a:xfrm>
            <a:off x="2264228" y="5659764"/>
            <a:ext cx="7680961" cy="646331"/>
          </a:xfrm>
          <a:prstGeom prst="rect">
            <a:avLst/>
          </a:prstGeom>
          <a:noFill/>
        </p:spPr>
        <p:txBody>
          <a:bodyPr wrap="square" rtlCol="0">
            <a:spAutoFit/>
          </a:bodyPr>
          <a:lstStyle/>
          <a:p>
            <a:r>
              <a:rPr lang="fr-CA"/>
              <a:t>ce sont les modules qui sont disponibles online dans le registre et qui pourraient être installés via </a:t>
            </a:r>
            <a:r>
              <a:rPr lang="fr-CA">
                <a:solidFill>
                  <a:srgbClr val="0070C0"/>
                </a:solidFill>
              </a:rPr>
              <a:t>npm install </a:t>
            </a:r>
          </a:p>
        </p:txBody>
      </p:sp>
    </p:spTree>
    <p:extLst>
      <p:ext uri="{BB962C8B-B14F-4D97-AF65-F5344CB8AC3E}">
        <p14:creationId xmlns:p14="http://schemas.microsoft.com/office/powerpoint/2010/main" val="21829977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3" grpId="0" animBg="1"/>
      <p:bldP spid="2" grpId="0"/>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p:cNvSpPr txBox="1"/>
          <p:nvPr/>
        </p:nvSpPr>
        <p:spPr>
          <a:xfrm>
            <a:off x="2264228" y="1391475"/>
            <a:ext cx="9030789"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Variables d’environnement</a:t>
            </a:r>
          </a:p>
        </p:txBody>
      </p:sp>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Modules dans node</a:t>
            </a:r>
          </a:p>
        </p:txBody>
      </p:sp>
      <p:sp>
        <p:nvSpPr>
          <p:cNvPr id="11" name="TextBox 10"/>
          <p:cNvSpPr txBox="1"/>
          <p:nvPr/>
        </p:nvSpPr>
        <p:spPr>
          <a:xfrm>
            <a:off x="2290354" y="1837105"/>
            <a:ext cx="9065623" cy="2031325"/>
          </a:xfrm>
          <a:prstGeom prst="rect">
            <a:avLst/>
          </a:prstGeom>
          <a:noFill/>
        </p:spPr>
        <p:txBody>
          <a:bodyPr wrap="square" rtlCol="0">
            <a:spAutoFit/>
          </a:bodyPr>
          <a:lstStyle/>
          <a:p>
            <a:r>
              <a:rPr lang="fr-CA"/>
              <a:t>Le module principal de process de Node.js fournit la propriété env qui contient  toutes les variables d'environnement définies au moment du démarrage du processus.</a:t>
            </a:r>
          </a:p>
          <a:p>
            <a:endParaRPr lang="fr-CA"/>
          </a:p>
          <a:p>
            <a:r>
              <a:rPr lang="fr-CA"/>
              <a:t>La méthode recommandée pour définir et utiliser les variables d’environnement dans node.js est d’utiliser un fichier .env qui va contenir tous nos variables d’environnement puis le charger dans notre application. </a:t>
            </a:r>
          </a:p>
        </p:txBody>
      </p:sp>
      <p:sp>
        <p:nvSpPr>
          <p:cNvPr id="2" name="TextBox 1"/>
          <p:cNvSpPr txBox="1"/>
          <p:nvPr/>
        </p:nvSpPr>
        <p:spPr>
          <a:xfrm>
            <a:off x="2290354" y="3944728"/>
            <a:ext cx="4532811"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Exemple (tp07.js)</a:t>
            </a:r>
          </a:p>
        </p:txBody>
      </p:sp>
      <p:sp>
        <p:nvSpPr>
          <p:cNvPr id="6" name="TextBox 5"/>
          <p:cNvSpPr txBox="1"/>
          <p:nvPr/>
        </p:nvSpPr>
        <p:spPr>
          <a:xfrm>
            <a:off x="2290354" y="4390358"/>
            <a:ext cx="9562012" cy="1754326"/>
          </a:xfrm>
          <a:prstGeom prst="rect">
            <a:avLst/>
          </a:prstGeom>
          <a:noFill/>
        </p:spPr>
        <p:txBody>
          <a:bodyPr wrap="square" rtlCol="0">
            <a:spAutoFit/>
          </a:bodyPr>
          <a:lstStyle/>
          <a:p>
            <a:pPr marL="285750" lvl="0" indent="-285750">
              <a:buFont typeface="Arial" panose="020B0604020202020204" pitchFamily="34" charset="0"/>
              <a:buChar char="•"/>
            </a:pPr>
            <a:r>
              <a:rPr lang="fr-CA"/>
              <a:t>Installer le module dotenv pour le développement : </a:t>
            </a:r>
            <a:r>
              <a:rPr lang="fr-CA">
                <a:solidFill>
                  <a:srgbClr val="0070C0"/>
                </a:solidFill>
              </a:rPr>
              <a:t>npm install dotenv –save-dev</a:t>
            </a:r>
          </a:p>
          <a:p>
            <a:pPr marL="285750" lvl="0" indent="-285750">
              <a:buFont typeface="Arial" panose="020B0604020202020204" pitchFamily="34" charset="0"/>
              <a:buChar char="•"/>
            </a:pPr>
            <a:r>
              <a:rPr lang="fr-CA"/>
              <a:t>Créer un fichier .env qui contient deux variables </a:t>
            </a:r>
          </a:p>
          <a:p>
            <a:r>
              <a:rPr lang="fr-CA">
                <a:solidFill>
                  <a:srgbClr val="0070C0"/>
                </a:solidFill>
              </a:rPr>
              <a:t>host : localhost</a:t>
            </a:r>
          </a:p>
          <a:p>
            <a:r>
              <a:rPr lang="fr-CA">
                <a:solidFill>
                  <a:srgbClr val="0070C0"/>
                </a:solidFill>
              </a:rPr>
              <a:t>port : 5000</a:t>
            </a:r>
          </a:p>
          <a:p>
            <a:pPr marL="285750" indent="-285750">
              <a:buFont typeface="Arial" panose="020B0604020202020204" pitchFamily="34" charset="0"/>
              <a:buChar char="•"/>
            </a:pPr>
            <a:r>
              <a:rPr lang="fr-CA"/>
              <a:t>Créer un simple serveur http qui va utiliser le host et le port définit dans le fichier .env</a:t>
            </a:r>
            <a:endParaRPr lang="fr-CA">
              <a:solidFill>
                <a:srgbClr val="0070C0"/>
              </a:solidFill>
            </a:endParaRPr>
          </a:p>
        </p:txBody>
      </p:sp>
    </p:spTree>
    <p:extLst>
      <p:ext uri="{BB962C8B-B14F-4D97-AF65-F5344CB8AC3E}">
        <p14:creationId xmlns:p14="http://schemas.microsoft.com/office/powerpoint/2010/main" val="46813318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2" grpId="0"/>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p:cNvSpPr txBox="1"/>
          <p:nvPr/>
        </p:nvSpPr>
        <p:spPr>
          <a:xfrm>
            <a:off x="2264228" y="1391475"/>
            <a:ext cx="9030789"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Exemple (tp07.js)</a:t>
            </a:r>
          </a:p>
        </p:txBody>
      </p:sp>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Modules dans node</a:t>
            </a:r>
          </a:p>
        </p:txBody>
      </p:sp>
      <p:sp>
        <p:nvSpPr>
          <p:cNvPr id="11" name="TextBox 10"/>
          <p:cNvSpPr txBox="1"/>
          <p:nvPr/>
        </p:nvSpPr>
        <p:spPr>
          <a:xfrm>
            <a:off x="2290354" y="1837105"/>
            <a:ext cx="9065623" cy="4247317"/>
          </a:xfrm>
          <a:prstGeom prst="rect">
            <a:avLst/>
          </a:prstGeom>
          <a:solidFill>
            <a:schemeClr val="tx2">
              <a:lumMod val="50000"/>
            </a:schemeClr>
          </a:solidFill>
        </p:spPr>
        <p:txBody>
          <a:bodyPr wrap="square" lIns="91440" tIns="45720" rIns="91440" bIns="45720" rtlCol="0" anchor="t">
            <a:spAutoFit/>
          </a:bodyPr>
          <a:lstStyle>
            <a:defPPr>
              <a:defRPr lang="fr-FR"/>
            </a:defPPr>
            <a:lvl1pPr>
              <a:defRPr>
                <a:solidFill>
                  <a:srgbClr val="82AAFF"/>
                </a:solidFill>
                <a:latin typeface="Consolas" panose="020B0609020204030204" pitchFamily="49" charset="0"/>
              </a:defRPr>
            </a:lvl1pPr>
          </a:lstStyle>
          <a:p>
            <a:r>
              <a:rPr lang="fr-CA" err="1">
                <a:latin typeface="Consolas"/>
              </a:rPr>
              <a:t>require</a:t>
            </a:r>
            <a:r>
              <a:rPr lang="fr-CA">
                <a:solidFill>
                  <a:srgbClr val="D6DEEB"/>
                </a:solidFill>
                <a:latin typeface="Consolas"/>
              </a:rPr>
              <a:t>(</a:t>
            </a:r>
            <a:r>
              <a:rPr lang="fr-CA">
                <a:solidFill>
                  <a:srgbClr val="D9F5DD"/>
                </a:solidFill>
                <a:latin typeface="Consolas"/>
              </a:rPr>
              <a:t>'</a:t>
            </a:r>
            <a:r>
              <a:rPr lang="fr-CA" err="1">
                <a:solidFill>
                  <a:srgbClr val="ECC48D"/>
                </a:solidFill>
                <a:latin typeface="Consolas"/>
              </a:rPr>
              <a:t>dotenv</a:t>
            </a:r>
            <a:r>
              <a:rPr lang="fr-CA">
                <a:solidFill>
                  <a:srgbClr val="D9F5DD"/>
                </a:solidFill>
                <a:latin typeface="Consolas"/>
              </a:rPr>
              <a:t>'</a:t>
            </a:r>
            <a:r>
              <a:rPr lang="fr-CA">
                <a:solidFill>
                  <a:srgbClr val="D6DEEB"/>
                </a:solidFill>
                <a:latin typeface="Consolas"/>
              </a:rPr>
              <a:t>)</a:t>
            </a:r>
            <a:r>
              <a:rPr lang="fr-CA" i="1">
                <a:solidFill>
                  <a:srgbClr val="C792EA"/>
                </a:solidFill>
                <a:latin typeface="Consolas"/>
              </a:rPr>
              <a:t>.</a:t>
            </a:r>
            <a:r>
              <a:rPr lang="fr-CA">
                <a:latin typeface="Consolas"/>
              </a:rPr>
              <a:t>config</a:t>
            </a:r>
            <a:r>
              <a:rPr lang="fr-CA">
                <a:solidFill>
                  <a:srgbClr val="D6DEEB"/>
                </a:solidFill>
                <a:latin typeface="Consolas"/>
              </a:rPr>
              <a:t>()</a:t>
            </a:r>
            <a:endParaRPr lang="en-US">
              <a:latin typeface="Consolas"/>
            </a:endParaRPr>
          </a:p>
          <a:p>
            <a:r>
              <a:rPr lang="fr-CA"/>
              <a:t>const</a:t>
            </a:r>
            <a:r>
              <a:rPr lang="fr-CA" i="1">
                <a:solidFill>
                  <a:srgbClr val="C792EA"/>
                </a:solidFill>
              </a:rPr>
              <a:t> </a:t>
            </a:r>
            <a:r>
              <a:rPr lang="fr-CA" i="1"/>
              <a:t>http</a:t>
            </a:r>
            <a:r>
              <a:rPr lang="fr-CA" i="1">
                <a:solidFill>
                  <a:srgbClr val="C792EA"/>
                </a:solidFill>
              </a:rPr>
              <a:t> </a:t>
            </a:r>
            <a:r>
              <a:rPr lang="fr-CA">
                <a:solidFill>
                  <a:srgbClr val="C792EA"/>
                </a:solidFill>
              </a:rPr>
              <a:t>=</a:t>
            </a:r>
            <a:r>
              <a:rPr lang="fr-CA" i="1">
                <a:solidFill>
                  <a:srgbClr val="C792EA"/>
                </a:solidFill>
              </a:rPr>
              <a:t> </a:t>
            </a:r>
            <a:r>
              <a:rPr lang="fr-CA"/>
              <a:t>require</a:t>
            </a:r>
            <a:r>
              <a:rPr lang="fr-CA">
                <a:solidFill>
                  <a:srgbClr val="D6DEEB"/>
                </a:solidFill>
              </a:rPr>
              <a:t>(</a:t>
            </a:r>
            <a:r>
              <a:rPr lang="fr-CA">
                <a:solidFill>
                  <a:srgbClr val="D9F5DD"/>
                </a:solidFill>
              </a:rPr>
              <a:t>'</a:t>
            </a:r>
            <a:r>
              <a:rPr lang="fr-CA">
                <a:solidFill>
                  <a:srgbClr val="ECC48D"/>
                </a:solidFill>
              </a:rPr>
              <a:t>http</a:t>
            </a:r>
            <a:r>
              <a:rPr lang="fr-CA">
                <a:solidFill>
                  <a:srgbClr val="D9F5DD"/>
                </a:solidFill>
              </a:rPr>
              <a:t>'</a:t>
            </a:r>
            <a:r>
              <a:rPr lang="fr-CA">
                <a:solidFill>
                  <a:srgbClr val="D6DEEB"/>
                </a:solidFill>
              </a:rPr>
              <a:t>);</a:t>
            </a:r>
            <a:br>
              <a:rPr lang="fr-CA">
                <a:solidFill>
                  <a:srgbClr val="D6DEEB"/>
                </a:solidFill>
              </a:rPr>
            </a:br>
            <a:r>
              <a:rPr lang="fr-CA"/>
              <a:t>const</a:t>
            </a:r>
            <a:r>
              <a:rPr lang="fr-CA" i="1">
                <a:solidFill>
                  <a:srgbClr val="C792EA"/>
                </a:solidFill>
              </a:rPr>
              <a:t> </a:t>
            </a:r>
            <a:r>
              <a:rPr lang="fr-CA" i="1"/>
              <a:t>hostname</a:t>
            </a:r>
            <a:r>
              <a:rPr lang="fr-CA" i="1">
                <a:solidFill>
                  <a:srgbClr val="C792EA"/>
                </a:solidFill>
              </a:rPr>
              <a:t> </a:t>
            </a:r>
            <a:r>
              <a:rPr lang="fr-CA">
                <a:solidFill>
                  <a:srgbClr val="C792EA"/>
                </a:solidFill>
              </a:rPr>
              <a:t>=</a:t>
            </a:r>
            <a:r>
              <a:rPr lang="fr-CA" i="1">
                <a:solidFill>
                  <a:srgbClr val="C792EA"/>
                </a:solidFill>
              </a:rPr>
              <a:t> </a:t>
            </a:r>
            <a:r>
              <a:rPr lang="fr-CA">
                <a:solidFill>
                  <a:srgbClr val="D6DEEB"/>
                </a:solidFill>
              </a:rPr>
              <a:t>process</a:t>
            </a:r>
            <a:r>
              <a:rPr lang="fr-CA" i="1">
                <a:solidFill>
                  <a:srgbClr val="C792EA"/>
                </a:solidFill>
              </a:rPr>
              <a:t>.</a:t>
            </a:r>
            <a:r>
              <a:rPr lang="fr-CA" i="1">
                <a:solidFill>
                  <a:srgbClr val="D7DBE0"/>
                </a:solidFill>
              </a:rPr>
              <a:t>env</a:t>
            </a:r>
            <a:r>
              <a:rPr lang="fr-CA" i="1">
                <a:solidFill>
                  <a:srgbClr val="C792EA"/>
                </a:solidFill>
              </a:rPr>
              <a:t>.</a:t>
            </a:r>
            <a:r>
              <a:rPr lang="fr-CA" i="1"/>
              <a:t>HOST</a:t>
            </a:r>
            <a:endParaRPr lang="fr-CA">
              <a:solidFill>
                <a:srgbClr val="D6DEEB"/>
              </a:solidFill>
            </a:endParaRPr>
          </a:p>
          <a:p>
            <a:r>
              <a:rPr lang="fr-CA">
                <a:latin typeface="Consolas"/>
              </a:rPr>
              <a:t>const</a:t>
            </a:r>
            <a:r>
              <a:rPr lang="fr-CA" i="1">
                <a:solidFill>
                  <a:srgbClr val="C792EA"/>
                </a:solidFill>
                <a:latin typeface="Consolas"/>
              </a:rPr>
              <a:t> </a:t>
            </a:r>
            <a:r>
              <a:rPr lang="fr-CA" i="1">
                <a:latin typeface="Consolas"/>
              </a:rPr>
              <a:t>port</a:t>
            </a:r>
            <a:r>
              <a:rPr lang="fr-CA" i="1">
                <a:solidFill>
                  <a:srgbClr val="C792EA"/>
                </a:solidFill>
                <a:latin typeface="Consolas"/>
              </a:rPr>
              <a:t> </a:t>
            </a:r>
            <a:r>
              <a:rPr lang="fr-CA">
                <a:solidFill>
                  <a:srgbClr val="C792EA"/>
                </a:solidFill>
                <a:latin typeface="Consolas"/>
              </a:rPr>
              <a:t>=</a:t>
            </a:r>
            <a:r>
              <a:rPr lang="fr-CA" i="1">
                <a:solidFill>
                  <a:srgbClr val="C792EA"/>
                </a:solidFill>
                <a:latin typeface="Consolas"/>
              </a:rPr>
              <a:t> </a:t>
            </a:r>
            <a:r>
              <a:rPr lang="fr-CA">
                <a:solidFill>
                  <a:srgbClr val="D6DEEB"/>
                </a:solidFill>
                <a:latin typeface="Consolas"/>
              </a:rPr>
              <a:t>process</a:t>
            </a:r>
            <a:r>
              <a:rPr lang="fr-CA" i="1">
                <a:solidFill>
                  <a:srgbClr val="C792EA"/>
                </a:solidFill>
                <a:latin typeface="Consolas"/>
              </a:rPr>
              <a:t>.</a:t>
            </a:r>
            <a:r>
              <a:rPr lang="fr-CA" i="1">
                <a:solidFill>
                  <a:srgbClr val="D7DBE0"/>
                </a:solidFill>
                <a:latin typeface="Consolas"/>
              </a:rPr>
              <a:t>env</a:t>
            </a:r>
            <a:r>
              <a:rPr lang="fr-CA" i="1">
                <a:solidFill>
                  <a:srgbClr val="C792EA"/>
                </a:solidFill>
                <a:latin typeface="Consolas"/>
              </a:rPr>
              <a:t>.</a:t>
            </a:r>
            <a:r>
              <a:rPr lang="fr-CA" i="1">
                <a:latin typeface="Consolas"/>
              </a:rPr>
              <a:t>PORT</a:t>
            </a:r>
            <a:endParaRPr lang="fr-CA">
              <a:solidFill>
                <a:srgbClr val="D6DEEB"/>
              </a:solidFill>
              <a:latin typeface="Consolas"/>
            </a:endParaRPr>
          </a:p>
          <a:p>
            <a:br>
              <a:rPr lang="fr-CA">
                <a:solidFill>
                  <a:srgbClr val="D6DEEB"/>
                </a:solidFill>
              </a:rPr>
            </a:br>
            <a:r>
              <a:rPr lang="fr-CA"/>
              <a:t>const</a:t>
            </a:r>
            <a:r>
              <a:rPr lang="fr-CA" i="1">
                <a:solidFill>
                  <a:srgbClr val="C792EA"/>
                </a:solidFill>
              </a:rPr>
              <a:t> </a:t>
            </a:r>
            <a:r>
              <a:rPr lang="fr-CA" i="1"/>
              <a:t>server</a:t>
            </a:r>
            <a:r>
              <a:rPr lang="fr-CA" i="1">
                <a:solidFill>
                  <a:srgbClr val="C792EA"/>
                </a:solidFill>
              </a:rPr>
              <a:t> </a:t>
            </a:r>
            <a:r>
              <a:rPr lang="fr-CA">
                <a:solidFill>
                  <a:srgbClr val="C792EA"/>
                </a:solidFill>
              </a:rPr>
              <a:t>=</a:t>
            </a:r>
            <a:r>
              <a:rPr lang="fr-CA" i="1">
                <a:solidFill>
                  <a:srgbClr val="C792EA"/>
                </a:solidFill>
              </a:rPr>
              <a:t> </a:t>
            </a:r>
            <a:r>
              <a:rPr lang="fr-CA">
                <a:solidFill>
                  <a:srgbClr val="D6DEEB"/>
                </a:solidFill>
              </a:rPr>
              <a:t>http</a:t>
            </a:r>
            <a:r>
              <a:rPr lang="fr-CA" i="1">
                <a:solidFill>
                  <a:srgbClr val="C792EA"/>
                </a:solidFill>
              </a:rPr>
              <a:t>.</a:t>
            </a:r>
            <a:r>
              <a:rPr lang="fr-CA"/>
              <a:t>createServer</a:t>
            </a:r>
            <a:r>
              <a:rPr lang="fr-CA">
                <a:solidFill>
                  <a:srgbClr val="D6DEEB"/>
                </a:solidFill>
              </a:rPr>
              <a:t>(</a:t>
            </a:r>
            <a:r>
              <a:rPr lang="fr-CA">
                <a:solidFill>
                  <a:srgbClr val="D9F5DD"/>
                </a:solidFill>
              </a:rPr>
              <a:t>(</a:t>
            </a:r>
            <a:r>
              <a:rPr lang="fr-CA" i="1">
                <a:solidFill>
                  <a:srgbClr val="D7DBE0"/>
                </a:solidFill>
              </a:rPr>
              <a:t>req</a:t>
            </a:r>
            <a:r>
              <a:rPr lang="fr-CA">
                <a:solidFill>
                  <a:srgbClr val="C792EA"/>
                </a:solidFill>
              </a:rPr>
              <a:t>,</a:t>
            </a:r>
            <a:r>
              <a:rPr lang="fr-CA" i="1">
                <a:solidFill>
                  <a:srgbClr val="C792EA"/>
                </a:solidFill>
              </a:rPr>
              <a:t> </a:t>
            </a:r>
            <a:r>
              <a:rPr lang="fr-CA" i="1">
                <a:solidFill>
                  <a:srgbClr val="D7DBE0"/>
                </a:solidFill>
              </a:rPr>
              <a:t>res</a:t>
            </a:r>
            <a:r>
              <a:rPr lang="fr-CA">
                <a:solidFill>
                  <a:srgbClr val="D9F5DD"/>
                </a:solidFill>
              </a:rPr>
              <a:t>)</a:t>
            </a:r>
            <a:r>
              <a:rPr lang="fr-CA" i="1">
                <a:solidFill>
                  <a:srgbClr val="C792EA"/>
                </a:solidFill>
              </a:rPr>
              <a:t> </a:t>
            </a:r>
            <a:r>
              <a:rPr lang="fr-CA"/>
              <a:t>=&gt;</a:t>
            </a:r>
            <a:r>
              <a:rPr lang="fr-CA" i="1">
                <a:solidFill>
                  <a:srgbClr val="C792EA"/>
                </a:solidFill>
              </a:rPr>
              <a:t> </a:t>
            </a:r>
            <a:r>
              <a:rPr lang="fr-CA">
                <a:solidFill>
                  <a:srgbClr val="C792EA"/>
                </a:solidFill>
              </a:rPr>
              <a:t>{</a:t>
            </a:r>
            <a:endParaRPr lang="fr-CA">
              <a:solidFill>
                <a:srgbClr val="D6DEEB"/>
              </a:solidFill>
            </a:endParaRPr>
          </a:p>
          <a:p>
            <a:r>
              <a:rPr lang="fr-CA" i="1">
                <a:solidFill>
                  <a:srgbClr val="C792EA"/>
                </a:solidFill>
              </a:rPr>
              <a:t>  </a:t>
            </a:r>
            <a:r>
              <a:rPr lang="fr-CA">
                <a:solidFill>
                  <a:srgbClr val="D6DEEB"/>
                </a:solidFill>
              </a:rPr>
              <a:t>res</a:t>
            </a:r>
            <a:r>
              <a:rPr lang="fr-CA" i="1">
                <a:solidFill>
                  <a:srgbClr val="C792EA"/>
                </a:solidFill>
              </a:rPr>
              <a:t>.</a:t>
            </a:r>
            <a:r>
              <a:rPr lang="fr-CA" i="1">
                <a:solidFill>
                  <a:srgbClr val="7FDBCA"/>
                </a:solidFill>
              </a:rPr>
              <a:t>statusCode</a:t>
            </a:r>
            <a:r>
              <a:rPr lang="fr-CA" i="1">
                <a:solidFill>
                  <a:srgbClr val="C792EA"/>
                </a:solidFill>
              </a:rPr>
              <a:t> </a:t>
            </a:r>
            <a:r>
              <a:rPr lang="fr-CA">
                <a:solidFill>
                  <a:srgbClr val="C792EA"/>
                </a:solidFill>
              </a:rPr>
              <a:t>=</a:t>
            </a:r>
            <a:r>
              <a:rPr lang="fr-CA" i="1">
                <a:solidFill>
                  <a:srgbClr val="C792EA"/>
                </a:solidFill>
              </a:rPr>
              <a:t> </a:t>
            </a:r>
            <a:r>
              <a:rPr lang="fr-CA">
                <a:solidFill>
                  <a:srgbClr val="F78C6C"/>
                </a:solidFill>
              </a:rPr>
              <a:t>200</a:t>
            </a:r>
            <a:r>
              <a:rPr lang="fr-CA">
                <a:solidFill>
                  <a:srgbClr val="C792EA"/>
                </a:solidFill>
              </a:rPr>
              <a:t>;</a:t>
            </a:r>
            <a:endParaRPr lang="fr-CA">
              <a:solidFill>
                <a:srgbClr val="D6DEEB"/>
              </a:solidFill>
            </a:endParaRPr>
          </a:p>
          <a:p>
            <a:r>
              <a:rPr lang="fr-CA" i="1">
                <a:solidFill>
                  <a:srgbClr val="C792EA"/>
                </a:solidFill>
              </a:rPr>
              <a:t>  </a:t>
            </a:r>
            <a:r>
              <a:rPr lang="fr-CA">
                <a:solidFill>
                  <a:srgbClr val="D6DEEB"/>
                </a:solidFill>
              </a:rPr>
              <a:t>res</a:t>
            </a:r>
            <a:r>
              <a:rPr lang="fr-CA" i="1">
                <a:solidFill>
                  <a:srgbClr val="C792EA"/>
                </a:solidFill>
              </a:rPr>
              <a:t>.</a:t>
            </a:r>
            <a:r>
              <a:rPr lang="fr-CA"/>
              <a:t>setHeader</a:t>
            </a:r>
            <a:r>
              <a:rPr lang="fr-CA">
                <a:solidFill>
                  <a:srgbClr val="D6DEEB"/>
                </a:solidFill>
              </a:rPr>
              <a:t>(</a:t>
            </a:r>
            <a:r>
              <a:rPr lang="fr-CA">
                <a:solidFill>
                  <a:srgbClr val="D9F5DD"/>
                </a:solidFill>
              </a:rPr>
              <a:t>'</a:t>
            </a:r>
            <a:r>
              <a:rPr lang="fr-CA">
                <a:solidFill>
                  <a:srgbClr val="ECC48D"/>
                </a:solidFill>
              </a:rPr>
              <a:t>Content-Type</a:t>
            </a:r>
            <a:r>
              <a:rPr lang="fr-CA">
                <a:solidFill>
                  <a:srgbClr val="D9F5DD"/>
                </a:solidFill>
              </a:rPr>
              <a:t>'</a:t>
            </a:r>
            <a:r>
              <a:rPr lang="fr-CA">
                <a:solidFill>
                  <a:srgbClr val="C792EA"/>
                </a:solidFill>
              </a:rPr>
              <a:t>,</a:t>
            </a:r>
            <a:r>
              <a:rPr lang="fr-CA" i="1">
                <a:solidFill>
                  <a:srgbClr val="C792EA"/>
                </a:solidFill>
              </a:rPr>
              <a:t> </a:t>
            </a:r>
            <a:r>
              <a:rPr lang="fr-CA">
                <a:solidFill>
                  <a:srgbClr val="D9F5DD"/>
                </a:solidFill>
              </a:rPr>
              <a:t>'</a:t>
            </a:r>
            <a:r>
              <a:rPr lang="fr-CA">
                <a:solidFill>
                  <a:srgbClr val="ECC48D"/>
                </a:solidFill>
              </a:rPr>
              <a:t>text/plain</a:t>
            </a:r>
            <a:r>
              <a:rPr lang="fr-CA">
                <a:solidFill>
                  <a:srgbClr val="D9F5DD"/>
                </a:solidFill>
              </a:rPr>
              <a:t>'</a:t>
            </a:r>
            <a:r>
              <a:rPr lang="fr-CA">
                <a:solidFill>
                  <a:srgbClr val="D6DEEB"/>
                </a:solidFill>
              </a:rPr>
              <a:t>)</a:t>
            </a:r>
            <a:r>
              <a:rPr lang="fr-CA">
                <a:solidFill>
                  <a:srgbClr val="C792EA"/>
                </a:solidFill>
              </a:rPr>
              <a:t>;</a:t>
            </a:r>
            <a:endParaRPr lang="fr-CA">
              <a:solidFill>
                <a:srgbClr val="D6DEEB"/>
              </a:solidFill>
            </a:endParaRPr>
          </a:p>
          <a:p>
            <a:r>
              <a:rPr lang="fr-CA" i="1">
                <a:solidFill>
                  <a:srgbClr val="C792EA"/>
                </a:solidFill>
              </a:rPr>
              <a:t>  </a:t>
            </a:r>
            <a:r>
              <a:rPr lang="fr-CA">
                <a:solidFill>
                  <a:srgbClr val="D6DEEB"/>
                </a:solidFill>
              </a:rPr>
              <a:t>res</a:t>
            </a:r>
            <a:r>
              <a:rPr lang="fr-CA" i="1">
                <a:solidFill>
                  <a:srgbClr val="C792EA"/>
                </a:solidFill>
              </a:rPr>
              <a:t>.</a:t>
            </a:r>
            <a:r>
              <a:rPr lang="fr-CA"/>
              <a:t>end</a:t>
            </a:r>
            <a:r>
              <a:rPr lang="fr-CA">
                <a:solidFill>
                  <a:srgbClr val="D6DEEB"/>
                </a:solidFill>
              </a:rPr>
              <a:t>(</a:t>
            </a:r>
            <a:r>
              <a:rPr lang="fr-CA">
                <a:solidFill>
                  <a:srgbClr val="D9F5DD"/>
                </a:solidFill>
              </a:rPr>
              <a:t>'</a:t>
            </a:r>
            <a:r>
              <a:rPr lang="fr-CA">
                <a:solidFill>
                  <a:srgbClr val="ECC48D"/>
                </a:solidFill>
              </a:rPr>
              <a:t>Hello World</a:t>
            </a:r>
            <a:r>
              <a:rPr lang="fr-CA">
                <a:solidFill>
                  <a:srgbClr val="D9F5DD"/>
                </a:solidFill>
              </a:rPr>
              <a:t>'</a:t>
            </a:r>
            <a:r>
              <a:rPr lang="fr-CA">
                <a:solidFill>
                  <a:srgbClr val="D6DEEB"/>
                </a:solidFill>
              </a:rPr>
              <a:t>)</a:t>
            </a:r>
            <a:r>
              <a:rPr lang="fr-CA">
                <a:solidFill>
                  <a:srgbClr val="C792EA"/>
                </a:solidFill>
              </a:rPr>
              <a:t>;</a:t>
            </a:r>
            <a:endParaRPr lang="fr-CA">
              <a:solidFill>
                <a:srgbClr val="D6DEEB"/>
              </a:solidFill>
            </a:endParaRPr>
          </a:p>
          <a:p>
            <a:r>
              <a:rPr lang="fr-CA">
                <a:solidFill>
                  <a:srgbClr val="C792EA"/>
                </a:solidFill>
              </a:rPr>
              <a:t>}</a:t>
            </a:r>
            <a:r>
              <a:rPr lang="fr-CA">
                <a:solidFill>
                  <a:srgbClr val="D6DEEB"/>
                </a:solidFill>
              </a:rPr>
              <a:t>);</a:t>
            </a:r>
          </a:p>
          <a:p>
            <a:br>
              <a:rPr lang="fr-CA">
                <a:solidFill>
                  <a:srgbClr val="D6DEEB"/>
                </a:solidFill>
              </a:rPr>
            </a:br>
            <a:r>
              <a:rPr lang="fr-CA">
                <a:solidFill>
                  <a:srgbClr val="D6DEEB"/>
                </a:solidFill>
              </a:rPr>
              <a:t>server</a:t>
            </a:r>
            <a:r>
              <a:rPr lang="fr-CA" i="1">
                <a:solidFill>
                  <a:srgbClr val="C792EA"/>
                </a:solidFill>
              </a:rPr>
              <a:t>.</a:t>
            </a:r>
            <a:r>
              <a:rPr lang="fr-CA"/>
              <a:t>listen</a:t>
            </a:r>
            <a:r>
              <a:rPr lang="fr-CA">
                <a:solidFill>
                  <a:srgbClr val="D6DEEB"/>
                </a:solidFill>
              </a:rPr>
              <a:t>(</a:t>
            </a:r>
            <a:r>
              <a:rPr lang="fr-CA">
                <a:solidFill>
                  <a:srgbClr val="D7DBE0"/>
                </a:solidFill>
              </a:rPr>
              <a:t>port</a:t>
            </a:r>
            <a:r>
              <a:rPr lang="fr-CA">
                <a:solidFill>
                  <a:srgbClr val="D6DEEB"/>
                </a:solidFill>
              </a:rPr>
              <a:t>, </a:t>
            </a:r>
            <a:r>
              <a:rPr lang="fr-CA">
                <a:solidFill>
                  <a:srgbClr val="D7DBE0"/>
                </a:solidFill>
              </a:rPr>
              <a:t>hostname</a:t>
            </a:r>
            <a:r>
              <a:rPr lang="fr-CA">
                <a:solidFill>
                  <a:srgbClr val="D6DEEB"/>
                </a:solidFill>
              </a:rPr>
              <a:t>, </a:t>
            </a:r>
            <a:r>
              <a:rPr lang="fr-CA">
                <a:solidFill>
                  <a:srgbClr val="D9F5DD"/>
                </a:solidFill>
              </a:rPr>
              <a:t>()</a:t>
            </a:r>
            <a:r>
              <a:rPr lang="fr-CA">
                <a:solidFill>
                  <a:srgbClr val="D6DEEB"/>
                </a:solidFill>
              </a:rPr>
              <a:t> </a:t>
            </a:r>
            <a:r>
              <a:rPr lang="fr-CA"/>
              <a:t>=&gt;</a:t>
            </a:r>
            <a:r>
              <a:rPr lang="fr-CA">
                <a:solidFill>
                  <a:srgbClr val="D6DEEB"/>
                </a:solidFill>
              </a:rPr>
              <a:t> {</a:t>
            </a:r>
          </a:p>
          <a:p>
            <a:r>
              <a:rPr lang="fr-CA">
                <a:solidFill>
                  <a:srgbClr val="D6DEEB"/>
                </a:solidFill>
              </a:rPr>
              <a:t>  console</a:t>
            </a:r>
            <a:r>
              <a:rPr lang="fr-CA" i="1">
                <a:solidFill>
                  <a:srgbClr val="C792EA"/>
                </a:solidFill>
              </a:rPr>
              <a:t>.</a:t>
            </a:r>
            <a:r>
              <a:rPr lang="fr-CA"/>
              <a:t>log</a:t>
            </a:r>
            <a:r>
              <a:rPr lang="fr-CA">
                <a:solidFill>
                  <a:srgbClr val="D6DEEB"/>
                </a:solidFill>
              </a:rPr>
              <a:t>(`</a:t>
            </a:r>
            <a:r>
              <a:rPr lang="fr-CA">
                <a:solidFill>
                  <a:srgbClr val="ADDB67"/>
                </a:solidFill>
              </a:rPr>
              <a:t>Server running at http://</a:t>
            </a:r>
            <a:r>
              <a:rPr lang="fr-CA">
                <a:solidFill>
                  <a:srgbClr val="D3423E"/>
                </a:solidFill>
              </a:rPr>
              <a:t>${</a:t>
            </a:r>
            <a:r>
              <a:rPr lang="fr-CA">
                <a:solidFill>
                  <a:srgbClr val="D7DBE0"/>
                </a:solidFill>
              </a:rPr>
              <a:t>hostname</a:t>
            </a:r>
            <a:r>
              <a:rPr lang="fr-CA">
                <a:solidFill>
                  <a:srgbClr val="D3423E"/>
                </a:solidFill>
              </a:rPr>
              <a:t>}</a:t>
            </a:r>
            <a:r>
              <a:rPr lang="fr-CA">
                <a:solidFill>
                  <a:srgbClr val="ADDB67"/>
                </a:solidFill>
              </a:rPr>
              <a:t>:</a:t>
            </a:r>
            <a:r>
              <a:rPr lang="fr-CA">
                <a:solidFill>
                  <a:srgbClr val="D3423E"/>
                </a:solidFill>
              </a:rPr>
              <a:t>${</a:t>
            </a:r>
            <a:r>
              <a:rPr lang="fr-CA">
                <a:solidFill>
                  <a:srgbClr val="D7DBE0"/>
                </a:solidFill>
              </a:rPr>
              <a:t>port</a:t>
            </a:r>
            <a:r>
              <a:rPr lang="fr-CA">
                <a:solidFill>
                  <a:srgbClr val="D3423E"/>
                </a:solidFill>
              </a:rPr>
              <a:t>}</a:t>
            </a:r>
            <a:r>
              <a:rPr lang="fr-CA">
                <a:solidFill>
                  <a:srgbClr val="ADDB67"/>
                </a:solidFill>
              </a:rPr>
              <a:t>/</a:t>
            </a:r>
            <a:r>
              <a:rPr lang="fr-CA">
                <a:solidFill>
                  <a:srgbClr val="D6DEEB"/>
                </a:solidFill>
              </a:rPr>
              <a:t>`);</a:t>
            </a:r>
          </a:p>
          <a:p>
            <a:r>
              <a:rPr lang="fr-CA">
                <a:solidFill>
                  <a:srgbClr val="D6DEEB"/>
                </a:solidFill>
              </a:rPr>
              <a:t>});</a:t>
            </a:r>
          </a:p>
          <a:p>
            <a:endParaRPr lang="fr-CA"/>
          </a:p>
        </p:txBody>
      </p:sp>
    </p:spTree>
    <p:extLst>
      <p:ext uri="{BB962C8B-B14F-4D97-AF65-F5344CB8AC3E}">
        <p14:creationId xmlns:p14="http://schemas.microsoft.com/office/powerpoint/2010/main" val="315108773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p:cNvSpPr txBox="1"/>
          <p:nvPr/>
        </p:nvSpPr>
        <p:spPr>
          <a:xfrm>
            <a:off x="2264228" y="1391475"/>
            <a:ext cx="9030789" cy="369332"/>
          </a:xfrm>
          <a:prstGeom prst="rect">
            <a:avLst/>
          </a:prstGeom>
          <a:noFill/>
        </p:spPr>
        <p:txBody>
          <a:bodyPr wrap="square" rtlCol="0">
            <a:spAutoFit/>
          </a:bodyPr>
          <a:lstStyle>
            <a:defPPr>
              <a:defRPr lang="fr-FR"/>
            </a:defPPr>
            <a:lvl1pPr>
              <a:defRPr>
                <a:ln w="0"/>
                <a:solidFill>
                  <a:schemeClr val="accent1"/>
                </a:solidFill>
                <a:effectLst/>
              </a:defRPr>
            </a:lvl1pPr>
          </a:lstStyle>
          <a:p>
            <a:pPr lvl="0"/>
            <a:r>
              <a:rPr lang="fr-CA"/>
              <a:t>Cas seulement des instructions et fonctions synchrone</a:t>
            </a:r>
          </a:p>
        </p:txBody>
      </p:sp>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Résumé comment node.js fonctionne</a:t>
            </a:r>
          </a:p>
        </p:txBody>
      </p:sp>
      <p:pic>
        <p:nvPicPr>
          <p:cNvPr id="6" name="Picture 5"/>
          <p:cNvPicPr/>
          <p:nvPr/>
        </p:nvPicPr>
        <p:blipFill>
          <a:blip r:embed="rId4"/>
          <a:stretch>
            <a:fillRect/>
          </a:stretch>
        </p:blipFill>
        <p:spPr>
          <a:xfrm>
            <a:off x="1523999" y="1963419"/>
            <a:ext cx="9675223" cy="4454797"/>
          </a:xfrm>
          <a:prstGeom prst="rect">
            <a:avLst/>
          </a:prstGeom>
        </p:spPr>
      </p:pic>
    </p:spTree>
    <p:extLst>
      <p:ext uri="{BB962C8B-B14F-4D97-AF65-F5344CB8AC3E}">
        <p14:creationId xmlns:p14="http://schemas.microsoft.com/office/powerpoint/2010/main" val="347977382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p:cNvSpPr txBox="1"/>
          <p:nvPr/>
        </p:nvSpPr>
        <p:spPr>
          <a:xfrm>
            <a:off x="2264228" y="1391475"/>
            <a:ext cx="9030789" cy="369332"/>
          </a:xfrm>
          <a:prstGeom prst="rect">
            <a:avLst/>
          </a:prstGeom>
          <a:noFill/>
        </p:spPr>
        <p:txBody>
          <a:bodyPr wrap="square" rtlCol="0">
            <a:spAutoFit/>
          </a:bodyPr>
          <a:lstStyle>
            <a:defPPr>
              <a:defRPr lang="fr-FR"/>
            </a:defPPr>
            <a:lvl1pPr>
              <a:defRPr>
                <a:ln w="0"/>
                <a:solidFill>
                  <a:schemeClr val="accent1"/>
                </a:solidFill>
                <a:effectLst/>
              </a:defRPr>
            </a:lvl1pPr>
          </a:lstStyle>
          <a:p>
            <a:pPr lvl="0"/>
            <a:r>
              <a:rPr lang="fr-CA"/>
              <a:t>Fonctions synchrones et asynchrones (avec message queue)</a:t>
            </a:r>
          </a:p>
        </p:txBody>
      </p:sp>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Résumé comment node.js fonctionne</a:t>
            </a:r>
          </a:p>
        </p:txBody>
      </p:sp>
      <p:pic>
        <p:nvPicPr>
          <p:cNvPr id="7" name="Picture 6"/>
          <p:cNvPicPr/>
          <p:nvPr/>
        </p:nvPicPr>
        <p:blipFill>
          <a:blip r:embed="rId4"/>
          <a:stretch>
            <a:fillRect/>
          </a:stretch>
        </p:blipFill>
        <p:spPr>
          <a:xfrm>
            <a:off x="1820091" y="2010409"/>
            <a:ext cx="9405258" cy="4433933"/>
          </a:xfrm>
          <a:prstGeom prst="rect">
            <a:avLst/>
          </a:prstGeom>
        </p:spPr>
      </p:pic>
    </p:spTree>
    <p:extLst>
      <p:ext uri="{BB962C8B-B14F-4D97-AF65-F5344CB8AC3E}">
        <p14:creationId xmlns:p14="http://schemas.microsoft.com/office/powerpoint/2010/main" val="328468990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p:cNvSpPr txBox="1"/>
          <p:nvPr/>
        </p:nvSpPr>
        <p:spPr>
          <a:xfrm>
            <a:off x="2264228" y="1391475"/>
            <a:ext cx="9509761" cy="369332"/>
          </a:xfrm>
          <a:prstGeom prst="rect">
            <a:avLst/>
          </a:prstGeom>
          <a:noFill/>
        </p:spPr>
        <p:txBody>
          <a:bodyPr wrap="square" rtlCol="0">
            <a:spAutoFit/>
          </a:bodyPr>
          <a:lstStyle>
            <a:defPPr>
              <a:defRPr lang="fr-FR"/>
            </a:defPPr>
            <a:lvl1pPr>
              <a:defRPr>
                <a:ln w="0"/>
                <a:solidFill>
                  <a:schemeClr val="accent1"/>
                </a:solidFill>
                <a:effectLst/>
              </a:defRPr>
            </a:lvl1pPr>
          </a:lstStyle>
          <a:p>
            <a:pPr lvl="0"/>
            <a:r>
              <a:rPr lang="fr-CA"/>
              <a:t>Fonctions synchrones et asynchrones (avec message queue VS job queue)</a:t>
            </a:r>
          </a:p>
        </p:txBody>
      </p:sp>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Résumé comment node.js fonctionne</a:t>
            </a:r>
          </a:p>
        </p:txBody>
      </p:sp>
      <p:pic>
        <p:nvPicPr>
          <p:cNvPr id="6" name="Picture 5"/>
          <p:cNvPicPr/>
          <p:nvPr/>
        </p:nvPicPr>
        <p:blipFill>
          <a:blip r:embed="rId4"/>
          <a:stretch>
            <a:fillRect/>
          </a:stretch>
        </p:blipFill>
        <p:spPr>
          <a:xfrm>
            <a:off x="1584961" y="1872615"/>
            <a:ext cx="9579428" cy="4902654"/>
          </a:xfrm>
          <a:prstGeom prst="rect">
            <a:avLst/>
          </a:prstGeom>
        </p:spPr>
      </p:pic>
    </p:spTree>
    <p:extLst>
      <p:ext uri="{BB962C8B-B14F-4D97-AF65-F5344CB8AC3E}">
        <p14:creationId xmlns:p14="http://schemas.microsoft.com/office/powerpoint/2010/main" val="237839699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p:cNvSpPr txBox="1"/>
          <p:nvPr/>
        </p:nvSpPr>
        <p:spPr>
          <a:xfrm>
            <a:off x="2264228" y="1356641"/>
            <a:ext cx="9030789" cy="2585323"/>
          </a:xfrm>
          <a:prstGeom prst="rect">
            <a:avLst/>
          </a:prstGeom>
          <a:noFill/>
        </p:spPr>
        <p:txBody>
          <a:bodyPr wrap="square" lIns="91440" tIns="45720" rIns="91440" bIns="45720" rtlCol="0" anchor="t">
            <a:spAutoFit/>
          </a:bodyPr>
          <a:lstStyle>
            <a:defPPr>
              <a:defRPr lang="fr-FR"/>
            </a:defPPr>
          </a:lstStyle>
          <a:p>
            <a:pPr marL="342900" indent="-342900">
              <a:buAutoNum type="arabicPeriod"/>
            </a:pPr>
            <a:r>
              <a:rPr lang="fr-CA"/>
              <a:t>Définir une </a:t>
            </a:r>
            <a:r>
              <a:rPr lang="fr-CA" err="1"/>
              <a:t>task</a:t>
            </a:r>
            <a:r>
              <a:rPr lang="fr-CA"/>
              <a:t> dans </a:t>
            </a:r>
            <a:r>
              <a:rPr lang="fr-CA" err="1"/>
              <a:t>package.json</a:t>
            </a:r>
            <a:r>
              <a:rPr lang="fr-CA"/>
              <a:t> qui permet d’exécuter le tp07.js avec la commande  </a:t>
            </a:r>
            <a:r>
              <a:rPr lang="fr-CA" err="1">
                <a:solidFill>
                  <a:srgbClr val="0070C0"/>
                </a:solidFill>
              </a:rPr>
              <a:t>npm</a:t>
            </a:r>
            <a:r>
              <a:rPr lang="fr-CA">
                <a:solidFill>
                  <a:srgbClr val="0070C0"/>
                </a:solidFill>
              </a:rPr>
              <a:t> run </a:t>
            </a:r>
            <a:r>
              <a:rPr lang="fr-CA" err="1">
                <a:solidFill>
                  <a:srgbClr val="0070C0"/>
                </a:solidFill>
              </a:rPr>
              <a:t>task</a:t>
            </a:r>
            <a:endParaRPr lang="en-US" err="1"/>
          </a:p>
          <a:p>
            <a:pPr marL="342900" indent="-342900">
              <a:buFont typeface="+mj-lt"/>
              <a:buAutoNum type="arabicPeriod"/>
            </a:pPr>
            <a:endParaRPr lang="fr-CA"/>
          </a:p>
          <a:p>
            <a:pPr marL="342900" indent="-342900">
              <a:buFont typeface="+mj-lt"/>
              <a:buAutoNum type="arabicPeriod"/>
            </a:pPr>
            <a:r>
              <a:rPr lang="fr-CA"/>
              <a:t>Créer un simple module logger.js qui contient une fonction </a:t>
            </a:r>
            <a:r>
              <a:rPr lang="fr-CA">
                <a:solidFill>
                  <a:srgbClr val="0070C0"/>
                </a:solidFill>
              </a:rPr>
              <a:t>log(msg)</a:t>
            </a:r>
            <a:r>
              <a:rPr lang="fr-CA"/>
              <a:t> qui permet simplement de faire le log du paramètre puis le consommer dans un index.js (tp08).</a:t>
            </a:r>
          </a:p>
          <a:p>
            <a:pPr marL="342900" indent="-342900">
              <a:buFont typeface="+mj-lt"/>
              <a:buAutoNum type="arabicPeriod"/>
            </a:pPr>
            <a:endParaRPr lang="fr-CA"/>
          </a:p>
          <a:p>
            <a:pPr marL="342900" indent="-342900">
              <a:buFont typeface="+mj-lt"/>
              <a:buAutoNum type="arabicPeriod"/>
            </a:pPr>
            <a:r>
              <a:rPr lang="fr-CA"/>
              <a:t>Déboguer notre exemple tp08.js en utilisant VCS</a:t>
            </a:r>
          </a:p>
          <a:p>
            <a:pPr marL="342900" indent="-342900">
              <a:buFont typeface="+mj-lt"/>
              <a:buAutoNum type="arabicPeriod"/>
            </a:pPr>
            <a:endParaRPr lang="fr-CA"/>
          </a:p>
        </p:txBody>
      </p:sp>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Exercices</a:t>
            </a:r>
          </a:p>
        </p:txBody>
      </p:sp>
    </p:spTree>
    <p:extLst>
      <p:ext uri="{BB962C8B-B14F-4D97-AF65-F5344CB8AC3E}">
        <p14:creationId xmlns:p14="http://schemas.microsoft.com/office/powerpoint/2010/main" val="392004423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9304" y="3698928"/>
            <a:ext cx="9401176" cy="662894"/>
          </a:xfrm>
        </p:spPr>
        <p:txBody>
          <a:bodyPr>
            <a:noAutofit/>
          </a:bodyPr>
          <a:lstStyle/>
          <a:p>
            <a:r>
              <a:rPr lang="fr-CA" sz="3200"/>
              <a:t>Node.js Express Framework</a:t>
            </a:r>
          </a:p>
        </p:txBody>
      </p:sp>
      <p:sp>
        <p:nvSpPr>
          <p:cNvPr id="4" name="Subtitle 3"/>
          <p:cNvSpPr>
            <a:spLocks noGrp="1"/>
          </p:cNvSpPr>
          <p:nvPr>
            <p:ph type="subTitle" idx="1"/>
          </p:nvPr>
        </p:nvSpPr>
        <p:spPr>
          <a:xfrm>
            <a:off x="2136366" y="4638037"/>
            <a:ext cx="8915399" cy="1126283"/>
          </a:xfrm>
        </p:spPr>
        <p:txBody>
          <a:bodyPr/>
          <a:lstStyle/>
          <a:p>
            <a:r>
              <a:rPr lang="fr-CA"/>
              <a:t>Au terme de ce chapitre, vous aurez les connaissances de base nécessaires pour développer des api Restfuls. </a:t>
            </a:r>
          </a:p>
        </p:txBody>
      </p:sp>
      <p:sp>
        <p:nvSpPr>
          <p:cNvPr id="5" name="Title 1"/>
          <p:cNvSpPr txBox="1">
            <a:spLocks/>
          </p:cNvSpPr>
          <p:nvPr/>
        </p:nvSpPr>
        <p:spPr>
          <a:xfrm>
            <a:off x="4563018" y="2889216"/>
            <a:ext cx="2778308" cy="662894"/>
          </a:xfrm>
          <a:prstGeom prst="rect">
            <a:avLst/>
          </a:prstGeom>
          <a:solidFill>
            <a:schemeClr val="bg1"/>
          </a:solidFill>
          <a:ln>
            <a:solidFill>
              <a:schemeClr val="bg1"/>
            </a:solidFill>
          </a:ln>
        </p:spPr>
        <p:txBody>
          <a:bodyPr vert="horz"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sz="3200">
                <a:highlight>
                  <a:srgbClr val="FFFF00"/>
                </a:highlight>
              </a:rPr>
              <a:t>Chapitre 04</a:t>
            </a:r>
          </a:p>
        </p:txBody>
      </p:sp>
    </p:spTree>
    <p:extLst>
      <p:ext uri="{BB962C8B-B14F-4D97-AF65-F5344CB8AC3E}">
        <p14:creationId xmlns:p14="http://schemas.microsoft.com/office/powerpoint/2010/main" val="1323516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p:cNvSpPr txBox="1"/>
          <p:nvPr/>
        </p:nvSpPr>
        <p:spPr>
          <a:xfrm>
            <a:off x="2264228" y="1356641"/>
            <a:ext cx="9030789" cy="2585323"/>
          </a:xfrm>
          <a:prstGeom prst="rect">
            <a:avLst/>
          </a:prstGeom>
          <a:noFill/>
        </p:spPr>
        <p:txBody>
          <a:bodyPr wrap="square" rtlCol="0">
            <a:spAutoFit/>
          </a:bodyPr>
          <a:lstStyle>
            <a:defPPr>
              <a:defRPr lang="fr-FR"/>
            </a:defPPr>
          </a:lstStyle>
          <a:p>
            <a:r>
              <a:rPr lang="fr-CA"/>
              <a:t>Express est un Framework Node.js minimal et flexible qui fournit un ensemble fonctionnalités robuste  pour le développement des RESTful APIs.</a:t>
            </a:r>
          </a:p>
          <a:p>
            <a:endParaRPr lang="fr-CA"/>
          </a:p>
          <a:p>
            <a:r>
              <a:rPr lang="fr-CA"/>
              <a:t>Avec plusieurs méthodes et middlewares à votre disposition, la création d'une API robuste est simple et rapide.</a:t>
            </a:r>
          </a:p>
          <a:p>
            <a:endParaRPr lang="fr-CA"/>
          </a:p>
          <a:p>
            <a:r>
              <a:rPr lang="fr-CA"/>
              <a:t>Express fournit une  couche fine de fonctionnalités d'application Web fondamentales, sans obscurcir les fonctionnalités de Node.js que vous connaissez.</a:t>
            </a:r>
          </a:p>
        </p:txBody>
      </p:sp>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Introduction</a:t>
            </a:r>
          </a:p>
        </p:txBody>
      </p:sp>
      <p:sp>
        <p:nvSpPr>
          <p:cNvPr id="6" name="TextBox 5"/>
          <p:cNvSpPr txBox="1"/>
          <p:nvPr/>
        </p:nvSpPr>
        <p:spPr>
          <a:xfrm>
            <a:off x="2168434" y="4125659"/>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Installation</a:t>
            </a:r>
          </a:p>
        </p:txBody>
      </p:sp>
      <p:sp>
        <p:nvSpPr>
          <p:cNvPr id="2" name="TextBox 1"/>
          <p:cNvSpPr txBox="1"/>
          <p:nvPr/>
        </p:nvSpPr>
        <p:spPr>
          <a:xfrm>
            <a:off x="2168434" y="4771019"/>
            <a:ext cx="5251269" cy="646331"/>
          </a:xfrm>
          <a:prstGeom prst="rect">
            <a:avLst/>
          </a:prstGeom>
          <a:solidFill>
            <a:schemeClr val="tx2">
              <a:lumMod val="50000"/>
            </a:schemeClr>
          </a:solidFill>
        </p:spPr>
        <p:txBody>
          <a:bodyPr wrap="square" lIns="91440" tIns="45720" rIns="91440" bIns="45720" rtlCol="0" anchor="t">
            <a:spAutoFit/>
          </a:bodyPr>
          <a:lstStyle>
            <a:defPPr>
              <a:defRPr lang="fr-FR"/>
            </a:defPPr>
            <a:lvl1pPr>
              <a:defRPr>
                <a:solidFill>
                  <a:srgbClr val="82AAFF"/>
                </a:solidFill>
                <a:latin typeface="Consolas" panose="020B0609020204030204" pitchFamily="49" charset="0"/>
              </a:defRPr>
            </a:lvl1pPr>
          </a:lstStyle>
          <a:p>
            <a:r>
              <a:rPr lang="fr-CA" err="1">
                <a:latin typeface="Consolas"/>
              </a:rPr>
              <a:t>npm</a:t>
            </a:r>
            <a:r>
              <a:rPr lang="fr-CA">
                <a:latin typeface="Consolas"/>
              </a:rPr>
              <a:t> init -y</a:t>
            </a:r>
            <a:endParaRPr lang="fr-CA"/>
          </a:p>
          <a:p>
            <a:r>
              <a:rPr lang="fr-CA"/>
              <a:t>npm install express</a:t>
            </a:r>
          </a:p>
        </p:txBody>
      </p:sp>
    </p:spTree>
    <p:extLst>
      <p:ext uri="{BB962C8B-B14F-4D97-AF65-F5344CB8AC3E}">
        <p14:creationId xmlns:p14="http://schemas.microsoft.com/office/powerpoint/2010/main" val="242767089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P spid="6" grpId="0"/>
      <p:bldP spid="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extBox 4"/>
          <p:cNvSpPr txBox="1"/>
          <p:nvPr/>
        </p:nvSpPr>
        <p:spPr>
          <a:xfrm>
            <a:off x="2264228" y="1356641"/>
            <a:ext cx="9030789" cy="1200329"/>
          </a:xfrm>
          <a:prstGeom prst="rect">
            <a:avLst/>
          </a:prstGeom>
          <a:noFill/>
        </p:spPr>
        <p:txBody>
          <a:bodyPr wrap="square" rtlCol="0">
            <a:spAutoFit/>
          </a:bodyPr>
          <a:lstStyle>
            <a:defPPr>
              <a:defRPr lang="fr-FR"/>
            </a:defPPr>
          </a:lstStyle>
          <a:p>
            <a:r>
              <a:rPr lang="fr-CA"/>
              <a:t>Cette application démarre un serveur et écoute sur le port 3000 les nouvelles connexions. </a:t>
            </a:r>
          </a:p>
          <a:p>
            <a:r>
              <a:rPr lang="fr-CA"/>
              <a:t>L'application répond par "Hello World!" pour les requêtes à l'URL racine (/). </a:t>
            </a:r>
          </a:p>
          <a:p>
            <a:r>
              <a:rPr lang="fr-CA"/>
              <a:t>Pour tous les autres chemins, il répondra par un 404 Not Found.</a:t>
            </a:r>
          </a:p>
        </p:txBody>
      </p:sp>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Création un serveur express</a:t>
            </a:r>
          </a:p>
        </p:txBody>
      </p:sp>
      <p:sp>
        <p:nvSpPr>
          <p:cNvPr id="3" name="TextBox 2"/>
          <p:cNvSpPr txBox="1"/>
          <p:nvPr/>
        </p:nvSpPr>
        <p:spPr>
          <a:xfrm>
            <a:off x="2264228" y="2786736"/>
            <a:ext cx="8604069" cy="3416320"/>
          </a:xfrm>
          <a:prstGeom prst="rect">
            <a:avLst/>
          </a:prstGeom>
          <a:solidFill>
            <a:schemeClr val="tx2">
              <a:lumMod val="50000"/>
            </a:schemeClr>
          </a:solidFill>
        </p:spPr>
        <p:txBody>
          <a:bodyPr wrap="square" rtlCol="0">
            <a:spAutoFit/>
          </a:bodyPr>
          <a:lstStyle>
            <a:defPPr>
              <a:defRPr lang="fr-FR"/>
            </a:defPPr>
            <a:lvl1pPr>
              <a:defRPr>
                <a:solidFill>
                  <a:srgbClr val="82AAFF"/>
                </a:solidFill>
                <a:latin typeface="Consolas" panose="020B0609020204030204" pitchFamily="49" charset="0"/>
              </a:defRPr>
            </a:lvl1pPr>
          </a:lstStyle>
          <a:p>
            <a:r>
              <a:rPr lang="fr-CA"/>
              <a:t>Tp01.js</a:t>
            </a:r>
          </a:p>
          <a:p>
            <a:r>
              <a:rPr lang="fr-CA"/>
              <a:t>const</a:t>
            </a:r>
            <a:r>
              <a:rPr lang="fr-CA" i="1">
                <a:solidFill>
                  <a:srgbClr val="C792EA"/>
                </a:solidFill>
              </a:rPr>
              <a:t> </a:t>
            </a:r>
            <a:r>
              <a:rPr lang="fr-CA" i="1"/>
              <a:t>express</a:t>
            </a:r>
            <a:r>
              <a:rPr lang="fr-CA" i="1">
                <a:solidFill>
                  <a:srgbClr val="C792EA"/>
                </a:solidFill>
              </a:rPr>
              <a:t> </a:t>
            </a:r>
            <a:r>
              <a:rPr lang="fr-CA">
                <a:solidFill>
                  <a:srgbClr val="C792EA"/>
                </a:solidFill>
              </a:rPr>
              <a:t>=</a:t>
            </a:r>
            <a:r>
              <a:rPr lang="fr-CA" i="1">
                <a:solidFill>
                  <a:srgbClr val="C792EA"/>
                </a:solidFill>
              </a:rPr>
              <a:t> </a:t>
            </a:r>
            <a:r>
              <a:rPr lang="fr-CA"/>
              <a:t>require</a:t>
            </a:r>
            <a:r>
              <a:rPr lang="fr-CA">
                <a:solidFill>
                  <a:srgbClr val="D6DEEB"/>
                </a:solidFill>
              </a:rPr>
              <a:t>(</a:t>
            </a:r>
            <a:r>
              <a:rPr lang="fr-CA">
                <a:solidFill>
                  <a:srgbClr val="D9F5DD"/>
                </a:solidFill>
              </a:rPr>
              <a:t>'</a:t>
            </a:r>
            <a:r>
              <a:rPr lang="fr-CA">
                <a:solidFill>
                  <a:srgbClr val="ECC48D"/>
                </a:solidFill>
              </a:rPr>
              <a:t>express</a:t>
            </a:r>
            <a:r>
              <a:rPr lang="fr-CA">
                <a:solidFill>
                  <a:srgbClr val="D9F5DD"/>
                </a:solidFill>
              </a:rPr>
              <a:t>'</a:t>
            </a:r>
            <a:r>
              <a:rPr lang="fr-CA">
                <a:solidFill>
                  <a:srgbClr val="D6DEEB"/>
                </a:solidFill>
              </a:rPr>
              <a:t>)</a:t>
            </a:r>
          </a:p>
          <a:p>
            <a:r>
              <a:rPr lang="fr-CA"/>
              <a:t>const</a:t>
            </a:r>
            <a:r>
              <a:rPr lang="fr-CA" i="1">
                <a:solidFill>
                  <a:srgbClr val="C792EA"/>
                </a:solidFill>
              </a:rPr>
              <a:t> </a:t>
            </a:r>
            <a:r>
              <a:rPr lang="fr-CA" i="1"/>
              <a:t>app</a:t>
            </a:r>
            <a:r>
              <a:rPr lang="fr-CA" i="1">
                <a:solidFill>
                  <a:srgbClr val="C792EA"/>
                </a:solidFill>
              </a:rPr>
              <a:t> </a:t>
            </a:r>
            <a:r>
              <a:rPr lang="fr-CA">
                <a:solidFill>
                  <a:srgbClr val="C792EA"/>
                </a:solidFill>
              </a:rPr>
              <a:t>=</a:t>
            </a:r>
            <a:r>
              <a:rPr lang="fr-CA" i="1">
                <a:solidFill>
                  <a:srgbClr val="C792EA"/>
                </a:solidFill>
              </a:rPr>
              <a:t> </a:t>
            </a:r>
            <a:r>
              <a:rPr lang="fr-CA"/>
              <a:t>express</a:t>
            </a:r>
            <a:r>
              <a:rPr lang="fr-CA">
                <a:solidFill>
                  <a:srgbClr val="D6DEEB"/>
                </a:solidFill>
              </a:rPr>
              <a:t>()</a:t>
            </a:r>
          </a:p>
          <a:p>
            <a:r>
              <a:rPr lang="fr-CA"/>
              <a:t>const</a:t>
            </a:r>
            <a:r>
              <a:rPr lang="fr-CA" i="1">
                <a:solidFill>
                  <a:srgbClr val="C792EA"/>
                </a:solidFill>
              </a:rPr>
              <a:t> </a:t>
            </a:r>
            <a:r>
              <a:rPr lang="fr-CA" i="1"/>
              <a:t>port</a:t>
            </a:r>
            <a:r>
              <a:rPr lang="fr-CA" i="1">
                <a:solidFill>
                  <a:srgbClr val="C792EA"/>
                </a:solidFill>
              </a:rPr>
              <a:t> </a:t>
            </a:r>
            <a:r>
              <a:rPr lang="fr-CA">
                <a:solidFill>
                  <a:srgbClr val="C792EA"/>
                </a:solidFill>
              </a:rPr>
              <a:t>=</a:t>
            </a:r>
            <a:r>
              <a:rPr lang="fr-CA" i="1">
                <a:solidFill>
                  <a:srgbClr val="C792EA"/>
                </a:solidFill>
              </a:rPr>
              <a:t> </a:t>
            </a:r>
            <a:r>
              <a:rPr lang="fr-CA">
                <a:solidFill>
                  <a:srgbClr val="F78C6C"/>
                </a:solidFill>
              </a:rPr>
              <a:t>3000</a:t>
            </a:r>
            <a:endParaRPr lang="fr-CA">
              <a:solidFill>
                <a:srgbClr val="D6DEEB"/>
              </a:solidFill>
            </a:endParaRPr>
          </a:p>
          <a:p>
            <a:br>
              <a:rPr lang="fr-CA">
                <a:solidFill>
                  <a:srgbClr val="D6DEEB"/>
                </a:solidFill>
              </a:rPr>
            </a:br>
            <a:r>
              <a:rPr lang="fr-CA">
                <a:solidFill>
                  <a:srgbClr val="D6DEEB"/>
                </a:solidFill>
              </a:rPr>
              <a:t>app</a:t>
            </a:r>
            <a:r>
              <a:rPr lang="fr-CA" i="1">
                <a:solidFill>
                  <a:srgbClr val="C792EA"/>
                </a:solidFill>
              </a:rPr>
              <a:t>.</a:t>
            </a:r>
            <a:r>
              <a:rPr lang="fr-CA"/>
              <a:t>get</a:t>
            </a:r>
            <a:r>
              <a:rPr lang="fr-CA">
                <a:solidFill>
                  <a:srgbClr val="D6DEEB"/>
                </a:solidFill>
              </a:rPr>
              <a:t>(</a:t>
            </a:r>
            <a:r>
              <a:rPr lang="fr-CA">
                <a:solidFill>
                  <a:srgbClr val="D9F5DD"/>
                </a:solidFill>
              </a:rPr>
              <a:t>'</a:t>
            </a:r>
            <a:r>
              <a:rPr lang="fr-CA">
                <a:solidFill>
                  <a:srgbClr val="ECC48D"/>
                </a:solidFill>
              </a:rPr>
              <a:t>/</a:t>
            </a:r>
            <a:r>
              <a:rPr lang="fr-CA">
                <a:solidFill>
                  <a:srgbClr val="D9F5DD"/>
                </a:solidFill>
              </a:rPr>
              <a:t>'</a:t>
            </a:r>
            <a:r>
              <a:rPr lang="fr-CA">
                <a:solidFill>
                  <a:srgbClr val="D6DEEB"/>
                </a:solidFill>
              </a:rPr>
              <a:t>, </a:t>
            </a:r>
            <a:r>
              <a:rPr lang="fr-CA">
                <a:solidFill>
                  <a:srgbClr val="D9F5DD"/>
                </a:solidFill>
              </a:rPr>
              <a:t>(</a:t>
            </a:r>
            <a:r>
              <a:rPr lang="fr-CA">
                <a:solidFill>
                  <a:srgbClr val="D7DBE0"/>
                </a:solidFill>
              </a:rPr>
              <a:t>req</a:t>
            </a:r>
            <a:r>
              <a:rPr lang="fr-CA">
                <a:solidFill>
                  <a:srgbClr val="D6DEEB"/>
                </a:solidFill>
              </a:rPr>
              <a:t>, </a:t>
            </a:r>
            <a:r>
              <a:rPr lang="fr-CA">
                <a:solidFill>
                  <a:srgbClr val="D7DBE0"/>
                </a:solidFill>
              </a:rPr>
              <a:t>res</a:t>
            </a:r>
            <a:r>
              <a:rPr lang="fr-CA">
                <a:solidFill>
                  <a:srgbClr val="D9F5DD"/>
                </a:solidFill>
              </a:rPr>
              <a:t>)</a:t>
            </a:r>
            <a:r>
              <a:rPr lang="fr-CA">
                <a:solidFill>
                  <a:srgbClr val="D6DEEB"/>
                </a:solidFill>
              </a:rPr>
              <a:t> </a:t>
            </a:r>
            <a:r>
              <a:rPr lang="fr-CA"/>
              <a:t>=&gt;</a:t>
            </a:r>
            <a:r>
              <a:rPr lang="fr-CA">
                <a:solidFill>
                  <a:srgbClr val="D6DEEB"/>
                </a:solidFill>
              </a:rPr>
              <a:t> {</a:t>
            </a:r>
          </a:p>
          <a:p>
            <a:r>
              <a:rPr lang="fr-CA">
                <a:solidFill>
                  <a:srgbClr val="D6DEEB"/>
                </a:solidFill>
              </a:rPr>
              <a:t>  res</a:t>
            </a:r>
            <a:r>
              <a:rPr lang="fr-CA" i="1">
                <a:solidFill>
                  <a:srgbClr val="C792EA"/>
                </a:solidFill>
              </a:rPr>
              <a:t>.</a:t>
            </a:r>
            <a:r>
              <a:rPr lang="fr-CA"/>
              <a:t>send</a:t>
            </a:r>
            <a:r>
              <a:rPr lang="fr-CA">
                <a:solidFill>
                  <a:srgbClr val="D6DEEB"/>
                </a:solidFill>
              </a:rPr>
              <a:t>(</a:t>
            </a:r>
            <a:r>
              <a:rPr lang="fr-CA">
                <a:solidFill>
                  <a:srgbClr val="D9F5DD"/>
                </a:solidFill>
              </a:rPr>
              <a:t>'</a:t>
            </a:r>
            <a:r>
              <a:rPr lang="fr-CA">
                <a:solidFill>
                  <a:srgbClr val="ECC48D"/>
                </a:solidFill>
              </a:rPr>
              <a:t>Hello World!</a:t>
            </a:r>
            <a:r>
              <a:rPr lang="fr-CA">
                <a:solidFill>
                  <a:srgbClr val="D9F5DD"/>
                </a:solidFill>
              </a:rPr>
              <a:t>'</a:t>
            </a:r>
            <a:r>
              <a:rPr lang="fr-CA">
                <a:solidFill>
                  <a:srgbClr val="D6DEEB"/>
                </a:solidFill>
              </a:rPr>
              <a:t>)</a:t>
            </a:r>
          </a:p>
          <a:p>
            <a:r>
              <a:rPr lang="fr-CA">
                <a:solidFill>
                  <a:srgbClr val="D6DEEB"/>
                </a:solidFill>
              </a:rPr>
              <a:t>})</a:t>
            </a:r>
          </a:p>
          <a:p>
            <a:br>
              <a:rPr lang="fr-CA">
                <a:solidFill>
                  <a:srgbClr val="D6DEEB"/>
                </a:solidFill>
              </a:rPr>
            </a:br>
            <a:r>
              <a:rPr lang="fr-CA">
                <a:solidFill>
                  <a:srgbClr val="D6DEEB"/>
                </a:solidFill>
              </a:rPr>
              <a:t>app</a:t>
            </a:r>
            <a:r>
              <a:rPr lang="fr-CA" i="1">
                <a:solidFill>
                  <a:srgbClr val="C792EA"/>
                </a:solidFill>
              </a:rPr>
              <a:t>.</a:t>
            </a:r>
            <a:r>
              <a:rPr lang="fr-CA"/>
              <a:t>listen</a:t>
            </a:r>
            <a:r>
              <a:rPr lang="fr-CA">
                <a:solidFill>
                  <a:srgbClr val="D6DEEB"/>
                </a:solidFill>
              </a:rPr>
              <a:t>(</a:t>
            </a:r>
            <a:r>
              <a:rPr lang="fr-CA">
                <a:solidFill>
                  <a:srgbClr val="D7DBE0"/>
                </a:solidFill>
              </a:rPr>
              <a:t>port</a:t>
            </a:r>
            <a:r>
              <a:rPr lang="fr-CA">
                <a:solidFill>
                  <a:srgbClr val="D6DEEB"/>
                </a:solidFill>
              </a:rPr>
              <a:t>, </a:t>
            </a:r>
            <a:r>
              <a:rPr lang="fr-CA">
                <a:solidFill>
                  <a:srgbClr val="D9F5DD"/>
                </a:solidFill>
              </a:rPr>
              <a:t>()</a:t>
            </a:r>
            <a:r>
              <a:rPr lang="fr-CA">
                <a:solidFill>
                  <a:srgbClr val="D6DEEB"/>
                </a:solidFill>
              </a:rPr>
              <a:t> </a:t>
            </a:r>
            <a:r>
              <a:rPr lang="fr-CA"/>
              <a:t>=&gt;</a:t>
            </a:r>
            <a:r>
              <a:rPr lang="fr-CA">
                <a:solidFill>
                  <a:srgbClr val="D6DEEB"/>
                </a:solidFill>
              </a:rPr>
              <a:t> {</a:t>
            </a:r>
          </a:p>
          <a:p>
            <a:r>
              <a:rPr lang="fr-CA">
                <a:solidFill>
                  <a:srgbClr val="D6DEEB"/>
                </a:solidFill>
              </a:rPr>
              <a:t>  console</a:t>
            </a:r>
            <a:r>
              <a:rPr lang="fr-CA" i="1">
                <a:solidFill>
                  <a:srgbClr val="C792EA"/>
                </a:solidFill>
              </a:rPr>
              <a:t>.</a:t>
            </a:r>
            <a:r>
              <a:rPr lang="fr-CA"/>
              <a:t>log</a:t>
            </a:r>
            <a:r>
              <a:rPr lang="fr-CA">
                <a:solidFill>
                  <a:srgbClr val="D6DEEB"/>
                </a:solidFill>
              </a:rPr>
              <a:t>(`</a:t>
            </a:r>
            <a:r>
              <a:rPr lang="fr-CA">
                <a:solidFill>
                  <a:srgbClr val="ADDB67"/>
                </a:solidFill>
              </a:rPr>
              <a:t>Example app listening on port </a:t>
            </a:r>
            <a:r>
              <a:rPr lang="fr-CA">
                <a:solidFill>
                  <a:srgbClr val="D3423E"/>
                </a:solidFill>
              </a:rPr>
              <a:t>${</a:t>
            </a:r>
            <a:r>
              <a:rPr lang="fr-CA">
                <a:solidFill>
                  <a:srgbClr val="D7DBE0"/>
                </a:solidFill>
              </a:rPr>
              <a:t>port</a:t>
            </a:r>
            <a:r>
              <a:rPr lang="fr-CA">
                <a:solidFill>
                  <a:srgbClr val="D3423E"/>
                </a:solidFill>
              </a:rPr>
              <a:t>}</a:t>
            </a:r>
            <a:r>
              <a:rPr lang="fr-CA">
                <a:solidFill>
                  <a:srgbClr val="D6DEEB"/>
                </a:solidFill>
              </a:rPr>
              <a:t>`)</a:t>
            </a:r>
          </a:p>
          <a:p>
            <a:r>
              <a:rPr lang="fr-CA">
                <a:solidFill>
                  <a:srgbClr val="D6DEEB"/>
                </a:solidFill>
              </a:rPr>
              <a:t>})</a:t>
            </a:r>
          </a:p>
        </p:txBody>
      </p:sp>
      <p:sp>
        <p:nvSpPr>
          <p:cNvPr id="7" name="TextBox 6"/>
          <p:cNvSpPr txBox="1"/>
          <p:nvPr/>
        </p:nvSpPr>
        <p:spPr>
          <a:xfrm>
            <a:off x="2168434" y="6363152"/>
            <a:ext cx="7950925" cy="369332"/>
          </a:xfrm>
          <a:prstGeom prst="rect">
            <a:avLst/>
          </a:prstGeom>
          <a:noFill/>
        </p:spPr>
        <p:txBody>
          <a:bodyPr wrap="square" rtlCol="0">
            <a:spAutoFit/>
          </a:bodyPr>
          <a:lstStyle/>
          <a:p>
            <a:r>
              <a:rPr lang="fr-CA"/>
              <a:t>Exécuter l’application avec la commande node app.js</a:t>
            </a:r>
          </a:p>
        </p:txBody>
      </p:sp>
    </p:spTree>
    <p:extLst>
      <p:ext uri="{BB962C8B-B14F-4D97-AF65-F5344CB8AC3E}">
        <p14:creationId xmlns:p14="http://schemas.microsoft.com/office/powerpoint/2010/main" val="308178656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P spid="3" grpId="0" animBg="1"/>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12047"/>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Création des end points</a:t>
            </a:r>
          </a:p>
        </p:txBody>
      </p:sp>
      <p:sp>
        <p:nvSpPr>
          <p:cNvPr id="3" name="TextBox 2"/>
          <p:cNvSpPr txBox="1"/>
          <p:nvPr/>
        </p:nvSpPr>
        <p:spPr>
          <a:xfrm>
            <a:off x="2168434" y="1282421"/>
            <a:ext cx="4206240"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Générateur d'applications express</a:t>
            </a:r>
          </a:p>
        </p:txBody>
      </p:sp>
      <p:sp>
        <p:nvSpPr>
          <p:cNvPr id="7" name="TextBox 6"/>
          <p:cNvSpPr txBox="1"/>
          <p:nvPr/>
        </p:nvSpPr>
        <p:spPr>
          <a:xfrm>
            <a:off x="2255520" y="1802672"/>
            <a:ext cx="9109166" cy="646331"/>
          </a:xfrm>
          <a:prstGeom prst="rect">
            <a:avLst/>
          </a:prstGeom>
          <a:noFill/>
        </p:spPr>
        <p:txBody>
          <a:bodyPr wrap="square" rtlCol="0">
            <a:spAutoFit/>
          </a:bodyPr>
          <a:lstStyle/>
          <a:p>
            <a:r>
              <a:rPr lang="fr-CA"/>
              <a:t>Utilisez l'outil générateur d'application, express-generator, pour créer rapidement un squelette d'application.</a:t>
            </a:r>
          </a:p>
        </p:txBody>
      </p:sp>
      <p:sp>
        <p:nvSpPr>
          <p:cNvPr id="8" name="TextBox 7"/>
          <p:cNvSpPr txBox="1"/>
          <p:nvPr/>
        </p:nvSpPr>
        <p:spPr>
          <a:xfrm>
            <a:off x="2255520" y="2497314"/>
            <a:ext cx="5251269" cy="369332"/>
          </a:xfrm>
          <a:prstGeom prst="rect">
            <a:avLst/>
          </a:prstGeom>
          <a:solidFill>
            <a:schemeClr val="tx2">
              <a:lumMod val="50000"/>
            </a:schemeClr>
          </a:solidFill>
        </p:spPr>
        <p:txBody>
          <a:bodyPr wrap="square" rtlCol="0">
            <a:spAutoFit/>
          </a:bodyPr>
          <a:lstStyle>
            <a:defPPr>
              <a:defRPr lang="fr-FR"/>
            </a:defPPr>
            <a:lvl1pPr>
              <a:defRPr>
                <a:solidFill>
                  <a:srgbClr val="82AAFF"/>
                </a:solidFill>
                <a:latin typeface="Consolas" panose="020B0609020204030204" pitchFamily="49" charset="0"/>
              </a:defRPr>
            </a:lvl1pPr>
          </a:lstStyle>
          <a:p>
            <a:r>
              <a:rPr lang="fr-CA"/>
              <a:t>npx express-generator</a:t>
            </a:r>
          </a:p>
        </p:txBody>
      </p:sp>
      <p:sp>
        <p:nvSpPr>
          <p:cNvPr id="9" name="TextBox 8"/>
          <p:cNvSpPr txBox="1"/>
          <p:nvPr/>
        </p:nvSpPr>
        <p:spPr>
          <a:xfrm>
            <a:off x="2168434" y="3204755"/>
            <a:ext cx="3953692"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Routing</a:t>
            </a:r>
          </a:p>
        </p:txBody>
      </p:sp>
      <p:sp>
        <p:nvSpPr>
          <p:cNvPr id="10" name="TextBox 9"/>
          <p:cNvSpPr txBox="1"/>
          <p:nvPr/>
        </p:nvSpPr>
        <p:spPr>
          <a:xfrm>
            <a:off x="2168434" y="3622398"/>
            <a:ext cx="9335589" cy="2031325"/>
          </a:xfrm>
          <a:prstGeom prst="rect">
            <a:avLst/>
          </a:prstGeom>
          <a:noFill/>
        </p:spPr>
        <p:txBody>
          <a:bodyPr wrap="square" rtlCol="0">
            <a:spAutoFit/>
          </a:bodyPr>
          <a:lstStyle/>
          <a:p>
            <a:r>
              <a:rPr lang="fr-CA"/>
              <a:t>Le routing consiste à déterminer comment une application répond à une demande client à un point particulier, qui est un URI (ou chemin) et une méthode  HTTP spécifique (GET, POST, etc.).</a:t>
            </a:r>
          </a:p>
          <a:p>
            <a:endParaRPr lang="fr-CA"/>
          </a:p>
          <a:p>
            <a:r>
              <a:rPr lang="fr-CA"/>
              <a:t>Chaque itinéraire peut avoir une ou plusieurs fonctions de gestionnaire, qui sont exécutées lorsque l'itinéraire est mis en correspondance.</a:t>
            </a:r>
          </a:p>
          <a:p>
            <a:r>
              <a:rPr lang="fr-CA"/>
              <a:t>La définition de route prend la structure suivante :</a:t>
            </a:r>
          </a:p>
        </p:txBody>
      </p:sp>
      <p:sp>
        <p:nvSpPr>
          <p:cNvPr id="11" name="TextBox 10"/>
          <p:cNvSpPr txBox="1"/>
          <p:nvPr/>
        </p:nvSpPr>
        <p:spPr>
          <a:xfrm>
            <a:off x="2255519" y="5763144"/>
            <a:ext cx="5251269" cy="369332"/>
          </a:xfrm>
          <a:prstGeom prst="rect">
            <a:avLst/>
          </a:prstGeom>
          <a:solidFill>
            <a:schemeClr val="tx2">
              <a:lumMod val="50000"/>
            </a:schemeClr>
          </a:solidFill>
        </p:spPr>
        <p:txBody>
          <a:bodyPr wrap="square" rtlCol="0">
            <a:spAutoFit/>
          </a:bodyPr>
          <a:lstStyle>
            <a:defPPr>
              <a:defRPr lang="fr-FR"/>
            </a:defPPr>
            <a:lvl1pPr>
              <a:defRPr>
                <a:solidFill>
                  <a:srgbClr val="82AAFF"/>
                </a:solidFill>
                <a:latin typeface="Consolas" panose="020B0609020204030204" pitchFamily="49" charset="0"/>
              </a:defRPr>
            </a:lvl1pPr>
          </a:lstStyle>
          <a:p>
            <a:r>
              <a:rPr lang="en-US"/>
              <a:t>app.METHOD(PATH, HANDLER)</a:t>
            </a:r>
            <a:endParaRPr lang="fr-CA"/>
          </a:p>
        </p:txBody>
      </p:sp>
    </p:spTree>
    <p:extLst>
      <p:ext uri="{BB962C8B-B14F-4D97-AF65-F5344CB8AC3E}">
        <p14:creationId xmlns:p14="http://schemas.microsoft.com/office/powerpoint/2010/main" val="315461432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animBg="1"/>
      <p:bldP spid="9" grpId="0"/>
      <p:bldP spid="10" grpId="0"/>
      <p:bldP spid="1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Création des end points</a:t>
            </a:r>
          </a:p>
        </p:txBody>
      </p:sp>
      <p:sp>
        <p:nvSpPr>
          <p:cNvPr id="3" name="TextBox 2"/>
          <p:cNvSpPr txBox="1"/>
          <p:nvPr/>
        </p:nvSpPr>
        <p:spPr>
          <a:xfrm>
            <a:off x="2168434" y="1282421"/>
            <a:ext cx="4206240"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Routing</a:t>
            </a:r>
          </a:p>
        </p:txBody>
      </p:sp>
      <p:sp>
        <p:nvSpPr>
          <p:cNvPr id="7" name="TextBox 6"/>
          <p:cNvSpPr txBox="1"/>
          <p:nvPr/>
        </p:nvSpPr>
        <p:spPr>
          <a:xfrm>
            <a:off x="2255520" y="1802672"/>
            <a:ext cx="9109166" cy="1200329"/>
          </a:xfrm>
          <a:prstGeom prst="rect">
            <a:avLst/>
          </a:prstGeom>
          <a:noFill/>
        </p:spPr>
        <p:txBody>
          <a:bodyPr wrap="square" rtlCol="0">
            <a:spAutoFit/>
          </a:bodyPr>
          <a:lstStyle/>
          <a:p>
            <a:pPr marL="285750" lvl="0" indent="-285750">
              <a:buFont typeface="Arial" panose="020B0604020202020204" pitchFamily="34" charset="0"/>
              <a:buChar char="•"/>
            </a:pPr>
            <a:r>
              <a:rPr lang="fr-CA"/>
              <a:t>app c’est une instance Express.</a:t>
            </a:r>
          </a:p>
          <a:p>
            <a:pPr marL="285750" lvl="0" indent="-285750">
              <a:buFont typeface="Arial" panose="020B0604020202020204" pitchFamily="34" charset="0"/>
              <a:buChar char="•"/>
            </a:pPr>
            <a:r>
              <a:rPr lang="fr-CA"/>
              <a:t>METHOD est une HTTP request method, en minuscule.</a:t>
            </a:r>
          </a:p>
          <a:p>
            <a:pPr marL="285750" lvl="0" indent="-285750">
              <a:buFont typeface="Arial" panose="020B0604020202020204" pitchFamily="34" charset="0"/>
              <a:buChar char="•"/>
            </a:pPr>
            <a:r>
              <a:rPr lang="fr-CA"/>
              <a:t>PATH chemin sur le serveur.</a:t>
            </a:r>
          </a:p>
          <a:p>
            <a:pPr marL="285750" indent="-285750">
              <a:buFont typeface="Arial" panose="020B0604020202020204" pitchFamily="34" charset="0"/>
              <a:buChar char="•"/>
            </a:pPr>
            <a:r>
              <a:rPr lang="fr-CA"/>
              <a:t>HANDLER c’est la fonction à exécuter quand il y a un match.</a:t>
            </a:r>
          </a:p>
        </p:txBody>
      </p:sp>
      <p:sp>
        <p:nvSpPr>
          <p:cNvPr id="10" name="TextBox 9"/>
          <p:cNvSpPr txBox="1"/>
          <p:nvPr/>
        </p:nvSpPr>
        <p:spPr>
          <a:xfrm>
            <a:off x="2168434" y="3996867"/>
            <a:ext cx="9335589" cy="2585323"/>
          </a:xfrm>
          <a:prstGeom prst="rect">
            <a:avLst/>
          </a:prstGeom>
          <a:solidFill>
            <a:schemeClr val="tx2">
              <a:lumMod val="50000"/>
            </a:schemeClr>
          </a:solidFill>
        </p:spPr>
        <p:txBody>
          <a:bodyPr wrap="square" rtlCol="0">
            <a:spAutoFit/>
          </a:bodyPr>
          <a:lstStyle>
            <a:defPPr>
              <a:defRPr lang="fr-FR"/>
            </a:defPPr>
            <a:lvl1pPr>
              <a:defRPr>
                <a:solidFill>
                  <a:srgbClr val="82AAFF"/>
                </a:solidFill>
                <a:latin typeface="Consolas" panose="020B0609020204030204" pitchFamily="49" charset="0"/>
              </a:defRPr>
            </a:lvl1pPr>
          </a:lstStyle>
          <a:p>
            <a:r>
              <a:rPr lang="fr-CA"/>
              <a:t>Endpoint get</a:t>
            </a:r>
          </a:p>
          <a:p>
            <a:r>
              <a:rPr lang="en-US"/>
              <a:t>app.get('/', (req, res) =&gt; {</a:t>
            </a:r>
            <a:endParaRPr lang="fr-CA"/>
          </a:p>
          <a:p>
            <a:r>
              <a:rPr lang="en-US"/>
              <a:t>  res.send('Hello World!')</a:t>
            </a:r>
            <a:endParaRPr lang="fr-CA"/>
          </a:p>
          <a:p>
            <a:r>
              <a:rPr lang="en-US"/>
              <a:t>})</a:t>
            </a:r>
          </a:p>
          <a:p>
            <a:br>
              <a:rPr lang="fr-CA"/>
            </a:br>
            <a:r>
              <a:rPr lang="fr-CA"/>
              <a:t>Endpoint post</a:t>
            </a:r>
          </a:p>
          <a:p>
            <a:r>
              <a:rPr lang="en-US"/>
              <a:t>app.post('/', (req, res) =&gt; {</a:t>
            </a:r>
            <a:endParaRPr lang="fr-CA"/>
          </a:p>
          <a:p>
            <a:r>
              <a:rPr lang="en-US"/>
              <a:t>  res.send('Got a POST request')</a:t>
            </a:r>
            <a:endParaRPr lang="fr-CA"/>
          </a:p>
          <a:p>
            <a:r>
              <a:rPr lang="en-US"/>
              <a:t>})</a:t>
            </a:r>
          </a:p>
        </p:txBody>
      </p:sp>
      <p:sp>
        <p:nvSpPr>
          <p:cNvPr id="12" name="TextBox 11"/>
          <p:cNvSpPr txBox="1"/>
          <p:nvPr/>
        </p:nvSpPr>
        <p:spPr>
          <a:xfrm>
            <a:off x="2168434" y="3523252"/>
            <a:ext cx="4206240"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Exemple des end points tp02.js </a:t>
            </a:r>
          </a:p>
        </p:txBody>
      </p:sp>
    </p:spTree>
    <p:extLst>
      <p:ext uri="{BB962C8B-B14F-4D97-AF65-F5344CB8AC3E}">
        <p14:creationId xmlns:p14="http://schemas.microsoft.com/office/powerpoint/2010/main" val="426753008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0" grpId="0" animBg="1"/>
      <p:bldP spid="12"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Création des end points</a:t>
            </a:r>
          </a:p>
        </p:txBody>
      </p:sp>
      <p:sp>
        <p:nvSpPr>
          <p:cNvPr id="10" name="TextBox 9"/>
          <p:cNvSpPr txBox="1"/>
          <p:nvPr/>
        </p:nvSpPr>
        <p:spPr>
          <a:xfrm>
            <a:off x="2168434" y="2028716"/>
            <a:ext cx="9335589" cy="2585323"/>
          </a:xfrm>
          <a:prstGeom prst="rect">
            <a:avLst/>
          </a:prstGeom>
          <a:solidFill>
            <a:schemeClr val="tx2">
              <a:lumMod val="50000"/>
            </a:schemeClr>
          </a:solidFill>
        </p:spPr>
        <p:txBody>
          <a:bodyPr wrap="square" rtlCol="0">
            <a:spAutoFit/>
          </a:bodyPr>
          <a:lstStyle>
            <a:defPPr>
              <a:defRPr lang="fr-FR"/>
            </a:defPPr>
            <a:lvl1pPr>
              <a:defRPr>
                <a:solidFill>
                  <a:srgbClr val="82AAFF"/>
                </a:solidFill>
                <a:latin typeface="Consolas" panose="020B0609020204030204" pitchFamily="49" charset="0"/>
              </a:defRPr>
            </a:lvl1pPr>
          </a:lstStyle>
          <a:p>
            <a:r>
              <a:rPr lang="fr-CA"/>
              <a:t>Endpoint delete </a:t>
            </a:r>
          </a:p>
          <a:p>
            <a:r>
              <a:rPr lang="en-US"/>
              <a:t>app.delete('/user', (req, res) =&gt; {</a:t>
            </a:r>
            <a:endParaRPr lang="fr-CA"/>
          </a:p>
          <a:p>
            <a:r>
              <a:rPr lang="en-US"/>
              <a:t>  res.send('Got a DELETE request at /user')</a:t>
            </a:r>
            <a:endParaRPr lang="fr-CA"/>
          </a:p>
          <a:p>
            <a:r>
              <a:rPr lang="fr-CA"/>
              <a:t>})</a:t>
            </a:r>
          </a:p>
          <a:p>
            <a:r>
              <a:rPr lang="en-US"/>
              <a:t> </a:t>
            </a:r>
            <a:endParaRPr lang="fr-CA"/>
          </a:p>
          <a:p>
            <a:r>
              <a:rPr lang="en-US"/>
              <a:t>Endpoint put </a:t>
            </a:r>
            <a:endParaRPr lang="fr-CA"/>
          </a:p>
          <a:p>
            <a:r>
              <a:rPr lang="en-US"/>
              <a:t>app.put('/user', (req, res) =&gt; {</a:t>
            </a:r>
            <a:endParaRPr lang="fr-CA"/>
          </a:p>
          <a:p>
            <a:r>
              <a:rPr lang="en-US"/>
              <a:t>  res.send('Got a PUT request at /user')</a:t>
            </a:r>
            <a:endParaRPr lang="fr-CA"/>
          </a:p>
          <a:p>
            <a:r>
              <a:rPr lang="fr-CA"/>
              <a:t>})</a:t>
            </a:r>
            <a:endParaRPr lang="en-US"/>
          </a:p>
        </p:txBody>
      </p:sp>
      <p:sp>
        <p:nvSpPr>
          <p:cNvPr id="12" name="TextBox 11"/>
          <p:cNvSpPr txBox="1"/>
          <p:nvPr/>
        </p:nvSpPr>
        <p:spPr>
          <a:xfrm>
            <a:off x="2168434" y="1581234"/>
            <a:ext cx="4206240"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Exemple des end points </a:t>
            </a:r>
          </a:p>
        </p:txBody>
      </p:sp>
    </p:spTree>
    <p:extLst>
      <p:ext uri="{BB962C8B-B14F-4D97-AF65-F5344CB8AC3E}">
        <p14:creationId xmlns:p14="http://schemas.microsoft.com/office/powerpoint/2010/main" val="82059441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Les middlewares </a:t>
            </a:r>
          </a:p>
        </p:txBody>
      </p:sp>
      <p:sp>
        <p:nvSpPr>
          <p:cNvPr id="2" name="TextBox 1"/>
          <p:cNvSpPr txBox="1"/>
          <p:nvPr/>
        </p:nvSpPr>
        <p:spPr>
          <a:xfrm>
            <a:off x="2168433" y="1706880"/>
            <a:ext cx="9248503" cy="2031325"/>
          </a:xfrm>
          <a:prstGeom prst="rect">
            <a:avLst/>
          </a:prstGeom>
          <a:noFill/>
        </p:spPr>
        <p:txBody>
          <a:bodyPr wrap="square" rtlCol="0">
            <a:spAutoFit/>
          </a:bodyPr>
          <a:lstStyle/>
          <a:p>
            <a:r>
              <a:rPr lang="fr-CA"/>
              <a:t>Un middleware est une fonction, un code ou une action qui s’exécute dans l’intervalle de temps entre la réception d’une requête et le renvoi d’une réponse.</a:t>
            </a:r>
          </a:p>
          <a:p>
            <a:endParaRPr lang="fr-CA"/>
          </a:p>
          <a:p>
            <a:r>
              <a:rPr lang="fr-CA"/>
              <a:t>Les fonctions middleware sont des fonctions qui ont accès à l'objet de requête (req), à l'objet de réponse (res) et à la fonction middleware suivante dans le cycle requête-réponse de l'application. La prochaine fonction middleware est généralement désignée par une variable </a:t>
            </a:r>
            <a:r>
              <a:rPr lang="fr-CA" b="1"/>
              <a:t>next</a:t>
            </a:r>
            <a:r>
              <a:rPr lang="fr-CA"/>
              <a:t>.</a:t>
            </a:r>
          </a:p>
        </p:txBody>
      </p:sp>
    </p:spTree>
    <p:extLst>
      <p:ext uri="{BB962C8B-B14F-4D97-AF65-F5344CB8AC3E}">
        <p14:creationId xmlns:p14="http://schemas.microsoft.com/office/powerpoint/2010/main" val="214722029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Les middlewares </a:t>
            </a:r>
          </a:p>
        </p:txBody>
      </p:sp>
      <p:sp>
        <p:nvSpPr>
          <p:cNvPr id="6" name="TextBox 5"/>
          <p:cNvSpPr txBox="1"/>
          <p:nvPr/>
        </p:nvSpPr>
        <p:spPr>
          <a:xfrm>
            <a:off x="2281646" y="1227894"/>
            <a:ext cx="9135290" cy="5632311"/>
          </a:xfrm>
          <a:prstGeom prst="rect">
            <a:avLst/>
          </a:prstGeom>
          <a:solidFill>
            <a:schemeClr val="tx2">
              <a:lumMod val="50000"/>
            </a:schemeClr>
          </a:solidFill>
        </p:spPr>
        <p:txBody>
          <a:bodyPr wrap="square" rtlCol="0">
            <a:spAutoFit/>
          </a:bodyPr>
          <a:lstStyle>
            <a:defPPr>
              <a:defRPr lang="fr-FR"/>
            </a:defPPr>
            <a:lvl1pPr>
              <a:defRPr>
                <a:solidFill>
                  <a:srgbClr val="82AAFF"/>
                </a:solidFill>
                <a:latin typeface="Consolas" panose="020B0609020204030204" pitchFamily="49" charset="0"/>
              </a:defRPr>
            </a:lvl1pPr>
          </a:lstStyle>
          <a:p>
            <a:r>
              <a:rPr lang="en-US"/>
              <a:t>tp03.js</a:t>
            </a:r>
            <a:endParaRPr lang="fr-CA"/>
          </a:p>
          <a:p>
            <a:r>
              <a:rPr lang="fr-CA"/>
              <a:t>const</a:t>
            </a:r>
            <a:r>
              <a:rPr lang="fr-CA" i="1">
                <a:solidFill>
                  <a:srgbClr val="C792EA"/>
                </a:solidFill>
              </a:rPr>
              <a:t> </a:t>
            </a:r>
            <a:r>
              <a:rPr lang="fr-CA" i="1"/>
              <a:t>express</a:t>
            </a:r>
            <a:r>
              <a:rPr lang="fr-CA" i="1">
                <a:solidFill>
                  <a:srgbClr val="C792EA"/>
                </a:solidFill>
              </a:rPr>
              <a:t> </a:t>
            </a:r>
            <a:r>
              <a:rPr lang="fr-CA">
                <a:solidFill>
                  <a:srgbClr val="C792EA"/>
                </a:solidFill>
              </a:rPr>
              <a:t>=</a:t>
            </a:r>
            <a:r>
              <a:rPr lang="fr-CA" i="1">
                <a:solidFill>
                  <a:srgbClr val="C792EA"/>
                </a:solidFill>
              </a:rPr>
              <a:t> </a:t>
            </a:r>
            <a:r>
              <a:rPr lang="fr-CA"/>
              <a:t>require</a:t>
            </a:r>
            <a:r>
              <a:rPr lang="fr-CA">
                <a:solidFill>
                  <a:srgbClr val="D6DEEB"/>
                </a:solidFill>
              </a:rPr>
              <a:t>(</a:t>
            </a:r>
            <a:r>
              <a:rPr lang="fr-CA">
                <a:solidFill>
                  <a:srgbClr val="D9F5DD"/>
                </a:solidFill>
              </a:rPr>
              <a:t>'</a:t>
            </a:r>
            <a:r>
              <a:rPr lang="fr-CA">
                <a:solidFill>
                  <a:srgbClr val="ECC48D"/>
                </a:solidFill>
              </a:rPr>
              <a:t>express</a:t>
            </a:r>
            <a:r>
              <a:rPr lang="fr-CA">
                <a:solidFill>
                  <a:srgbClr val="D9F5DD"/>
                </a:solidFill>
              </a:rPr>
              <a:t>'</a:t>
            </a:r>
            <a:r>
              <a:rPr lang="fr-CA">
                <a:solidFill>
                  <a:srgbClr val="D6DEEB"/>
                </a:solidFill>
              </a:rPr>
              <a:t>)</a:t>
            </a:r>
          </a:p>
          <a:p>
            <a:r>
              <a:rPr lang="fr-CA"/>
              <a:t>const</a:t>
            </a:r>
            <a:r>
              <a:rPr lang="fr-CA" i="1">
                <a:solidFill>
                  <a:srgbClr val="C792EA"/>
                </a:solidFill>
              </a:rPr>
              <a:t> </a:t>
            </a:r>
            <a:r>
              <a:rPr lang="fr-CA" i="1"/>
              <a:t>app</a:t>
            </a:r>
            <a:r>
              <a:rPr lang="fr-CA" i="1">
                <a:solidFill>
                  <a:srgbClr val="C792EA"/>
                </a:solidFill>
              </a:rPr>
              <a:t> </a:t>
            </a:r>
            <a:r>
              <a:rPr lang="fr-CA">
                <a:solidFill>
                  <a:srgbClr val="C792EA"/>
                </a:solidFill>
              </a:rPr>
              <a:t>=</a:t>
            </a:r>
            <a:r>
              <a:rPr lang="fr-CA" i="1">
                <a:solidFill>
                  <a:srgbClr val="C792EA"/>
                </a:solidFill>
              </a:rPr>
              <a:t> </a:t>
            </a:r>
            <a:r>
              <a:rPr lang="fr-CA"/>
              <a:t>express</a:t>
            </a:r>
            <a:r>
              <a:rPr lang="fr-CA">
                <a:solidFill>
                  <a:srgbClr val="D6DEEB"/>
                </a:solidFill>
              </a:rPr>
              <a:t>()</a:t>
            </a:r>
          </a:p>
          <a:p>
            <a:r>
              <a:rPr lang="fr-CA"/>
              <a:t>const</a:t>
            </a:r>
            <a:r>
              <a:rPr lang="fr-CA" i="1">
                <a:solidFill>
                  <a:srgbClr val="C792EA"/>
                </a:solidFill>
              </a:rPr>
              <a:t> </a:t>
            </a:r>
            <a:r>
              <a:rPr lang="fr-CA" i="1"/>
              <a:t>port</a:t>
            </a:r>
            <a:r>
              <a:rPr lang="fr-CA" i="1">
                <a:solidFill>
                  <a:srgbClr val="C792EA"/>
                </a:solidFill>
              </a:rPr>
              <a:t> </a:t>
            </a:r>
            <a:r>
              <a:rPr lang="fr-CA">
                <a:solidFill>
                  <a:srgbClr val="C792EA"/>
                </a:solidFill>
              </a:rPr>
              <a:t>=</a:t>
            </a:r>
            <a:r>
              <a:rPr lang="fr-CA" i="1">
                <a:solidFill>
                  <a:srgbClr val="C792EA"/>
                </a:solidFill>
              </a:rPr>
              <a:t> </a:t>
            </a:r>
            <a:r>
              <a:rPr lang="fr-CA">
                <a:solidFill>
                  <a:srgbClr val="F78C6C"/>
                </a:solidFill>
              </a:rPr>
              <a:t>3000</a:t>
            </a:r>
            <a:br>
              <a:rPr lang="fr-CA">
                <a:solidFill>
                  <a:srgbClr val="D6DEEB"/>
                </a:solidFill>
              </a:rPr>
            </a:br>
            <a:r>
              <a:rPr lang="fr-CA">
                <a:solidFill>
                  <a:srgbClr val="D6DEEB"/>
                </a:solidFill>
              </a:rPr>
              <a:t>app</a:t>
            </a:r>
            <a:r>
              <a:rPr lang="fr-CA" i="1">
                <a:solidFill>
                  <a:srgbClr val="C792EA"/>
                </a:solidFill>
              </a:rPr>
              <a:t>.</a:t>
            </a:r>
            <a:r>
              <a:rPr lang="fr-CA"/>
              <a:t>use</a:t>
            </a:r>
            <a:r>
              <a:rPr lang="fr-CA">
                <a:solidFill>
                  <a:srgbClr val="D6DEEB"/>
                </a:solidFill>
              </a:rPr>
              <a:t>(</a:t>
            </a:r>
            <a:r>
              <a:rPr lang="fr-CA">
                <a:solidFill>
                  <a:srgbClr val="D7DBE0"/>
                </a:solidFill>
              </a:rPr>
              <a:t>logger</a:t>
            </a:r>
            <a:r>
              <a:rPr lang="fr-CA">
                <a:solidFill>
                  <a:srgbClr val="D6DEEB"/>
                </a:solidFill>
              </a:rPr>
              <a:t>)  </a:t>
            </a:r>
            <a:br>
              <a:rPr lang="fr-CA">
                <a:solidFill>
                  <a:srgbClr val="D6DEEB"/>
                </a:solidFill>
              </a:rPr>
            </a:br>
            <a:r>
              <a:rPr lang="fr-CA">
                <a:solidFill>
                  <a:srgbClr val="D6DEEB"/>
                </a:solidFill>
              </a:rPr>
              <a:t>app</a:t>
            </a:r>
            <a:r>
              <a:rPr lang="fr-CA" i="1">
                <a:solidFill>
                  <a:srgbClr val="C792EA"/>
                </a:solidFill>
              </a:rPr>
              <a:t>.</a:t>
            </a:r>
            <a:r>
              <a:rPr lang="fr-CA"/>
              <a:t>get</a:t>
            </a:r>
            <a:r>
              <a:rPr lang="fr-CA">
                <a:solidFill>
                  <a:srgbClr val="D6DEEB"/>
                </a:solidFill>
              </a:rPr>
              <a:t>(</a:t>
            </a:r>
            <a:r>
              <a:rPr lang="fr-CA">
                <a:solidFill>
                  <a:srgbClr val="D9F5DD"/>
                </a:solidFill>
              </a:rPr>
              <a:t>'</a:t>
            </a:r>
            <a:r>
              <a:rPr lang="fr-CA">
                <a:solidFill>
                  <a:srgbClr val="ECC48D"/>
                </a:solidFill>
              </a:rPr>
              <a:t>/</a:t>
            </a:r>
            <a:r>
              <a:rPr lang="fr-CA">
                <a:solidFill>
                  <a:srgbClr val="D9F5DD"/>
                </a:solidFill>
              </a:rPr>
              <a:t>'</a:t>
            </a:r>
            <a:r>
              <a:rPr lang="fr-CA">
                <a:solidFill>
                  <a:srgbClr val="D6DEEB"/>
                </a:solidFill>
              </a:rPr>
              <a:t>, </a:t>
            </a:r>
            <a:r>
              <a:rPr lang="fr-CA">
                <a:solidFill>
                  <a:srgbClr val="D9F5DD"/>
                </a:solidFill>
              </a:rPr>
              <a:t>(</a:t>
            </a:r>
            <a:r>
              <a:rPr lang="fr-CA">
                <a:solidFill>
                  <a:srgbClr val="D7DBE0"/>
                </a:solidFill>
              </a:rPr>
              <a:t>req</a:t>
            </a:r>
            <a:r>
              <a:rPr lang="fr-CA">
                <a:solidFill>
                  <a:srgbClr val="D6DEEB"/>
                </a:solidFill>
              </a:rPr>
              <a:t>, </a:t>
            </a:r>
            <a:r>
              <a:rPr lang="fr-CA">
                <a:solidFill>
                  <a:srgbClr val="D7DBE0"/>
                </a:solidFill>
              </a:rPr>
              <a:t>res</a:t>
            </a:r>
            <a:r>
              <a:rPr lang="fr-CA">
                <a:solidFill>
                  <a:srgbClr val="D6DEEB"/>
                </a:solidFill>
              </a:rPr>
              <a:t>, </a:t>
            </a:r>
            <a:r>
              <a:rPr lang="fr-CA">
                <a:solidFill>
                  <a:srgbClr val="D7DBE0"/>
                </a:solidFill>
              </a:rPr>
              <a:t>next</a:t>
            </a:r>
            <a:r>
              <a:rPr lang="fr-CA">
                <a:solidFill>
                  <a:srgbClr val="D9F5DD"/>
                </a:solidFill>
              </a:rPr>
              <a:t>)</a:t>
            </a:r>
            <a:r>
              <a:rPr lang="fr-CA">
                <a:solidFill>
                  <a:srgbClr val="D6DEEB"/>
                </a:solidFill>
              </a:rPr>
              <a:t> </a:t>
            </a:r>
            <a:r>
              <a:rPr lang="fr-CA"/>
              <a:t>=&gt;</a:t>
            </a:r>
            <a:r>
              <a:rPr lang="fr-CA">
                <a:solidFill>
                  <a:srgbClr val="D6DEEB"/>
                </a:solidFill>
              </a:rPr>
              <a:t> {</a:t>
            </a:r>
          </a:p>
          <a:p>
            <a:r>
              <a:rPr lang="fr-CA">
                <a:solidFill>
                  <a:srgbClr val="D6DEEB"/>
                </a:solidFill>
              </a:rPr>
              <a:t>    console</a:t>
            </a:r>
            <a:r>
              <a:rPr lang="fr-CA" i="1">
                <a:solidFill>
                  <a:srgbClr val="C792EA"/>
                </a:solidFill>
              </a:rPr>
              <a:t>.</a:t>
            </a:r>
            <a:r>
              <a:rPr lang="fr-CA"/>
              <a:t>log</a:t>
            </a:r>
            <a:r>
              <a:rPr lang="fr-CA">
                <a:solidFill>
                  <a:srgbClr val="D6DEEB"/>
                </a:solidFill>
              </a:rPr>
              <a:t>(</a:t>
            </a:r>
            <a:r>
              <a:rPr lang="fr-CA">
                <a:solidFill>
                  <a:srgbClr val="D9F5DD"/>
                </a:solidFill>
              </a:rPr>
              <a:t>'</a:t>
            </a:r>
            <a:r>
              <a:rPr lang="fr-CA">
                <a:solidFill>
                  <a:srgbClr val="ECC48D"/>
                </a:solidFill>
              </a:rPr>
              <a:t>Got get to root path</a:t>
            </a:r>
            <a:r>
              <a:rPr lang="fr-CA">
                <a:solidFill>
                  <a:srgbClr val="D9F5DD"/>
                </a:solidFill>
              </a:rPr>
              <a:t>'</a:t>
            </a:r>
            <a:r>
              <a:rPr lang="fr-CA">
                <a:solidFill>
                  <a:srgbClr val="D6DEEB"/>
                </a:solidFill>
              </a:rPr>
              <a:t>)</a:t>
            </a:r>
          </a:p>
          <a:p>
            <a:r>
              <a:rPr lang="fr-CA">
                <a:solidFill>
                  <a:srgbClr val="D6DEEB"/>
                </a:solidFill>
              </a:rPr>
              <a:t>    res</a:t>
            </a:r>
            <a:r>
              <a:rPr lang="fr-CA" i="1">
                <a:solidFill>
                  <a:srgbClr val="C792EA"/>
                </a:solidFill>
              </a:rPr>
              <a:t>.</a:t>
            </a:r>
            <a:r>
              <a:rPr lang="fr-CA"/>
              <a:t>send</a:t>
            </a:r>
            <a:r>
              <a:rPr lang="fr-CA">
                <a:solidFill>
                  <a:srgbClr val="D6DEEB"/>
                </a:solidFill>
              </a:rPr>
              <a:t>(</a:t>
            </a:r>
            <a:r>
              <a:rPr lang="fr-CA">
                <a:solidFill>
                  <a:srgbClr val="D9F5DD"/>
                </a:solidFill>
              </a:rPr>
              <a:t>'</a:t>
            </a:r>
            <a:r>
              <a:rPr lang="fr-CA">
                <a:solidFill>
                  <a:srgbClr val="ECC48D"/>
                </a:solidFill>
              </a:rPr>
              <a:t>Got get to root path</a:t>
            </a:r>
            <a:r>
              <a:rPr lang="fr-CA">
                <a:solidFill>
                  <a:srgbClr val="D9F5DD"/>
                </a:solidFill>
              </a:rPr>
              <a:t>'</a:t>
            </a:r>
            <a:r>
              <a:rPr lang="fr-CA">
                <a:solidFill>
                  <a:srgbClr val="D6DEEB"/>
                </a:solidFill>
              </a:rPr>
              <a:t>)</a:t>
            </a:r>
          </a:p>
          <a:p>
            <a:r>
              <a:rPr lang="fr-CA">
                <a:solidFill>
                  <a:srgbClr val="D6DEEB"/>
                </a:solidFill>
              </a:rPr>
              <a:t>})</a:t>
            </a:r>
            <a:br>
              <a:rPr lang="fr-CA">
                <a:solidFill>
                  <a:srgbClr val="D6DEEB"/>
                </a:solidFill>
              </a:rPr>
            </a:br>
            <a:r>
              <a:rPr lang="fr-CA">
                <a:solidFill>
                  <a:srgbClr val="D6DEEB"/>
                </a:solidFill>
              </a:rPr>
              <a:t>app</a:t>
            </a:r>
            <a:r>
              <a:rPr lang="fr-CA" i="1">
                <a:solidFill>
                  <a:srgbClr val="C792EA"/>
                </a:solidFill>
              </a:rPr>
              <a:t>.</a:t>
            </a:r>
            <a:r>
              <a:rPr lang="fr-CA"/>
              <a:t>get</a:t>
            </a:r>
            <a:r>
              <a:rPr lang="fr-CA">
                <a:solidFill>
                  <a:srgbClr val="D6DEEB"/>
                </a:solidFill>
              </a:rPr>
              <a:t>(</a:t>
            </a:r>
            <a:r>
              <a:rPr lang="fr-CA">
                <a:solidFill>
                  <a:srgbClr val="D9F5DD"/>
                </a:solidFill>
              </a:rPr>
              <a:t>'</a:t>
            </a:r>
            <a:r>
              <a:rPr lang="fr-CA">
                <a:solidFill>
                  <a:srgbClr val="ECC48D"/>
                </a:solidFill>
              </a:rPr>
              <a:t>/users</a:t>
            </a:r>
            <a:r>
              <a:rPr lang="fr-CA">
                <a:solidFill>
                  <a:srgbClr val="D9F5DD"/>
                </a:solidFill>
              </a:rPr>
              <a:t>'</a:t>
            </a:r>
            <a:r>
              <a:rPr lang="fr-CA">
                <a:solidFill>
                  <a:srgbClr val="D6DEEB"/>
                </a:solidFill>
              </a:rPr>
              <a:t>, </a:t>
            </a:r>
            <a:r>
              <a:rPr lang="fr-CA">
                <a:solidFill>
                  <a:srgbClr val="D9F5DD"/>
                </a:solidFill>
              </a:rPr>
              <a:t>(</a:t>
            </a:r>
            <a:r>
              <a:rPr lang="fr-CA">
                <a:solidFill>
                  <a:srgbClr val="D7DBE0"/>
                </a:solidFill>
              </a:rPr>
              <a:t>req</a:t>
            </a:r>
            <a:r>
              <a:rPr lang="fr-CA">
                <a:solidFill>
                  <a:srgbClr val="D6DEEB"/>
                </a:solidFill>
              </a:rPr>
              <a:t>, </a:t>
            </a:r>
            <a:r>
              <a:rPr lang="fr-CA">
                <a:solidFill>
                  <a:srgbClr val="D7DBE0"/>
                </a:solidFill>
              </a:rPr>
              <a:t>res</a:t>
            </a:r>
            <a:r>
              <a:rPr lang="fr-CA">
                <a:solidFill>
                  <a:srgbClr val="D9F5DD"/>
                </a:solidFill>
              </a:rPr>
              <a:t>)</a:t>
            </a:r>
            <a:r>
              <a:rPr lang="fr-CA">
                <a:solidFill>
                  <a:srgbClr val="D6DEEB"/>
                </a:solidFill>
              </a:rPr>
              <a:t> </a:t>
            </a:r>
            <a:r>
              <a:rPr lang="fr-CA"/>
              <a:t>=&gt;</a:t>
            </a:r>
            <a:r>
              <a:rPr lang="fr-CA">
                <a:solidFill>
                  <a:srgbClr val="D6DEEB"/>
                </a:solidFill>
              </a:rPr>
              <a:t> {</a:t>
            </a:r>
          </a:p>
          <a:p>
            <a:r>
              <a:rPr lang="fr-CA">
                <a:solidFill>
                  <a:srgbClr val="D6DEEB"/>
                </a:solidFill>
              </a:rPr>
              <a:t>    console</a:t>
            </a:r>
            <a:r>
              <a:rPr lang="fr-CA" i="1">
                <a:solidFill>
                  <a:srgbClr val="C792EA"/>
                </a:solidFill>
              </a:rPr>
              <a:t>.</a:t>
            </a:r>
            <a:r>
              <a:rPr lang="fr-CA"/>
              <a:t>log</a:t>
            </a:r>
            <a:r>
              <a:rPr lang="fr-CA">
                <a:solidFill>
                  <a:srgbClr val="D6DEEB"/>
                </a:solidFill>
              </a:rPr>
              <a:t>(</a:t>
            </a:r>
            <a:r>
              <a:rPr lang="fr-CA">
                <a:solidFill>
                  <a:srgbClr val="D9F5DD"/>
                </a:solidFill>
              </a:rPr>
              <a:t>'</a:t>
            </a:r>
            <a:r>
              <a:rPr lang="fr-CA">
                <a:solidFill>
                  <a:srgbClr val="ECC48D"/>
                </a:solidFill>
              </a:rPr>
              <a:t>Got get to /users</a:t>
            </a:r>
            <a:r>
              <a:rPr lang="fr-CA">
                <a:solidFill>
                  <a:srgbClr val="D9F5DD"/>
                </a:solidFill>
              </a:rPr>
              <a:t>'</a:t>
            </a:r>
            <a:r>
              <a:rPr lang="fr-CA">
                <a:solidFill>
                  <a:srgbClr val="D6DEEB"/>
                </a:solidFill>
              </a:rPr>
              <a:t>)</a:t>
            </a:r>
          </a:p>
          <a:p>
            <a:r>
              <a:rPr lang="fr-CA">
                <a:solidFill>
                  <a:srgbClr val="D6DEEB"/>
                </a:solidFill>
              </a:rPr>
              <a:t>    res</a:t>
            </a:r>
            <a:r>
              <a:rPr lang="fr-CA" i="1">
                <a:solidFill>
                  <a:srgbClr val="C792EA"/>
                </a:solidFill>
              </a:rPr>
              <a:t>.</a:t>
            </a:r>
            <a:r>
              <a:rPr lang="fr-CA"/>
              <a:t>send</a:t>
            </a:r>
            <a:r>
              <a:rPr lang="fr-CA">
                <a:solidFill>
                  <a:srgbClr val="D6DEEB"/>
                </a:solidFill>
              </a:rPr>
              <a:t>(</a:t>
            </a:r>
            <a:r>
              <a:rPr lang="fr-CA">
                <a:solidFill>
                  <a:srgbClr val="D9F5DD"/>
                </a:solidFill>
              </a:rPr>
              <a:t>'</a:t>
            </a:r>
            <a:r>
              <a:rPr lang="fr-CA">
                <a:solidFill>
                  <a:srgbClr val="ECC48D"/>
                </a:solidFill>
              </a:rPr>
              <a:t>Got get to /users</a:t>
            </a:r>
            <a:r>
              <a:rPr lang="fr-CA">
                <a:solidFill>
                  <a:srgbClr val="D9F5DD"/>
                </a:solidFill>
              </a:rPr>
              <a:t>'</a:t>
            </a:r>
            <a:r>
              <a:rPr lang="fr-CA">
                <a:solidFill>
                  <a:srgbClr val="D6DEEB"/>
                </a:solidFill>
              </a:rPr>
              <a:t>)</a:t>
            </a:r>
          </a:p>
          <a:p>
            <a:r>
              <a:rPr lang="fr-CA">
                <a:solidFill>
                  <a:srgbClr val="D6DEEB"/>
                </a:solidFill>
              </a:rPr>
              <a:t>  })</a:t>
            </a:r>
            <a:br>
              <a:rPr lang="fr-CA">
                <a:solidFill>
                  <a:srgbClr val="D6DEEB"/>
                </a:solidFill>
              </a:rPr>
            </a:br>
            <a:r>
              <a:rPr lang="fr-CA"/>
              <a:t>function</a:t>
            </a:r>
            <a:r>
              <a:rPr lang="fr-CA">
                <a:solidFill>
                  <a:srgbClr val="D6DEEB"/>
                </a:solidFill>
              </a:rPr>
              <a:t> </a:t>
            </a:r>
            <a:r>
              <a:rPr lang="fr-CA"/>
              <a:t>logger</a:t>
            </a:r>
            <a:r>
              <a:rPr lang="fr-CA">
                <a:solidFill>
                  <a:srgbClr val="D9F5DD"/>
                </a:solidFill>
              </a:rPr>
              <a:t>(</a:t>
            </a:r>
            <a:r>
              <a:rPr lang="fr-CA">
                <a:solidFill>
                  <a:srgbClr val="D7DBE0"/>
                </a:solidFill>
              </a:rPr>
              <a:t>req</a:t>
            </a:r>
            <a:r>
              <a:rPr lang="fr-CA">
                <a:solidFill>
                  <a:srgbClr val="D6DEEB"/>
                </a:solidFill>
              </a:rPr>
              <a:t>, </a:t>
            </a:r>
            <a:r>
              <a:rPr lang="fr-CA">
                <a:solidFill>
                  <a:srgbClr val="D7DBE0"/>
                </a:solidFill>
              </a:rPr>
              <a:t>res</a:t>
            </a:r>
            <a:r>
              <a:rPr lang="fr-CA">
                <a:solidFill>
                  <a:srgbClr val="D6DEEB"/>
                </a:solidFill>
              </a:rPr>
              <a:t>, </a:t>
            </a:r>
            <a:r>
              <a:rPr lang="fr-CA">
                <a:solidFill>
                  <a:srgbClr val="D7DBE0"/>
                </a:solidFill>
              </a:rPr>
              <a:t>next</a:t>
            </a:r>
            <a:r>
              <a:rPr lang="fr-CA">
                <a:solidFill>
                  <a:srgbClr val="D9F5DD"/>
                </a:solidFill>
              </a:rPr>
              <a:t>)</a:t>
            </a:r>
            <a:r>
              <a:rPr lang="fr-CA">
                <a:solidFill>
                  <a:srgbClr val="D6DEEB"/>
                </a:solidFill>
              </a:rPr>
              <a:t>{</a:t>
            </a:r>
          </a:p>
          <a:p>
            <a:r>
              <a:rPr lang="fr-CA">
                <a:solidFill>
                  <a:srgbClr val="D6DEEB"/>
                </a:solidFill>
              </a:rPr>
              <a:t>    console</a:t>
            </a:r>
            <a:r>
              <a:rPr lang="fr-CA" i="1">
                <a:solidFill>
                  <a:srgbClr val="C792EA"/>
                </a:solidFill>
              </a:rPr>
              <a:t>.</a:t>
            </a:r>
            <a:r>
              <a:rPr lang="fr-CA"/>
              <a:t>log</a:t>
            </a:r>
            <a:r>
              <a:rPr lang="fr-CA">
                <a:solidFill>
                  <a:srgbClr val="D6DEEB"/>
                </a:solidFill>
              </a:rPr>
              <a:t>(</a:t>
            </a:r>
            <a:r>
              <a:rPr lang="fr-CA">
                <a:solidFill>
                  <a:srgbClr val="D9F5DD"/>
                </a:solidFill>
              </a:rPr>
              <a:t>"</a:t>
            </a:r>
            <a:r>
              <a:rPr lang="fr-CA">
                <a:solidFill>
                  <a:srgbClr val="ECC48D"/>
                </a:solidFill>
              </a:rPr>
              <a:t>Inside logger</a:t>
            </a:r>
            <a:r>
              <a:rPr lang="fr-CA">
                <a:solidFill>
                  <a:srgbClr val="D9F5DD"/>
                </a:solidFill>
              </a:rPr>
              <a:t>"</a:t>
            </a:r>
            <a:r>
              <a:rPr lang="fr-CA">
                <a:solidFill>
                  <a:srgbClr val="D6DEEB"/>
                </a:solidFill>
              </a:rPr>
              <a:t>)</a:t>
            </a:r>
          </a:p>
          <a:p>
            <a:r>
              <a:rPr lang="fr-CA">
                <a:solidFill>
                  <a:srgbClr val="D6DEEB"/>
                </a:solidFill>
              </a:rPr>
              <a:t>    </a:t>
            </a:r>
            <a:r>
              <a:rPr lang="fr-CA"/>
              <a:t>next</a:t>
            </a:r>
            <a:r>
              <a:rPr lang="fr-CA">
                <a:solidFill>
                  <a:srgbClr val="D6DEEB"/>
                </a:solidFill>
              </a:rPr>
              <a:t>()</a:t>
            </a:r>
          </a:p>
          <a:p>
            <a:r>
              <a:rPr lang="fr-CA">
                <a:solidFill>
                  <a:srgbClr val="D6DEEB"/>
                </a:solidFill>
              </a:rPr>
              <a:t>}  </a:t>
            </a:r>
            <a:br>
              <a:rPr lang="fr-CA">
                <a:solidFill>
                  <a:srgbClr val="D6DEEB"/>
                </a:solidFill>
              </a:rPr>
            </a:br>
            <a:r>
              <a:rPr lang="fr-CA">
                <a:solidFill>
                  <a:srgbClr val="D6DEEB"/>
                </a:solidFill>
              </a:rPr>
              <a:t>app</a:t>
            </a:r>
            <a:r>
              <a:rPr lang="fr-CA" i="1">
                <a:solidFill>
                  <a:srgbClr val="C792EA"/>
                </a:solidFill>
              </a:rPr>
              <a:t>.</a:t>
            </a:r>
            <a:r>
              <a:rPr lang="fr-CA"/>
              <a:t>listen</a:t>
            </a:r>
            <a:r>
              <a:rPr lang="fr-CA">
                <a:solidFill>
                  <a:srgbClr val="D6DEEB"/>
                </a:solidFill>
              </a:rPr>
              <a:t>(</a:t>
            </a:r>
            <a:r>
              <a:rPr lang="fr-CA">
                <a:solidFill>
                  <a:srgbClr val="D7DBE0"/>
                </a:solidFill>
              </a:rPr>
              <a:t>port</a:t>
            </a:r>
            <a:r>
              <a:rPr lang="fr-CA">
                <a:solidFill>
                  <a:srgbClr val="D6DEEB"/>
                </a:solidFill>
              </a:rPr>
              <a:t>, </a:t>
            </a:r>
            <a:r>
              <a:rPr lang="fr-CA">
                <a:solidFill>
                  <a:srgbClr val="D9F5DD"/>
                </a:solidFill>
              </a:rPr>
              <a:t>()</a:t>
            </a:r>
            <a:r>
              <a:rPr lang="fr-CA">
                <a:solidFill>
                  <a:srgbClr val="D6DEEB"/>
                </a:solidFill>
              </a:rPr>
              <a:t> </a:t>
            </a:r>
            <a:r>
              <a:rPr lang="fr-CA"/>
              <a:t>=&gt;</a:t>
            </a:r>
            <a:r>
              <a:rPr lang="fr-CA">
                <a:solidFill>
                  <a:srgbClr val="D6DEEB"/>
                </a:solidFill>
              </a:rPr>
              <a:t> {</a:t>
            </a:r>
          </a:p>
          <a:p>
            <a:r>
              <a:rPr lang="fr-CA">
                <a:solidFill>
                  <a:srgbClr val="D6DEEB"/>
                </a:solidFill>
              </a:rPr>
              <a:t>  console</a:t>
            </a:r>
            <a:r>
              <a:rPr lang="fr-CA" i="1">
                <a:solidFill>
                  <a:srgbClr val="C792EA"/>
                </a:solidFill>
              </a:rPr>
              <a:t>.</a:t>
            </a:r>
            <a:r>
              <a:rPr lang="fr-CA"/>
              <a:t>log</a:t>
            </a:r>
            <a:r>
              <a:rPr lang="fr-CA">
                <a:solidFill>
                  <a:srgbClr val="D6DEEB"/>
                </a:solidFill>
              </a:rPr>
              <a:t>(</a:t>
            </a:r>
            <a:r>
              <a:rPr lang="fr-CA">
                <a:solidFill>
                  <a:srgbClr val="D9F5DD"/>
                </a:solidFill>
              </a:rPr>
              <a:t>"</a:t>
            </a:r>
            <a:r>
              <a:rPr lang="fr-CA">
                <a:solidFill>
                  <a:srgbClr val="ECC48D"/>
                </a:solidFill>
              </a:rPr>
              <a:t>Example app listening on port </a:t>
            </a:r>
            <a:r>
              <a:rPr lang="fr-CA">
                <a:solidFill>
                  <a:srgbClr val="D9F5DD"/>
                </a:solidFill>
              </a:rPr>
              <a:t>"</a:t>
            </a:r>
            <a:r>
              <a:rPr lang="fr-CA">
                <a:solidFill>
                  <a:srgbClr val="D6DEEB"/>
                </a:solidFill>
              </a:rPr>
              <a:t>, </a:t>
            </a:r>
            <a:r>
              <a:rPr lang="fr-CA">
                <a:solidFill>
                  <a:srgbClr val="D7DBE0"/>
                </a:solidFill>
              </a:rPr>
              <a:t>port</a:t>
            </a:r>
            <a:r>
              <a:rPr lang="fr-CA">
                <a:solidFill>
                  <a:srgbClr val="D6DEEB"/>
                </a:solidFill>
              </a:rPr>
              <a:t>)</a:t>
            </a:r>
          </a:p>
          <a:p>
            <a:r>
              <a:rPr lang="fr-CA">
                <a:solidFill>
                  <a:srgbClr val="D6DEEB"/>
                </a:solidFill>
              </a:rPr>
              <a:t>})</a:t>
            </a:r>
          </a:p>
        </p:txBody>
      </p:sp>
    </p:spTree>
    <p:extLst>
      <p:ext uri="{BB962C8B-B14F-4D97-AF65-F5344CB8AC3E}">
        <p14:creationId xmlns:p14="http://schemas.microsoft.com/office/powerpoint/2010/main" val="206757018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Les middlewares </a:t>
            </a:r>
          </a:p>
        </p:txBody>
      </p:sp>
      <p:pic>
        <p:nvPicPr>
          <p:cNvPr id="2" name="Picture 1"/>
          <p:cNvPicPr>
            <a:picLocks noChangeAspect="1"/>
          </p:cNvPicPr>
          <p:nvPr/>
        </p:nvPicPr>
        <p:blipFill>
          <a:blip r:embed="rId4"/>
          <a:stretch>
            <a:fillRect/>
          </a:stretch>
        </p:blipFill>
        <p:spPr>
          <a:xfrm>
            <a:off x="2168434" y="2456225"/>
            <a:ext cx="8477250" cy="2276475"/>
          </a:xfrm>
          <a:prstGeom prst="rect">
            <a:avLst/>
          </a:prstGeom>
        </p:spPr>
      </p:pic>
      <p:sp>
        <p:nvSpPr>
          <p:cNvPr id="3" name="TextBox 2"/>
          <p:cNvSpPr txBox="1"/>
          <p:nvPr/>
        </p:nvSpPr>
        <p:spPr>
          <a:xfrm>
            <a:off x="2281646" y="1393371"/>
            <a:ext cx="4284617" cy="369332"/>
          </a:xfrm>
          <a:prstGeom prst="rect">
            <a:avLst/>
          </a:prstGeom>
          <a:noFill/>
        </p:spPr>
        <p:txBody>
          <a:bodyPr wrap="square" lIns="91440" tIns="45720" rIns="91440" bIns="45720" rtlCol="0" anchor="t">
            <a:spAutoFit/>
          </a:bodyPr>
          <a:lstStyle>
            <a:defPPr>
              <a:defRPr lang="fr-FR"/>
            </a:defPPr>
            <a:lvl1pPr>
              <a:defRPr>
                <a:ln w="0"/>
                <a:solidFill>
                  <a:schemeClr val="accent1"/>
                </a:solidFill>
                <a:effectLst/>
              </a:defRPr>
            </a:lvl1pPr>
          </a:lstStyle>
          <a:p>
            <a:r>
              <a:rPr lang="fr-CA" dirty="0"/>
              <a:t>Fonctionnement</a:t>
            </a:r>
            <a:r>
              <a:rPr lang="en-US" dirty="0"/>
              <a:t> des </a:t>
            </a:r>
            <a:r>
              <a:rPr lang="en-US" dirty="0" err="1"/>
              <a:t>middlewares</a:t>
            </a:r>
            <a:endParaRPr lang="fr-CA" dirty="0"/>
          </a:p>
        </p:txBody>
      </p:sp>
    </p:spTree>
    <p:extLst>
      <p:ext uri="{BB962C8B-B14F-4D97-AF65-F5344CB8AC3E}">
        <p14:creationId xmlns:p14="http://schemas.microsoft.com/office/powerpoint/2010/main" val="1214114662"/>
      </p:ext>
    </p:extLst>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Les middlewares </a:t>
            </a:r>
          </a:p>
        </p:txBody>
      </p:sp>
      <p:sp>
        <p:nvSpPr>
          <p:cNvPr id="3" name="TextBox 2"/>
          <p:cNvSpPr txBox="1"/>
          <p:nvPr/>
        </p:nvSpPr>
        <p:spPr>
          <a:xfrm>
            <a:off x="2168433" y="1255555"/>
            <a:ext cx="3744686"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Types des middlewares</a:t>
            </a:r>
          </a:p>
        </p:txBody>
      </p:sp>
      <p:sp>
        <p:nvSpPr>
          <p:cNvPr id="7" name="TextBox 6"/>
          <p:cNvSpPr txBox="1"/>
          <p:nvPr/>
        </p:nvSpPr>
        <p:spPr>
          <a:xfrm>
            <a:off x="2168433" y="1643093"/>
            <a:ext cx="3997236" cy="338554"/>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sz="1600"/>
              <a:t>Application level middleware (tp04.js)</a:t>
            </a:r>
          </a:p>
        </p:txBody>
      </p:sp>
      <p:sp>
        <p:nvSpPr>
          <p:cNvPr id="6" name="TextBox 5"/>
          <p:cNvSpPr txBox="1"/>
          <p:nvPr/>
        </p:nvSpPr>
        <p:spPr>
          <a:xfrm>
            <a:off x="2246811" y="2194560"/>
            <a:ext cx="8055429" cy="646331"/>
          </a:xfrm>
          <a:prstGeom prst="rect">
            <a:avLst/>
          </a:prstGeom>
          <a:noFill/>
        </p:spPr>
        <p:txBody>
          <a:bodyPr wrap="square" rtlCol="0">
            <a:spAutoFit/>
          </a:bodyPr>
          <a:lstStyle/>
          <a:p>
            <a:r>
              <a:rPr lang="en-US"/>
              <a:t>Ce sont des middlewares qui sont attach</a:t>
            </a:r>
            <a:r>
              <a:rPr lang="fr-CA"/>
              <a:t>és à l’objet app en utilisant app.use() </a:t>
            </a:r>
          </a:p>
        </p:txBody>
      </p:sp>
      <p:sp>
        <p:nvSpPr>
          <p:cNvPr id="8" name="TextBox 7"/>
          <p:cNvSpPr txBox="1"/>
          <p:nvPr/>
        </p:nvSpPr>
        <p:spPr>
          <a:xfrm>
            <a:off x="2246811" y="3518265"/>
            <a:ext cx="8551818" cy="3139321"/>
          </a:xfrm>
          <a:prstGeom prst="rect">
            <a:avLst/>
          </a:prstGeom>
          <a:solidFill>
            <a:schemeClr val="tx2">
              <a:lumMod val="50000"/>
            </a:schemeClr>
          </a:solidFill>
        </p:spPr>
        <p:txBody>
          <a:bodyPr wrap="square" rtlCol="0">
            <a:spAutoFit/>
          </a:bodyPr>
          <a:lstStyle>
            <a:defPPr>
              <a:defRPr lang="fr-FR"/>
            </a:defPPr>
            <a:lvl1pPr>
              <a:defRPr>
                <a:solidFill>
                  <a:srgbClr val="82AAFF"/>
                </a:solidFill>
                <a:latin typeface="Consolas" panose="020B0609020204030204" pitchFamily="49" charset="0"/>
              </a:defRPr>
            </a:lvl1pPr>
          </a:lstStyle>
          <a:p>
            <a:r>
              <a:rPr lang="fr-CA"/>
              <a:t>const</a:t>
            </a:r>
            <a:r>
              <a:rPr lang="fr-CA" i="1">
                <a:solidFill>
                  <a:srgbClr val="C792EA"/>
                </a:solidFill>
              </a:rPr>
              <a:t> </a:t>
            </a:r>
            <a:r>
              <a:rPr lang="fr-CA" i="1"/>
              <a:t>express</a:t>
            </a:r>
            <a:r>
              <a:rPr lang="fr-CA" i="1">
                <a:solidFill>
                  <a:srgbClr val="C792EA"/>
                </a:solidFill>
              </a:rPr>
              <a:t> </a:t>
            </a:r>
            <a:r>
              <a:rPr lang="fr-CA">
                <a:solidFill>
                  <a:srgbClr val="C792EA"/>
                </a:solidFill>
              </a:rPr>
              <a:t>=</a:t>
            </a:r>
            <a:r>
              <a:rPr lang="fr-CA" i="1">
                <a:solidFill>
                  <a:srgbClr val="C792EA"/>
                </a:solidFill>
              </a:rPr>
              <a:t> </a:t>
            </a:r>
            <a:r>
              <a:rPr lang="fr-CA"/>
              <a:t>require</a:t>
            </a:r>
            <a:r>
              <a:rPr lang="fr-CA">
                <a:solidFill>
                  <a:srgbClr val="D6DEEB"/>
                </a:solidFill>
              </a:rPr>
              <a:t>(</a:t>
            </a:r>
            <a:r>
              <a:rPr lang="fr-CA">
                <a:solidFill>
                  <a:srgbClr val="D9F5DD"/>
                </a:solidFill>
              </a:rPr>
              <a:t>'</a:t>
            </a:r>
            <a:r>
              <a:rPr lang="fr-CA">
                <a:solidFill>
                  <a:srgbClr val="ECC48D"/>
                </a:solidFill>
              </a:rPr>
              <a:t>express</a:t>
            </a:r>
            <a:r>
              <a:rPr lang="fr-CA">
                <a:solidFill>
                  <a:srgbClr val="D9F5DD"/>
                </a:solidFill>
              </a:rPr>
              <a:t>'</a:t>
            </a:r>
            <a:r>
              <a:rPr lang="fr-CA">
                <a:solidFill>
                  <a:srgbClr val="D6DEEB"/>
                </a:solidFill>
              </a:rPr>
              <a:t>)</a:t>
            </a:r>
          </a:p>
          <a:p>
            <a:r>
              <a:rPr lang="fr-CA"/>
              <a:t>const</a:t>
            </a:r>
            <a:r>
              <a:rPr lang="fr-CA" i="1">
                <a:solidFill>
                  <a:srgbClr val="C792EA"/>
                </a:solidFill>
              </a:rPr>
              <a:t> </a:t>
            </a:r>
            <a:r>
              <a:rPr lang="fr-CA" i="1"/>
              <a:t>app</a:t>
            </a:r>
            <a:r>
              <a:rPr lang="fr-CA" i="1">
                <a:solidFill>
                  <a:srgbClr val="C792EA"/>
                </a:solidFill>
              </a:rPr>
              <a:t> </a:t>
            </a:r>
            <a:r>
              <a:rPr lang="fr-CA">
                <a:solidFill>
                  <a:srgbClr val="C792EA"/>
                </a:solidFill>
              </a:rPr>
              <a:t>=</a:t>
            </a:r>
            <a:r>
              <a:rPr lang="fr-CA" i="1">
                <a:solidFill>
                  <a:srgbClr val="C792EA"/>
                </a:solidFill>
              </a:rPr>
              <a:t> </a:t>
            </a:r>
            <a:r>
              <a:rPr lang="fr-CA"/>
              <a:t>express</a:t>
            </a:r>
            <a:r>
              <a:rPr lang="fr-CA">
                <a:solidFill>
                  <a:srgbClr val="D6DEEB"/>
                </a:solidFill>
              </a:rPr>
              <a:t>()</a:t>
            </a:r>
          </a:p>
          <a:p>
            <a:r>
              <a:rPr lang="fr-CA">
                <a:solidFill>
                  <a:srgbClr val="D6DEEB"/>
                </a:solidFill>
              </a:rPr>
              <a:t>app</a:t>
            </a:r>
            <a:r>
              <a:rPr lang="fr-CA" i="1">
                <a:solidFill>
                  <a:srgbClr val="C792EA"/>
                </a:solidFill>
              </a:rPr>
              <a:t>.</a:t>
            </a:r>
            <a:r>
              <a:rPr lang="fr-CA"/>
              <a:t>use</a:t>
            </a:r>
            <a:r>
              <a:rPr lang="fr-CA">
                <a:solidFill>
                  <a:srgbClr val="D6DEEB"/>
                </a:solidFill>
              </a:rPr>
              <a:t>(</a:t>
            </a:r>
            <a:r>
              <a:rPr lang="fr-CA">
                <a:solidFill>
                  <a:srgbClr val="D9F5DD"/>
                </a:solidFill>
              </a:rPr>
              <a:t>(</a:t>
            </a:r>
            <a:r>
              <a:rPr lang="fr-CA">
                <a:solidFill>
                  <a:srgbClr val="D7DBE0"/>
                </a:solidFill>
              </a:rPr>
              <a:t>req</a:t>
            </a:r>
            <a:r>
              <a:rPr lang="fr-CA">
                <a:solidFill>
                  <a:srgbClr val="D6DEEB"/>
                </a:solidFill>
              </a:rPr>
              <a:t>, </a:t>
            </a:r>
            <a:r>
              <a:rPr lang="fr-CA">
                <a:solidFill>
                  <a:srgbClr val="D7DBE0"/>
                </a:solidFill>
              </a:rPr>
              <a:t>res</a:t>
            </a:r>
            <a:r>
              <a:rPr lang="fr-CA">
                <a:solidFill>
                  <a:srgbClr val="D6DEEB"/>
                </a:solidFill>
              </a:rPr>
              <a:t>, </a:t>
            </a:r>
            <a:r>
              <a:rPr lang="fr-CA">
                <a:solidFill>
                  <a:srgbClr val="D7DBE0"/>
                </a:solidFill>
              </a:rPr>
              <a:t>next</a:t>
            </a:r>
            <a:r>
              <a:rPr lang="fr-CA">
                <a:solidFill>
                  <a:srgbClr val="D9F5DD"/>
                </a:solidFill>
              </a:rPr>
              <a:t>)</a:t>
            </a:r>
            <a:r>
              <a:rPr lang="fr-CA">
                <a:solidFill>
                  <a:srgbClr val="D6DEEB"/>
                </a:solidFill>
              </a:rPr>
              <a:t> </a:t>
            </a:r>
            <a:r>
              <a:rPr lang="fr-CA"/>
              <a:t>=&gt;</a:t>
            </a:r>
            <a:r>
              <a:rPr lang="fr-CA">
                <a:solidFill>
                  <a:srgbClr val="D6DEEB"/>
                </a:solidFill>
              </a:rPr>
              <a:t> {</a:t>
            </a:r>
          </a:p>
          <a:p>
            <a:r>
              <a:rPr lang="fr-CA">
                <a:solidFill>
                  <a:srgbClr val="D6DEEB"/>
                </a:solidFill>
              </a:rPr>
              <a:t>  console</a:t>
            </a:r>
            <a:r>
              <a:rPr lang="fr-CA" i="1">
                <a:solidFill>
                  <a:srgbClr val="C792EA"/>
                </a:solidFill>
              </a:rPr>
              <a:t>.</a:t>
            </a:r>
            <a:r>
              <a:rPr lang="fr-CA"/>
              <a:t>log</a:t>
            </a:r>
            <a:r>
              <a:rPr lang="fr-CA">
                <a:solidFill>
                  <a:srgbClr val="D6DEEB"/>
                </a:solidFill>
              </a:rPr>
              <a:t>(</a:t>
            </a:r>
            <a:r>
              <a:rPr lang="fr-CA">
                <a:solidFill>
                  <a:srgbClr val="D9F5DD"/>
                </a:solidFill>
              </a:rPr>
              <a:t>'</a:t>
            </a:r>
            <a:r>
              <a:rPr lang="fr-CA">
                <a:solidFill>
                  <a:srgbClr val="ECC48D"/>
                </a:solidFill>
              </a:rPr>
              <a:t>Time:</a:t>
            </a:r>
            <a:r>
              <a:rPr lang="fr-CA">
                <a:solidFill>
                  <a:srgbClr val="D9F5DD"/>
                </a:solidFill>
              </a:rPr>
              <a:t>'</a:t>
            </a:r>
            <a:r>
              <a:rPr lang="fr-CA">
                <a:solidFill>
                  <a:srgbClr val="D6DEEB"/>
                </a:solidFill>
              </a:rPr>
              <a:t>, Date</a:t>
            </a:r>
            <a:r>
              <a:rPr lang="fr-CA" i="1">
                <a:solidFill>
                  <a:srgbClr val="C792EA"/>
                </a:solidFill>
              </a:rPr>
              <a:t>.</a:t>
            </a:r>
            <a:r>
              <a:rPr lang="fr-CA"/>
              <a:t>now</a:t>
            </a:r>
            <a:r>
              <a:rPr lang="fr-CA">
                <a:solidFill>
                  <a:srgbClr val="D6DEEB"/>
                </a:solidFill>
              </a:rPr>
              <a:t>())</a:t>
            </a:r>
          </a:p>
          <a:p>
            <a:r>
              <a:rPr lang="fr-CA">
                <a:solidFill>
                  <a:srgbClr val="D6DEEB"/>
                </a:solidFill>
              </a:rPr>
              <a:t>  </a:t>
            </a:r>
            <a:r>
              <a:rPr lang="fr-CA"/>
              <a:t>next</a:t>
            </a:r>
            <a:r>
              <a:rPr lang="fr-CA">
                <a:solidFill>
                  <a:srgbClr val="D6DEEB"/>
                </a:solidFill>
              </a:rPr>
              <a:t>()</a:t>
            </a:r>
          </a:p>
          <a:p>
            <a:r>
              <a:rPr lang="fr-CA">
                <a:solidFill>
                  <a:srgbClr val="D6DEEB"/>
                </a:solidFill>
              </a:rPr>
              <a:t>})</a:t>
            </a:r>
          </a:p>
          <a:p>
            <a:r>
              <a:rPr lang="fr-CA">
                <a:solidFill>
                  <a:srgbClr val="D6DEEB"/>
                </a:solidFill>
              </a:rPr>
              <a:t> </a:t>
            </a:r>
          </a:p>
          <a:p>
            <a:r>
              <a:rPr lang="fr-CA">
                <a:solidFill>
                  <a:srgbClr val="D6DEEB"/>
                </a:solidFill>
              </a:rPr>
              <a:t>app</a:t>
            </a:r>
            <a:r>
              <a:rPr lang="fr-CA" i="1">
                <a:solidFill>
                  <a:srgbClr val="C792EA"/>
                </a:solidFill>
              </a:rPr>
              <a:t>.</a:t>
            </a:r>
            <a:r>
              <a:rPr lang="fr-CA"/>
              <a:t>use</a:t>
            </a:r>
            <a:r>
              <a:rPr lang="fr-CA">
                <a:solidFill>
                  <a:srgbClr val="D6DEEB"/>
                </a:solidFill>
              </a:rPr>
              <a:t>(</a:t>
            </a:r>
            <a:r>
              <a:rPr lang="fr-CA">
                <a:solidFill>
                  <a:srgbClr val="D9F5DD"/>
                </a:solidFill>
              </a:rPr>
              <a:t>'</a:t>
            </a:r>
            <a:r>
              <a:rPr lang="fr-CA">
                <a:solidFill>
                  <a:srgbClr val="ECC48D"/>
                </a:solidFill>
              </a:rPr>
              <a:t>/user/:id</a:t>
            </a:r>
            <a:r>
              <a:rPr lang="fr-CA">
                <a:solidFill>
                  <a:srgbClr val="D9F5DD"/>
                </a:solidFill>
              </a:rPr>
              <a:t>'</a:t>
            </a:r>
            <a:r>
              <a:rPr lang="fr-CA">
                <a:solidFill>
                  <a:srgbClr val="D6DEEB"/>
                </a:solidFill>
              </a:rPr>
              <a:t>, </a:t>
            </a:r>
            <a:r>
              <a:rPr lang="fr-CA">
                <a:solidFill>
                  <a:srgbClr val="D9F5DD"/>
                </a:solidFill>
              </a:rPr>
              <a:t>(</a:t>
            </a:r>
            <a:r>
              <a:rPr lang="fr-CA">
                <a:solidFill>
                  <a:srgbClr val="D7DBE0"/>
                </a:solidFill>
              </a:rPr>
              <a:t>req</a:t>
            </a:r>
            <a:r>
              <a:rPr lang="fr-CA">
                <a:solidFill>
                  <a:srgbClr val="D6DEEB"/>
                </a:solidFill>
              </a:rPr>
              <a:t>, </a:t>
            </a:r>
            <a:r>
              <a:rPr lang="fr-CA">
                <a:solidFill>
                  <a:srgbClr val="D7DBE0"/>
                </a:solidFill>
              </a:rPr>
              <a:t>res</a:t>
            </a:r>
            <a:r>
              <a:rPr lang="fr-CA">
                <a:solidFill>
                  <a:srgbClr val="D6DEEB"/>
                </a:solidFill>
              </a:rPr>
              <a:t>, </a:t>
            </a:r>
            <a:r>
              <a:rPr lang="fr-CA">
                <a:solidFill>
                  <a:srgbClr val="D7DBE0"/>
                </a:solidFill>
              </a:rPr>
              <a:t>next</a:t>
            </a:r>
            <a:r>
              <a:rPr lang="fr-CA">
                <a:solidFill>
                  <a:srgbClr val="D9F5DD"/>
                </a:solidFill>
              </a:rPr>
              <a:t>)</a:t>
            </a:r>
            <a:r>
              <a:rPr lang="fr-CA">
                <a:solidFill>
                  <a:srgbClr val="D6DEEB"/>
                </a:solidFill>
              </a:rPr>
              <a:t> </a:t>
            </a:r>
            <a:r>
              <a:rPr lang="fr-CA"/>
              <a:t>=&gt;</a:t>
            </a:r>
            <a:r>
              <a:rPr lang="fr-CA">
                <a:solidFill>
                  <a:srgbClr val="D6DEEB"/>
                </a:solidFill>
              </a:rPr>
              <a:t> {</a:t>
            </a:r>
          </a:p>
          <a:p>
            <a:r>
              <a:rPr lang="fr-CA">
                <a:solidFill>
                  <a:srgbClr val="D6DEEB"/>
                </a:solidFill>
              </a:rPr>
              <a:t>  console</a:t>
            </a:r>
            <a:r>
              <a:rPr lang="fr-CA" i="1">
                <a:solidFill>
                  <a:srgbClr val="C792EA"/>
                </a:solidFill>
              </a:rPr>
              <a:t>.</a:t>
            </a:r>
            <a:r>
              <a:rPr lang="fr-CA"/>
              <a:t>log</a:t>
            </a:r>
            <a:r>
              <a:rPr lang="fr-CA">
                <a:solidFill>
                  <a:srgbClr val="D6DEEB"/>
                </a:solidFill>
              </a:rPr>
              <a:t>(</a:t>
            </a:r>
            <a:r>
              <a:rPr lang="fr-CA">
                <a:solidFill>
                  <a:srgbClr val="D9F5DD"/>
                </a:solidFill>
              </a:rPr>
              <a:t>'</a:t>
            </a:r>
            <a:r>
              <a:rPr lang="fr-CA">
                <a:solidFill>
                  <a:srgbClr val="ECC48D"/>
                </a:solidFill>
              </a:rPr>
              <a:t>Request Type:</a:t>
            </a:r>
            <a:r>
              <a:rPr lang="fr-CA">
                <a:solidFill>
                  <a:srgbClr val="D9F5DD"/>
                </a:solidFill>
              </a:rPr>
              <a:t>'</a:t>
            </a:r>
            <a:r>
              <a:rPr lang="fr-CA">
                <a:solidFill>
                  <a:srgbClr val="D6DEEB"/>
                </a:solidFill>
              </a:rPr>
              <a:t>, req</a:t>
            </a:r>
            <a:r>
              <a:rPr lang="fr-CA" i="1">
                <a:solidFill>
                  <a:srgbClr val="C792EA"/>
                </a:solidFill>
              </a:rPr>
              <a:t>.</a:t>
            </a:r>
            <a:r>
              <a:rPr lang="fr-CA">
                <a:solidFill>
                  <a:srgbClr val="7FDBCA"/>
                </a:solidFill>
              </a:rPr>
              <a:t>method</a:t>
            </a:r>
            <a:r>
              <a:rPr lang="fr-CA">
                <a:solidFill>
                  <a:srgbClr val="D6DEEB"/>
                </a:solidFill>
              </a:rPr>
              <a:t>)</a:t>
            </a:r>
          </a:p>
          <a:p>
            <a:r>
              <a:rPr lang="fr-CA">
                <a:solidFill>
                  <a:srgbClr val="D6DEEB"/>
                </a:solidFill>
              </a:rPr>
              <a:t>  </a:t>
            </a:r>
            <a:r>
              <a:rPr lang="fr-CA"/>
              <a:t>next</a:t>
            </a:r>
            <a:r>
              <a:rPr lang="fr-CA">
                <a:solidFill>
                  <a:srgbClr val="D6DEEB"/>
                </a:solidFill>
              </a:rPr>
              <a:t>()</a:t>
            </a:r>
          </a:p>
          <a:p>
            <a:r>
              <a:rPr lang="fr-CA">
                <a:solidFill>
                  <a:srgbClr val="D6DEEB"/>
                </a:solidFill>
              </a:rPr>
              <a:t>})</a:t>
            </a:r>
          </a:p>
        </p:txBody>
      </p:sp>
      <p:sp>
        <p:nvSpPr>
          <p:cNvPr id="9" name="TextBox 8"/>
          <p:cNvSpPr txBox="1"/>
          <p:nvPr/>
        </p:nvSpPr>
        <p:spPr>
          <a:xfrm>
            <a:off x="2246811" y="3053804"/>
            <a:ext cx="2682240" cy="338554"/>
          </a:xfrm>
          <a:prstGeom prst="rect">
            <a:avLst/>
          </a:prstGeom>
          <a:noFill/>
        </p:spPr>
        <p:txBody>
          <a:bodyPr wrap="square" rtlCol="0">
            <a:spAutoFit/>
          </a:bodyPr>
          <a:lstStyle/>
          <a:p>
            <a:r>
              <a:rPr lang="fr-CA" sz="1600">
                <a:ln w="0"/>
                <a:solidFill>
                  <a:schemeClr val="accent1"/>
                </a:solidFill>
              </a:rPr>
              <a:t>Exemple</a:t>
            </a:r>
          </a:p>
        </p:txBody>
      </p:sp>
    </p:spTree>
    <p:extLst>
      <p:ext uri="{BB962C8B-B14F-4D97-AF65-F5344CB8AC3E}">
        <p14:creationId xmlns:p14="http://schemas.microsoft.com/office/powerpoint/2010/main" val="50058315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6" grpId="0"/>
      <p:bldP spid="8" grpId="0" animBg="1"/>
      <p:bldP spid="9" grpId="0"/>
    </p:bldLst>
  </p:timing>
</p:sld>
</file>

<file path=ppt/slides/slide4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Les middlewares </a:t>
            </a:r>
          </a:p>
        </p:txBody>
      </p:sp>
      <p:sp>
        <p:nvSpPr>
          <p:cNvPr id="3" name="TextBox 2"/>
          <p:cNvSpPr txBox="1"/>
          <p:nvPr/>
        </p:nvSpPr>
        <p:spPr>
          <a:xfrm>
            <a:off x="2168433" y="1255555"/>
            <a:ext cx="3744686"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Types des middlewares</a:t>
            </a:r>
          </a:p>
        </p:txBody>
      </p:sp>
      <p:sp>
        <p:nvSpPr>
          <p:cNvPr id="7" name="TextBox 6"/>
          <p:cNvSpPr txBox="1"/>
          <p:nvPr/>
        </p:nvSpPr>
        <p:spPr>
          <a:xfrm>
            <a:off x="2168433" y="1643093"/>
            <a:ext cx="3997236" cy="338554"/>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sz="1600"/>
              <a:t>Application level middleware (tp04.js)</a:t>
            </a:r>
          </a:p>
        </p:txBody>
      </p:sp>
      <p:sp>
        <p:nvSpPr>
          <p:cNvPr id="6" name="TextBox 5"/>
          <p:cNvSpPr txBox="1"/>
          <p:nvPr/>
        </p:nvSpPr>
        <p:spPr>
          <a:xfrm>
            <a:off x="2246811" y="2194560"/>
            <a:ext cx="8055429" cy="923330"/>
          </a:xfrm>
          <a:prstGeom prst="rect">
            <a:avLst/>
          </a:prstGeom>
          <a:noFill/>
        </p:spPr>
        <p:txBody>
          <a:bodyPr wrap="square" lIns="91440" tIns="45720" rIns="91440" bIns="45720" rtlCol="0" anchor="t">
            <a:spAutoFit/>
          </a:bodyPr>
          <a:lstStyle/>
          <a:p>
            <a:r>
              <a:rPr lang="fr-CA"/>
              <a:t>Nous allons créer deux endpoint (‘/’ et ‘/users’) avec deux middlewares un loger globale et un auth qui sert à proteger le endpoint(‘/users’) seulement pour les admin. </a:t>
            </a:r>
          </a:p>
        </p:txBody>
      </p:sp>
      <p:sp>
        <p:nvSpPr>
          <p:cNvPr id="8" name="TextBox 7"/>
          <p:cNvSpPr txBox="1"/>
          <p:nvPr/>
        </p:nvSpPr>
        <p:spPr>
          <a:xfrm>
            <a:off x="2246811" y="3518265"/>
            <a:ext cx="8551818" cy="2862322"/>
          </a:xfrm>
          <a:prstGeom prst="rect">
            <a:avLst/>
          </a:prstGeom>
          <a:solidFill>
            <a:schemeClr val="tx2">
              <a:lumMod val="50000"/>
            </a:schemeClr>
          </a:solidFill>
        </p:spPr>
        <p:txBody>
          <a:bodyPr wrap="square" rtlCol="0">
            <a:spAutoFit/>
          </a:bodyPr>
          <a:lstStyle>
            <a:defPPr>
              <a:defRPr lang="fr-FR"/>
            </a:defPPr>
            <a:lvl1pPr>
              <a:defRPr>
                <a:solidFill>
                  <a:srgbClr val="82AAFF"/>
                </a:solidFill>
                <a:latin typeface="Consolas" panose="020B0609020204030204" pitchFamily="49" charset="0"/>
              </a:defRPr>
            </a:lvl1pPr>
          </a:lstStyle>
          <a:p>
            <a:r>
              <a:rPr lang="fr-CA"/>
              <a:t>const</a:t>
            </a:r>
            <a:r>
              <a:rPr lang="fr-CA" i="1">
                <a:solidFill>
                  <a:srgbClr val="C792EA"/>
                </a:solidFill>
              </a:rPr>
              <a:t> </a:t>
            </a:r>
            <a:r>
              <a:rPr lang="fr-CA" i="1"/>
              <a:t>express</a:t>
            </a:r>
            <a:r>
              <a:rPr lang="fr-CA" i="1">
                <a:solidFill>
                  <a:srgbClr val="C792EA"/>
                </a:solidFill>
              </a:rPr>
              <a:t> </a:t>
            </a:r>
            <a:r>
              <a:rPr lang="fr-CA">
                <a:solidFill>
                  <a:srgbClr val="C792EA"/>
                </a:solidFill>
              </a:rPr>
              <a:t>=</a:t>
            </a:r>
            <a:r>
              <a:rPr lang="fr-CA" i="1">
                <a:solidFill>
                  <a:srgbClr val="C792EA"/>
                </a:solidFill>
              </a:rPr>
              <a:t> </a:t>
            </a:r>
            <a:r>
              <a:rPr lang="fr-CA"/>
              <a:t>require</a:t>
            </a:r>
            <a:r>
              <a:rPr lang="fr-CA">
                <a:solidFill>
                  <a:srgbClr val="D6DEEB"/>
                </a:solidFill>
              </a:rPr>
              <a:t>(</a:t>
            </a:r>
            <a:r>
              <a:rPr lang="fr-CA">
                <a:solidFill>
                  <a:srgbClr val="D9F5DD"/>
                </a:solidFill>
              </a:rPr>
              <a:t>'</a:t>
            </a:r>
            <a:r>
              <a:rPr lang="fr-CA">
                <a:solidFill>
                  <a:srgbClr val="ECC48D"/>
                </a:solidFill>
              </a:rPr>
              <a:t>express</a:t>
            </a:r>
            <a:r>
              <a:rPr lang="fr-CA">
                <a:solidFill>
                  <a:srgbClr val="D9F5DD"/>
                </a:solidFill>
              </a:rPr>
              <a:t>'</a:t>
            </a:r>
            <a:r>
              <a:rPr lang="fr-CA">
                <a:solidFill>
                  <a:srgbClr val="D6DEEB"/>
                </a:solidFill>
              </a:rPr>
              <a:t>)</a:t>
            </a:r>
          </a:p>
          <a:p>
            <a:r>
              <a:rPr lang="fr-CA"/>
              <a:t>const</a:t>
            </a:r>
            <a:r>
              <a:rPr lang="fr-CA" i="1">
                <a:solidFill>
                  <a:srgbClr val="C792EA"/>
                </a:solidFill>
              </a:rPr>
              <a:t> </a:t>
            </a:r>
            <a:r>
              <a:rPr lang="fr-CA" i="1"/>
              <a:t>app</a:t>
            </a:r>
            <a:r>
              <a:rPr lang="fr-CA" i="1">
                <a:solidFill>
                  <a:srgbClr val="C792EA"/>
                </a:solidFill>
              </a:rPr>
              <a:t> </a:t>
            </a:r>
            <a:r>
              <a:rPr lang="fr-CA">
                <a:solidFill>
                  <a:srgbClr val="C792EA"/>
                </a:solidFill>
              </a:rPr>
              <a:t>=</a:t>
            </a:r>
            <a:r>
              <a:rPr lang="fr-CA" i="1">
                <a:solidFill>
                  <a:srgbClr val="C792EA"/>
                </a:solidFill>
              </a:rPr>
              <a:t> </a:t>
            </a:r>
            <a:r>
              <a:rPr lang="fr-CA"/>
              <a:t>express</a:t>
            </a:r>
            <a:r>
              <a:rPr lang="fr-CA">
                <a:solidFill>
                  <a:srgbClr val="D6DEEB"/>
                </a:solidFill>
              </a:rPr>
              <a:t>()</a:t>
            </a:r>
          </a:p>
          <a:p>
            <a:r>
              <a:rPr lang="fr-CA"/>
              <a:t>const</a:t>
            </a:r>
            <a:r>
              <a:rPr lang="fr-CA" i="1">
                <a:solidFill>
                  <a:srgbClr val="C792EA"/>
                </a:solidFill>
              </a:rPr>
              <a:t> </a:t>
            </a:r>
            <a:r>
              <a:rPr lang="fr-CA" i="1"/>
              <a:t>port</a:t>
            </a:r>
            <a:r>
              <a:rPr lang="fr-CA" i="1">
                <a:solidFill>
                  <a:srgbClr val="C792EA"/>
                </a:solidFill>
              </a:rPr>
              <a:t> </a:t>
            </a:r>
            <a:r>
              <a:rPr lang="fr-CA">
                <a:solidFill>
                  <a:srgbClr val="C792EA"/>
                </a:solidFill>
              </a:rPr>
              <a:t>=</a:t>
            </a:r>
            <a:r>
              <a:rPr lang="fr-CA" i="1">
                <a:solidFill>
                  <a:srgbClr val="C792EA"/>
                </a:solidFill>
              </a:rPr>
              <a:t> </a:t>
            </a:r>
            <a:r>
              <a:rPr lang="fr-CA">
                <a:solidFill>
                  <a:srgbClr val="F78C6C"/>
                </a:solidFill>
              </a:rPr>
              <a:t>3000</a:t>
            </a:r>
            <a:endParaRPr lang="fr-CA">
              <a:solidFill>
                <a:srgbClr val="D6DEEB"/>
              </a:solidFill>
            </a:endParaRPr>
          </a:p>
          <a:p>
            <a:br>
              <a:rPr lang="fr-CA">
                <a:solidFill>
                  <a:srgbClr val="D6DEEB"/>
                </a:solidFill>
              </a:rPr>
            </a:br>
            <a:r>
              <a:rPr lang="fr-CA">
                <a:solidFill>
                  <a:srgbClr val="D6DEEB"/>
                </a:solidFill>
              </a:rPr>
              <a:t>app</a:t>
            </a:r>
            <a:r>
              <a:rPr lang="fr-CA" i="1">
                <a:solidFill>
                  <a:srgbClr val="C792EA"/>
                </a:solidFill>
              </a:rPr>
              <a:t>.</a:t>
            </a:r>
            <a:r>
              <a:rPr lang="fr-CA"/>
              <a:t>use</a:t>
            </a:r>
            <a:r>
              <a:rPr lang="fr-CA">
                <a:solidFill>
                  <a:srgbClr val="D6DEEB"/>
                </a:solidFill>
              </a:rPr>
              <a:t>(</a:t>
            </a:r>
            <a:r>
              <a:rPr lang="fr-CA">
                <a:solidFill>
                  <a:srgbClr val="D7DBE0"/>
                </a:solidFill>
              </a:rPr>
              <a:t>logger</a:t>
            </a:r>
            <a:r>
              <a:rPr lang="fr-CA">
                <a:solidFill>
                  <a:srgbClr val="D6DEEB"/>
                </a:solidFill>
              </a:rPr>
              <a:t>)  </a:t>
            </a:r>
          </a:p>
          <a:p>
            <a:br>
              <a:rPr lang="fr-CA">
                <a:solidFill>
                  <a:srgbClr val="D6DEEB"/>
                </a:solidFill>
              </a:rPr>
            </a:br>
            <a:r>
              <a:rPr lang="fr-CA">
                <a:solidFill>
                  <a:srgbClr val="D6DEEB"/>
                </a:solidFill>
              </a:rPr>
              <a:t>app</a:t>
            </a:r>
            <a:r>
              <a:rPr lang="fr-CA" i="1">
                <a:solidFill>
                  <a:srgbClr val="C792EA"/>
                </a:solidFill>
              </a:rPr>
              <a:t>.</a:t>
            </a:r>
            <a:r>
              <a:rPr lang="fr-CA"/>
              <a:t>get</a:t>
            </a:r>
            <a:r>
              <a:rPr lang="fr-CA">
                <a:solidFill>
                  <a:srgbClr val="D6DEEB"/>
                </a:solidFill>
              </a:rPr>
              <a:t>(</a:t>
            </a:r>
            <a:r>
              <a:rPr lang="fr-CA">
                <a:solidFill>
                  <a:srgbClr val="D9F5DD"/>
                </a:solidFill>
              </a:rPr>
              <a:t>'</a:t>
            </a:r>
            <a:r>
              <a:rPr lang="fr-CA">
                <a:solidFill>
                  <a:srgbClr val="ECC48D"/>
                </a:solidFill>
              </a:rPr>
              <a:t>/</a:t>
            </a:r>
            <a:r>
              <a:rPr lang="fr-CA">
                <a:solidFill>
                  <a:srgbClr val="D9F5DD"/>
                </a:solidFill>
              </a:rPr>
              <a:t>'</a:t>
            </a:r>
            <a:r>
              <a:rPr lang="fr-CA">
                <a:solidFill>
                  <a:srgbClr val="D6DEEB"/>
                </a:solidFill>
              </a:rPr>
              <a:t>, </a:t>
            </a:r>
            <a:r>
              <a:rPr lang="fr-CA">
                <a:solidFill>
                  <a:srgbClr val="D9F5DD"/>
                </a:solidFill>
              </a:rPr>
              <a:t>(</a:t>
            </a:r>
            <a:r>
              <a:rPr lang="fr-CA">
                <a:solidFill>
                  <a:srgbClr val="D7DBE0"/>
                </a:solidFill>
              </a:rPr>
              <a:t>req</a:t>
            </a:r>
            <a:r>
              <a:rPr lang="fr-CA">
                <a:solidFill>
                  <a:srgbClr val="D6DEEB"/>
                </a:solidFill>
              </a:rPr>
              <a:t>, </a:t>
            </a:r>
            <a:r>
              <a:rPr lang="fr-CA">
                <a:solidFill>
                  <a:srgbClr val="D7DBE0"/>
                </a:solidFill>
              </a:rPr>
              <a:t>res</a:t>
            </a:r>
            <a:r>
              <a:rPr lang="fr-CA">
                <a:solidFill>
                  <a:srgbClr val="D6DEEB"/>
                </a:solidFill>
              </a:rPr>
              <a:t>, </a:t>
            </a:r>
            <a:r>
              <a:rPr lang="fr-CA">
                <a:solidFill>
                  <a:srgbClr val="D7DBE0"/>
                </a:solidFill>
              </a:rPr>
              <a:t>next</a:t>
            </a:r>
            <a:r>
              <a:rPr lang="fr-CA">
                <a:solidFill>
                  <a:srgbClr val="D9F5DD"/>
                </a:solidFill>
              </a:rPr>
              <a:t>)</a:t>
            </a:r>
            <a:r>
              <a:rPr lang="fr-CA">
                <a:solidFill>
                  <a:srgbClr val="D6DEEB"/>
                </a:solidFill>
              </a:rPr>
              <a:t> </a:t>
            </a:r>
            <a:r>
              <a:rPr lang="fr-CA"/>
              <a:t>=&gt;</a:t>
            </a:r>
            <a:r>
              <a:rPr lang="fr-CA">
                <a:solidFill>
                  <a:srgbClr val="D6DEEB"/>
                </a:solidFill>
              </a:rPr>
              <a:t> {</a:t>
            </a:r>
          </a:p>
          <a:p>
            <a:r>
              <a:rPr lang="fr-CA">
                <a:solidFill>
                  <a:srgbClr val="D6DEEB"/>
                </a:solidFill>
              </a:rPr>
              <a:t>    console</a:t>
            </a:r>
            <a:r>
              <a:rPr lang="fr-CA" i="1">
                <a:solidFill>
                  <a:srgbClr val="C792EA"/>
                </a:solidFill>
              </a:rPr>
              <a:t>.</a:t>
            </a:r>
            <a:r>
              <a:rPr lang="fr-CA"/>
              <a:t>log</a:t>
            </a:r>
            <a:r>
              <a:rPr lang="fr-CA">
                <a:solidFill>
                  <a:srgbClr val="D6DEEB"/>
                </a:solidFill>
              </a:rPr>
              <a:t>(</a:t>
            </a:r>
            <a:r>
              <a:rPr lang="fr-CA">
                <a:solidFill>
                  <a:srgbClr val="D9F5DD"/>
                </a:solidFill>
              </a:rPr>
              <a:t>'</a:t>
            </a:r>
            <a:r>
              <a:rPr lang="fr-CA">
                <a:solidFill>
                  <a:srgbClr val="ECC48D"/>
                </a:solidFill>
              </a:rPr>
              <a:t>Got get to root path</a:t>
            </a:r>
            <a:r>
              <a:rPr lang="fr-CA">
                <a:solidFill>
                  <a:srgbClr val="D9F5DD"/>
                </a:solidFill>
              </a:rPr>
              <a:t>'</a:t>
            </a:r>
            <a:r>
              <a:rPr lang="fr-CA">
                <a:solidFill>
                  <a:srgbClr val="D6DEEB"/>
                </a:solidFill>
              </a:rPr>
              <a:t>)</a:t>
            </a:r>
          </a:p>
          <a:p>
            <a:r>
              <a:rPr lang="fr-CA">
                <a:solidFill>
                  <a:srgbClr val="D6DEEB"/>
                </a:solidFill>
              </a:rPr>
              <a:t>    res</a:t>
            </a:r>
            <a:r>
              <a:rPr lang="fr-CA" i="1">
                <a:solidFill>
                  <a:srgbClr val="C792EA"/>
                </a:solidFill>
              </a:rPr>
              <a:t>.</a:t>
            </a:r>
            <a:r>
              <a:rPr lang="fr-CA"/>
              <a:t>send</a:t>
            </a:r>
            <a:r>
              <a:rPr lang="fr-CA">
                <a:solidFill>
                  <a:srgbClr val="D6DEEB"/>
                </a:solidFill>
              </a:rPr>
              <a:t>(</a:t>
            </a:r>
            <a:r>
              <a:rPr lang="fr-CA">
                <a:solidFill>
                  <a:srgbClr val="D9F5DD"/>
                </a:solidFill>
              </a:rPr>
              <a:t>'</a:t>
            </a:r>
            <a:r>
              <a:rPr lang="fr-CA">
                <a:solidFill>
                  <a:srgbClr val="ECC48D"/>
                </a:solidFill>
              </a:rPr>
              <a:t>Got get to root path</a:t>
            </a:r>
            <a:r>
              <a:rPr lang="fr-CA">
                <a:solidFill>
                  <a:srgbClr val="D9F5DD"/>
                </a:solidFill>
              </a:rPr>
              <a:t>'</a:t>
            </a:r>
            <a:r>
              <a:rPr lang="fr-CA">
                <a:solidFill>
                  <a:srgbClr val="D6DEEB"/>
                </a:solidFill>
              </a:rPr>
              <a:t>)</a:t>
            </a:r>
          </a:p>
          <a:p>
            <a:r>
              <a:rPr lang="fr-CA">
                <a:solidFill>
                  <a:srgbClr val="D6DEEB"/>
                </a:solidFill>
              </a:rPr>
              <a:t>})</a:t>
            </a:r>
          </a:p>
        </p:txBody>
      </p:sp>
      <p:sp>
        <p:nvSpPr>
          <p:cNvPr id="9" name="TextBox 8"/>
          <p:cNvSpPr txBox="1"/>
          <p:nvPr/>
        </p:nvSpPr>
        <p:spPr>
          <a:xfrm>
            <a:off x="2246811" y="3079931"/>
            <a:ext cx="2682240" cy="338554"/>
          </a:xfrm>
          <a:prstGeom prst="rect">
            <a:avLst/>
          </a:prstGeom>
          <a:noFill/>
        </p:spPr>
        <p:txBody>
          <a:bodyPr wrap="square" rtlCol="0">
            <a:spAutoFit/>
          </a:bodyPr>
          <a:lstStyle/>
          <a:p>
            <a:r>
              <a:rPr lang="fr-CA" sz="1600">
                <a:ln w="0"/>
                <a:solidFill>
                  <a:schemeClr val="accent1"/>
                </a:solidFill>
              </a:rPr>
              <a:t>tp04.js</a:t>
            </a:r>
          </a:p>
        </p:txBody>
      </p:sp>
    </p:spTree>
    <p:extLst>
      <p:ext uri="{BB962C8B-B14F-4D97-AF65-F5344CB8AC3E}">
        <p14:creationId xmlns:p14="http://schemas.microsoft.com/office/powerpoint/2010/main" val="89147949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6" grpId="0"/>
      <p:bldP spid="8" grpId="0" animBg="1"/>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Les middlewares </a:t>
            </a:r>
          </a:p>
        </p:txBody>
      </p:sp>
      <p:sp>
        <p:nvSpPr>
          <p:cNvPr id="3" name="TextBox 2"/>
          <p:cNvSpPr txBox="1"/>
          <p:nvPr/>
        </p:nvSpPr>
        <p:spPr>
          <a:xfrm>
            <a:off x="2168433" y="1255555"/>
            <a:ext cx="3744686"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Types des middlewares</a:t>
            </a:r>
          </a:p>
        </p:txBody>
      </p:sp>
      <p:sp>
        <p:nvSpPr>
          <p:cNvPr id="7" name="TextBox 6"/>
          <p:cNvSpPr txBox="1"/>
          <p:nvPr/>
        </p:nvSpPr>
        <p:spPr>
          <a:xfrm>
            <a:off x="2168433" y="1556006"/>
            <a:ext cx="3997236" cy="338554"/>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sz="1600"/>
              <a:t>Application level middleware (tp04.js)</a:t>
            </a:r>
          </a:p>
        </p:txBody>
      </p:sp>
      <p:sp>
        <p:nvSpPr>
          <p:cNvPr id="8" name="TextBox 7"/>
          <p:cNvSpPr txBox="1"/>
          <p:nvPr/>
        </p:nvSpPr>
        <p:spPr>
          <a:xfrm>
            <a:off x="2246811" y="1889755"/>
            <a:ext cx="8551818" cy="4801314"/>
          </a:xfrm>
          <a:prstGeom prst="rect">
            <a:avLst/>
          </a:prstGeom>
          <a:solidFill>
            <a:schemeClr val="tx2">
              <a:lumMod val="50000"/>
            </a:schemeClr>
          </a:solidFill>
        </p:spPr>
        <p:txBody>
          <a:bodyPr wrap="square" rtlCol="0">
            <a:spAutoFit/>
          </a:bodyPr>
          <a:lstStyle>
            <a:defPPr>
              <a:defRPr lang="fr-FR"/>
            </a:defPPr>
            <a:lvl1pPr>
              <a:defRPr>
                <a:solidFill>
                  <a:srgbClr val="82AAFF"/>
                </a:solidFill>
                <a:latin typeface="Consolas" panose="020B0609020204030204" pitchFamily="49" charset="0"/>
              </a:defRPr>
            </a:lvl1pPr>
          </a:lstStyle>
          <a:p>
            <a:r>
              <a:rPr lang="fr-CA">
                <a:solidFill>
                  <a:srgbClr val="D6DEEB"/>
                </a:solidFill>
              </a:rPr>
              <a:t>app</a:t>
            </a:r>
            <a:r>
              <a:rPr lang="fr-CA" i="1">
                <a:solidFill>
                  <a:srgbClr val="C792EA"/>
                </a:solidFill>
              </a:rPr>
              <a:t>.</a:t>
            </a:r>
            <a:r>
              <a:rPr lang="fr-CA"/>
              <a:t>get</a:t>
            </a:r>
            <a:r>
              <a:rPr lang="fr-CA">
                <a:solidFill>
                  <a:srgbClr val="D6DEEB"/>
                </a:solidFill>
              </a:rPr>
              <a:t>(</a:t>
            </a:r>
            <a:r>
              <a:rPr lang="fr-CA">
                <a:solidFill>
                  <a:srgbClr val="D9F5DD"/>
                </a:solidFill>
              </a:rPr>
              <a:t>'</a:t>
            </a:r>
            <a:r>
              <a:rPr lang="fr-CA">
                <a:solidFill>
                  <a:srgbClr val="ECC48D"/>
                </a:solidFill>
              </a:rPr>
              <a:t>/users</a:t>
            </a:r>
            <a:r>
              <a:rPr lang="fr-CA">
                <a:solidFill>
                  <a:srgbClr val="D9F5DD"/>
                </a:solidFill>
              </a:rPr>
              <a:t>'</a:t>
            </a:r>
            <a:r>
              <a:rPr lang="fr-CA">
                <a:solidFill>
                  <a:srgbClr val="D6DEEB"/>
                </a:solidFill>
              </a:rPr>
              <a:t>, </a:t>
            </a:r>
            <a:r>
              <a:rPr lang="fr-CA">
                <a:solidFill>
                  <a:srgbClr val="D7DBE0"/>
                </a:solidFill>
              </a:rPr>
              <a:t>auth</a:t>
            </a:r>
            <a:r>
              <a:rPr lang="fr-CA">
                <a:solidFill>
                  <a:srgbClr val="D6DEEB"/>
                </a:solidFill>
              </a:rPr>
              <a:t>, </a:t>
            </a:r>
            <a:r>
              <a:rPr lang="fr-CA">
                <a:solidFill>
                  <a:srgbClr val="D9F5DD"/>
                </a:solidFill>
              </a:rPr>
              <a:t>(</a:t>
            </a:r>
            <a:r>
              <a:rPr lang="fr-CA">
                <a:solidFill>
                  <a:srgbClr val="D7DBE0"/>
                </a:solidFill>
              </a:rPr>
              <a:t>req</a:t>
            </a:r>
            <a:r>
              <a:rPr lang="fr-CA">
                <a:solidFill>
                  <a:srgbClr val="D6DEEB"/>
                </a:solidFill>
              </a:rPr>
              <a:t>, </a:t>
            </a:r>
            <a:r>
              <a:rPr lang="fr-CA">
                <a:solidFill>
                  <a:srgbClr val="D7DBE0"/>
                </a:solidFill>
              </a:rPr>
              <a:t>res</a:t>
            </a:r>
            <a:r>
              <a:rPr lang="fr-CA">
                <a:solidFill>
                  <a:srgbClr val="D9F5DD"/>
                </a:solidFill>
              </a:rPr>
              <a:t>)</a:t>
            </a:r>
            <a:r>
              <a:rPr lang="fr-CA">
                <a:solidFill>
                  <a:srgbClr val="D6DEEB"/>
                </a:solidFill>
              </a:rPr>
              <a:t> </a:t>
            </a:r>
            <a:r>
              <a:rPr lang="fr-CA"/>
              <a:t>=&gt;</a:t>
            </a:r>
            <a:r>
              <a:rPr lang="fr-CA">
                <a:solidFill>
                  <a:srgbClr val="D6DEEB"/>
                </a:solidFill>
              </a:rPr>
              <a:t> {</a:t>
            </a:r>
          </a:p>
          <a:p>
            <a:r>
              <a:rPr lang="fr-CA">
                <a:solidFill>
                  <a:srgbClr val="D6DEEB"/>
                </a:solidFill>
              </a:rPr>
              <a:t>    console</a:t>
            </a:r>
            <a:r>
              <a:rPr lang="fr-CA" i="1">
                <a:solidFill>
                  <a:srgbClr val="C792EA"/>
                </a:solidFill>
              </a:rPr>
              <a:t>.</a:t>
            </a:r>
            <a:r>
              <a:rPr lang="fr-CA"/>
              <a:t>log</a:t>
            </a:r>
            <a:r>
              <a:rPr lang="fr-CA">
                <a:solidFill>
                  <a:srgbClr val="D6DEEB"/>
                </a:solidFill>
              </a:rPr>
              <a:t>(</a:t>
            </a:r>
            <a:r>
              <a:rPr lang="fr-CA">
                <a:solidFill>
                  <a:srgbClr val="D9F5DD"/>
                </a:solidFill>
              </a:rPr>
              <a:t>'</a:t>
            </a:r>
            <a:r>
              <a:rPr lang="fr-CA">
                <a:solidFill>
                  <a:srgbClr val="ECC48D"/>
                </a:solidFill>
              </a:rPr>
              <a:t>Got get to /users</a:t>
            </a:r>
            <a:r>
              <a:rPr lang="fr-CA">
                <a:solidFill>
                  <a:srgbClr val="D9F5DD"/>
                </a:solidFill>
              </a:rPr>
              <a:t>'</a:t>
            </a:r>
            <a:r>
              <a:rPr lang="fr-CA">
                <a:solidFill>
                  <a:srgbClr val="D6DEEB"/>
                </a:solidFill>
              </a:rPr>
              <a:t>)</a:t>
            </a:r>
          </a:p>
          <a:p>
            <a:r>
              <a:rPr lang="fr-CA">
                <a:solidFill>
                  <a:srgbClr val="D6DEEB"/>
                </a:solidFill>
              </a:rPr>
              <a:t>    res</a:t>
            </a:r>
            <a:r>
              <a:rPr lang="fr-CA" i="1">
                <a:solidFill>
                  <a:srgbClr val="C792EA"/>
                </a:solidFill>
              </a:rPr>
              <a:t>.</a:t>
            </a:r>
            <a:r>
              <a:rPr lang="fr-CA"/>
              <a:t>send</a:t>
            </a:r>
            <a:r>
              <a:rPr lang="fr-CA">
                <a:solidFill>
                  <a:srgbClr val="D6DEEB"/>
                </a:solidFill>
              </a:rPr>
              <a:t>(</a:t>
            </a:r>
            <a:r>
              <a:rPr lang="fr-CA">
                <a:solidFill>
                  <a:srgbClr val="D9F5DD"/>
                </a:solidFill>
              </a:rPr>
              <a:t>'</a:t>
            </a:r>
            <a:r>
              <a:rPr lang="fr-CA">
                <a:solidFill>
                  <a:srgbClr val="ECC48D"/>
                </a:solidFill>
              </a:rPr>
              <a:t>Got get to /users</a:t>
            </a:r>
            <a:r>
              <a:rPr lang="fr-CA">
                <a:solidFill>
                  <a:srgbClr val="D9F5DD"/>
                </a:solidFill>
              </a:rPr>
              <a:t>'</a:t>
            </a:r>
            <a:r>
              <a:rPr lang="fr-CA">
                <a:solidFill>
                  <a:srgbClr val="D6DEEB"/>
                </a:solidFill>
              </a:rPr>
              <a:t>)</a:t>
            </a:r>
          </a:p>
          <a:p>
            <a:r>
              <a:rPr lang="fr-CA">
                <a:solidFill>
                  <a:srgbClr val="D6DEEB"/>
                </a:solidFill>
              </a:rPr>
              <a:t>  })</a:t>
            </a:r>
            <a:br>
              <a:rPr lang="fr-CA">
                <a:solidFill>
                  <a:srgbClr val="D6DEEB"/>
                </a:solidFill>
              </a:rPr>
            </a:br>
            <a:r>
              <a:rPr lang="fr-CA"/>
              <a:t>function</a:t>
            </a:r>
            <a:r>
              <a:rPr lang="fr-CA">
                <a:solidFill>
                  <a:srgbClr val="D6DEEB"/>
                </a:solidFill>
              </a:rPr>
              <a:t> </a:t>
            </a:r>
            <a:r>
              <a:rPr lang="fr-CA"/>
              <a:t>logger</a:t>
            </a:r>
            <a:r>
              <a:rPr lang="fr-CA">
                <a:solidFill>
                  <a:srgbClr val="D9F5DD"/>
                </a:solidFill>
              </a:rPr>
              <a:t>(</a:t>
            </a:r>
            <a:r>
              <a:rPr lang="fr-CA">
                <a:solidFill>
                  <a:srgbClr val="D7DBE0"/>
                </a:solidFill>
              </a:rPr>
              <a:t>req</a:t>
            </a:r>
            <a:r>
              <a:rPr lang="fr-CA">
                <a:solidFill>
                  <a:srgbClr val="D6DEEB"/>
                </a:solidFill>
              </a:rPr>
              <a:t>, </a:t>
            </a:r>
            <a:r>
              <a:rPr lang="fr-CA">
                <a:solidFill>
                  <a:srgbClr val="D7DBE0"/>
                </a:solidFill>
              </a:rPr>
              <a:t>res</a:t>
            </a:r>
            <a:r>
              <a:rPr lang="fr-CA">
                <a:solidFill>
                  <a:srgbClr val="D6DEEB"/>
                </a:solidFill>
              </a:rPr>
              <a:t>, </a:t>
            </a:r>
            <a:r>
              <a:rPr lang="fr-CA">
                <a:solidFill>
                  <a:srgbClr val="D7DBE0"/>
                </a:solidFill>
              </a:rPr>
              <a:t>next</a:t>
            </a:r>
            <a:r>
              <a:rPr lang="fr-CA">
                <a:solidFill>
                  <a:srgbClr val="D9F5DD"/>
                </a:solidFill>
              </a:rPr>
              <a:t>)</a:t>
            </a:r>
            <a:r>
              <a:rPr lang="fr-CA">
                <a:solidFill>
                  <a:srgbClr val="D6DEEB"/>
                </a:solidFill>
              </a:rPr>
              <a:t>{</a:t>
            </a:r>
          </a:p>
          <a:p>
            <a:r>
              <a:rPr lang="fr-CA">
                <a:solidFill>
                  <a:srgbClr val="D6DEEB"/>
                </a:solidFill>
              </a:rPr>
              <a:t>    console</a:t>
            </a:r>
            <a:r>
              <a:rPr lang="fr-CA" i="1">
                <a:solidFill>
                  <a:srgbClr val="C792EA"/>
                </a:solidFill>
              </a:rPr>
              <a:t>.</a:t>
            </a:r>
            <a:r>
              <a:rPr lang="fr-CA"/>
              <a:t>log</a:t>
            </a:r>
            <a:r>
              <a:rPr lang="fr-CA">
                <a:solidFill>
                  <a:srgbClr val="D6DEEB"/>
                </a:solidFill>
              </a:rPr>
              <a:t>(</a:t>
            </a:r>
            <a:r>
              <a:rPr lang="fr-CA">
                <a:solidFill>
                  <a:srgbClr val="D9F5DD"/>
                </a:solidFill>
              </a:rPr>
              <a:t>"</a:t>
            </a:r>
            <a:r>
              <a:rPr lang="fr-CA">
                <a:solidFill>
                  <a:srgbClr val="ECC48D"/>
                </a:solidFill>
              </a:rPr>
              <a:t>Inside logger</a:t>
            </a:r>
            <a:r>
              <a:rPr lang="fr-CA">
                <a:solidFill>
                  <a:srgbClr val="D9F5DD"/>
                </a:solidFill>
              </a:rPr>
              <a:t>"</a:t>
            </a:r>
            <a:r>
              <a:rPr lang="fr-CA">
                <a:solidFill>
                  <a:srgbClr val="D6DEEB"/>
                </a:solidFill>
              </a:rPr>
              <a:t>)</a:t>
            </a:r>
          </a:p>
          <a:p>
            <a:r>
              <a:rPr lang="fr-CA">
                <a:solidFill>
                  <a:srgbClr val="D6DEEB"/>
                </a:solidFill>
              </a:rPr>
              <a:t>    </a:t>
            </a:r>
            <a:r>
              <a:rPr lang="fr-CA"/>
              <a:t>next</a:t>
            </a:r>
            <a:r>
              <a:rPr lang="fr-CA">
                <a:solidFill>
                  <a:srgbClr val="D6DEEB"/>
                </a:solidFill>
              </a:rPr>
              <a:t>()</a:t>
            </a:r>
          </a:p>
          <a:p>
            <a:r>
              <a:rPr lang="fr-CA">
                <a:solidFill>
                  <a:srgbClr val="D6DEEB"/>
                </a:solidFill>
              </a:rPr>
              <a:t>}</a:t>
            </a:r>
            <a:br>
              <a:rPr lang="fr-CA">
                <a:solidFill>
                  <a:srgbClr val="D6DEEB"/>
                </a:solidFill>
              </a:rPr>
            </a:br>
            <a:r>
              <a:rPr lang="fr-CA"/>
              <a:t>function</a:t>
            </a:r>
            <a:r>
              <a:rPr lang="fr-CA">
                <a:solidFill>
                  <a:srgbClr val="D6DEEB"/>
                </a:solidFill>
              </a:rPr>
              <a:t> </a:t>
            </a:r>
            <a:r>
              <a:rPr lang="fr-CA"/>
              <a:t>auth</a:t>
            </a:r>
            <a:r>
              <a:rPr lang="fr-CA">
                <a:solidFill>
                  <a:srgbClr val="D9F5DD"/>
                </a:solidFill>
              </a:rPr>
              <a:t>(</a:t>
            </a:r>
            <a:r>
              <a:rPr lang="fr-CA">
                <a:solidFill>
                  <a:srgbClr val="D7DBE0"/>
                </a:solidFill>
              </a:rPr>
              <a:t>req</a:t>
            </a:r>
            <a:r>
              <a:rPr lang="fr-CA">
                <a:solidFill>
                  <a:srgbClr val="D6DEEB"/>
                </a:solidFill>
              </a:rPr>
              <a:t>, </a:t>
            </a:r>
            <a:r>
              <a:rPr lang="fr-CA">
                <a:solidFill>
                  <a:srgbClr val="D7DBE0"/>
                </a:solidFill>
              </a:rPr>
              <a:t>res</a:t>
            </a:r>
            <a:r>
              <a:rPr lang="fr-CA">
                <a:solidFill>
                  <a:srgbClr val="D6DEEB"/>
                </a:solidFill>
              </a:rPr>
              <a:t>, </a:t>
            </a:r>
            <a:r>
              <a:rPr lang="fr-CA">
                <a:solidFill>
                  <a:srgbClr val="D7DBE0"/>
                </a:solidFill>
              </a:rPr>
              <a:t>next</a:t>
            </a:r>
            <a:r>
              <a:rPr lang="fr-CA">
                <a:solidFill>
                  <a:srgbClr val="D9F5DD"/>
                </a:solidFill>
              </a:rPr>
              <a:t>)</a:t>
            </a:r>
            <a:r>
              <a:rPr lang="fr-CA">
                <a:solidFill>
                  <a:srgbClr val="D6DEEB"/>
                </a:solidFill>
              </a:rPr>
              <a:t>{</a:t>
            </a:r>
          </a:p>
          <a:p>
            <a:r>
              <a:rPr lang="fr-CA">
                <a:solidFill>
                  <a:srgbClr val="D6DEEB"/>
                </a:solidFill>
              </a:rPr>
              <a:t>    </a:t>
            </a:r>
            <a:r>
              <a:rPr lang="fr-CA">
                <a:solidFill>
                  <a:srgbClr val="C792EA"/>
                </a:solidFill>
              </a:rPr>
              <a:t>if</a:t>
            </a:r>
            <a:r>
              <a:rPr lang="fr-CA">
                <a:solidFill>
                  <a:srgbClr val="D6DEEB"/>
                </a:solidFill>
              </a:rPr>
              <a:t>(req</a:t>
            </a:r>
            <a:r>
              <a:rPr lang="fr-CA" i="1">
                <a:solidFill>
                  <a:srgbClr val="C792EA"/>
                </a:solidFill>
              </a:rPr>
              <a:t>.</a:t>
            </a:r>
            <a:r>
              <a:rPr lang="fr-CA" i="1">
                <a:solidFill>
                  <a:srgbClr val="D7DBE0"/>
                </a:solidFill>
              </a:rPr>
              <a:t>query</a:t>
            </a:r>
            <a:r>
              <a:rPr lang="fr-CA" i="1">
                <a:solidFill>
                  <a:srgbClr val="C792EA"/>
                </a:solidFill>
              </a:rPr>
              <a:t>.</a:t>
            </a:r>
            <a:r>
              <a:rPr lang="fr-CA">
                <a:solidFill>
                  <a:srgbClr val="7FDBCA"/>
                </a:solidFill>
              </a:rPr>
              <a:t>admin</a:t>
            </a:r>
            <a:r>
              <a:rPr lang="fr-CA">
                <a:solidFill>
                  <a:srgbClr val="D6DEEB"/>
                </a:solidFill>
              </a:rPr>
              <a:t> </a:t>
            </a:r>
            <a:r>
              <a:rPr lang="fr-CA">
                <a:solidFill>
                  <a:srgbClr val="C792EA"/>
                </a:solidFill>
              </a:rPr>
              <a:t>===</a:t>
            </a:r>
            <a:r>
              <a:rPr lang="fr-CA">
                <a:solidFill>
                  <a:srgbClr val="D6DEEB"/>
                </a:solidFill>
              </a:rPr>
              <a:t> </a:t>
            </a:r>
            <a:r>
              <a:rPr lang="fr-CA">
                <a:solidFill>
                  <a:srgbClr val="D9F5DD"/>
                </a:solidFill>
              </a:rPr>
              <a:t>'</a:t>
            </a:r>
            <a:r>
              <a:rPr lang="fr-CA">
                <a:solidFill>
                  <a:srgbClr val="ECC48D"/>
                </a:solidFill>
              </a:rPr>
              <a:t>true</a:t>
            </a:r>
            <a:r>
              <a:rPr lang="fr-CA">
                <a:solidFill>
                  <a:srgbClr val="D9F5DD"/>
                </a:solidFill>
              </a:rPr>
              <a:t>'</a:t>
            </a:r>
            <a:r>
              <a:rPr lang="fr-CA">
                <a:solidFill>
                  <a:srgbClr val="D6DEEB"/>
                </a:solidFill>
              </a:rPr>
              <a:t>){</a:t>
            </a:r>
          </a:p>
          <a:p>
            <a:r>
              <a:rPr lang="fr-CA">
                <a:solidFill>
                  <a:srgbClr val="D6DEEB"/>
                </a:solidFill>
              </a:rPr>
              <a:t>        </a:t>
            </a:r>
            <a:r>
              <a:rPr lang="fr-CA"/>
              <a:t>next</a:t>
            </a:r>
            <a:r>
              <a:rPr lang="fr-CA">
                <a:solidFill>
                  <a:srgbClr val="D6DEEB"/>
                </a:solidFill>
              </a:rPr>
              <a:t>()</a:t>
            </a:r>
          </a:p>
          <a:p>
            <a:r>
              <a:rPr lang="fr-CA">
                <a:solidFill>
                  <a:srgbClr val="D6DEEB"/>
                </a:solidFill>
              </a:rPr>
              <a:t>    }</a:t>
            </a:r>
            <a:r>
              <a:rPr lang="fr-CA">
                <a:solidFill>
                  <a:srgbClr val="C792EA"/>
                </a:solidFill>
              </a:rPr>
              <a:t>else</a:t>
            </a:r>
            <a:r>
              <a:rPr lang="fr-CA">
                <a:solidFill>
                  <a:srgbClr val="D6DEEB"/>
                </a:solidFill>
              </a:rPr>
              <a:t>{</a:t>
            </a:r>
          </a:p>
          <a:p>
            <a:r>
              <a:rPr lang="fr-CA">
                <a:solidFill>
                  <a:srgbClr val="D6DEEB"/>
                </a:solidFill>
              </a:rPr>
              <a:t>        res</a:t>
            </a:r>
            <a:r>
              <a:rPr lang="fr-CA" i="1">
                <a:solidFill>
                  <a:srgbClr val="C792EA"/>
                </a:solidFill>
              </a:rPr>
              <a:t>.</a:t>
            </a:r>
            <a:r>
              <a:rPr lang="fr-CA"/>
              <a:t>end</a:t>
            </a:r>
            <a:r>
              <a:rPr lang="fr-CA">
                <a:solidFill>
                  <a:srgbClr val="D6DEEB"/>
                </a:solidFill>
              </a:rPr>
              <a:t>(</a:t>
            </a:r>
            <a:r>
              <a:rPr lang="fr-CA">
                <a:solidFill>
                  <a:srgbClr val="D9F5DD"/>
                </a:solidFill>
              </a:rPr>
              <a:t>"</a:t>
            </a:r>
            <a:r>
              <a:rPr lang="fr-CA">
                <a:solidFill>
                  <a:srgbClr val="ECC48D"/>
                </a:solidFill>
              </a:rPr>
              <a:t>Auth failed</a:t>
            </a:r>
            <a:r>
              <a:rPr lang="fr-CA">
                <a:solidFill>
                  <a:srgbClr val="D9F5DD"/>
                </a:solidFill>
              </a:rPr>
              <a:t>"</a:t>
            </a:r>
            <a:r>
              <a:rPr lang="fr-CA">
                <a:solidFill>
                  <a:srgbClr val="D6DEEB"/>
                </a:solidFill>
              </a:rPr>
              <a:t>)}</a:t>
            </a:r>
          </a:p>
          <a:p>
            <a:r>
              <a:rPr lang="fr-CA">
                <a:solidFill>
                  <a:srgbClr val="D6DEEB"/>
                </a:solidFill>
              </a:rPr>
              <a:t>}</a:t>
            </a:r>
            <a:br>
              <a:rPr lang="fr-CA">
                <a:solidFill>
                  <a:srgbClr val="D6DEEB"/>
                </a:solidFill>
              </a:rPr>
            </a:br>
            <a:r>
              <a:rPr lang="fr-CA">
                <a:solidFill>
                  <a:srgbClr val="D6DEEB"/>
                </a:solidFill>
              </a:rPr>
              <a:t>app</a:t>
            </a:r>
            <a:r>
              <a:rPr lang="fr-CA" i="1">
                <a:solidFill>
                  <a:srgbClr val="C792EA"/>
                </a:solidFill>
              </a:rPr>
              <a:t>.</a:t>
            </a:r>
            <a:r>
              <a:rPr lang="fr-CA"/>
              <a:t>listen</a:t>
            </a:r>
            <a:r>
              <a:rPr lang="fr-CA">
                <a:solidFill>
                  <a:srgbClr val="D6DEEB"/>
                </a:solidFill>
              </a:rPr>
              <a:t>(</a:t>
            </a:r>
            <a:r>
              <a:rPr lang="fr-CA">
                <a:solidFill>
                  <a:srgbClr val="D7DBE0"/>
                </a:solidFill>
              </a:rPr>
              <a:t>port</a:t>
            </a:r>
            <a:r>
              <a:rPr lang="fr-CA">
                <a:solidFill>
                  <a:srgbClr val="D6DEEB"/>
                </a:solidFill>
              </a:rPr>
              <a:t>, </a:t>
            </a:r>
            <a:r>
              <a:rPr lang="fr-CA">
                <a:solidFill>
                  <a:srgbClr val="D9F5DD"/>
                </a:solidFill>
              </a:rPr>
              <a:t>()</a:t>
            </a:r>
            <a:r>
              <a:rPr lang="fr-CA">
                <a:solidFill>
                  <a:srgbClr val="D6DEEB"/>
                </a:solidFill>
              </a:rPr>
              <a:t> </a:t>
            </a:r>
            <a:r>
              <a:rPr lang="fr-CA"/>
              <a:t>=&gt;</a:t>
            </a:r>
            <a:r>
              <a:rPr lang="fr-CA">
                <a:solidFill>
                  <a:srgbClr val="D6DEEB"/>
                </a:solidFill>
              </a:rPr>
              <a:t> {</a:t>
            </a:r>
          </a:p>
          <a:p>
            <a:r>
              <a:rPr lang="fr-CA">
                <a:solidFill>
                  <a:srgbClr val="D6DEEB"/>
                </a:solidFill>
              </a:rPr>
              <a:t>  console</a:t>
            </a:r>
            <a:r>
              <a:rPr lang="fr-CA" i="1">
                <a:solidFill>
                  <a:srgbClr val="C792EA"/>
                </a:solidFill>
              </a:rPr>
              <a:t>.</a:t>
            </a:r>
            <a:r>
              <a:rPr lang="fr-CA"/>
              <a:t>log</a:t>
            </a:r>
            <a:r>
              <a:rPr lang="fr-CA">
                <a:solidFill>
                  <a:srgbClr val="D6DEEB"/>
                </a:solidFill>
              </a:rPr>
              <a:t>(</a:t>
            </a:r>
            <a:r>
              <a:rPr lang="fr-CA">
                <a:solidFill>
                  <a:srgbClr val="D9F5DD"/>
                </a:solidFill>
              </a:rPr>
              <a:t>"</a:t>
            </a:r>
            <a:r>
              <a:rPr lang="fr-CA">
                <a:solidFill>
                  <a:srgbClr val="ECC48D"/>
                </a:solidFill>
              </a:rPr>
              <a:t>Example app listening on port </a:t>
            </a:r>
            <a:r>
              <a:rPr lang="fr-CA">
                <a:solidFill>
                  <a:srgbClr val="D9F5DD"/>
                </a:solidFill>
              </a:rPr>
              <a:t>"</a:t>
            </a:r>
            <a:r>
              <a:rPr lang="fr-CA">
                <a:solidFill>
                  <a:srgbClr val="D6DEEB"/>
                </a:solidFill>
              </a:rPr>
              <a:t>, </a:t>
            </a:r>
            <a:r>
              <a:rPr lang="fr-CA">
                <a:solidFill>
                  <a:srgbClr val="D7DBE0"/>
                </a:solidFill>
              </a:rPr>
              <a:t>port</a:t>
            </a:r>
            <a:r>
              <a:rPr lang="fr-CA">
                <a:solidFill>
                  <a:srgbClr val="D6DEEB"/>
                </a:solidFill>
              </a:rPr>
              <a:t>)</a:t>
            </a:r>
          </a:p>
          <a:p>
            <a:r>
              <a:rPr lang="fr-CA">
                <a:solidFill>
                  <a:srgbClr val="D6DEEB"/>
                </a:solidFill>
              </a:rPr>
              <a:t>})</a:t>
            </a:r>
          </a:p>
        </p:txBody>
      </p:sp>
    </p:spTree>
    <p:extLst>
      <p:ext uri="{BB962C8B-B14F-4D97-AF65-F5344CB8AC3E}">
        <p14:creationId xmlns:p14="http://schemas.microsoft.com/office/powerpoint/2010/main" val="106270572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Les middlewares </a:t>
            </a:r>
          </a:p>
        </p:txBody>
      </p:sp>
      <p:sp>
        <p:nvSpPr>
          <p:cNvPr id="3" name="TextBox 2"/>
          <p:cNvSpPr txBox="1"/>
          <p:nvPr/>
        </p:nvSpPr>
        <p:spPr>
          <a:xfrm>
            <a:off x="2168433" y="1316515"/>
            <a:ext cx="3744686"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Types des middlewares</a:t>
            </a:r>
          </a:p>
        </p:txBody>
      </p:sp>
      <p:sp>
        <p:nvSpPr>
          <p:cNvPr id="8" name="TextBox 7"/>
          <p:cNvSpPr txBox="1"/>
          <p:nvPr/>
        </p:nvSpPr>
        <p:spPr>
          <a:xfrm>
            <a:off x="2168433" y="1685847"/>
            <a:ext cx="3744686" cy="338554"/>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sz="1600"/>
              <a:t>Router level middleware</a:t>
            </a:r>
          </a:p>
        </p:txBody>
      </p:sp>
      <p:sp>
        <p:nvSpPr>
          <p:cNvPr id="6" name="TextBox 5"/>
          <p:cNvSpPr txBox="1"/>
          <p:nvPr/>
        </p:nvSpPr>
        <p:spPr>
          <a:xfrm>
            <a:off x="2272937" y="2499355"/>
            <a:ext cx="9318172" cy="3139321"/>
          </a:xfrm>
          <a:prstGeom prst="rect">
            <a:avLst/>
          </a:prstGeom>
          <a:solidFill>
            <a:schemeClr val="tx2">
              <a:lumMod val="50000"/>
            </a:schemeClr>
          </a:solidFill>
        </p:spPr>
        <p:txBody>
          <a:bodyPr wrap="square" lIns="91440" tIns="45720" rIns="91440" bIns="45720" rtlCol="0" anchor="t">
            <a:spAutoFit/>
          </a:bodyPr>
          <a:lstStyle>
            <a:defPPr>
              <a:defRPr lang="fr-FR"/>
            </a:defPPr>
            <a:lvl1pPr>
              <a:defRPr i="1">
                <a:solidFill>
                  <a:srgbClr val="637777"/>
                </a:solidFill>
                <a:latin typeface="Consolas" panose="020B0609020204030204" pitchFamily="49" charset="0"/>
              </a:defRPr>
            </a:lvl1pPr>
          </a:lstStyle>
          <a:p>
            <a:r>
              <a:rPr lang="fr-CA">
                <a:solidFill>
                  <a:srgbClr val="82AAFF"/>
                </a:solidFill>
              </a:rPr>
              <a:t>const</a:t>
            </a:r>
            <a:r>
              <a:rPr lang="fr-CA">
                <a:solidFill>
                  <a:srgbClr val="C792EA"/>
                </a:solidFill>
              </a:rPr>
              <a:t> </a:t>
            </a:r>
            <a:r>
              <a:rPr lang="fr-CA">
                <a:solidFill>
                  <a:srgbClr val="82AAFF"/>
                </a:solidFill>
              </a:rPr>
              <a:t>express</a:t>
            </a:r>
            <a:r>
              <a:rPr lang="fr-CA">
                <a:solidFill>
                  <a:srgbClr val="C792EA"/>
                </a:solidFill>
              </a:rPr>
              <a:t> = </a:t>
            </a:r>
            <a:r>
              <a:rPr lang="fr-CA">
                <a:solidFill>
                  <a:srgbClr val="82AAFF"/>
                </a:solidFill>
              </a:rPr>
              <a:t>require</a:t>
            </a:r>
            <a:r>
              <a:rPr lang="fr-CA">
                <a:solidFill>
                  <a:srgbClr val="D6DEEB"/>
                </a:solidFill>
              </a:rPr>
              <a:t>(</a:t>
            </a:r>
            <a:r>
              <a:rPr lang="fr-CA">
                <a:solidFill>
                  <a:srgbClr val="D9F5DD"/>
                </a:solidFill>
              </a:rPr>
              <a:t>'</a:t>
            </a:r>
            <a:r>
              <a:rPr lang="fr-CA">
                <a:solidFill>
                  <a:srgbClr val="ECC48D"/>
                </a:solidFill>
              </a:rPr>
              <a:t>express</a:t>
            </a:r>
            <a:r>
              <a:rPr lang="fr-CA">
                <a:solidFill>
                  <a:srgbClr val="D9F5DD"/>
                </a:solidFill>
              </a:rPr>
              <a:t>'</a:t>
            </a:r>
            <a:r>
              <a:rPr lang="fr-CA">
                <a:solidFill>
                  <a:srgbClr val="D6DEEB"/>
                </a:solidFill>
              </a:rPr>
              <a:t>)</a:t>
            </a:r>
          </a:p>
          <a:p>
            <a:r>
              <a:rPr lang="fr-CA">
                <a:solidFill>
                  <a:srgbClr val="82AAFF"/>
                </a:solidFill>
              </a:rPr>
              <a:t>const</a:t>
            </a:r>
            <a:r>
              <a:rPr lang="fr-CA">
                <a:solidFill>
                  <a:srgbClr val="C792EA"/>
                </a:solidFill>
              </a:rPr>
              <a:t> </a:t>
            </a:r>
            <a:r>
              <a:rPr lang="fr-CA">
                <a:solidFill>
                  <a:srgbClr val="82AAFF"/>
                </a:solidFill>
              </a:rPr>
              <a:t>app</a:t>
            </a:r>
            <a:r>
              <a:rPr lang="fr-CA">
                <a:solidFill>
                  <a:srgbClr val="C792EA"/>
                </a:solidFill>
              </a:rPr>
              <a:t> = </a:t>
            </a:r>
            <a:r>
              <a:rPr lang="fr-CA">
                <a:solidFill>
                  <a:srgbClr val="82AAFF"/>
                </a:solidFill>
              </a:rPr>
              <a:t>express</a:t>
            </a:r>
            <a:r>
              <a:rPr lang="fr-CA">
                <a:solidFill>
                  <a:srgbClr val="D6DEEB"/>
                </a:solidFill>
              </a:rPr>
              <a:t>()</a:t>
            </a:r>
          </a:p>
          <a:p>
            <a:r>
              <a:rPr lang="fr-CA">
                <a:solidFill>
                  <a:srgbClr val="82AAFF"/>
                </a:solidFill>
              </a:rPr>
              <a:t>const</a:t>
            </a:r>
            <a:r>
              <a:rPr lang="fr-CA">
                <a:solidFill>
                  <a:srgbClr val="C792EA"/>
                </a:solidFill>
              </a:rPr>
              <a:t> </a:t>
            </a:r>
            <a:r>
              <a:rPr lang="fr-CA">
                <a:solidFill>
                  <a:srgbClr val="82AAFF"/>
                </a:solidFill>
              </a:rPr>
              <a:t>router</a:t>
            </a:r>
            <a:r>
              <a:rPr lang="fr-CA">
                <a:solidFill>
                  <a:srgbClr val="C792EA"/>
                </a:solidFill>
              </a:rPr>
              <a:t> = </a:t>
            </a:r>
            <a:r>
              <a:rPr lang="fr-CA">
                <a:solidFill>
                  <a:srgbClr val="D6DEEB"/>
                </a:solidFill>
              </a:rPr>
              <a:t>express</a:t>
            </a:r>
            <a:r>
              <a:rPr lang="fr-CA">
                <a:solidFill>
                  <a:srgbClr val="C792EA"/>
                </a:solidFill>
              </a:rPr>
              <a:t>.</a:t>
            </a:r>
            <a:r>
              <a:rPr lang="fr-CA">
                <a:solidFill>
                  <a:srgbClr val="82AAFF"/>
                </a:solidFill>
              </a:rPr>
              <a:t>Router</a:t>
            </a:r>
            <a:r>
              <a:rPr lang="fr-CA">
                <a:solidFill>
                  <a:srgbClr val="D6DEEB"/>
                </a:solidFill>
              </a:rPr>
              <a:t>()</a:t>
            </a:r>
          </a:p>
          <a:p>
            <a:r>
              <a:rPr lang="fr-CA"/>
              <a:t>// a middleware function with no mount path. This code is executed for every request to the router</a:t>
            </a:r>
            <a:endParaRPr lang="fr-CA">
              <a:solidFill>
                <a:srgbClr val="D6DEEB"/>
              </a:solidFill>
            </a:endParaRPr>
          </a:p>
          <a:p>
            <a:r>
              <a:rPr lang="fr-CA">
                <a:solidFill>
                  <a:srgbClr val="D6DEEB"/>
                </a:solidFill>
              </a:rPr>
              <a:t>router</a:t>
            </a:r>
            <a:r>
              <a:rPr lang="fr-CA">
                <a:solidFill>
                  <a:srgbClr val="C792EA"/>
                </a:solidFill>
              </a:rPr>
              <a:t>.</a:t>
            </a:r>
            <a:r>
              <a:rPr lang="fr-CA">
                <a:solidFill>
                  <a:srgbClr val="82AAFF"/>
                </a:solidFill>
              </a:rPr>
              <a:t>use</a:t>
            </a:r>
            <a:r>
              <a:rPr lang="fr-CA">
                <a:solidFill>
                  <a:srgbClr val="D6DEEB"/>
                </a:solidFill>
              </a:rPr>
              <a:t>(</a:t>
            </a:r>
            <a:r>
              <a:rPr lang="fr-CA">
                <a:solidFill>
                  <a:srgbClr val="D9F5DD"/>
                </a:solidFill>
              </a:rPr>
              <a:t>(</a:t>
            </a:r>
            <a:r>
              <a:rPr lang="fr-CA">
                <a:solidFill>
                  <a:srgbClr val="D7DBE0"/>
                </a:solidFill>
              </a:rPr>
              <a:t>req</a:t>
            </a:r>
            <a:r>
              <a:rPr lang="fr-CA">
                <a:solidFill>
                  <a:srgbClr val="D6DEEB"/>
                </a:solidFill>
              </a:rPr>
              <a:t>, </a:t>
            </a:r>
            <a:r>
              <a:rPr lang="fr-CA">
                <a:solidFill>
                  <a:srgbClr val="D7DBE0"/>
                </a:solidFill>
              </a:rPr>
              <a:t>res</a:t>
            </a:r>
            <a:r>
              <a:rPr lang="fr-CA">
                <a:solidFill>
                  <a:srgbClr val="D6DEEB"/>
                </a:solidFill>
              </a:rPr>
              <a:t>, </a:t>
            </a:r>
            <a:r>
              <a:rPr lang="fr-CA">
                <a:solidFill>
                  <a:srgbClr val="D7DBE0"/>
                </a:solidFill>
              </a:rPr>
              <a:t>next</a:t>
            </a:r>
            <a:r>
              <a:rPr lang="fr-CA">
                <a:solidFill>
                  <a:srgbClr val="D9F5DD"/>
                </a:solidFill>
              </a:rPr>
              <a:t>)</a:t>
            </a:r>
            <a:r>
              <a:rPr lang="fr-CA">
                <a:solidFill>
                  <a:srgbClr val="D6DEEB"/>
                </a:solidFill>
              </a:rPr>
              <a:t> </a:t>
            </a:r>
            <a:r>
              <a:rPr lang="fr-CA">
                <a:solidFill>
                  <a:srgbClr val="82AAFF"/>
                </a:solidFill>
              </a:rPr>
              <a:t>=&gt;</a:t>
            </a:r>
            <a:r>
              <a:rPr lang="fr-CA">
                <a:solidFill>
                  <a:srgbClr val="D6DEEB"/>
                </a:solidFill>
              </a:rPr>
              <a:t> {</a:t>
            </a:r>
          </a:p>
          <a:p>
            <a:r>
              <a:rPr lang="fr-CA">
                <a:solidFill>
                  <a:srgbClr val="D6DEEB"/>
                </a:solidFill>
              </a:rPr>
              <a:t>  console</a:t>
            </a:r>
            <a:r>
              <a:rPr lang="fr-CA">
                <a:solidFill>
                  <a:srgbClr val="C792EA"/>
                </a:solidFill>
              </a:rPr>
              <a:t>.</a:t>
            </a:r>
            <a:r>
              <a:rPr lang="fr-CA">
                <a:solidFill>
                  <a:srgbClr val="82AAFF"/>
                </a:solidFill>
              </a:rPr>
              <a:t>log</a:t>
            </a:r>
            <a:r>
              <a:rPr lang="fr-CA">
                <a:solidFill>
                  <a:srgbClr val="D6DEEB"/>
                </a:solidFill>
              </a:rPr>
              <a:t>(</a:t>
            </a:r>
            <a:r>
              <a:rPr lang="fr-CA">
                <a:solidFill>
                  <a:srgbClr val="D9F5DD"/>
                </a:solidFill>
              </a:rPr>
              <a:t>'</a:t>
            </a:r>
            <a:r>
              <a:rPr lang="fr-CA">
                <a:solidFill>
                  <a:srgbClr val="ECC48D"/>
                </a:solidFill>
              </a:rPr>
              <a:t>Time:</a:t>
            </a:r>
            <a:r>
              <a:rPr lang="fr-CA">
                <a:solidFill>
                  <a:srgbClr val="D9F5DD"/>
                </a:solidFill>
              </a:rPr>
              <a:t>'</a:t>
            </a:r>
            <a:r>
              <a:rPr lang="fr-CA">
                <a:solidFill>
                  <a:srgbClr val="D6DEEB"/>
                </a:solidFill>
              </a:rPr>
              <a:t>, Date</a:t>
            </a:r>
            <a:r>
              <a:rPr lang="fr-CA">
                <a:solidFill>
                  <a:srgbClr val="C792EA"/>
                </a:solidFill>
              </a:rPr>
              <a:t>.</a:t>
            </a:r>
            <a:r>
              <a:rPr lang="fr-CA">
                <a:solidFill>
                  <a:srgbClr val="82AAFF"/>
                </a:solidFill>
              </a:rPr>
              <a:t>now</a:t>
            </a:r>
            <a:r>
              <a:rPr lang="fr-CA">
                <a:solidFill>
                  <a:srgbClr val="D6DEEB"/>
                </a:solidFill>
              </a:rPr>
              <a:t>())</a:t>
            </a:r>
          </a:p>
          <a:p>
            <a:r>
              <a:rPr lang="fr-CA">
                <a:solidFill>
                  <a:srgbClr val="D6DEEB"/>
                </a:solidFill>
              </a:rPr>
              <a:t>  </a:t>
            </a:r>
            <a:r>
              <a:rPr lang="fr-CA">
                <a:solidFill>
                  <a:srgbClr val="82AAFF"/>
                </a:solidFill>
              </a:rPr>
              <a:t>next</a:t>
            </a:r>
            <a:r>
              <a:rPr lang="fr-CA">
                <a:solidFill>
                  <a:srgbClr val="D6DEEB"/>
                </a:solidFill>
              </a:rPr>
              <a:t>()</a:t>
            </a:r>
          </a:p>
          <a:p>
            <a:r>
              <a:rPr lang="fr-CA">
                <a:solidFill>
                  <a:srgbClr val="D6DEEB"/>
                </a:solidFill>
              </a:rPr>
              <a:t>})</a:t>
            </a:r>
          </a:p>
          <a:p>
            <a:br>
              <a:rPr lang="fr-CA"/>
            </a:br>
            <a:r>
              <a:rPr lang="fr-CA">
                <a:solidFill>
                  <a:srgbClr val="D6DEEB"/>
                </a:solidFill>
                <a:latin typeface="Consolas"/>
              </a:rPr>
              <a:t>app</a:t>
            </a:r>
            <a:r>
              <a:rPr lang="fr-CA">
                <a:solidFill>
                  <a:srgbClr val="C792EA"/>
                </a:solidFill>
                <a:latin typeface="Consolas"/>
              </a:rPr>
              <a:t>.</a:t>
            </a:r>
            <a:r>
              <a:rPr lang="fr-CA">
                <a:solidFill>
                  <a:srgbClr val="82AAFF"/>
                </a:solidFill>
                <a:latin typeface="Consolas"/>
              </a:rPr>
              <a:t>use</a:t>
            </a:r>
            <a:r>
              <a:rPr lang="fr-CA">
                <a:solidFill>
                  <a:srgbClr val="D6DEEB"/>
                </a:solidFill>
                <a:latin typeface="Consolas"/>
              </a:rPr>
              <a:t>(</a:t>
            </a:r>
            <a:r>
              <a:rPr lang="fr-CA">
                <a:solidFill>
                  <a:srgbClr val="D9F5DD"/>
                </a:solidFill>
                <a:latin typeface="Consolas"/>
              </a:rPr>
              <a:t>'</a:t>
            </a:r>
            <a:r>
              <a:rPr lang="fr-CA">
                <a:solidFill>
                  <a:srgbClr val="ECC48D"/>
                </a:solidFill>
                <a:latin typeface="Consolas"/>
              </a:rPr>
              <a:t>/</a:t>
            </a:r>
            <a:r>
              <a:rPr lang="fr-CA">
                <a:solidFill>
                  <a:srgbClr val="D9F5DD"/>
                </a:solidFill>
                <a:latin typeface="Consolas"/>
              </a:rPr>
              <a:t>'</a:t>
            </a:r>
            <a:r>
              <a:rPr lang="fr-CA">
                <a:solidFill>
                  <a:srgbClr val="D6DEEB"/>
                </a:solidFill>
                <a:latin typeface="Consolas"/>
              </a:rPr>
              <a:t>, </a:t>
            </a:r>
            <a:r>
              <a:rPr lang="fr-CA">
                <a:solidFill>
                  <a:srgbClr val="D7DBE0"/>
                </a:solidFill>
                <a:latin typeface="Consolas"/>
              </a:rPr>
              <a:t>router</a:t>
            </a:r>
            <a:r>
              <a:rPr lang="fr-CA">
                <a:solidFill>
                  <a:srgbClr val="D6DEEB"/>
                </a:solidFill>
                <a:latin typeface="Consolas"/>
              </a:rPr>
              <a:t>)</a:t>
            </a:r>
          </a:p>
        </p:txBody>
      </p:sp>
      <p:sp>
        <p:nvSpPr>
          <p:cNvPr id="9" name="TextBox 8"/>
          <p:cNvSpPr txBox="1"/>
          <p:nvPr/>
        </p:nvSpPr>
        <p:spPr>
          <a:xfrm>
            <a:off x="2168433" y="2055179"/>
            <a:ext cx="9239795" cy="369332"/>
          </a:xfrm>
          <a:prstGeom prst="rect">
            <a:avLst/>
          </a:prstGeom>
          <a:noFill/>
        </p:spPr>
        <p:txBody>
          <a:bodyPr wrap="square" rtlCol="0">
            <a:spAutoFit/>
          </a:bodyPr>
          <a:lstStyle/>
          <a:p>
            <a:r>
              <a:rPr lang="fr-CA"/>
              <a:t>Sont des middlewares qui sont attachés à une instance de type express.Router()</a:t>
            </a:r>
          </a:p>
        </p:txBody>
      </p:sp>
    </p:spTree>
    <p:extLst>
      <p:ext uri="{BB962C8B-B14F-4D97-AF65-F5344CB8AC3E}">
        <p14:creationId xmlns:p14="http://schemas.microsoft.com/office/powerpoint/2010/main" val="202897992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6" grpId="0" animBg="1"/>
      <p:bldP spid="9"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Les middlewares </a:t>
            </a:r>
          </a:p>
        </p:txBody>
      </p:sp>
      <p:sp>
        <p:nvSpPr>
          <p:cNvPr id="3" name="TextBox 2"/>
          <p:cNvSpPr txBox="1"/>
          <p:nvPr/>
        </p:nvSpPr>
        <p:spPr>
          <a:xfrm>
            <a:off x="2168433" y="1316515"/>
            <a:ext cx="3744686"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Types des middlewares</a:t>
            </a:r>
          </a:p>
        </p:txBody>
      </p:sp>
      <p:sp>
        <p:nvSpPr>
          <p:cNvPr id="8" name="TextBox 7"/>
          <p:cNvSpPr txBox="1"/>
          <p:nvPr/>
        </p:nvSpPr>
        <p:spPr>
          <a:xfrm>
            <a:off x="2168433" y="1809700"/>
            <a:ext cx="3744686" cy="338554"/>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sz="1600"/>
              <a:t>Router level middleware tp05.js</a:t>
            </a:r>
          </a:p>
        </p:txBody>
      </p:sp>
      <p:sp>
        <p:nvSpPr>
          <p:cNvPr id="2" name="TextBox 1"/>
          <p:cNvSpPr txBox="1"/>
          <p:nvPr/>
        </p:nvSpPr>
        <p:spPr>
          <a:xfrm>
            <a:off x="2168433" y="2360023"/>
            <a:ext cx="6775270" cy="646331"/>
          </a:xfrm>
          <a:prstGeom prst="rect">
            <a:avLst/>
          </a:prstGeom>
          <a:noFill/>
        </p:spPr>
        <p:txBody>
          <a:bodyPr wrap="square" lIns="91440" tIns="45720" rIns="91440" bIns="45720" rtlCol="0" anchor="t">
            <a:spAutoFit/>
          </a:bodyPr>
          <a:lstStyle/>
          <a:p>
            <a:r>
              <a:rPr lang="fr-CA"/>
              <a:t>On va redéfinir l’exemple précédent tp04.js en utilisant seulement des middlewares de type router. </a:t>
            </a:r>
          </a:p>
        </p:txBody>
      </p:sp>
    </p:spTree>
    <p:extLst>
      <p:ext uri="{BB962C8B-B14F-4D97-AF65-F5344CB8AC3E}">
        <p14:creationId xmlns:p14="http://schemas.microsoft.com/office/powerpoint/2010/main" val="224142008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Les middlewares </a:t>
            </a:r>
          </a:p>
        </p:txBody>
      </p:sp>
      <p:sp>
        <p:nvSpPr>
          <p:cNvPr id="3" name="TextBox 2"/>
          <p:cNvSpPr txBox="1"/>
          <p:nvPr/>
        </p:nvSpPr>
        <p:spPr>
          <a:xfrm>
            <a:off x="2168433" y="1316515"/>
            <a:ext cx="3744686"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Types des middlewares</a:t>
            </a:r>
          </a:p>
        </p:txBody>
      </p:sp>
      <p:sp>
        <p:nvSpPr>
          <p:cNvPr id="8" name="TextBox 7"/>
          <p:cNvSpPr txBox="1"/>
          <p:nvPr/>
        </p:nvSpPr>
        <p:spPr>
          <a:xfrm>
            <a:off x="2168433" y="1809700"/>
            <a:ext cx="3744686" cy="338554"/>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sz="1600"/>
              <a:t>Error handling middleware</a:t>
            </a:r>
          </a:p>
        </p:txBody>
      </p:sp>
      <p:sp>
        <p:nvSpPr>
          <p:cNvPr id="2" name="TextBox 1"/>
          <p:cNvSpPr txBox="1"/>
          <p:nvPr/>
        </p:nvSpPr>
        <p:spPr>
          <a:xfrm>
            <a:off x="2168433" y="2360023"/>
            <a:ext cx="9126584" cy="646331"/>
          </a:xfrm>
          <a:prstGeom prst="rect">
            <a:avLst/>
          </a:prstGeom>
          <a:noFill/>
        </p:spPr>
        <p:txBody>
          <a:bodyPr wrap="square" lIns="91440" tIns="45720" rIns="91440" bIns="45720" rtlCol="0" anchor="t">
            <a:spAutoFit/>
          </a:bodyPr>
          <a:lstStyle/>
          <a:p>
            <a:r>
              <a:rPr lang="fr-CA"/>
              <a:t>Les middlewares de type erreur fonctionnent comme les autres types de middleware mais avec quatre paramètres. </a:t>
            </a:r>
          </a:p>
        </p:txBody>
      </p:sp>
      <p:sp>
        <p:nvSpPr>
          <p:cNvPr id="6" name="TextBox 5"/>
          <p:cNvSpPr txBox="1"/>
          <p:nvPr/>
        </p:nvSpPr>
        <p:spPr>
          <a:xfrm>
            <a:off x="2168433" y="3225856"/>
            <a:ext cx="9126584" cy="1200329"/>
          </a:xfrm>
          <a:prstGeom prst="rect">
            <a:avLst/>
          </a:prstGeom>
          <a:noFill/>
        </p:spPr>
        <p:txBody>
          <a:bodyPr wrap="square" rtlCol="0">
            <a:spAutoFit/>
          </a:bodyPr>
          <a:lstStyle/>
          <a:p>
            <a:r>
              <a:rPr lang="fr-CA"/>
              <a:t>La gestion des erreurs fait référence à la manière dont Express détecte et traite les erreurs qui se produisent de manière synchrone et asynchrone. Express est livré avec un gestionnaire d'erreurs par défaut, vous n'avez donc pas besoin d'écrire le vôtre pour commencer.</a:t>
            </a:r>
          </a:p>
        </p:txBody>
      </p:sp>
      <p:sp>
        <p:nvSpPr>
          <p:cNvPr id="11" name="TextBox 10"/>
          <p:cNvSpPr txBox="1"/>
          <p:nvPr/>
        </p:nvSpPr>
        <p:spPr>
          <a:xfrm>
            <a:off x="2168433" y="4746171"/>
            <a:ext cx="9126584" cy="1200329"/>
          </a:xfrm>
          <a:prstGeom prst="rect">
            <a:avLst/>
          </a:prstGeom>
          <a:solidFill>
            <a:schemeClr val="tx2">
              <a:lumMod val="50000"/>
            </a:schemeClr>
          </a:solidFill>
        </p:spPr>
        <p:txBody>
          <a:bodyPr wrap="square" rtlCol="0">
            <a:spAutoFit/>
          </a:bodyPr>
          <a:lstStyle>
            <a:defPPr>
              <a:defRPr lang="fr-FR"/>
            </a:defPPr>
            <a:lvl1pPr>
              <a:defRPr i="1">
                <a:solidFill>
                  <a:srgbClr val="82AAFF"/>
                </a:solidFill>
                <a:latin typeface="Consolas" panose="020B0609020204030204" pitchFamily="49" charset="0"/>
              </a:defRPr>
            </a:lvl1pPr>
          </a:lstStyle>
          <a:p>
            <a:r>
              <a:rPr lang="fr-CA">
                <a:solidFill>
                  <a:srgbClr val="D6DEEB"/>
                </a:solidFill>
              </a:rPr>
              <a:t>app</a:t>
            </a:r>
            <a:r>
              <a:rPr lang="fr-CA">
                <a:solidFill>
                  <a:srgbClr val="C792EA"/>
                </a:solidFill>
              </a:rPr>
              <a:t>.</a:t>
            </a:r>
            <a:r>
              <a:rPr lang="fr-CA"/>
              <a:t>use</a:t>
            </a:r>
            <a:r>
              <a:rPr lang="fr-CA">
                <a:solidFill>
                  <a:srgbClr val="D6DEEB"/>
                </a:solidFill>
              </a:rPr>
              <a:t>(</a:t>
            </a:r>
            <a:r>
              <a:rPr lang="fr-CA">
                <a:solidFill>
                  <a:srgbClr val="D9F5DD"/>
                </a:solidFill>
              </a:rPr>
              <a:t>(</a:t>
            </a:r>
            <a:r>
              <a:rPr lang="fr-CA">
                <a:solidFill>
                  <a:srgbClr val="D7DBE0"/>
                </a:solidFill>
              </a:rPr>
              <a:t>err</a:t>
            </a:r>
            <a:r>
              <a:rPr lang="fr-CA">
                <a:solidFill>
                  <a:srgbClr val="D6DEEB"/>
                </a:solidFill>
              </a:rPr>
              <a:t>, </a:t>
            </a:r>
            <a:r>
              <a:rPr lang="fr-CA">
                <a:solidFill>
                  <a:srgbClr val="D7DBE0"/>
                </a:solidFill>
              </a:rPr>
              <a:t>req</a:t>
            </a:r>
            <a:r>
              <a:rPr lang="fr-CA">
                <a:solidFill>
                  <a:srgbClr val="D6DEEB"/>
                </a:solidFill>
              </a:rPr>
              <a:t>, </a:t>
            </a:r>
            <a:r>
              <a:rPr lang="fr-CA">
                <a:solidFill>
                  <a:srgbClr val="D7DBE0"/>
                </a:solidFill>
              </a:rPr>
              <a:t>res</a:t>
            </a:r>
            <a:r>
              <a:rPr lang="fr-CA">
                <a:solidFill>
                  <a:srgbClr val="D6DEEB"/>
                </a:solidFill>
              </a:rPr>
              <a:t>, </a:t>
            </a:r>
            <a:r>
              <a:rPr lang="fr-CA">
                <a:solidFill>
                  <a:srgbClr val="D7DBE0"/>
                </a:solidFill>
              </a:rPr>
              <a:t>next</a:t>
            </a:r>
            <a:r>
              <a:rPr lang="fr-CA">
                <a:solidFill>
                  <a:srgbClr val="D9F5DD"/>
                </a:solidFill>
              </a:rPr>
              <a:t>)</a:t>
            </a:r>
            <a:r>
              <a:rPr lang="fr-CA">
                <a:solidFill>
                  <a:srgbClr val="D6DEEB"/>
                </a:solidFill>
              </a:rPr>
              <a:t> </a:t>
            </a:r>
            <a:r>
              <a:rPr lang="fr-CA"/>
              <a:t>=&gt;</a:t>
            </a:r>
            <a:r>
              <a:rPr lang="fr-CA">
                <a:solidFill>
                  <a:srgbClr val="D6DEEB"/>
                </a:solidFill>
              </a:rPr>
              <a:t> {</a:t>
            </a:r>
          </a:p>
          <a:p>
            <a:r>
              <a:rPr lang="fr-CA">
                <a:solidFill>
                  <a:srgbClr val="D6DEEB"/>
                </a:solidFill>
              </a:rPr>
              <a:t>    console</a:t>
            </a:r>
            <a:r>
              <a:rPr lang="fr-CA">
                <a:solidFill>
                  <a:srgbClr val="C792EA"/>
                </a:solidFill>
              </a:rPr>
              <a:t>.</a:t>
            </a:r>
            <a:r>
              <a:rPr lang="fr-CA"/>
              <a:t>error</a:t>
            </a:r>
            <a:r>
              <a:rPr lang="fr-CA">
                <a:solidFill>
                  <a:srgbClr val="D6DEEB"/>
                </a:solidFill>
              </a:rPr>
              <a:t>(err</a:t>
            </a:r>
            <a:r>
              <a:rPr lang="fr-CA">
                <a:solidFill>
                  <a:srgbClr val="C792EA"/>
                </a:solidFill>
              </a:rPr>
              <a:t>.</a:t>
            </a:r>
            <a:r>
              <a:rPr lang="fr-CA">
                <a:solidFill>
                  <a:srgbClr val="7FDBCA"/>
                </a:solidFill>
              </a:rPr>
              <a:t>stack</a:t>
            </a:r>
            <a:r>
              <a:rPr lang="fr-CA">
                <a:solidFill>
                  <a:srgbClr val="D6DEEB"/>
                </a:solidFill>
              </a:rPr>
              <a:t>)</a:t>
            </a:r>
          </a:p>
          <a:p>
            <a:r>
              <a:rPr lang="fr-CA">
                <a:solidFill>
                  <a:srgbClr val="D6DEEB"/>
                </a:solidFill>
              </a:rPr>
              <a:t>    res</a:t>
            </a:r>
            <a:r>
              <a:rPr lang="fr-CA">
                <a:solidFill>
                  <a:srgbClr val="C792EA"/>
                </a:solidFill>
              </a:rPr>
              <a:t>.</a:t>
            </a:r>
            <a:r>
              <a:rPr lang="fr-CA"/>
              <a:t>status</a:t>
            </a:r>
            <a:r>
              <a:rPr lang="fr-CA">
                <a:solidFill>
                  <a:srgbClr val="D6DEEB"/>
                </a:solidFill>
              </a:rPr>
              <a:t>(</a:t>
            </a:r>
            <a:r>
              <a:rPr lang="fr-CA">
                <a:solidFill>
                  <a:srgbClr val="F78C6C"/>
                </a:solidFill>
              </a:rPr>
              <a:t>500</a:t>
            </a:r>
            <a:r>
              <a:rPr lang="fr-CA">
                <a:solidFill>
                  <a:srgbClr val="D6DEEB"/>
                </a:solidFill>
              </a:rPr>
              <a:t>)</a:t>
            </a:r>
            <a:r>
              <a:rPr lang="fr-CA">
                <a:solidFill>
                  <a:srgbClr val="C792EA"/>
                </a:solidFill>
              </a:rPr>
              <a:t>.</a:t>
            </a:r>
            <a:r>
              <a:rPr lang="fr-CA"/>
              <a:t>send</a:t>
            </a:r>
            <a:r>
              <a:rPr lang="fr-CA">
                <a:solidFill>
                  <a:srgbClr val="D6DEEB"/>
                </a:solidFill>
              </a:rPr>
              <a:t>(</a:t>
            </a:r>
            <a:r>
              <a:rPr lang="fr-CA">
                <a:solidFill>
                  <a:srgbClr val="D9F5DD"/>
                </a:solidFill>
              </a:rPr>
              <a:t>'</a:t>
            </a:r>
            <a:r>
              <a:rPr lang="fr-CA">
                <a:solidFill>
                  <a:srgbClr val="ECC48D"/>
                </a:solidFill>
              </a:rPr>
              <a:t>Something broke!</a:t>
            </a:r>
            <a:r>
              <a:rPr lang="fr-CA">
                <a:solidFill>
                  <a:srgbClr val="D9F5DD"/>
                </a:solidFill>
              </a:rPr>
              <a:t>'</a:t>
            </a:r>
            <a:r>
              <a:rPr lang="fr-CA">
                <a:solidFill>
                  <a:srgbClr val="D6DEEB"/>
                </a:solidFill>
              </a:rPr>
              <a:t>)</a:t>
            </a:r>
          </a:p>
          <a:p>
            <a:r>
              <a:rPr lang="fr-CA">
                <a:solidFill>
                  <a:srgbClr val="D6DEEB"/>
                </a:solidFill>
              </a:rPr>
              <a:t>  })</a:t>
            </a:r>
          </a:p>
        </p:txBody>
      </p:sp>
    </p:spTree>
    <p:extLst>
      <p:ext uri="{BB962C8B-B14F-4D97-AF65-F5344CB8AC3E}">
        <p14:creationId xmlns:p14="http://schemas.microsoft.com/office/powerpoint/2010/main" val="410098501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2" grpId="0"/>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Les middlewares </a:t>
            </a:r>
          </a:p>
        </p:txBody>
      </p:sp>
      <p:sp>
        <p:nvSpPr>
          <p:cNvPr id="3" name="TextBox 2"/>
          <p:cNvSpPr txBox="1"/>
          <p:nvPr/>
        </p:nvSpPr>
        <p:spPr>
          <a:xfrm>
            <a:off x="2168433" y="1316515"/>
            <a:ext cx="3744686"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Types des middlewares</a:t>
            </a:r>
          </a:p>
        </p:txBody>
      </p:sp>
      <p:sp>
        <p:nvSpPr>
          <p:cNvPr id="8" name="TextBox 7"/>
          <p:cNvSpPr txBox="1"/>
          <p:nvPr/>
        </p:nvSpPr>
        <p:spPr>
          <a:xfrm>
            <a:off x="2168433" y="1809700"/>
            <a:ext cx="3744686" cy="338554"/>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sz="1600"/>
              <a:t>Error handling middleware</a:t>
            </a:r>
          </a:p>
        </p:txBody>
      </p:sp>
      <p:sp>
        <p:nvSpPr>
          <p:cNvPr id="2" name="TextBox 1"/>
          <p:cNvSpPr txBox="1"/>
          <p:nvPr/>
        </p:nvSpPr>
        <p:spPr>
          <a:xfrm>
            <a:off x="2168433" y="2360023"/>
            <a:ext cx="9126584" cy="1754326"/>
          </a:xfrm>
          <a:prstGeom prst="rect">
            <a:avLst/>
          </a:prstGeom>
          <a:noFill/>
        </p:spPr>
        <p:txBody>
          <a:bodyPr wrap="square" rtlCol="0">
            <a:spAutoFit/>
          </a:bodyPr>
          <a:lstStyle/>
          <a:p>
            <a:r>
              <a:rPr lang="fr-CA"/>
              <a:t>Il est important de s'assurer que Express détecte toutes les erreurs qui se produisent lors de l'exécution des gestionnaires d'itinéraire et du middleware. Les Les erreurs qui se produisent dans le code synchrone à l'intérieur des gestionnaires de route et du middleware ne nécessitent aucun travail supplémentaire. Si le code synchrone génère une erreur, Express la détectera et la traitera.</a:t>
            </a:r>
            <a:endParaRPr lang="en-US"/>
          </a:p>
        </p:txBody>
      </p:sp>
      <p:sp>
        <p:nvSpPr>
          <p:cNvPr id="11" name="TextBox 10"/>
          <p:cNvSpPr txBox="1"/>
          <p:nvPr/>
        </p:nvSpPr>
        <p:spPr>
          <a:xfrm>
            <a:off x="2168433" y="4432657"/>
            <a:ext cx="9126584" cy="923330"/>
          </a:xfrm>
          <a:prstGeom prst="rect">
            <a:avLst/>
          </a:prstGeom>
          <a:solidFill>
            <a:schemeClr val="tx2">
              <a:lumMod val="50000"/>
            </a:schemeClr>
          </a:solidFill>
        </p:spPr>
        <p:txBody>
          <a:bodyPr wrap="square" rtlCol="0">
            <a:spAutoFit/>
          </a:bodyPr>
          <a:lstStyle>
            <a:defPPr>
              <a:defRPr lang="fr-FR"/>
            </a:defPPr>
            <a:lvl1pPr>
              <a:defRPr i="1">
                <a:solidFill>
                  <a:srgbClr val="82AAFF"/>
                </a:solidFill>
                <a:latin typeface="Consolas" panose="020B0609020204030204" pitchFamily="49" charset="0"/>
              </a:defRPr>
            </a:lvl1pPr>
          </a:lstStyle>
          <a:p>
            <a:r>
              <a:rPr lang="en-US">
                <a:solidFill>
                  <a:srgbClr val="D6DEEB"/>
                </a:solidFill>
              </a:rPr>
              <a:t>app</a:t>
            </a:r>
            <a:r>
              <a:rPr lang="en-US">
                <a:solidFill>
                  <a:srgbClr val="C792EA"/>
                </a:solidFill>
              </a:rPr>
              <a:t>.</a:t>
            </a:r>
            <a:r>
              <a:rPr lang="en-US"/>
              <a:t>get</a:t>
            </a:r>
            <a:r>
              <a:rPr lang="en-US">
                <a:solidFill>
                  <a:srgbClr val="D6DEEB"/>
                </a:solidFill>
              </a:rPr>
              <a:t>(</a:t>
            </a:r>
            <a:r>
              <a:rPr lang="en-US">
                <a:solidFill>
                  <a:srgbClr val="D9F5DD"/>
                </a:solidFill>
              </a:rPr>
              <a:t>'</a:t>
            </a:r>
            <a:r>
              <a:rPr lang="en-US">
                <a:solidFill>
                  <a:srgbClr val="ECC48D"/>
                </a:solidFill>
              </a:rPr>
              <a:t>/</a:t>
            </a:r>
            <a:r>
              <a:rPr lang="en-US">
                <a:solidFill>
                  <a:srgbClr val="D9F5DD"/>
                </a:solidFill>
              </a:rPr>
              <a:t>'</a:t>
            </a:r>
            <a:r>
              <a:rPr lang="en-US">
                <a:solidFill>
                  <a:srgbClr val="D6DEEB"/>
                </a:solidFill>
              </a:rPr>
              <a:t>, </a:t>
            </a:r>
            <a:r>
              <a:rPr lang="en-US">
                <a:solidFill>
                  <a:srgbClr val="D9F5DD"/>
                </a:solidFill>
              </a:rPr>
              <a:t>(</a:t>
            </a:r>
            <a:r>
              <a:rPr lang="en-US">
                <a:solidFill>
                  <a:srgbClr val="D7DBE0"/>
                </a:solidFill>
              </a:rPr>
              <a:t>req</a:t>
            </a:r>
            <a:r>
              <a:rPr lang="en-US">
                <a:solidFill>
                  <a:srgbClr val="D6DEEB"/>
                </a:solidFill>
              </a:rPr>
              <a:t>, </a:t>
            </a:r>
            <a:r>
              <a:rPr lang="en-US">
                <a:solidFill>
                  <a:srgbClr val="D7DBE0"/>
                </a:solidFill>
              </a:rPr>
              <a:t>res</a:t>
            </a:r>
            <a:r>
              <a:rPr lang="en-US">
                <a:solidFill>
                  <a:srgbClr val="D9F5DD"/>
                </a:solidFill>
              </a:rPr>
              <a:t>)</a:t>
            </a:r>
            <a:r>
              <a:rPr lang="en-US">
                <a:solidFill>
                  <a:srgbClr val="D6DEEB"/>
                </a:solidFill>
              </a:rPr>
              <a:t> </a:t>
            </a:r>
            <a:r>
              <a:rPr lang="en-US"/>
              <a:t>=&gt;</a:t>
            </a:r>
            <a:r>
              <a:rPr lang="en-US">
                <a:solidFill>
                  <a:srgbClr val="D6DEEB"/>
                </a:solidFill>
              </a:rPr>
              <a:t> {</a:t>
            </a:r>
          </a:p>
          <a:p>
            <a:r>
              <a:rPr lang="en-US">
                <a:solidFill>
                  <a:srgbClr val="D6DEEB"/>
                </a:solidFill>
              </a:rPr>
              <a:t>    </a:t>
            </a:r>
            <a:r>
              <a:rPr lang="en-US">
                <a:solidFill>
                  <a:srgbClr val="7FDBCA"/>
                </a:solidFill>
              </a:rPr>
              <a:t>throw</a:t>
            </a:r>
            <a:r>
              <a:rPr lang="en-US">
                <a:solidFill>
                  <a:srgbClr val="D6DEEB"/>
                </a:solidFill>
              </a:rPr>
              <a:t> </a:t>
            </a:r>
            <a:r>
              <a:rPr lang="en-US">
                <a:solidFill>
                  <a:srgbClr val="7FDBCA"/>
                </a:solidFill>
              </a:rPr>
              <a:t>new</a:t>
            </a:r>
            <a:r>
              <a:rPr lang="en-US">
                <a:solidFill>
                  <a:srgbClr val="D6DEEB"/>
                </a:solidFill>
              </a:rPr>
              <a:t> </a:t>
            </a:r>
            <a:r>
              <a:rPr lang="en-US"/>
              <a:t>Error</a:t>
            </a:r>
            <a:r>
              <a:rPr lang="en-US">
                <a:solidFill>
                  <a:srgbClr val="D6DEEB"/>
                </a:solidFill>
              </a:rPr>
              <a:t>(</a:t>
            </a:r>
            <a:r>
              <a:rPr lang="en-US">
                <a:solidFill>
                  <a:srgbClr val="D9F5DD"/>
                </a:solidFill>
              </a:rPr>
              <a:t>'</a:t>
            </a:r>
            <a:r>
              <a:rPr lang="en-US">
                <a:solidFill>
                  <a:srgbClr val="ECC48D"/>
                </a:solidFill>
              </a:rPr>
              <a:t>BROKEN</a:t>
            </a:r>
            <a:r>
              <a:rPr lang="en-US">
                <a:solidFill>
                  <a:srgbClr val="D9F5DD"/>
                </a:solidFill>
              </a:rPr>
              <a:t>'</a:t>
            </a:r>
            <a:r>
              <a:rPr lang="en-US">
                <a:solidFill>
                  <a:srgbClr val="D6DEEB"/>
                </a:solidFill>
              </a:rPr>
              <a:t>) </a:t>
            </a:r>
            <a:r>
              <a:rPr lang="en-US">
                <a:solidFill>
                  <a:srgbClr val="637777"/>
                </a:solidFill>
              </a:rPr>
              <a:t>// Express will catch this on its own.</a:t>
            </a:r>
            <a:endParaRPr lang="en-US">
              <a:solidFill>
                <a:srgbClr val="D6DEEB"/>
              </a:solidFill>
            </a:endParaRPr>
          </a:p>
          <a:p>
            <a:r>
              <a:rPr lang="en-US">
                <a:solidFill>
                  <a:srgbClr val="D6DEEB"/>
                </a:solidFill>
              </a:rPr>
              <a:t>  })</a:t>
            </a:r>
          </a:p>
        </p:txBody>
      </p:sp>
    </p:spTree>
    <p:extLst>
      <p:ext uri="{BB962C8B-B14F-4D97-AF65-F5344CB8AC3E}">
        <p14:creationId xmlns:p14="http://schemas.microsoft.com/office/powerpoint/2010/main" val="232523626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Les middlewares </a:t>
            </a:r>
          </a:p>
        </p:txBody>
      </p:sp>
      <p:sp>
        <p:nvSpPr>
          <p:cNvPr id="3" name="TextBox 2"/>
          <p:cNvSpPr txBox="1"/>
          <p:nvPr/>
        </p:nvSpPr>
        <p:spPr>
          <a:xfrm>
            <a:off x="2168433" y="1316515"/>
            <a:ext cx="3744686"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Types des middlewares</a:t>
            </a:r>
          </a:p>
        </p:txBody>
      </p:sp>
      <p:sp>
        <p:nvSpPr>
          <p:cNvPr id="8" name="TextBox 7"/>
          <p:cNvSpPr txBox="1"/>
          <p:nvPr/>
        </p:nvSpPr>
        <p:spPr>
          <a:xfrm>
            <a:off x="2168433" y="1809700"/>
            <a:ext cx="3744686" cy="338554"/>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sz="1600"/>
              <a:t>Error handling middleware</a:t>
            </a:r>
          </a:p>
        </p:txBody>
      </p:sp>
      <p:sp>
        <p:nvSpPr>
          <p:cNvPr id="2" name="TextBox 1"/>
          <p:cNvSpPr txBox="1"/>
          <p:nvPr/>
        </p:nvSpPr>
        <p:spPr>
          <a:xfrm>
            <a:off x="2168433" y="2360023"/>
            <a:ext cx="9126584" cy="923330"/>
          </a:xfrm>
          <a:prstGeom prst="rect">
            <a:avLst/>
          </a:prstGeom>
          <a:noFill/>
        </p:spPr>
        <p:txBody>
          <a:bodyPr wrap="square" rtlCol="0">
            <a:spAutoFit/>
          </a:bodyPr>
          <a:lstStyle/>
          <a:p>
            <a:r>
              <a:rPr lang="fr-CA"/>
              <a:t>Pour les erreurs renvoyées par les fonctions asynchrones appelées par les gestionnaires de route et les middlewares, vous devez les transmettre à la fonction next(), où Express les interceptera et les traitera.</a:t>
            </a:r>
            <a:endParaRPr lang="en-US"/>
          </a:p>
        </p:txBody>
      </p:sp>
      <p:sp>
        <p:nvSpPr>
          <p:cNvPr id="11" name="TextBox 10"/>
          <p:cNvSpPr txBox="1"/>
          <p:nvPr/>
        </p:nvSpPr>
        <p:spPr>
          <a:xfrm>
            <a:off x="2168433" y="3439876"/>
            <a:ext cx="9126584" cy="2862322"/>
          </a:xfrm>
          <a:prstGeom prst="rect">
            <a:avLst/>
          </a:prstGeom>
          <a:solidFill>
            <a:schemeClr val="tx2">
              <a:lumMod val="50000"/>
            </a:schemeClr>
          </a:solidFill>
        </p:spPr>
        <p:txBody>
          <a:bodyPr wrap="square" rtlCol="0">
            <a:spAutoFit/>
          </a:bodyPr>
          <a:lstStyle>
            <a:defPPr>
              <a:defRPr lang="fr-FR"/>
            </a:defPPr>
            <a:lvl1pPr>
              <a:defRPr i="1">
                <a:solidFill>
                  <a:srgbClr val="82AAFF"/>
                </a:solidFill>
                <a:latin typeface="Consolas" panose="020B0609020204030204" pitchFamily="49" charset="0"/>
              </a:defRPr>
            </a:lvl1pPr>
          </a:lstStyle>
          <a:p>
            <a:r>
              <a:rPr lang="fr-CA">
                <a:solidFill>
                  <a:srgbClr val="D6DEEB"/>
                </a:solidFill>
              </a:rPr>
              <a:t>Tp06.js</a:t>
            </a:r>
          </a:p>
          <a:p>
            <a:r>
              <a:rPr lang="fr-CA">
                <a:solidFill>
                  <a:srgbClr val="D6DEEB"/>
                </a:solidFill>
              </a:rPr>
              <a:t>app</a:t>
            </a:r>
            <a:r>
              <a:rPr lang="fr-CA">
                <a:solidFill>
                  <a:srgbClr val="C792EA"/>
                </a:solidFill>
              </a:rPr>
              <a:t>.</a:t>
            </a:r>
            <a:r>
              <a:rPr lang="fr-CA"/>
              <a:t>get</a:t>
            </a:r>
            <a:r>
              <a:rPr lang="fr-CA">
                <a:solidFill>
                  <a:srgbClr val="D6DEEB"/>
                </a:solidFill>
              </a:rPr>
              <a:t>(</a:t>
            </a:r>
            <a:r>
              <a:rPr lang="fr-CA">
                <a:solidFill>
                  <a:srgbClr val="D9F5DD"/>
                </a:solidFill>
              </a:rPr>
              <a:t>'</a:t>
            </a:r>
            <a:r>
              <a:rPr lang="fr-CA">
                <a:solidFill>
                  <a:srgbClr val="ECC48D"/>
                </a:solidFill>
              </a:rPr>
              <a:t>/</a:t>
            </a:r>
            <a:r>
              <a:rPr lang="fr-CA">
                <a:solidFill>
                  <a:srgbClr val="D9F5DD"/>
                </a:solidFill>
              </a:rPr>
              <a:t>'</a:t>
            </a:r>
            <a:r>
              <a:rPr lang="fr-CA">
                <a:solidFill>
                  <a:srgbClr val="D6DEEB"/>
                </a:solidFill>
              </a:rPr>
              <a:t>, </a:t>
            </a:r>
            <a:r>
              <a:rPr lang="fr-CA">
                <a:solidFill>
                  <a:srgbClr val="D9F5DD"/>
                </a:solidFill>
              </a:rPr>
              <a:t>(</a:t>
            </a:r>
            <a:r>
              <a:rPr lang="fr-CA">
                <a:solidFill>
                  <a:srgbClr val="D7DBE0"/>
                </a:solidFill>
              </a:rPr>
              <a:t>req</a:t>
            </a:r>
            <a:r>
              <a:rPr lang="fr-CA">
                <a:solidFill>
                  <a:srgbClr val="D6DEEB"/>
                </a:solidFill>
              </a:rPr>
              <a:t>, </a:t>
            </a:r>
            <a:r>
              <a:rPr lang="fr-CA">
                <a:solidFill>
                  <a:srgbClr val="D7DBE0"/>
                </a:solidFill>
              </a:rPr>
              <a:t>res</a:t>
            </a:r>
            <a:r>
              <a:rPr lang="fr-CA">
                <a:solidFill>
                  <a:srgbClr val="D6DEEB"/>
                </a:solidFill>
              </a:rPr>
              <a:t>, </a:t>
            </a:r>
            <a:r>
              <a:rPr lang="fr-CA">
                <a:solidFill>
                  <a:srgbClr val="D7DBE0"/>
                </a:solidFill>
              </a:rPr>
              <a:t>next</a:t>
            </a:r>
            <a:r>
              <a:rPr lang="fr-CA">
                <a:solidFill>
                  <a:srgbClr val="D9F5DD"/>
                </a:solidFill>
              </a:rPr>
              <a:t>)</a:t>
            </a:r>
            <a:r>
              <a:rPr lang="fr-CA">
                <a:solidFill>
                  <a:srgbClr val="D6DEEB"/>
                </a:solidFill>
              </a:rPr>
              <a:t> </a:t>
            </a:r>
            <a:r>
              <a:rPr lang="fr-CA"/>
              <a:t>=&gt;</a:t>
            </a:r>
            <a:r>
              <a:rPr lang="fr-CA">
                <a:solidFill>
                  <a:srgbClr val="D6DEEB"/>
                </a:solidFill>
              </a:rPr>
              <a:t> {</a:t>
            </a:r>
          </a:p>
          <a:p>
            <a:r>
              <a:rPr lang="fr-CA">
                <a:solidFill>
                  <a:srgbClr val="D6DEEB"/>
                </a:solidFill>
              </a:rPr>
              <a:t>    fs</a:t>
            </a:r>
            <a:r>
              <a:rPr lang="fr-CA">
                <a:solidFill>
                  <a:srgbClr val="C792EA"/>
                </a:solidFill>
              </a:rPr>
              <a:t>.</a:t>
            </a:r>
            <a:r>
              <a:rPr lang="fr-CA"/>
              <a:t>readFile</a:t>
            </a:r>
            <a:r>
              <a:rPr lang="fr-CA">
                <a:solidFill>
                  <a:srgbClr val="D6DEEB"/>
                </a:solidFill>
              </a:rPr>
              <a:t>(</a:t>
            </a:r>
            <a:r>
              <a:rPr lang="fr-CA">
                <a:solidFill>
                  <a:srgbClr val="D9F5DD"/>
                </a:solidFill>
              </a:rPr>
              <a:t>'</a:t>
            </a:r>
            <a:r>
              <a:rPr lang="fr-CA">
                <a:solidFill>
                  <a:srgbClr val="ECC48D"/>
                </a:solidFill>
              </a:rPr>
              <a:t>/file-does-not-exist</a:t>
            </a:r>
            <a:r>
              <a:rPr lang="fr-CA">
                <a:solidFill>
                  <a:srgbClr val="D9F5DD"/>
                </a:solidFill>
              </a:rPr>
              <a:t>'</a:t>
            </a:r>
            <a:r>
              <a:rPr lang="fr-CA">
                <a:solidFill>
                  <a:srgbClr val="D6DEEB"/>
                </a:solidFill>
              </a:rPr>
              <a:t>, </a:t>
            </a:r>
            <a:r>
              <a:rPr lang="fr-CA">
                <a:solidFill>
                  <a:srgbClr val="D9F5DD"/>
                </a:solidFill>
              </a:rPr>
              <a:t>(</a:t>
            </a:r>
            <a:r>
              <a:rPr lang="fr-CA">
                <a:solidFill>
                  <a:srgbClr val="D7DBE0"/>
                </a:solidFill>
              </a:rPr>
              <a:t>err</a:t>
            </a:r>
            <a:r>
              <a:rPr lang="fr-CA">
                <a:solidFill>
                  <a:srgbClr val="D6DEEB"/>
                </a:solidFill>
              </a:rPr>
              <a:t>, </a:t>
            </a:r>
            <a:r>
              <a:rPr lang="fr-CA">
                <a:solidFill>
                  <a:srgbClr val="D7DBE0"/>
                </a:solidFill>
              </a:rPr>
              <a:t>data</a:t>
            </a:r>
            <a:r>
              <a:rPr lang="fr-CA">
                <a:solidFill>
                  <a:srgbClr val="D9F5DD"/>
                </a:solidFill>
              </a:rPr>
              <a:t>)</a:t>
            </a:r>
            <a:r>
              <a:rPr lang="fr-CA">
                <a:solidFill>
                  <a:srgbClr val="D6DEEB"/>
                </a:solidFill>
              </a:rPr>
              <a:t> </a:t>
            </a:r>
            <a:r>
              <a:rPr lang="fr-CA"/>
              <a:t>=&gt;</a:t>
            </a:r>
            <a:r>
              <a:rPr lang="fr-CA">
                <a:solidFill>
                  <a:srgbClr val="D6DEEB"/>
                </a:solidFill>
              </a:rPr>
              <a:t> {</a:t>
            </a:r>
          </a:p>
          <a:p>
            <a:r>
              <a:rPr lang="fr-CA">
                <a:solidFill>
                  <a:srgbClr val="D6DEEB"/>
                </a:solidFill>
              </a:rPr>
              <a:t>      </a:t>
            </a:r>
            <a:r>
              <a:rPr lang="fr-CA">
                <a:solidFill>
                  <a:srgbClr val="C792EA"/>
                </a:solidFill>
              </a:rPr>
              <a:t>if</a:t>
            </a:r>
            <a:r>
              <a:rPr lang="fr-CA">
                <a:solidFill>
                  <a:srgbClr val="D6DEEB"/>
                </a:solidFill>
              </a:rPr>
              <a:t> (</a:t>
            </a:r>
            <a:r>
              <a:rPr lang="fr-CA">
                <a:solidFill>
                  <a:srgbClr val="D7DBE0"/>
                </a:solidFill>
              </a:rPr>
              <a:t>err</a:t>
            </a:r>
            <a:r>
              <a:rPr lang="fr-CA">
                <a:solidFill>
                  <a:srgbClr val="D6DEEB"/>
                </a:solidFill>
              </a:rPr>
              <a:t>) {</a:t>
            </a:r>
          </a:p>
          <a:p>
            <a:r>
              <a:rPr lang="fr-CA">
                <a:solidFill>
                  <a:srgbClr val="D6DEEB"/>
                </a:solidFill>
              </a:rPr>
              <a:t>        </a:t>
            </a:r>
            <a:r>
              <a:rPr lang="fr-CA"/>
              <a:t>next</a:t>
            </a:r>
            <a:r>
              <a:rPr lang="fr-CA">
                <a:solidFill>
                  <a:srgbClr val="D6DEEB"/>
                </a:solidFill>
              </a:rPr>
              <a:t>(</a:t>
            </a:r>
            <a:r>
              <a:rPr lang="fr-CA">
                <a:solidFill>
                  <a:srgbClr val="D7DBE0"/>
                </a:solidFill>
              </a:rPr>
              <a:t>err</a:t>
            </a:r>
            <a:r>
              <a:rPr lang="fr-CA">
                <a:solidFill>
                  <a:srgbClr val="D6DEEB"/>
                </a:solidFill>
              </a:rPr>
              <a:t>) </a:t>
            </a:r>
            <a:r>
              <a:rPr lang="fr-CA">
                <a:solidFill>
                  <a:srgbClr val="637777"/>
                </a:solidFill>
              </a:rPr>
              <a:t>// Pass errors to Express.</a:t>
            </a:r>
            <a:endParaRPr lang="fr-CA">
              <a:solidFill>
                <a:srgbClr val="D6DEEB"/>
              </a:solidFill>
            </a:endParaRPr>
          </a:p>
          <a:p>
            <a:r>
              <a:rPr lang="fr-CA">
                <a:solidFill>
                  <a:srgbClr val="D6DEEB"/>
                </a:solidFill>
              </a:rPr>
              <a:t>      } </a:t>
            </a:r>
            <a:r>
              <a:rPr lang="fr-CA">
                <a:solidFill>
                  <a:srgbClr val="C792EA"/>
                </a:solidFill>
              </a:rPr>
              <a:t>else</a:t>
            </a:r>
            <a:r>
              <a:rPr lang="fr-CA">
                <a:solidFill>
                  <a:srgbClr val="D6DEEB"/>
                </a:solidFill>
              </a:rPr>
              <a:t> {</a:t>
            </a:r>
          </a:p>
          <a:p>
            <a:r>
              <a:rPr lang="fr-CA">
                <a:solidFill>
                  <a:srgbClr val="D6DEEB"/>
                </a:solidFill>
              </a:rPr>
              <a:t>        res</a:t>
            </a:r>
            <a:r>
              <a:rPr lang="fr-CA">
                <a:solidFill>
                  <a:srgbClr val="C792EA"/>
                </a:solidFill>
              </a:rPr>
              <a:t>.</a:t>
            </a:r>
            <a:r>
              <a:rPr lang="fr-CA"/>
              <a:t>send</a:t>
            </a:r>
            <a:r>
              <a:rPr lang="fr-CA">
                <a:solidFill>
                  <a:srgbClr val="D6DEEB"/>
                </a:solidFill>
              </a:rPr>
              <a:t>(</a:t>
            </a:r>
            <a:r>
              <a:rPr lang="fr-CA">
                <a:solidFill>
                  <a:srgbClr val="D7DBE0"/>
                </a:solidFill>
              </a:rPr>
              <a:t>data</a:t>
            </a:r>
            <a:r>
              <a:rPr lang="fr-CA">
                <a:solidFill>
                  <a:srgbClr val="D6DEEB"/>
                </a:solidFill>
              </a:rPr>
              <a:t>)</a:t>
            </a:r>
          </a:p>
          <a:p>
            <a:r>
              <a:rPr lang="fr-CA">
                <a:solidFill>
                  <a:srgbClr val="D6DEEB"/>
                </a:solidFill>
              </a:rPr>
              <a:t>      }</a:t>
            </a:r>
          </a:p>
          <a:p>
            <a:r>
              <a:rPr lang="fr-CA">
                <a:solidFill>
                  <a:srgbClr val="D6DEEB"/>
                </a:solidFill>
              </a:rPr>
              <a:t>    })</a:t>
            </a:r>
          </a:p>
          <a:p>
            <a:r>
              <a:rPr lang="fr-CA">
                <a:solidFill>
                  <a:srgbClr val="D6DEEB"/>
                </a:solidFill>
              </a:rPr>
              <a:t>  })</a:t>
            </a:r>
          </a:p>
        </p:txBody>
      </p:sp>
    </p:spTree>
    <p:extLst>
      <p:ext uri="{BB962C8B-B14F-4D97-AF65-F5344CB8AC3E}">
        <p14:creationId xmlns:p14="http://schemas.microsoft.com/office/powerpoint/2010/main" val="381098151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Les middlewares </a:t>
            </a:r>
          </a:p>
        </p:txBody>
      </p:sp>
      <p:sp>
        <p:nvSpPr>
          <p:cNvPr id="3" name="TextBox 2"/>
          <p:cNvSpPr txBox="1"/>
          <p:nvPr/>
        </p:nvSpPr>
        <p:spPr>
          <a:xfrm>
            <a:off x="2168433" y="1316515"/>
            <a:ext cx="3744686"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Types des middlewares</a:t>
            </a:r>
          </a:p>
        </p:txBody>
      </p:sp>
      <p:sp>
        <p:nvSpPr>
          <p:cNvPr id="8" name="TextBox 7"/>
          <p:cNvSpPr txBox="1"/>
          <p:nvPr/>
        </p:nvSpPr>
        <p:spPr>
          <a:xfrm>
            <a:off x="2168433" y="1809700"/>
            <a:ext cx="3744686" cy="338554"/>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sz="1600"/>
              <a:t>Error handling middleware</a:t>
            </a:r>
          </a:p>
        </p:txBody>
      </p:sp>
      <p:sp>
        <p:nvSpPr>
          <p:cNvPr id="2" name="TextBox 1"/>
          <p:cNvSpPr txBox="1"/>
          <p:nvPr/>
        </p:nvSpPr>
        <p:spPr>
          <a:xfrm>
            <a:off x="2168433" y="2525489"/>
            <a:ext cx="9126584" cy="2308324"/>
          </a:xfrm>
          <a:prstGeom prst="rect">
            <a:avLst/>
          </a:prstGeom>
          <a:noFill/>
        </p:spPr>
        <p:txBody>
          <a:bodyPr wrap="square" rtlCol="0">
            <a:spAutoFit/>
          </a:bodyPr>
          <a:lstStyle/>
          <a:p>
            <a:r>
              <a:rPr lang="fr-CA"/>
              <a:t>Express est livré avec un gestionnaire d'erreurs intégré qui prend en charge toutes les erreurs susceptibles d'être rencontrées dans l'application. Cette fonction middleware de gestion des erreurs par défaut est ajoutée à la fin de la pile de fonctions middleware.</a:t>
            </a:r>
            <a:br>
              <a:rPr lang="fr-CA"/>
            </a:br>
            <a:r>
              <a:rPr lang="fr-CA"/>
              <a:t>Si vous transmettez une erreur à next() et que vous ne la gérez pas dans un gestionnaire d'erreurs personnalisé, elle sera gérée par le gestionnaire d'erreurs intégré ; l'erreur sera écrite sur le client avec la trace de la pile. La trace de la pile n'est pas incluse dans l'environnement de production.</a:t>
            </a:r>
            <a:endParaRPr lang="en-US"/>
          </a:p>
        </p:txBody>
      </p:sp>
      <p:sp>
        <p:nvSpPr>
          <p:cNvPr id="7" name="TextBox 6"/>
          <p:cNvSpPr txBox="1"/>
          <p:nvPr/>
        </p:nvSpPr>
        <p:spPr>
          <a:xfrm>
            <a:off x="2168433" y="2202436"/>
            <a:ext cx="3744686" cy="338554"/>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sz="1600"/>
              <a:t>Le gestionnaire par default </a:t>
            </a:r>
          </a:p>
        </p:txBody>
      </p:sp>
      <p:sp>
        <p:nvSpPr>
          <p:cNvPr id="9" name="TextBox 8"/>
          <p:cNvSpPr txBox="1"/>
          <p:nvPr/>
        </p:nvSpPr>
        <p:spPr>
          <a:xfrm>
            <a:off x="2272937" y="4981303"/>
            <a:ext cx="9413966" cy="1477328"/>
          </a:xfrm>
          <a:prstGeom prst="rect">
            <a:avLst/>
          </a:prstGeom>
          <a:noFill/>
        </p:spPr>
        <p:txBody>
          <a:bodyPr wrap="square" rtlCol="0">
            <a:spAutoFit/>
          </a:bodyPr>
          <a:lstStyle/>
          <a:p>
            <a:r>
              <a:rPr lang="fr-CA"/>
              <a:t>Lorsqu'une erreur est écrite, les informations suivantes sont ajoutées à la réponse :</a:t>
            </a:r>
            <a:br>
              <a:rPr lang="fr-CA"/>
            </a:br>
            <a:r>
              <a:rPr lang="fr-CA"/>
              <a:t> - res.statusCode 4xx ou 5xx</a:t>
            </a:r>
            <a:br>
              <a:rPr lang="fr-CA"/>
            </a:br>
            <a:r>
              <a:rPr lang="fr-CA"/>
              <a:t>- Le res.statusMessage est défini en fonction du code d'état</a:t>
            </a:r>
            <a:br>
              <a:rPr lang="fr-CA"/>
            </a:br>
            <a:r>
              <a:rPr lang="fr-CA"/>
              <a:t>- Le corps sera le code HTML du message de code d'état dans l'environnement de production, sinon ce sera err.stack</a:t>
            </a:r>
          </a:p>
        </p:txBody>
      </p:sp>
    </p:spTree>
    <p:extLst>
      <p:ext uri="{BB962C8B-B14F-4D97-AF65-F5344CB8AC3E}">
        <p14:creationId xmlns:p14="http://schemas.microsoft.com/office/powerpoint/2010/main" val="193281482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2" grpId="0"/>
      <p:bldP spid="7" grpId="0"/>
    </p:bldLst>
  </p:timing>
</p:sld>
</file>

<file path=ppt/slides/slide5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Les middlewares </a:t>
            </a:r>
          </a:p>
        </p:txBody>
      </p:sp>
      <p:sp>
        <p:nvSpPr>
          <p:cNvPr id="3" name="TextBox 2"/>
          <p:cNvSpPr txBox="1"/>
          <p:nvPr/>
        </p:nvSpPr>
        <p:spPr>
          <a:xfrm>
            <a:off x="2168433" y="1316515"/>
            <a:ext cx="3744686"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Types des middlewares</a:t>
            </a:r>
          </a:p>
        </p:txBody>
      </p:sp>
      <p:sp>
        <p:nvSpPr>
          <p:cNvPr id="8" name="TextBox 7"/>
          <p:cNvSpPr txBox="1"/>
          <p:nvPr/>
        </p:nvSpPr>
        <p:spPr>
          <a:xfrm>
            <a:off x="2168433" y="1809700"/>
            <a:ext cx="3744686" cy="338554"/>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sz="1600"/>
              <a:t>Error handling middleware</a:t>
            </a:r>
          </a:p>
        </p:txBody>
      </p:sp>
      <p:sp>
        <p:nvSpPr>
          <p:cNvPr id="7" name="TextBox 6"/>
          <p:cNvSpPr txBox="1"/>
          <p:nvPr/>
        </p:nvSpPr>
        <p:spPr>
          <a:xfrm>
            <a:off x="2168433" y="2202436"/>
            <a:ext cx="3744686" cy="338554"/>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sz="1600"/>
              <a:t>Définir un Gestionnaire d’erreur</a:t>
            </a:r>
          </a:p>
        </p:txBody>
      </p:sp>
      <p:sp>
        <p:nvSpPr>
          <p:cNvPr id="5" name="TextBox 4"/>
          <p:cNvSpPr txBox="1"/>
          <p:nvPr/>
        </p:nvSpPr>
        <p:spPr>
          <a:xfrm>
            <a:off x="2168433" y="2873829"/>
            <a:ext cx="9797143" cy="3139321"/>
          </a:xfrm>
          <a:prstGeom prst="rect">
            <a:avLst/>
          </a:prstGeom>
          <a:solidFill>
            <a:schemeClr val="tx2">
              <a:lumMod val="50000"/>
            </a:schemeClr>
          </a:solidFill>
        </p:spPr>
        <p:txBody>
          <a:bodyPr wrap="square" rtlCol="0">
            <a:spAutoFit/>
          </a:bodyPr>
          <a:lstStyle>
            <a:defPPr>
              <a:defRPr lang="fr-FR"/>
            </a:defPPr>
            <a:lvl1pPr>
              <a:defRPr i="1">
                <a:solidFill>
                  <a:srgbClr val="D6DEEB"/>
                </a:solidFill>
                <a:latin typeface="Consolas" panose="020B0609020204030204" pitchFamily="49" charset="0"/>
              </a:defRPr>
            </a:lvl1pPr>
          </a:lstStyle>
          <a:p>
            <a:r>
              <a:rPr lang="fr-CA">
                <a:solidFill>
                  <a:srgbClr val="82AAFF"/>
                </a:solidFill>
              </a:rPr>
              <a:t>function</a:t>
            </a:r>
            <a:r>
              <a:rPr lang="fr-CA"/>
              <a:t> </a:t>
            </a:r>
            <a:r>
              <a:rPr lang="fr-CA">
                <a:solidFill>
                  <a:srgbClr val="82AAFF"/>
                </a:solidFill>
              </a:rPr>
              <a:t>errorHandler</a:t>
            </a:r>
            <a:r>
              <a:rPr lang="fr-CA">
                <a:solidFill>
                  <a:srgbClr val="D9F5DD"/>
                </a:solidFill>
              </a:rPr>
              <a:t>(</a:t>
            </a:r>
            <a:r>
              <a:rPr lang="fr-CA">
                <a:solidFill>
                  <a:srgbClr val="D7DBE0"/>
                </a:solidFill>
              </a:rPr>
              <a:t>err</a:t>
            </a:r>
            <a:r>
              <a:rPr lang="fr-CA"/>
              <a:t>, </a:t>
            </a:r>
            <a:r>
              <a:rPr lang="fr-CA">
                <a:solidFill>
                  <a:srgbClr val="D7DBE0"/>
                </a:solidFill>
              </a:rPr>
              <a:t>req</a:t>
            </a:r>
            <a:r>
              <a:rPr lang="fr-CA"/>
              <a:t>, </a:t>
            </a:r>
            <a:r>
              <a:rPr lang="fr-CA">
                <a:solidFill>
                  <a:srgbClr val="D7DBE0"/>
                </a:solidFill>
              </a:rPr>
              <a:t>res</a:t>
            </a:r>
            <a:r>
              <a:rPr lang="fr-CA"/>
              <a:t>, </a:t>
            </a:r>
            <a:r>
              <a:rPr lang="fr-CA">
                <a:solidFill>
                  <a:srgbClr val="D7DBE0"/>
                </a:solidFill>
              </a:rPr>
              <a:t>next</a:t>
            </a:r>
            <a:r>
              <a:rPr lang="fr-CA">
                <a:solidFill>
                  <a:srgbClr val="D9F5DD"/>
                </a:solidFill>
              </a:rPr>
              <a:t>)</a:t>
            </a:r>
            <a:r>
              <a:rPr lang="fr-CA"/>
              <a:t>{</a:t>
            </a:r>
          </a:p>
          <a:p>
            <a:r>
              <a:rPr lang="fr-CA"/>
              <a:t>    console</a:t>
            </a:r>
            <a:r>
              <a:rPr lang="fr-CA">
                <a:solidFill>
                  <a:srgbClr val="C792EA"/>
                </a:solidFill>
              </a:rPr>
              <a:t>.</a:t>
            </a:r>
            <a:r>
              <a:rPr lang="fr-CA">
                <a:solidFill>
                  <a:srgbClr val="82AAFF"/>
                </a:solidFill>
              </a:rPr>
              <a:t>log</a:t>
            </a:r>
            <a:r>
              <a:rPr lang="fr-CA"/>
              <a:t>(</a:t>
            </a:r>
            <a:r>
              <a:rPr lang="fr-CA">
                <a:solidFill>
                  <a:srgbClr val="D9F5DD"/>
                </a:solidFill>
              </a:rPr>
              <a:t>"</a:t>
            </a:r>
            <a:r>
              <a:rPr lang="fr-CA">
                <a:solidFill>
                  <a:srgbClr val="ECC48D"/>
                </a:solidFill>
              </a:rPr>
              <a:t>Middleware Error Hadnling</a:t>
            </a:r>
            <a:r>
              <a:rPr lang="fr-CA">
                <a:solidFill>
                  <a:srgbClr val="D9F5DD"/>
                </a:solidFill>
              </a:rPr>
              <a:t>"</a:t>
            </a:r>
            <a:r>
              <a:rPr lang="fr-CA"/>
              <a:t>);</a:t>
            </a:r>
          </a:p>
          <a:p>
            <a:r>
              <a:rPr lang="fr-CA"/>
              <a:t>    </a:t>
            </a:r>
            <a:r>
              <a:rPr lang="fr-CA">
                <a:solidFill>
                  <a:srgbClr val="82AAFF"/>
                </a:solidFill>
              </a:rPr>
              <a:t>const</a:t>
            </a:r>
            <a:r>
              <a:rPr lang="fr-CA">
                <a:solidFill>
                  <a:srgbClr val="C792EA"/>
                </a:solidFill>
              </a:rPr>
              <a:t> </a:t>
            </a:r>
            <a:r>
              <a:rPr lang="fr-CA">
                <a:solidFill>
                  <a:srgbClr val="82AAFF"/>
                </a:solidFill>
              </a:rPr>
              <a:t>errStatus</a:t>
            </a:r>
            <a:r>
              <a:rPr lang="fr-CA">
                <a:solidFill>
                  <a:srgbClr val="C792EA"/>
                </a:solidFill>
              </a:rPr>
              <a:t> = </a:t>
            </a:r>
            <a:r>
              <a:rPr lang="fr-CA"/>
              <a:t>err</a:t>
            </a:r>
            <a:r>
              <a:rPr lang="fr-CA">
                <a:solidFill>
                  <a:srgbClr val="C792EA"/>
                </a:solidFill>
              </a:rPr>
              <a:t>.</a:t>
            </a:r>
            <a:r>
              <a:rPr lang="fr-CA">
                <a:solidFill>
                  <a:srgbClr val="7FDBCA"/>
                </a:solidFill>
              </a:rPr>
              <a:t>statusCode</a:t>
            </a:r>
            <a:r>
              <a:rPr lang="fr-CA">
                <a:solidFill>
                  <a:srgbClr val="C792EA"/>
                </a:solidFill>
              </a:rPr>
              <a:t> || </a:t>
            </a:r>
            <a:r>
              <a:rPr lang="fr-CA">
                <a:solidFill>
                  <a:srgbClr val="F78C6C"/>
                </a:solidFill>
              </a:rPr>
              <a:t>500</a:t>
            </a:r>
            <a:r>
              <a:rPr lang="fr-CA"/>
              <a:t>;</a:t>
            </a:r>
          </a:p>
          <a:p>
            <a:r>
              <a:rPr lang="fr-CA"/>
              <a:t>    </a:t>
            </a:r>
            <a:r>
              <a:rPr lang="fr-CA">
                <a:solidFill>
                  <a:srgbClr val="82AAFF"/>
                </a:solidFill>
              </a:rPr>
              <a:t>const</a:t>
            </a:r>
            <a:r>
              <a:rPr lang="fr-CA">
                <a:solidFill>
                  <a:srgbClr val="C792EA"/>
                </a:solidFill>
              </a:rPr>
              <a:t> </a:t>
            </a:r>
            <a:r>
              <a:rPr lang="fr-CA">
                <a:solidFill>
                  <a:srgbClr val="82AAFF"/>
                </a:solidFill>
              </a:rPr>
              <a:t>errMsg</a:t>
            </a:r>
            <a:r>
              <a:rPr lang="fr-CA">
                <a:solidFill>
                  <a:srgbClr val="C792EA"/>
                </a:solidFill>
              </a:rPr>
              <a:t> = </a:t>
            </a:r>
            <a:r>
              <a:rPr lang="fr-CA"/>
              <a:t>err</a:t>
            </a:r>
            <a:r>
              <a:rPr lang="fr-CA">
                <a:solidFill>
                  <a:srgbClr val="C792EA"/>
                </a:solidFill>
              </a:rPr>
              <a:t>.</a:t>
            </a:r>
            <a:r>
              <a:rPr lang="fr-CA">
                <a:solidFill>
                  <a:srgbClr val="7FDBCA"/>
                </a:solidFill>
              </a:rPr>
              <a:t>message</a:t>
            </a:r>
            <a:r>
              <a:rPr lang="fr-CA">
                <a:solidFill>
                  <a:srgbClr val="C792EA"/>
                </a:solidFill>
              </a:rPr>
              <a:t> || </a:t>
            </a:r>
            <a:r>
              <a:rPr lang="fr-CA">
                <a:solidFill>
                  <a:srgbClr val="D9F5DD"/>
                </a:solidFill>
              </a:rPr>
              <a:t>'</a:t>
            </a:r>
            <a:r>
              <a:rPr lang="fr-CA">
                <a:solidFill>
                  <a:srgbClr val="ECC48D"/>
                </a:solidFill>
              </a:rPr>
              <a:t>Something went wrong</a:t>
            </a:r>
            <a:r>
              <a:rPr lang="fr-CA">
                <a:solidFill>
                  <a:srgbClr val="D9F5DD"/>
                </a:solidFill>
              </a:rPr>
              <a:t>'</a:t>
            </a:r>
            <a:r>
              <a:rPr lang="fr-CA"/>
              <a:t>;</a:t>
            </a:r>
          </a:p>
          <a:p>
            <a:r>
              <a:rPr lang="fr-CA"/>
              <a:t>    res</a:t>
            </a:r>
            <a:r>
              <a:rPr lang="fr-CA">
                <a:solidFill>
                  <a:srgbClr val="C792EA"/>
                </a:solidFill>
              </a:rPr>
              <a:t>.</a:t>
            </a:r>
            <a:r>
              <a:rPr lang="fr-CA">
                <a:solidFill>
                  <a:srgbClr val="82AAFF"/>
                </a:solidFill>
              </a:rPr>
              <a:t>status</a:t>
            </a:r>
            <a:r>
              <a:rPr lang="fr-CA"/>
              <a:t>(</a:t>
            </a:r>
            <a:r>
              <a:rPr lang="fr-CA">
                <a:solidFill>
                  <a:srgbClr val="D7DBE0"/>
                </a:solidFill>
              </a:rPr>
              <a:t>errStatus</a:t>
            </a:r>
            <a:r>
              <a:rPr lang="fr-CA"/>
              <a:t>)</a:t>
            </a:r>
            <a:r>
              <a:rPr lang="fr-CA">
                <a:solidFill>
                  <a:srgbClr val="C792EA"/>
                </a:solidFill>
              </a:rPr>
              <a:t>.</a:t>
            </a:r>
            <a:r>
              <a:rPr lang="fr-CA">
                <a:solidFill>
                  <a:srgbClr val="82AAFF"/>
                </a:solidFill>
              </a:rPr>
              <a:t>json</a:t>
            </a:r>
            <a:r>
              <a:rPr lang="fr-CA"/>
              <a:t>({</a:t>
            </a:r>
          </a:p>
          <a:p>
            <a:r>
              <a:rPr lang="fr-CA"/>
              <a:t>        success: </a:t>
            </a:r>
            <a:r>
              <a:rPr lang="fr-CA">
                <a:solidFill>
                  <a:srgbClr val="FF5874"/>
                </a:solidFill>
              </a:rPr>
              <a:t>false</a:t>
            </a:r>
            <a:r>
              <a:rPr lang="fr-CA">
                <a:solidFill>
                  <a:srgbClr val="5F7E97"/>
                </a:solidFill>
              </a:rPr>
              <a:t>,</a:t>
            </a:r>
            <a:endParaRPr lang="fr-CA"/>
          </a:p>
          <a:p>
            <a:r>
              <a:rPr lang="fr-CA"/>
              <a:t>        status: </a:t>
            </a:r>
            <a:r>
              <a:rPr lang="fr-CA">
                <a:solidFill>
                  <a:srgbClr val="D7DBE0"/>
                </a:solidFill>
              </a:rPr>
              <a:t>errStatus</a:t>
            </a:r>
            <a:r>
              <a:rPr lang="fr-CA">
                <a:solidFill>
                  <a:srgbClr val="5F7E97"/>
                </a:solidFill>
              </a:rPr>
              <a:t>,</a:t>
            </a:r>
            <a:endParaRPr lang="fr-CA"/>
          </a:p>
          <a:p>
            <a:r>
              <a:rPr lang="fr-CA"/>
              <a:t>        message: </a:t>
            </a:r>
            <a:r>
              <a:rPr lang="fr-CA">
                <a:solidFill>
                  <a:srgbClr val="D7DBE0"/>
                </a:solidFill>
              </a:rPr>
              <a:t>errMsg</a:t>
            </a:r>
            <a:r>
              <a:rPr lang="fr-CA">
                <a:solidFill>
                  <a:srgbClr val="5F7E97"/>
                </a:solidFill>
              </a:rPr>
              <a:t>,</a:t>
            </a:r>
            <a:endParaRPr lang="fr-CA"/>
          </a:p>
          <a:p>
            <a:r>
              <a:rPr lang="fr-CA"/>
              <a:t>        stack: process</a:t>
            </a:r>
            <a:r>
              <a:rPr lang="fr-CA">
                <a:solidFill>
                  <a:srgbClr val="C792EA"/>
                </a:solidFill>
              </a:rPr>
              <a:t>.</a:t>
            </a:r>
            <a:r>
              <a:rPr lang="fr-CA">
                <a:solidFill>
                  <a:srgbClr val="D7DBE0"/>
                </a:solidFill>
              </a:rPr>
              <a:t>env</a:t>
            </a:r>
            <a:r>
              <a:rPr lang="fr-CA">
                <a:solidFill>
                  <a:srgbClr val="C792EA"/>
                </a:solidFill>
              </a:rPr>
              <a:t>.</a:t>
            </a:r>
            <a:r>
              <a:rPr lang="fr-CA">
                <a:solidFill>
                  <a:srgbClr val="82AAFF"/>
                </a:solidFill>
              </a:rPr>
              <a:t>NODE_ENV</a:t>
            </a:r>
            <a:r>
              <a:rPr lang="fr-CA"/>
              <a:t> </a:t>
            </a:r>
            <a:r>
              <a:rPr lang="fr-CA">
                <a:solidFill>
                  <a:srgbClr val="C792EA"/>
                </a:solidFill>
              </a:rPr>
              <a:t>===</a:t>
            </a:r>
            <a:r>
              <a:rPr lang="fr-CA"/>
              <a:t> </a:t>
            </a:r>
            <a:r>
              <a:rPr lang="fr-CA">
                <a:solidFill>
                  <a:srgbClr val="D9F5DD"/>
                </a:solidFill>
              </a:rPr>
              <a:t>'</a:t>
            </a:r>
            <a:r>
              <a:rPr lang="fr-CA">
                <a:solidFill>
                  <a:srgbClr val="ECC48D"/>
                </a:solidFill>
              </a:rPr>
              <a:t>development</a:t>
            </a:r>
            <a:r>
              <a:rPr lang="fr-CA">
                <a:solidFill>
                  <a:srgbClr val="D9F5DD"/>
                </a:solidFill>
              </a:rPr>
              <a:t>'</a:t>
            </a:r>
            <a:r>
              <a:rPr lang="fr-CA"/>
              <a:t> </a:t>
            </a:r>
            <a:r>
              <a:rPr lang="fr-CA">
                <a:solidFill>
                  <a:srgbClr val="C792EA"/>
                </a:solidFill>
              </a:rPr>
              <a:t>?</a:t>
            </a:r>
            <a:r>
              <a:rPr lang="fr-CA"/>
              <a:t> err</a:t>
            </a:r>
            <a:r>
              <a:rPr lang="fr-CA">
                <a:solidFill>
                  <a:srgbClr val="C792EA"/>
                </a:solidFill>
              </a:rPr>
              <a:t>.</a:t>
            </a:r>
            <a:r>
              <a:rPr lang="fr-CA">
                <a:solidFill>
                  <a:srgbClr val="7FDBCA"/>
                </a:solidFill>
              </a:rPr>
              <a:t>stack</a:t>
            </a:r>
            <a:r>
              <a:rPr lang="fr-CA"/>
              <a:t> </a:t>
            </a:r>
            <a:r>
              <a:rPr lang="fr-CA">
                <a:solidFill>
                  <a:srgbClr val="C792EA"/>
                </a:solidFill>
              </a:rPr>
              <a:t>:</a:t>
            </a:r>
            <a:r>
              <a:rPr lang="fr-CA"/>
              <a:t> {}</a:t>
            </a:r>
          </a:p>
          <a:p>
            <a:r>
              <a:rPr lang="fr-CA"/>
              <a:t>    })</a:t>
            </a:r>
          </a:p>
          <a:p>
            <a:r>
              <a:rPr lang="fr-CA"/>
              <a:t>}</a:t>
            </a:r>
          </a:p>
        </p:txBody>
      </p:sp>
    </p:spTree>
    <p:extLst>
      <p:ext uri="{BB962C8B-B14F-4D97-AF65-F5344CB8AC3E}">
        <p14:creationId xmlns:p14="http://schemas.microsoft.com/office/powerpoint/2010/main" val="31225697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7" grpId="0"/>
    </p:bldLst>
  </p:timing>
</p:sld>
</file>

<file path=ppt/slides/slide5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Les middlewares </a:t>
            </a:r>
          </a:p>
        </p:txBody>
      </p:sp>
      <p:sp>
        <p:nvSpPr>
          <p:cNvPr id="3" name="TextBox 2"/>
          <p:cNvSpPr txBox="1"/>
          <p:nvPr/>
        </p:nvSpPr>
        <p:spPr>
          <a:xfrm>
            <a:off x="2168433" y="1316515"/>
            <a:ext cx="3744686"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Types des middlewares</a:t>
            </a:r>
          </a:p>
        </p:txBody>
      </p:sp>
      <p:sp>
        <p:nvSpPr>
          <p:cNvPr id="8" name="TextBox 7"/>
          <p:cNvSpPr txBox="1"/>
          <p:nvPr/>
        </p:nvSpPr>
        <p:spPr>
          <a:xfrm>
            <a:off x="2168433" y="1809700"/>
            <a:ext cx="3744686" cy="338554"/>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sz="1600"/>
              <a:t>Error handling middleware</a:t>
            </a:r>
          </a:p>
        </p:txBody>
      </p:sp>
      <p:sp>
        <p:nvSpPr>
          <p:cNvPr id="7" name="TextBox 6"/>
          <p:cNvSpPr txBox="1"/>
          <p:nvPr/>
        </p:nvSpPr>
        <p:spPr>
          <a:xfrm>
            <a:off x="2168433" y="2202436"/>
            <a:ext cx="4406538" cy="338554"/>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sz="1600"/>
              <a:t>Définir un Gestionnaire d’erreur tp07.js</a:t>
            </a:r>
          </a:p>
        </p:txBody>
      </p:sp>
      <p:sp>
        <p:nvSpPr>
          <p:cNvPr id="6" name="TextBox 5"/>
          <p:cNvSpPr txBox="1"/>
          <p:nvPr/>
        </p:nvSpPr>
        <p:spPr>
          <a:xfrm>
            <a:off x="2168433" y="2865120"/>
            <a:ext cx="9492343" cy="923330"/>
          </a:xfrm>
          <a:prstGeom prst="rect">
            <a:avLst/>
          </a:prstGeom>
          <a:noFill/>
        </p:spPr>
        <p:txBody>
          <a:bodyPr wrap="square" rtlCol="0">
            <a:spAutoFit/>
          </a:bodyPr>
          <a:lstStyle/>
          <a:p>
            <a:r>
              <a:rPr lang="fr-CA"/>
              <a:t>Nous allons implémenter un endpoint avec le gestionnaire d’erreur précédent et nous allons tester notre exemple avec le gestionnaire express par default et puis avec notre gestionnaire.  </a:t>
            </a:r>
          </a:p>
        </p:txBody>
      </p:sp>
    </p:spTree>
    <p:extLst>
      <p:ext uri="{BB962C8B-B14F-4D97-AF65-F5344CB8AC3E}">
        <p14:creationId xmlns:p14="http://schemas.microsoft.com/office/powerpoint/2010/main" val="17269300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Les middlewares </a:t>
            </a:r>
          </a:p>
        </p:txBody>
      </p:sp>
      <p:sp>
        <p:nvSpPr>
          <p:cNvPr id="3" name="TextBox 2"/>
          <p:cNvSpPr txBox="1"/>
          <p:nvPr/>
        </p:nvSpPr>
        <p:spPr>
          <a:xfrm>
            <a:off x="2168433" y="1316515"/>
            <a:ext cx="3744686"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Types des middlewares</a:t>
            </a:r>
          </a:p>
        </p:txBody>
      </p:sp>
      <p:sp>
        <p:nvSpPr>
          <p:cNvPr id="8" name="TextBox 7"/>
          <p:cNvSpPr txBox="1"/>
          <p:nvPr/>
        </p:nvSpPr>
        <p:spPr>
          <a:xfrm>
            <a:off x="2168433" y="1712044"/>
            <a:ext cx="3744686" cy="338554"/>
          </a:xfrm>
          <a:prstGeom prst="rect">
            <a:avLst/>
          </a:prstGeom>
          <a:noFill/>
        </p:spPr>
        <p:txBody>
          <a:bodyPr wrap="square" lIns="91440" tIns="45720" rIns="91440" bIns="45720" rtlCol="0" anchor="t">
            <a:spAutoFit/>
          </a:bodyPr>
          <a:lstStyle>
            <a:defPPr>
              <a:defRPr lang="fr-FR"/>
            </a:defPPr>
            <a:lvl1pPr>
              <a:defRPr>
                <a:ln w="0"/>
                <a:solidFill>
                  <a:schemeClr val="accent1"/>
                </a:solidFill>
                <a:effectLst/>
              </a:defRPr>
            </a:lvl1pPr>
          </a:lstStyle>
          <a:p>
            <a:r>
              <a:rPr lang="fr-CA" sz="1600">
                <a:highlight>
                  <a:srgbClr val="FFFF00"/>
                </a:highlight>
              </a:rPr>
              <a:t>Built-in middleware</a:t>
            </a:r>
          </a:p>
        </p:txBody>
      </p:sp>
      <p:sp>
        <p:nvSpPr>
          <p:cNvPr id="6" name="TextBox 5"/>
          <p:cNvSpPr txBox="1"/>
          <p:nvPr/>
        </p:nvSpPr>
        <p:spPr>
          <a:xfrm>
            <a:off x="2168433" y="1990542"/>
            <a:ext cx="9492343" cy="1200329"/>
          </a:xfrm>
          <a:prstGeom prst="rect">
            <a:avLst/>
          </a:prstGeom>
          <a:noFill/>
        </p:spPr>
        <p:txBody>
          <a:bodyPr wrap="square" rtlCol="0">
            <a:spAutoFit/>
          </a:bodyPr>
          <a:lstStyle/>
          <a:p>
            <a:r>
              <a:rPr lang="fr-CA"/>
              <a:t>Ce sont des middlewares qui viennent avec Express par défaut. </a:t>
            </a:r>
            <a:br>
              <a:rPr lang="fr-CA"/>
            </a:br>
            <a:r>
              <a:rPr lang="fr-CA"/>
              <a:t>Exemple </a:t>
            </a:r>
            <a:br>
              <a:rPr lang="fr-CA"/>
            </a:br>
            <a:r>
              <a:rPr lang="fr-CA"/>
              <a:t>express.json c’est un built-in middleware qui permet de convertir le payload json en un objet req.body qu’on peut utiliser dans notre application. </a:t>
            </a:r>
          </a:p>
        </p:txBody>
      </p:sp>
      <p:sp>
        <p:nvSpPr>
          <p:cNvPr id="9" name="TextBox 8"/>
          <p:cNvSpPr txBox="1"/>
          <p:nvPr/>
        </p:nvSpPr>
        <p:spPr>
          <a:xfrm>
            <a:off x="2168433" y="3156325"/>
            <a:ext cx="9797143" cy="3693319"/>
          </a:xfrm>
          <a:prstGeom prst="rect">
            <a:avLst/>
          </a:prstGeom>
          <a:solidFill>
            <a:schemeClr val="tx2">
              <a:lumMod val="50000"/>
            </a:schemeClr>
          </a:solidFill>
        </p:spPr>
        <p:txBody>
          <a:bodyPr wrap="square" lIns="91440" tIns="45720" rIns="91440" bIns="45720" rtlCol="0" anchor="t">
            <a:spAutoFit/>
          </a:bodyPr>
          <a:lstStyle>
            <a:defPPr>
              <a:defRPr lang="fr-FR"/>
            </a:defPPr>
            <a:lvl1pPr>
              <a:defRPr i="1">
                <a:solidFill>
                  <a:srgbClr val="D6DEEB"/>
                </a:solidFill>
                <a:latin typeface="Consolas" panose="020B0609020204030204" pitchFamily="49" charset="0"/>
              </a:defRPr>
            </a:lvl1pPr>
          </a:lstStyle>
          <a:p>
            <a:r>
              <a:rPr lang="fr-CA">
                <a:solidFill>
                  <a:srgbClr val="82AAFF"/>
                </a:solidFill>
              </a:rPr>
              <a:t>tp08.js</a:t>
            </a:r>
          </a:p>
          <a:p>
            <a:r>
              <a:rPr lang="fr-CA">
                <a:solidFill>
                  <a:srgbClr val="82AAFF"/>
                </a:solidFill>
              </a:rPr>
              <a:t>const</a:t>
            </a:r>
            <a:r>
              <a:rPr lang="fr-CA">
                <a:solidFill>
                  <a:srgbClr val="C792EA"/>
                </a:solidFill>
              </a:rPr>
              <a:t> </a:t>
            </a:r>
            <a:r>
              <a:rPr lang="fr-CA">
                <a:solidFill>
                  <a:srgbClr val="82AAFF"/>
                </a:solidFill>
              </a:rPr>
              <a:t>express</a:t>
            </a:r>
            <a:r>
              <a:rPr lang="fr-CA">
                <a:solidFill>
                  <a:srgbClr val="C792EA"/>
                </a:solidFill>
              </a:rPr>
              <a:t> = </a:t>
            </a:r>
            <a:r>
              <a:rPr lang="fr-CA">
                <a:solidFill>
                  <a:srgbClr val="82AAFF"/>
                </a:solidFill>
              </a:rPr>
              <a:t>require</a:t>
            </a:r>
            <a:r>
              <a:rPr lang="fr-CA"/>
              <a:t>(</a:t>
            </a:r>
            <a:r>
              <a:rPr lang="fr-CA">
                <a:solidFill>
                  <a:srgbClr val="D9F5DD"/>
                </a:solidFill>
              </a:rPr>
              <a:t>'</a:t>
            </a:r>
            <a:r>
              <a:rPr lang="fr-CA">
                <a:solidFill>
                  <a:srgbClr val="ECC48D"/>
                </a:solidFill>
              </a:rPr>
              <a:t>express</a:t>
            </a:r>
            <a:r>
              <a:rPr lang="fr-CA">
                <a:solidFill>
                  <a:srgbClr val="D9F5DD"/>
                </a:solidFill>
              </a:rPr>
              <a:t>'</a:t>
            </a:r>
            <a:r>
              <a:rPr lang="fr-CA"/>
              <a:t>)</a:t>
            </a:r>
          </a:p>
          <a:p>
            <a:r>
              <a:rPr lang="fr-CA">
                <a:solidFill>
                  <a:srgbClr val="82AAFF"/>
                </a:solidFill>
              </a:rPr>
              <a:t>const</a:t>
            </a:r>
            <a:r>
              <a:rPr lang="fr-CA">
                <a:solidFill>
                  <a:srgbClr val="C792EA"/>
                </a:solidFill>
              </a:rPr>
              <a:t> </a:t>
            </a:r>
            <a:r>
              <a:rPr lang="fr-CA">
                <a:solidFill>
                  <a:srgbClr val="82AAFF"/>
                </a:solidFill>
              </a:rPr>
              <a:t>app</a:t>
            </a:r>
            <a:r>
              <a:rPr lang="fr-CA">
                <a:solidFill>
                  <a:srgbClr val="C792EA"/>
                </a:solidFill>
              </a:rPr>
              <a:t> = </a:t>
            </a:r>
            <a:r>
              <a:rPr lang="fr-CA">
                <a:solidFill>
                  <a:srgbClr val="82AAFF"/>
                </a:solidFill>
              </a:rPr>
              <a:t>express</a:t>
            </a:r>
            <a:r>
              <a:rPr lang="fr-CA"/>
              <a:t>()</a:t>
            </a:r>
          </a:p>
          <a:p>
            <a:r>
              <a:rPr lang="fr-CA">
                <a:solidFill>
                  <a:srgbClr val="82AAFF"/>
                </a:solidFill>
              </a:rPr>
              <a:t>const</a:t>
            </a:r>
            <a:r>
              <a:rPr lang="fr-CA">
                <a:solidFill>
                  <a:srgbClr val="C792EA"/>
                </a:solidFill>
              </a:rPr>
              <a:t> </a:t>
            </a:r>
            <a:r>
              <a:rPr lang="fr-CA">
                <a:solidFill>
                  <a:srgbClr val="82AAFF"/>
                </a:solidFill>
              </a:rPr>
              <a:t>port</a:t>
            </a:r>
            <a:r>
              <a:rPr lang="fr-CA">
                <a:solidFill>
                  <a:srgbClr val="C792EA"/>
                </a:solidFill>
              </a:rPr>
              <a:t> = </a:t>
            </a:r>
            <a:r>
              <a:rPr lang="fr-CA">
                <a:solidFill>
                  <a:srgbClr val="F78C6C"/>
                </a:solidFill>
              </a:rPr>
              <a:t>3000</a:t>
            </a:r>
            <a:r>
              <a:rPr lang="fr-CA"/>
              <a:t>;</a:t>
            </a:r>
          </a:p>
          <a:p>
            <a:r>
              <a:rPr lang="fr-CA"/>
              <a:t>app</a:t>
            </a:r>
            <a:r>
              <a:rPr lang="fr-CA">
                <a:solidFill>
                  <a:srgbClr val="C792EA"/>
                </a:solidFill>
              </a:rPr>
              <a:t>.</a:t>
            </a:r>
            <a:r>
              <a:rPr lang="fr-CA">
                <a:solidFill>
                  <a:srgbClr val="82AAFF"/>
                </a:solidFill>
              </a:rPr>
              <a:t>use</a:t>
            </a:r>
            <a:r>
              <a:rPr lang="fr-CA"/>
              <a:t>(express</a:t>
            </a:r>
            <a:r>
              <a:rPr lang="fr-CA">
                <a:solidFill>
                  <a:srgbClr val="C792EA"/>
                </a:solidFill>
              </a:rPr>
              <a:t>.</a:t>
            </a:r>
            <a:r>
              <a:rPr lang="fr-CA">
                <a:solidFill>
                  <a:srgbClr val="82AAFF"/>
                </a:solidFill>
              </a:rPr>
              <a:t>json</a:t>
            </a:r>
            <a:r>
              <a:rPr lang="fr-CA"/>
              <a:t>())</a:t>
            </a:r>
          </a:p>
          <a:p>
            <a:r>
              <a:rPr lang="fr-CA" err="1">
                <a:solidFill>
                  <a:srgbClr val="C792EA"/>
                </a:solidFill>
                <a:latin typeface="Consolas"/>
              </a:rPr>
              <a:t>app.</a:t>
            </a:r>
            <a:r>
              <a:rPr lang="fr-CA" err="1">
                <a:solidFill>
                  <a:srgbClr val="82AAFF"/>
                </a:solidFill>
                <a:latin typeface="Consolas"/>
              </a:rPr>
              <a:t>post</a:t>
            </a:r>
            <a:r>
              <a:rPr lang="fr-CA">
                <a:latin typeface="Consolas"/>
              </a:rPr>
              <a:t>(</a:t>
            </a:r>
            <a:r>
              <a:rPr lang="fr-CA">
                <a:solidFill>
                  <a:srgbClr val="D9F5DD"/>
                </a:solidFill>
                <a:latin typeface="Consolas"/>
              </a:rPr>
              <a:t>'</a:t>
            </a:r>
            <a:r>
              <a:rPr lang="fr-CA">
                <a:solidFill>
                  <a:srgbClr val="ECC48D"/>
                </a:solidFill>
                <a:latin typeface="Consolas"/>
              </a:rPr>
              <a:t>/user</a:t>
            </a:r>
            <a:r>
              <a:rPr lang="fr-CA">
                <a:solidFill>
                  <a:srgbClr val="D9F5DD"/>
                </a:solidFill>
                <a:latin typeface="Consolas"/>
              </a:rPr>
              <a:t>'</a:t>
            </a:r>
            <a:r>
              <a:rPr lang="fr-CA">
                <a:latin typeface="Consolas"/>
              </a:rPr>
              <a:t>, </a:t>
            </a:r>
            <a:r>
              <a:rPr lang="fr-CA">
                <a:solidFill>
                  <a:srgbClr val="D9F5DD"/>
                </a:solidFill>
                <a:latin typeface="Consolas"/>
              </a:rPr>
              <a:t>(</a:t>
            </a:r>
            <a:r>
              <a:rPr lang="fr-CA" err="1">
                <a:solidFill>
                  <a:srgbClr val="D7DBE0"/>
                </a:solidFill>
                <a:latin typeface="Consolas"/>
              </a:rPr>
              <a:t>req</a:t>
            </a:r>
            <a:r>
              <a:rPr lang="fr-CA">
                <a:latin typeface="Consolas"/>
              </a:rPr>
              <a:t>, </a:t>
            </a:r>
            <a:r>
              <a:rPr lang="fr-CA" err="1">
                <a:solidFill>
                  <a:srgbClr val="D7DBE0"/>
                </a:solidFill>
                <a:latin typeface="Consolas"/>
              </a:rPr>
              <a:t>res</a:t>
            </a:r>
            <a:r>
              <a:rPr lang="fr-CA">
                <a:latin typeface="Consolas"/>
              </a:rPr>
              <a:t>, </a:t>
            </a:r>
            <a:r>
              <a:rPr lang="fr-CA" err="1">
                <a:solidFill>
                  <a:srgbClr val="D7DBE0"/>
                </a:solidFill>
                <a:latin typeface="Consolas"/>
              </a:rPr>
              <a:t>next</a:t>
            </a:r>
            <a:r>
              <a:rPr lang="fr-CA">
                <a:solidFill>
                  <a:srgbClr val="D9F5DD"/>
                </a:solidFill>
                <a:latin typeface="Consolas"/>
              </a:rPr>
              <a:t>)</a:t>
            </a:r>
            <a:r>
              <a:rPr lang="fr-CA">
                <a:latin typeface="Consolas"/>
              </a:rPr>
              <a:t> </a:t>
            </a:r>
            <a:r>
              <a:rPr lang="fr-CA">
                <a:solidFill>
                  <a:srgbClr val="82AAFF"/>
                </a:solidFill>
                <a:latin typeface="Consolas"/>
              </a:rPr>
              <a:t>=&gt;</a:t>
            </a:r>
            <a:r>
              <a:rPr lang="fr-CA">
                <a:latin typeface="Consolas"/>
              </a:rPr>
              <a:t> {</a:t>
            </a:r>
          </a:p>
          <a:p>
            <a:r>
              <a:rPr lang="fr-CA"/>
              <a:t>    console</a:t>
            </a:r>
            <a:r>
              <a:rPr lang="fr-CA">
                <a:solidFill>
                  <a:srgbClr val="C792EA"/>
                </a:solidFill>
              </a:rPr>
              <a:t>.</a:t>
            </a:r>
            <a:r>
              <a:rPr lang="fr-CA">
                <a:solidFill>
                  <a:srgbClr val="82AAFF"/>
                </a:solidFill>
              </a:rPr>
              <a:t>log</a:t>
            </a:r>
            <a:r>
              <a:rPr lang="fr-CA"/>
              <a:t>(</a:t>
            </a:r>
            <a:r>
              <a:rPr lang="fr-CA">
                <a:solidFill>
                  <a:srgbClr val="D9F5DD"/>
                </a:solidFill>
              </a:rPr>
              <a:t>"</a:t>
            </a:r>
            <a:r>
              <a:rPr lang="fr-CA">
                <a:solidFill>
                  <a:srgbClr val="ECC48D"/>
                </a:solidFill>
              </a:rPr>
              <a:t>Get usres endpoint</a:t>
            </a:r>
            <a:r>
              <a:rPr lang="fr-CA">
                <a:solidFill>
                  <a:srgbClr val="D9F5DD"/>
                </a:solidFill>
              </a:rPr>
              <a:t>"</a:t>
            </a:r>
            <a:r>
              <a:rPr lang="fr-CA"/>
              <a:t>)</a:t>
            </a:r>
          </a:p>
          <a:p>
            <a:r>
              <a:rPr lang="fr-CA"/>
              <a:t>    </a:t>
            </a:r>
            <a:r>
              <a:rPr lang="fr-CA">
                <a:solidFill>
                  <a:srgbClr val="82AAFF"/>
                </a:solidFill>
              </a:rPr>
              <a:t>let</a:t>
            </a:r>
            <a:r>
              <a:rPr lang="fr-CA">
                <a:solidFill>
                  <a:srgbClr val="C792EA"/>
                </a:solidFill>
              </a:rPr>
              <a:t> </a:t>
            </a:r>
            <a:r>
              <a:rPr lang="fr-CA">
                <a:solidFill>
                  <a:srgbClr val="D7DBE0"/>
                </a:solidFill>
              </a:rPr>
              <a:t>user</a:t>
            </a:r>
            <a:r>
              <a:rPr lang="fr-CA">
                <a:solidFill>
                  <a:srgbClr val="C792EA"/>
                </a:solidFill>
              </a:rPr>
              <a:t> = </a:t>
            </a:r>
            <a:r>
              <a:rPr lang="fr-CA"/>
              <a:t>req</a:t>
            </a:r>
            <a:r>
              <a:rPr lang="fr-CA">
                <a:solidFill>
                  <a:srgbClr val="C792EA"/>
                </a:solidFill>
              </a:rPr>
              <a:t>.</a:t>
            </a:r>
            <a:r>
              <a:rPr lang="fr-CA">
                <a:solidFill>
                  <a:srgbClr val="7FDBCA"/>
                </a:solidFill>
              </a:rPr>
              <a:t>body</a:t>
            </a:r>
            <a:endParaRPr lang="fr-CA"/>
          </a:p>
          <a:p>
            <a:r>
              <a:rPr lang="fr-CA"/>
              <a:t>    console</a:t>
            </a:r>
            <a:r>
              <a:rPr lang="fr-CA">
                <a:solidFill>
                  <a:srgbClr val="C792EA"/>
                </a:solidFill>
              </a:rPr>
              <a:t>.</a:t>
            </a:r>
            <a:r>
              <a:rPr lang="fr-CA">
                <a:solidFill>
                  <a:srgbClr val="82AAFF"/>
                </a:solidFill>
              </a:rPr>
              <a:t>log</a:t>
            </a:r>
            <a:r>
              <a:rPr lang="fr-CA"/>
              <a:t>(</a:t>
            </a:r>
            <a:r>
              <a:rPr lang="fr-CA">
                <a:solidFill>
                  <a:srgbClr val="D9F5DD"/>
                </a:solidFill>
              </a:rPr>
              <a:t>"</a:t>
            </a:r>
            <a:r>
              <a:rPr lang="fr-CA">
                <a:solidFill>
                  <a:srgbClr val="ECC48D"/>
                </a:solidFill>
              </a:rPr>
              <a:t>User: </a:t>
            </a:r>
            <a:r>
              <a:rPr lang="fr-CA">
                <a:solidFill>
                  <a:srgbClr val="D9F5DD"/>
                </a:solidFill>
              </a:rPr>
              <a:t>"</a:t>
            </a:r>
            <a:r>
              <a:rPr lang="fr-CA"/>
              <a:t>, </a:t>
            </a:r>
            <a:r>
              <a:rPr lang="fr-CA">
                <a:solidFill>
                  <a:srgbClr val="D7DBE0"/>
                </a:solidFill>
              </a:rPr>
              <a:t>user</a:t>
            </a:r>
            <a:r>
              <a:rPr lang="fr-CA"/>
              <a:t>)</a:t>
            </a:r>
          </a:p>
          <a:p>
            <a:r>
              <a:rPr lang="fr-CA"/>
              <a:t>    res</a:t>
            </a:r>
            <a:r>
              <a:rPr lang="fr-CA">
                <a:solidFill>
                  <a:srgbClr val="C792EA"/>
                </a:solidFill>
              </a:rPr>
              <a:t>.</a:t>
            </a:r>
            <a:r>
              <a:rPr lang="fr-CA">
                <a:solidFill>
                  <a:srgbClr val="82AAFF"/>
                </a:solidFill>
              </a:rPr>
              <a:t>send</a:t>
            </a:r>
            <a:r>
              <a:rPr lang="fr-CA"/>
              <a:t>(</a:t>
            </a:r>
            <a:r>
              <a:rPr lang="fr-CA">
                <a:solidFill>
                  <a:srgbClr val="D9F5DD"/>
                </a:solidFill>
              </a:rPr>
              <a:t>"</a:t>
            </a:r>
            <a:r>
              <a:rPr lang="fr-CA">
                <a:solidFill>
                  <a:srgbClr val="ECC48D"/>
                </a:solidFill>
              </a:rPr>
              <a:t>Post user endpoint</a:t>
            </a:r>
            <a:r>
              <a:rPr lang="fr-CA">
                <a:solidFill>
                  <a:srgbClr val="D9F5DD"/>
                </a:solidFill>
              </a:rPr>
              <a:t>"</a:t>
            </a:r>
            <a:r>
              <a:rPr lang="fr-CA"/>
              <a:t>)</a:t>
            </a:r>
          </a:p>
          <a:p>
            <a:r>
              <a:rPr lang="fr-CA"/>
              <a:t>})</a:t>
            </a:r>
          </a:p>
          <a:p>
            <a:r>
              <a:rPr lang="fr-CA"/>
              <a:t>app</a:t>
            </a:r>
            <a:r>
              <a:rPr lang="fr-CA">
                <a:solidFill>
                  <a:srgbClr val="C792EA"/>
                </a:solidFill>
              </a:rPr>
              <a:t>.</a:t>
            </a:r>
            <a:r>
              <a:rPr lang="fr-CA">
                <a:solidFill>
                  <a:srgbClr val="82AAFF"/>
                </a:solidFill>
              </a:rPr>
              <a:t>listen</a:t>
            </a:r>
            <a:r>
              <a:rPr lang="fr-CA"/>
              <a:t>(</a:t>
            </a:r>
            <a:r>
              <a:rPr lang="fr-CA">
                <a:solidFill>
                  <a:srgbClr val="D7DBE0"/>
                </a:solidFill>
              </a:rPr>
              <a:t>port</a:t>
            </a:r>
            <a:r>
              <a:rPr lang="fr-CA"/>
              <a:t>, </a:t>
            </a:r>
            <a:r>
              <a:rPr lang="fr-CA">
                <a:solidFill>
                  <a:srgbClr val="D9F5DD"/>
                </a:solidFill>
              </a:rPr>
              <a:t>()</a:t>
            </a:r>
            <a:r>
              <a:rPr lang="fr-CA"/>
              <a:t> </a:t>
            </a:r>
            <a:r>
              <a:rPr lang="fr-CA">
                <a:solidFill>
                  <a:srgbClr val="82AAFF"/>
                </a:solidFill>
              </a:rPr>
              <a:t>=&gt;</a:t>
            </a:r>
            <a:r>
              <a:rPr lang="fr-CA"/>
              <a:t> {</a:t>
            </a:r>
          </a:p>
          <a:p>
            <a:r>
              <a:rPr lang="fr-CA"/>
              <a:t>    console</a:t>
            </a:r>
            <a:r>
              <a:rPr lang="fr-CA">
                <a:solidFill>
                  <a:srgbClr val="C792EA"/>
                </a:solidFill>
              </a:rPr>
              <a:t>.</a:t>
            </a:r>
            <a:r>
              <a:rPr lang="fr-CA">
                <a:solidFill>
                  <a:srgbClr val="82AAFF"/>
                </a:solidFill>
              </a:rPr>
              <a:t>log</a:t>
            </a:r>
            <a:r>
              <a:rPr lang="fr-CA"/>
              <a:t>(</a:t>
            </a:r>
            <a:r>
              <a:rPr lang="fr-CA">
                <a:solidFill>
                  <a:srgbClr val="D9F5DD"/>
                </a:solidFill>
              </a:rPr>
              <a:t>"</a:t>
            </a:r>
            <a:r>
              <a:rPr lang="fr-CA">
                <a:solidFill>
                  <a:srgbClr val="ECC48D"/>
                </a:solidFill>
              </a:rPr>
              <a:t>Example app listening on port </a:t>
            </a:r>
            <a:r>
              <a:rPr lang="fr-CA">
                <a:solidFill>
                  <a:srgbClr val="D9F5DD"/>
                </a:solidFill>
              </a:rPr>
              <a:t>"</a:t>
            </a:r>
            <a:r>
              <a:rPr lang="fr-CA"/>
              <a:t>, </a:t>
            </a:r>
            <a:r>
              <a:rPr lang="fr-CA">
                <a:solidFill>
                  <a:srgbClr val="D7DBE0"/>
                </a:solidFill>
              </a:rPr>
              <a:t>port</a:t>
            </a:r>
            <a:r>
              <a:rPr lang="fr-CA"/>
              <a:t>)})</a:t>
            </a:r>
          </a:p>
        </p:txBody>
      </p:sp>
    </p:spTree>
    <p:extLst>
      <p:ext uri="{BB962C8B-B14F-4D97-AF65-F5344CB8AC3E}">
        <p14:creationId xmlns:p14="http://schemas.microsoft.com/office/powerpoint/2010/main" val="224380360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5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Les middlewares </a:t>
            </a:r>
          </a:p>
        </p:txBody>
      </p:sp>
      <p:sp>
        <p:nvSpPr>
          <p:cNvPr id="3" name="TextBox 2"/>
          <p:cNvSpPr txBox="1"/>
          <p:nvPr/>
        </p:nvSpPr>
        <p:spPr>
          <a:xfrm>
            <a:off x="2168433" y="1316515"/>
            <a:ext cx="3744686"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Types des middlewares</a:t>
            </a:r>
          </a:p>
        </p:txBody>
      </p:sp>
      <p:sp>
        <p:nvSpPr>
          <p:cNvPr id="8" name="TextBox 7"/>
          <p:cNvSpPr txBox="1"/>
          <p:nvPr/>
        </p:nvSpPr>
        <p:spPr>
          <a:xfrm>
            <a:off x="2168433" y="1809700"/>
            <a:ext cx="3744686" cy="338554"/>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sz="1600"/>
              <a:t>Third-party middleware</a:t>
            </a:r>
          </a:p>
        </p:txBody>
      </p:sp>
      <p:sp>
        <p:nvSpPr>
          <p:cNvPr id="6" name="TextBox 5"/>
          <p:cNvSpPr txBox="1"/>
          <p:nvPr/>
        </p:nvSpPr>
        <p:spPr>
          <a:xfrm>
            <a:off x="2168433" y="2185851"/>
            <a:ext cx="9492343" cy="646331"/>
          </a:xfrm>
          <a:prstGeom prst="rect">
            <a:avLst/>
          </a:prstGeom>
          <a:noFill/>
        </p:spPr>
        <p:txBody>
          <a:bodyPr wrap="square" lIns="91440" tIns="45720" rIns="91440" bIns="45720" rtlCol="0" anchor="t">
            <a:spAutoFit/>
          </a:bodyPr>
          <a:lstStyle/>
          <a:p>
            <a:r>
              <a:rPr lang="fr-CA"/>
              <a:t>Ce sont des middlewares externes qui sont utilisés pour rajouter des fonctionnalités à Express</a:t>
            </a:r>
          </a:p>
        </p:txBody>
      </p:sp>
      <p:sp>
        <p:nvSpPr>
          <p:cNvPr id="2" name="TextBox 1"/>
          <p:cNvSpPr txBox="1"/>
          <p:nvPr/>
        </p:nvSpPr>
        <p:spPr>
          <a:xfrm>
            <a:off x="2168433" y="2832182"/>
            <a:ext cx="7646126" cy="369332"/>
          </a:xfrm>
          <a:prstGeom prst="rect">
            <a:avLst/>
          </a:prstGeom>
          <a:noFill/>
        </p:spPr>
        <p:txBody>
          <a:bodyPr wrap="square" rtlCol="0">
            <a:spAutoFit/>
          </a:bodyPr>
          <a:lstStyle/>
          <a:p>
            <a:r>
              <a:rPr lang="fr-CA"/>
              <a:t>Exemple</a:t>
            </a:r>
          </a:p>
        </p:txBody>
      </p:sp>
      <p:sp>
        <p:nvSpPr>
          <p:cNvPr id="7" name="TextBox 6"/>
          <p:cNvSpPr txBox="1"/>
          <p:nvPr/>
        </p:nvSpPr>
        <p:spPr>
          <a:xfrm>
            <a:off x="2168433" y="3149306"/>
            <a:ext cx="3666310" cy="365760"/>
          </a:xfrm>
          <a:prstGeom prst="rect">
            <a:avLst/>
          </a:prstGeom>
          <a:noFill/>
        </p:spPr>
        <p:txBody>
          <a:bodyPr wrap="square" rtlCol="0">
            <a:spAutoFit/>
          </a:bodyPr>
          <a:lstStyle/>
          <a:p>
            <a:r>
              <a:rPr lang="fr-CA"/>
              <a:t>npm i cookie-parser</a:t>
            </a:r>
          </a:p>
        </p:txBody>
      </p:sp>
      <p:sp>
        <p:nvSpPr>
          <p:cNvPr id="13" name="TextBox 12"/>
          <p:cNvSpPr txBox="1"/>
          <p:nvPr/>
        </p:nvSpPr>
        <p:spPr>
          <a:xfrm>
            <a:off x="2168433" y="3515066"/>
            <a:ext cx="9797143" cy="2031325"/>
          </a:xfrm>
          <a:prstGeom prst="rect">
            <a:avLst/>
          </a:prstGeom>
          <a:solidFill>
            <a:schemeClr val="tx2">
              <a:lumMod val="50000"/>
            </a:schemeClr>
          </a:solidFill>
        </p:spPr>
        <p:txBody>
          <a:bodyPr wrap="square" rtlCol="0">
            <a:spAutoFit/>
          </a:bodyPr>
          <a:lstStyle>
            <a:defPPr>
              <a:defRPr lang="fr-FR"/>
            </a:defPPr>
            <a:lvl1pPr>
              <a:defRPr i="1">
                <a:solidFill>
                  <a:srgbClr val="D6DEEB"/>
                </a:solidFill>
                <a:latin typeface="Consolas" panose="020B0609020204030204" pitchFamily="49" charset="0"/>
              </a:defRPr>
            </a:lvl1pPr>
          </a:lstStyle>
          <a:p>
            <a:r>
              <a:rPr lang="fr-CA">
                <a:solidFill>
                  <a:srgbClr val="82AAFF"/>
                </a:solidFill>
              </a:rPr>
              <a:t>const</a:t>
            </a:r>
            <a:r>
              <a:rPr lang="fr-CA">
                <a:solidFill>
                  <a:srgbClr val="C792EA"/>
                </a:solidFill>
              </a:rPr>
              <a:t> </a:t>
            </a:r>
            <a:r>
              <a:rPr lang="fr-CA">
                <a:solidFill>
                  <a:srgbClr val="82AAFF"/>
                </a:solidFill>
              </a:rPr>
              <a:t>express</a:t>
            </a:r>
            <a:r>
              <a:rPr lang="fr-CA">
                <a:solidFill>
                  <a:srgbClr val="C792EA"/>
                </a:solidFill>
              </a:rPr>
              <a:t> = </a:t>
            </a:r>
            <a:r>
              <a:rPr lang="fr-CA">
                <a:solidFill>
                  <a:srgbClr val="82AAFF"/>
                </a:solidFill>
              </a:rPr>
              <a:t>require</a:t>
            </a:r>
            <a:r>
              <a:rPr lang="fr-CA"/>
              <a:t>(</a:t>
            </a:r>
            <a:r>
              <a:rPr lang="fr-CA">
                <a:solidFill>
                  <a:srgbClr val="D9F5DD"/>
                </a:solidFill>
              </a:rPr>
              <a:t>'</a:t>
            </a:r>
            <a:r>
              <a:rPr lang="fr-CA">
                <a:solidFill>
                  <a:srgbClr val="ECC48D"/>
                </a:solidFill>
              </a:rPr>
              <a:t>express</a:t>
            </a:r>
            <a:r>
              <a:rPr lang="fr-CA">
                <a:solidFill>
                  <a:srgbClr val="D9F5DD"/>
                </a:solidFill>
              </a:rPr>
              <a:t>'</a:t>
            </a:r>
            <a:r>
              <a:rPr lang="fr-CA"/>
              <a:t>)</a:t>
            </a:r>
          </a:p>
          <a:p>
            <a:r>
              <a:rPr lang="fr-CA">
                <a:solidFill>
                  <a:srgbClr val="82AAFF"/>
                </a:solidFill>
              </a:rPr>
              <a:t>const</a:t>
            </a:r>
            <a:r>
              <a:rPr lang="fr-CA">
                <a:solidFill>
                  <a:srgbClr val="C792EA"/>
                </a:solidFill>
              </a:rPr>
              <a:t> </a:t>
            </a:r>
            <a:r>
              <a:rPr lang="fr-CA">
                <a:solidFill>
                  <a:srgbClr val="82AAFF"/>
                </a:solidFill>
              </a:rPr>
              <a:t>app</a:t>
            </a:r>
            <a:r>
              <a:rPr lang="fr-CA">
                <a:solidFill>
                  <a:srgbClr val="C792EA"/>
                </a:solidFill>
              </a:rPr>
              <a:t> = </a:t>
            </a:r>
            <a:r>
              <a:rPr lang="fr-CA">
                <a:solidFill>
                  <a:srgbClr val="82AAFF"/>
                </a:solidFill>
              </a:rPr>
              <a:t>express</a:t>
            </a:r>
            <a:r>
              <a:rPr lang="fr-CA"/>
              <a:t>()</a:t>
            </a:r>
          </a:p>
          <a:p>
            <a:r>
              <a:rPr lang="fr-CA">
                <a:solidFill>
                  <a:srgbClr val="82AAFF"/>
                </a:solidFill>
              </a:rPr>
              <a:t>const</a:t>
            </a:r>
            <a:r>
              <a:rPr lang="fr-CA">
                <a:solidFill>
                  <a:srgbClr val="C792EA"/>
                </a:solidFill>
              </a:rPr>
              <a:t> </a:t>
            </a:r>
            <a:r>
              <a:rPr lang="fr-CA">
                <a:solidFill>
                  <a:srgbClr val="82AAFF"/>
                </a:solidFill>
              </a:rPr>
              <a:t>cookieParser</a:t>
            </a:r>
            <a:r>
              <a:rPr lang="fr-CA">
                <a:solidFill>
                  <a:srgbClr val="C792EA"/>
                </a:solidFill>
              </a:rPr>
              <a:t> = </a:t>
            </a:r>
            <a:r>
              <a:rPr lang="fr-CA">
                <a:solidFill>
                  <a:srgbClr val="82AAFF"/>
                </a:solidFill>
              </a:rPr>
              <a:t>require</a:t>
            </a:r>
            <a:r>
              <a:rPr lang="fr-CA"/>
              <a:t>(</a:t>
            </a:r>
            <a:r>
              <a:rPr lang="fr-CA">
                <a:solidFill>
                  <a:srgbClr val="D9F5DD"/>
                </a:solidFill>
              </a:rPr>
              <a:t>'</a:t>
            </a:r>
            <a:r>
              <a:rPr lang="fr-CA">
                <a:solidFill>
                  <a:srgbClr val="ECC48D"/>
                </a:solidFill>
              </a:rPr>
              <a:t>cookie-parser</a:t>
            </a:r>
            <a:r>
              <a:rPr lang="fr-CA">
                <a:solidFill>
                  <a:srgbClr val="D9F5DD"/>
                </a:solidFill>
              </a:rPr>
              <a:t>'</a:t>
            </a:r>
            <a:r>
              <a:rPr lang="fr-CA"/>
              <a:t>)</a:t>
            </a:r>
          </a:p>
          <a:p>
            <a:br>
              <a:rPr lang="fr-CA"/>
            </a:br>
            <a:r>
              <a:rPr lang="fr-CA">
                <a:solidFill>
                  <a:srgbClr val="637777"/>
                </a:solidFill>
              </a:rPr>
              <a:t>// load the cookie-parsing middleware</a:t>
            </a:r>
            <a:endParaRPr lang="fr-CA"/>
          </a:p>
          <a:p>
            <a:r>
              <a:rPr lang="fr-CA"/>
              <a:t>app</a:t>
            </a:r>
            <a:r>
              <a:rPr lang="fr-CA">
                <a:solidFill>
                  <a:srgbClr val="C792EA"/>
                </a:solidFill>
              </a:rPr>
              <a:t>.</a:t>
            </a:r>
            <a:r>
              <a:rPr lang="fr-CA">
                <a:solidFill>
                  <a:srgbClr val="82AAFF"/>
                </a:solidFill>
              </a:rPr>
              <a:t>use</a:t>
            </a:r>
            <a:r>
              <a:rPr lang="fr-CA"/>
              <a:t>(</a:t>
            </a:r>
            <a:r>
              <a:rPr lang="fr-CA">
                <a:solidFill>
                  <a:srgbClr val="82AAFF"/>
                </a:solidFill>
              </a:rPr>
              <a:t>cookieParser</a:t>
            </a:r>
            <a:r>
              <a:rPr lang="fr-CA"/>
              <a:t>())</a:t>
            </a:r>
          </a:p>
          <a:p>
            <a:endParaRPr lang="fr-CA"/>
          </a:p>
        </p:txBody>
      </p:sp>
      <p:sp>
        <p:nvSpPr>
          <p:cNvPr id="5" name="TextBox 4">
            <a:extLst>
              <a:ext uri="{FF2B5EF4-FFF2-40B4-BE49-F238E27FC236}">
                <a16:creationId xmlns:a16="http://schemas.microsoft.com/office/drawing/2014/main" id="{9056EB8F-F8D7-D318-F3A2-67E0EA57EFD0}"/>
              </a:ext>
            </a:extLst>
          </p:cNvPr>
          <p:cNvSpPr txBox="1"/>
          <p:nvPr/>
        </p:nvSpPr>
        <p:spPr>
          <a:xfrm>
            <a:off x="2103668" y="5582944"/>
            <a:ext cx="9621871" cy="923330"/>
          </a:xfrm>
          <a:prstGeom prst="rect">
            <a:avLst/>
          </a:prstGeom>
          <a:noFill/>
        </p:spPr>
        <p:txBody>
          <a:bodyPr wrap="square" rtlCol="0">
            <a:spAutoFit/>
          </a:bodyPr>
          <a:lstStyle/>
          <a:p>
            <a:r>
              <a:rPr lang="fr-CA"/>
              <a:t>Exemple tp09.js</a:t>
            </a:r>
          </a:p>
          <a:p>
            <a:r>
              <a:rPr lang="fr-CA"/>
              <a:t>body-parser est un autre exemple des middlewares third-party. Le built-in middleware express.json() est bâtis en top de body-parser mais ils ont même rôle.</a:t>
            </a:r>
            <a:endParaRPr lang="en-US"/>
          </a:p>
        </p:txBody>
      </p:sp>
    </p:spTree>
    <p:extLst>
      <p:ext uri="{BB962C8B-B14F-4D97-AF65-F5344CB8AC3E}">
        <p14:creationId xmlns:p14="http://schemas.microsoft.com/office/powerpoint/2010/main" val="410094716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6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Exercice</a:t>
            </a:r>
          </a:p>
        </p:txBody>
      </p:sp>
      <p:sp>
        <p:nvSpPr>
          <p:cNvPr id="2" name="TextBox 1"/>
          <p:cNvSpPr txBox="1"/>
          <p:nvPr/>
        </p:nvSpPr>
        <p:spPr>
          <a:xfrm>
            <a:off x="2168433" y="1332410"/>
            <a:ext cx="9858104" cy="1754326"/>
          </a:xfrm>
          <a:prstGeom prst="rect">
            <a:avLst/>
          </a:prstGeom>
          <a:noFill/>
        </p:spPr>
        <p:txBody>
          <a:bodyPr wrap="square" rtlCol="0">
            <a:spAutoFit/>
          </a:bodyPr>
          <a:lstStyle/>
          <a:p>
            <a:r>
              <a:rPr lang="fr-CA"/>
              <a:t>Création 04 end points pour une simple application.</a:t>
            </a:r>
          </a:p>
          <a:p>
            <a:r>
              <a:rPr lang="fr-CA"/>
              <a:t> </a:t>
            </a:r>
          </a:p>
          <a:p>
            <a:pPr marL="285750" lvl="0" indent="-285750">
              <a:buFont typeface="Courier New" panose="02070309020205020404" pitchFamily="49" charset="0"/>
              <a:buChar char="o"/>
            </a:pPr>
            <a:r>
              <a:rPr lang="fr-CA"/>
              <a:t>Un GET pour afficher la liste de tous les utilisateurs </a:t>
            </a:r>
          </a:p>
          <a:p>
            <a:pPr marL="285750" lvl="0" indent="-285750">
              <a:buFont typeface="Courier New" panose="02070309020205020404" pitchFamily="49" charset="0"/>
              <a:buChar char="o"/>
            </a:pPr>
            <a:r>
              <a:rPr lang="en-US"/>
              <a:t>Un Get by Id pour </a:t>
            </a:r>
            <a:r>
              <a:rPr lang="fr-CA"/>
              <a:t>afficher</a:t>
            </a:r>
            <a:r>
              <a:rPr lang="en-US"/>
              <a:t> un utilisateur s</a:t>
            </a:r>
            <a:r>
              <a:rPr lang="fr-CA"/>
              <a:t>pécifique </a:t>
            </a:r>
          </a:p>
          <a:p>
            <a:pPr marL="285750" lvl="0" indent="-285750">
              <a:buFont typeface="Courier New" panose="02070309020205020404" pitchFamily="49" charset="0"/>
              <a:buChar char="o"/>
            </a:pPr>
            <a:r>
              <a:rPr lang="fr-CA"/>
              <a:t>Un POST pour créer un utilisateur </a:t>
            </a:r>
          </a:p>
          <a:p>
            <a:pPr marL="285750" indent="-285750">
              <a:buFont typeface="Courier New" panose="02070309020205020404" pitchFamily="49" charset="0"/>
              <a:buChar char="o"/>
            </a:pPr>
            <a:r>
              <a:rPr lang="fr-CA"/>
              <a:t>Un DELETE pour supprimer un utilisateur avec son id</a:t>
            </a:r>
          </a:p>
        </p:txBody>
      </p:sp>
    </p:spTree>
    <p:extLst>
      <p:ext uri="{BB962C8B-B14F-4D97-AF65-F5344CB8AC3E}">
        <p14:creationId xmlns:p14="http://schemas.microsoft.com/office/powerpoint/2010/main" val="421077496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9304" y="3698928"/>
            <a:ext cx="9401176" cy="662894"/>
          </a:xfrm>
        </p:spPr>
        <p:txBody>
          <a:bodyPr>
            <a:noAutofit/>
          </a:bodyPr>
          <a:lstStyle/>
          <a:p>
            <a:r>
              <a:rPr lang="fr-CA" sz="3200"/>
              <a:t>MongoDB</a:t>
            </a:r>
          </a:p>
        </p:txBody>
      </p:sp>
      <p:sp>
        <p:nvSpPr>
          <p:cNvPr id="4" name="Subtitle 3"/>
          <p:cNvSpPr>
            <a:spLocks noGrp="1"/>
          </p:cNvSpPr>
          <p:nvPr>
            <p:ph type="subTitle" idx="1"/>
          </p:nvPr>
        </p:nvSpPr>
        <p:spPr>
          <a:xfrm>
            <a:off x="2136366" y="4638037"/>
            <a:ext cx="8915399" cy="1126283"/>
          </a:xfrm>
        </p:spPr>
        <p:txBody>
          <a:bodyPr/>
          <a:lstStyle/>
          <a:p>
            <a:r>
              <a:rPr lang="fr-CA"/>
              <a:t>Au terme de ce chapitre, les participants auront les connaissances pour pouvoir intégrer la couche de persistance MongoDB dans une backend Node.js</a:t>
            </a:r>
          </a:p>
        </p:txBody>
      </p:sp>
      <p:sp>
        <p:nvSpPr>
          <p:cNvPr id="5" name="Title 1"/>
          <p:cNvSpPr txBox="1">
            <a:spLocks/>
          </p:cNvSpPr>
          <p:nvPr/>
        </p:nvSpPr>
        <p:spPr>
          <a:xfrm>
            <a:off x="4563018" y="2889216"/>
            <a:ext cx="2778308" cy="662894"/>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sz="3200"/>
              <a:t>Chapitre 05</a:t>
            </a:r>
          </a:p>
        </p:txBody>
      </p:sp>
    </p:spTree>
    <p:extLst>
      <p:ext uri="{BB962C8B-B14F-4D97-AF65-F5344CB8AC3E}">
        <p14:creationId xmlns:p14="http://schemas.microsoft.com/office/powerpoint/2010/main" val="11405791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Introduction</a:t>
            </a:r>
          </a:p>
        </p:txBody>
      </p:sp>
      <p:sp>
        <p:nvSpPr>
          <p:cNvPr id="2" name="TextBox 1"/>
          <p:cNvSpPr txBox="1"/>
          <p:nvPr/>
        </p:nvSpPr>
        <p:spPr>
          <a:xfrm>
            <a:off x="2168433" y="1332410"/>
            <a:ext cx="9858104" cy="37555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C’est quoi MongoDB</a:t>
            </a:r>
            <a:endParaRPr lang="en-US"/>
          </a:p>
        </p:txBody>
      </p:sp>
      <p:sp>
        <p:nvSpPr>
          <p:cNvPr id="3" name="TextBox 2">
            <a:extLst>
              <a:ext uri="{FF2B5EF4-FFF2-40B4-BE49-F238E27FC236}">
                <a16:creationId xmlns:a16="http://schemas.microsoft.com/office/drawing/2014/main" id="{CA499D8B-D06E-D7C8-D136-338671FF0D22}"/>
              </a:ext>
            </a:extLst>
          </p:cNvPr>
          <p:cNvSpPr txBox="1"/>
          <p:nvPr/>
        </p:nvSpPr>
        <p:spPr>
          <a:xfrm>
            <a:off x="2168433" y="1837678"/>
            <a:ext cx="9461315" cy="1500326"/>
          </a:xfrm>
          <a:prstGeom prst="rect">
            <a:avLst/>
          </a:prstGeom>
          <a:noFill/>
        </p:spPr>
        <p:txBody>
          <a:bodyPr wrap="square" rtlCol="0">
            <a:spAutoFit/>
          </a:bodyPr>
          <a:lstStyle/>
          <a:p>
            <a:r>
              <a:rPr lang="fr-CA" sz="1800">
                <a:effectLst/>
                <a:latin typeface="Calibri" panose="020F0502020204030204" pitchFamily="34" charset="0"/>
                <a:ea typeface="Calibri" panose="020F0502020204030204" pitchFamily="34" charset="0"/>
                <a:cs typeface="Arial" panose="020B0604020202020204" pitchFamily="34" charset="0"/>
              </a:rPr>
              <a:t>MongoDB, la base de données NoSQL la plus populaire, est une base de données orientée document open source. Le terme « NoSQL » signifie « non relationnel ». Cela signifie que MongoDB n'est pas basé sur la structure de base de données relationnelle de type table, mais fournit un mécanisme tout à fait différent pour le stockage et la récupération des données. Ce format de stockage appelé BSON.</a:t>
            </a:r>
            <a:endParaRPr lang="en-US"/>
          </a:p>
        </p:txBody>
      </p:sp>
      <p:sp>
        <p:nvSpPr>
          <p:cNvPr id="5" name="TextBox 4">
            <a:extLst>
              <a:ext uri="{FF2B5EF4-FFF2-40B4-BE49-F238E27FC236}">
                <a16:creationId xmlns:a16="http://schemas.microsoft.com/office/drawing/2014/main" id="{C673B3B5-53F5-70A4-3542-05D082C0CFD6}"/>
              </a:ext>
            </a:extLst>
          </p:cNvPr>
          <p:cNvSpPr txBox="1"/>
          <p:nvPr/>
        </p:nvSpPr>
        <p:spPr>
          <a:xfrm>
            <a:off x="2168433" y="3472649"/>
            <a:ext cx="9858104" cy="37555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Caractéristiques d’une base de données MongoDB</a:t>
            </a:r>
            <a:endParaRPr lang="en-US"/>
          </a:p>
        </p:txBody>
      </p:sp>
      <p:sp>
        <p:nvSpPr>
          <p:cNvPr id="6" name="TextBox 5">
            <a:extLst>
              <a:ext uri="{FF2B5EF4-FFF2-40B4-BE49-F238E27FC236}">
                <a16:creationId xmlns:a16="http://schemas.microsoft.com/office/drawing/2014/main" id="{110F2B60-3430-F789-307B-A48D5276BA43}"/>
              </a:ext>
            </a:extLst>
          </p:cNvPr>
          <p:cNvSpPr txBox="1"/>
          <p:nvPr/>
        </p:nvSpPr>
        <p:spPr>
          <a:xfrm>
            <a:off x="2168432" y="4003829"/>
            <a:ext cx="9461315" cy="1200329"/>
          </a:xfrm>
          <a:prstGeom prst="rect">
            <a:avLst/>
          </a:prstGeom>
          <a:noFill/>
        </p:spPr>
        <p:txBody>
          <a:bodyPr wrap="square" rtlCol="0">
            <a:spAutoFit/>
          </a:bodyPr>
          <a:lstStyle/>
          <a:p>
            <a:r>
              <a:rPr lang="fr-CA" sz="1800" b="1">
                <a:effectLst/>
                <a:latin typeface="Calibri" panose="020F0502020204030204" pitchFamily="34" charset="0"/>
                <a:ea typeface="Calibri" panose="020F0502020204030204" pitchFamily="34" charset="0"/>
                <a:cs typeface="Arial" panose="020B0604020202020204" pitchFamily="34" charset="0"/>
              </a:rPr>
              <a:t>Orienté document :</a:t>
            </a:r>
            <a:r>
              <a:rPr lang="fr-CA" sz="1800">
                <a:effectLst/>
                <a:latin typeface="Calibri" panose="020F0502020204030204" pitchFamily="34" charset="0"/>
                <a:ea typeface="Calibri" panose="020F0502020204030204" pitchFamily="34" charset="0"/>
                <a:cs typeface="Arial" panose="020B0604020202020204" pitchFamily="34" charset="0"/>
              </a:rPr>
              <a:t> MongoDB stocke le sujet principal dans le nombre minimal de documents et non en le divisant en plusieurs structures relationnelles comme RDBMS. Par exemple, il stocke toutes les informations d'un ordinateur dans un seul document appelé Ordinateur et non dans des structures relationnelles distinctes comme CPU, RAM, Disque dur, etc.</a:t>
            </a:r>
            <a:endParaRPr lang="en-US"/>
          </a:p>
        </p:txBody>
      </p:sp>
      <p:sp>
        <p:nvSpPr>
          <p:cNvPr id="7" name="TextBox 6">
            <a:extLst>
              <a:ext uri="{FF2B5EF4-FFF2-40B4-BE49-F238E27FC236}">
                <a16:creationId xmlns:a16="http://schemas.microsoft.com/office/drawing/2014/main" id="{055C1F5E-539C-6B85-34ED-600C44AFEB99}"/>
              </a:ext>
            </a:extLst>
          </p:cNvPr>
          <p:cNvSpPr txBox="1"/>
          <p:nvPr/>
        </p:nvSpPr>
        <p:spPr>
          <a:xfrm>
            <a:off x="2168432" y="5269818"/>
            <a:ext cx="9461315" cy="1200329"/>
          </a:xfrm>
          <a:prstGeom prst="rect">
            <a:avLst/>
          </a:prstGeom>
          <a:noFill/>
        </p:spPr>
        <p:txBody>
          <a:bodyPr wrap="square" rtlCol="0">
            <a:spAutoFit/>
          </a:bodyPr>
          <a:lstStyle/>
          <a:p>
            <a:r>
              <a:rPr lang="fr-CA" sz="1800" b="1">
                <a:effectLst/>
                <a:latin typeface="Calibri" panose="020F0502020204030204" pitchFamily="34" charset="0"/>
                <a:ea typeface="Calibri" panose="020F0502020204030204" pitchFamily="34" charset="0"/>
                <a:cs typeface="Arial" panose="020B0604020202020204" pitchFamily="34" charset="0"/>
              </a:rPr>
              <a:t>Indexation :</a:t>
            </a:r>
            <a:r>
              <a:rPr lang="fr-CA" sz="1800">
                <a:effectLst/>
                <a:latin typeface="Calibri" panose="020F0502020204030204" pitchFamily="34" charset="0"/>
                <a:ea typeface="Calibri" panose="020F0502020204030204" pitchFamily="34" charset="0"/>
                <a:cs typeface="Arial" panose="020B0604020202020204" pitchFamily="34" charset="0"/>
              </a:rPr>
              <a:t> Sans indexation, une base de données devrait scanner chaque document d'une collection pour sélectionner ceux qui correspondent à la requête ce qui serait inefficace. Ainsi, pour une recherche efficace, l'indexation est indispensable et MongoDB l'utilise pour traiter d'énormes volumes de données en très peu de temps.</a:t>
            </a:r>
            <a:endParaRPr lang="en-US"/>
          </a:p>
        </p:txBody>
      </p:sp>
    </p:spTree>
    <p:extLst>
      <p:ext uri="{BB962C8B-B14F-4D97-AF65-F5344CB8AC3E}">
        <p14:creationId xmlns:p14="http://schemas.microsoft.com/office/powerpoint/2010/main" val="367110397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Introduction</a:t>
            </a:r>
          </a:p>
        </p:txBody>
      </p:sp>
      <p:sp>
        <p:nvSpPr>
          <p:cNvPr id="5" name="TextBox 4">
            <a:extLst>
              <a:ext uri="{FF2B5EF4-FFF2-40B4-BE49-F238E27FC236}">
                <a16:creationId xmlns:a16="http://schemas.microsoft.com/office/drawing/2014/main" id="{C673B3B5-53F5-70A4-3542-05D082C0CFD6}"/>
              </a:ext>
            </a:extLst>
          </p:cNvPr>
          <p:cNvSpPr txBox="1"/>
          <p:nvPr/>
        </p:nvSpPr>
        <p:spPr>
          <a:xfrm>
            <a:off x="2168433" y="1377514"/>
            <a:ext cx="9858104" cy="37555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Caractéristiques d’une base de données MongoDB</a:t>
            </a:r>
            <a:endParaRPr lang="en-US"/>
          </a:p>
        </p:txBody>
      </p:sp>
      <p:sp>
        <p:nvSpPr>
          <p:cNvPr id="6" name="TextBox 5">
            <a:extLst>
              <a:ext uri="{FF2B5EF4-FFF2-40B4-BE49-F238E27FC236}">
                <a16:creationId xmlns:a16="http://schemas.microsoft.com/office/drawing/2014/main" id="{110F2B60-3430-F789-307B-A48D5276BA43}"/>
              </a:ext>
            </a:extLst>
          </p:cNvPr>
          <p:cNvSpPr txBox="1"/>
          <p:nvPr/>
        </p:nvSpPr>
        <p:spPr>
          <a:xfrm>
            <a:off x="2168432" y="1802161"/>
            <a:ext cx="9461315" cy="1754326"/>
          </a:xfrm>
          <a:prstGeom prst="rect">
            <a:avLst/>
          </a:prstGeom>
          <a:noFill/>
        </p:spPr>
        <p:txBody>
          <a:bodyPr wrap="square" rtlCol="0">
            <a:spAutoFit/>
          </a:bodyPr>
          <a:lstStyle/>
          <a:p>
            <a:r>
              <a:rPr lang="fr-CA" sz="1800" b="1">
                <a:effectLst/>
                <a:latin typeface="Calibri" panose="020F0502020204030204" pitchFamily="34" charset="0"/>
                <a:ea typeface="Calibri" panose="020F0502020204030204" pitchFamily="34" charset="0"/>
                <a:cs typeface="Arial" panose="020B0604020202020204" pitchFamily="34" charset="0"/>
              </a:rPr>
              <a:t>Évolutivité :</a:t>
            </a:r>
            <a:r>
              <a:rPr lang="fr-CA" sz="1800">
                <a:effectLst/>
                <a:latin typeface="Calibri" panose="020F0502020204030204" pitchFamily="34" charset="0"/>
                <a:ea typeface="Calibri" panose="020F0502020204030204" pitchFamily="34" charset="0"/>
                <a:cs typeface="Arial" panose="020B0604020202020204" pitchFamily="34" charset="0"/>
              </a:rPr>
              <a:t> MongoDB évolue horizontalement à l'aide du sharding (partitionnement des données sur différents serveurs). Les données sont partitionnées en blocs de données à l'aide de la clé de partition, et ces blocs de données sont répartis uniformément entre les fragments qui résident sur de nombreux serveurs physiques. En outre, de nouvelles machines peuvent être ajoutées à une base de données en cours d'exécution.</a:t>
            </a:r>
            <a:endParaRPr lang="en-US" sz="1800">
              <a:effectLst/>
              <a:latin typeface="Calibri" panose="020F0502020204030204" pitchFamily="34" charset="0"/>
              <a:ea typeface="Calibri" panose="020F0502020204030204" pitchFamily="34" charset="0"/>
              <a:cs typeface="Arial" panose="020B0604020202020204" pitchFamily="34" charset="0"/>
            </a:endParaRPr>
          </a:p>
          <a:p>
            <a:endParaRPr lang="en-US"/>
          </a:p>
        </p:txBody>
      </p:sp>
      <p:sp>
        <p:nvSpPr>
          <p:cNvPr id="7" name="TextBox 6">
            <a:extLst>
              <a:ext uri="{FF2B5EF4-FFF2-40B4-BE49-F238E27FC236}">
                <a16:creationId xmlns:a16="http://schemas.microsoft.com/office/drawing/2014/main" id="{055C1F5E-539C-6B85-34ED-600C44AFEB99}"/>
              </a:ext>
            </a:extLst>
          </p:cNvPr>
          <p:cNvSpPr txBox="1"/>
          <p:nvPr/>
        </p:nvSpPr>
        <p:spPr>
          <a:xfrm>
            <a:off x="2168432" y="3529789"/>
            <a:ext cx="9461315" cy="1200329"/>
          </a:xfrm>
          <a:prstGeom prst="rect">
            <a:avLst/>
          </a:prstGeom>
          <a:noFill/>
        </p:spPr>
        <p:txBody>
          <a:bodyPr wrap="square" rtlCol="0">
            <a:spAutoFit/>
          </a:bodyPr>
          <a:lstStyle/>
          <a:p>
            <a:r>
              <a:rPr lang="fr-CA" sz="1800" b="1">
                <a:effectLst/>
                <a:latin typeface="Calibri" panose="020F0502020204030204" pitchFamily="34" charset="0"/>
                <a:ea typeface="Calibri" panose="020F0502020204030204" pitchFamily="34" charset="0"/>
                <a:cs typeface="Arial" panose="020B0604020202020204" pitchFamily="34" charset="0"/>
              </a:rPr>
              <a:t>Réplication et haute disponibilité :</a:t>
            </a:r>
            <a:r>
              <a:rPr lang="fr-CA" sz="1800">
                <a:effectLst/>
                <a:latin typeface="Calibri" panose="020F0502020204030204" pitchFamily="34" charset="0"/>
                <a:ea typeface="Calibri" panose="020F0502020204030204" pitchFamily="34" charset="0"/>
                <a:cs typeface="Arial" panose="020B0604020202020204" pitchFamily="34" charset="0"/>
              </a:rPr>
              <a:t> MongoDB augmente la disponibilité des données avec plusieurs copies de données sur différents serveurs. En assurant la redondance, il protège la base de données des pannes matérielles. Si un serveur tombe en panne, les données peuvent être récupérées facilement à partir d'autres serveurs actifs sur lesquels les données étaient également stockées.</a:t>
            </a:r>
            <a:endParaRPr lang="en-US"/>
          </a:p>
        </p:txBody>
      </p:sp>
      <p:sp>
        <p:nvSpPr>
          <p:cNvPr id="8" name="TextBox 7">
            <a:extLst>
              <a:ext uri="{FF2B5EF4-FFF2-40B4-BE49-F238E27FC236}">
                <a16:creationId xmlns:a16="http://schemas.microsoft.com/office/drawing/2014/main" id="{6D3EF0C1-9E1A-6F37-3ADA-375E51F2DAF9}"/>
              </a:ext>
            </a:extLst>
          </p:cNvPr>
          <p:cNvSpPr txBox="1"/>
          <p:nvPr/>
        </p:nvSpPr>
        <p:spPr>
          <a:xfrm>
            <a:off x="2168431" y="5018821"/>
            <a:ext cx="9461315" cy="923330"/>
          </a:xfrm>
          <a:prstGeom prst="rect">
            <a:avLst/>
          </a:prstGeom>
          <a:noFill/>
        </p:spPr>
        <p:txBody>
          <a:bodyPr wrap="square" rtlCol="0">
            <a:spAutoFit/>
          </a:bodyPr>
          <a:lstStyle/>
          <a:p>
            <a:r>
              <a:rPr lang="fr-CA" sz="1800" b="1">
                <a:effectLst/>
                <a:latin typeface="Calibri" panose="020F0502020204030204" pitchFamily="34" charset="0"/>
                <a:ea typeface="Calibri" panose="020F0502020204030204" pitchFamily="34" charset="0"/>
                <a:cs typeface="Arial" panose="020B0604020202020204" pitchFamily="34" charset="0"/>
              </a:rPr>
              <a:t>Agrégation :</a:t>
            </a:r>
            <a:r>
              <a:rPr lang="fr-CA" sz="1800">
                <a:effectLst/>
                <a:latin typeface="Calibri" panose="020F0502020204030204" pitchFamily="34" charset="0"/>
                <a:ea typeface="Calibri" panose="020F0502020204030204" pitchFamily="34" charset="0"/>
                <a:cs typeface="Arial" panose="020B0604020202020204" pitchFamily="34" charset="0"/>
              </a:rPr>
              <a:t> les opérations d'agrégation traitent les enregistrements de données et renvoient les résultats calculés. Elle est similaire à la clause GROUPBY dans SQL. Quelques expressions d'agrégation sont sum, avg, min, max, etc.</a:t>
            </a:r>
            <a:endParaRPr lang="en-US"/>
          </a:p>
        </p:txBody>
      </p:sp>
    </p:spTree>
    <p:extLst>
      <p:ext uri="{BB962C8B-B14F-4D97-AF65-F5344CB8AC3E}">
        <p14:creationId xmlns:p14="http://schemas.microsoft.com/office/powerpoint/2010/main" val="111105045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Introduction</a:t>
            </a:r>
          </a:p>
        </p:txBody>
      </p:sp>
      <p:sp>
        <p:nvSpPr>
          <p:cNvPr id="5" name="TextBox 4">
            <a:extLst>
              <a:ext uri="{FF2B5EF4-FFF2-40B4-BE49-F238E27FC236}">
                <a16:creationId xmlns:a16="http://schemas.microsoft.com/office/drawing/2014/main" id="{C673B3B5-53F5-70A4-3542-05D082C0CFD6}"/>
              </a:ext>
            </a:extLst>
          </p:cNvPr>
          <p:cNvSpPr txBox="1"/>
          <p:nvPr/>
        </p:nvSpPr>
        <p:spPr>
          <a:xfrm>
            <a:off x="2168433" y="1377514"/>
            <a:ext cx="9858104" cy="37555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Terminologies</a:t>
            </a:r>
            <a:endParaRPr lang="en-US"/>
          </a:p>
        </p:txBody>
      </p:sp>
      <p:sp>
        <p:nvSpPr>
          <p:cNvPr id="6" name="TextBox 5">
            <a:extLst>
              <a:ext uri="{FF2B5EF4-FFF2-40B4-BE49-F238E27FC236}">
                <a16:creationId xmlns:a16="http://schemas.microsoft.com/office/drawing/2014/main" id="{110F2B60-3430-F789-307B-A48D5276BA43}"/>
              </a:ext>
            </a:extLst>
          </p:cNvPr>
          <p:cNvSpPr txBox="1"/>
          <p:nvPr/>
        </p:nvSpPr>
        <p:spPr>
          <a:xfrm>
            <a:off x="2168432" y="1802161"/>
            <a:ext cx="9461315" cy="646331"/>
          </a:xfrm>
          <a:prstGeom prst="rect">
            <a:avLst/>
          </a:prstGeom>
          <a:noFill/>
        </p:spPr>
        <p:txBody>
          <a:bodyPr wrap="square" rtlCol="0">
            <a:spAutoFit/>
          </a:bodyPr>
          <a:lstStyle/>
          <a:p>
            <a:r>
              <a:rPr lang="fr-CA" sz="1800" b="1">
                <a:effectLst/>
                <a:latin typeface="Calibri" panose="020F0502020204030204" pitchFamily="34" charset="0"/>
                <a:ea typeface="Calibri" panose="020F0502020204030204" pitchFamily="34" charset="0"/>
                <a:cs typeface="Arial" panose="020B0604020202020204" pitchFamily="34" charset="0"/>
              </a:rPr>
              <a:t>Collection</a:t>
            </a:r>
            <a:r>
              <a:rPr lang="fr-CA" sz="1800">
                <a:effectLst/>
                <a:latin typeface="Calibri" panose="020F0502020204030204" pitchFamily="34" charset="0"/>
                <a:ea typeface="Calibri" panose="020F0502020204030204" pitchFamily="34" charset="0"/>
                <a:cs typeface="Arial" panose="020B0604020202020204" pitchFamily="34" charset="0"/>
              </a:rPr>
              <a:t> est un ensemble de documents MongoDB. Il est similaire aux tables dans RDBMS.</a:t>
            </a:r>
            <a:endParaRPr lang="en-US" sz="1800">
              <a:effectLst/>
              <a:latin typeface="Calibri" panose="020F0502020204030204" pitchFamily="34" charset="0"/>
              <a:ea typeface="Calibri" panose="020F0502020204030204" pitchFamily="34" charset="0"/>
              <a:cs typeface="Arial" panose="020B0604020202020204" pitchFamily="34" charset="0"/>
            </a:endParaRPr>
          </a:p>
          <a:p>
            <a:endParaRPr lang="en-US" sz="1800">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055C1F5E-539C-6B85-34ED-600C44AFEB99}"/>
              </a:ext>
            </a:extLst>
          </p:cNvPr>
          <p:cNvSpPr txBox="1"/>
          <p:nvPr/>
        </p:nvSpPr>
        <p:spPr>
          <a:xfrm>
            <a:off x="2168430" y="2227291"/>
            <a:ext cx="9461315" cy="923330"/>
          </a:xfrm>
          <a:prstGeom prst="rect">
            <a:avLst/>
          </a:prstGeom>
          <a:noFill/>
        </p:spPr>
        <p:txBody>
          <a:bodyPr wrap="square" rtlCol="0">
            <a:spAutoFit/>
          </a:bodyPr>
          <a:lstStyle/>
          <a:p>
            <a:r>
              <a:rPr lang="fr-CA" sz="1800" b="1">
                <a:effectLst/>
                <a:latin typeface="Calibri" panose="020F0502020204030204" pitchFamily="34" charset="0"/>
                <a:ea typeface="Calibri" panose="020F0502020204030204" pitchFamily="34" charset="0"/>
                <a:cs typeface="Arial" panose="020B0604020202020204" pitchFamily="34" charset="0"/>
              </a:rPr>
              <a:t>Document</a:t>
            </a:r>
            <a:r>
              <a:rPr lang="fr-CA" sz="1800">
                <a:effectLst/>
                <a:latin typeface="Calibri" panose="020F0502020204030204" pitchFamily="34" charset="0"/>
                <a:ea typeface="Calibri" panose="020F0502020204030204" pitchFamily="34" charset="0"/>
                <a:cs typeface="Arial" panose="020B0604020202020204" pitchFamily="34" charset="0"/>
              </a:rPr>
              <a:t> est composé de champs. Il est similaire à un tuple dans RDBMS, mais il a un schéma dynamique ici. Les documents de la même collection n'ont pas besoin d'avoir le même ensemble de champs.</a:t>
            </a:r>
            <a:endParaRPr lang="en-US"/>
          </a:p>
        </p:txBody>
      </p:sp>
      <p:sp>
        <p:nvSpPr>
          <p:cNvPr id="2" name="TextBox 1">
            <a:extLst>
              <a:ext uri="{FF2B5EF4-FFF2-40B4-BE49-F238E27FC236}">
                <a16:creationId xmlns:a16="http://schemas.microsoft.com/office/drawing/2014/main" id="{381E9AE5-BE26-37EC-4D11-78D299072248}"/>
              </a:ext>
            </a:extLst>
          </p:cNvPr>
          <p:cNvSpPr txBox="1"/>
          <p:nvPr/>
        </p:nvSpPr>
        <p:spPr>
          <a:xfrm>
            <a:off x="2168434" y="3344918"/>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Installation MongoDB </a:t>
            </a:r>
            <a:endParaRPr lang="en-US"/>
          </a:p>
        </p:txBody>
      </p:sp>
      <p:sp>
        <p:nvSpPr>
          <p:cNvPr id="3" name="TextBox 2">
            <a:extLst>
              <a:ext uri="{FF2B5EF4-FFF2-40B4-BE49-F238E27FC236}">
                <a16:creationId xmlns:a16="http://schemas.microsoft.com/office/drawing/2014/main" id="{7CF0EF77-CAE7-0EA7-BA16-741CB815B5AA}"/>
              </a:ext>
            </a:extLst>
          </p:cNvPr>
          <p:cNvSpPr txBox="1"/>
          <p:nvPr/>
        </p:nvSpPr>
        <p:spPr>
          <a:xfrm>
            <a:off x="2168430" y="4000880"/>
            <a:ext cx="9525739" cy="1957908"/>
          </a:xfrm>
          <a:prstGeom prst="rect">
            <a:avLst/>
          </a:prstGeom>
          <a:noFill/>
        </p:spPr>
        <p:txBody>
          <a:bodyPr wrap="square" rtlCol="0">
            <a:spAutoFit/>
          </a:bodyPr>
          <a:lstStyle/>
          <a:p>
            <a:pPr marL="342900" marR="0" lvl="0" indent="-342900" rtl="0">
              <a:lnSpc>
                <a:spcPct val="107000"/>
              </a:lnSpc>
              <a:spcBef>
                <a:spcPts val="0"/>
              </a:spcBef>
              <a:spcAft>
                <a:spcPts val="0"/>
              </a:spcAft>
              <a:buFont typeface="Symbol" panose="05050102010706020507" pitchFamily="18" charset="2"/>
              <a:buChar char=""/>
            </a:pPr>
            <a:r>
              <a:rPr lang="fr-CA" sz="1800">
                <a:effectLst/>
                <a:latin typeface="Calibri" panose="020F0502020204030204" pitchFamily="34" charset="0"/>
                <a:ea typeface="Calibri" panose="020F0502020204030204" pitchFamily="34" charset="0"/>
                <a:cs typeface="Arial" panose="020B0604020202020204" pitchFamily="34" charset="0"/>
              </a:rPr>
              <a:t>Télécharger et démarrer MongoDB msi installer à partir ce lien : </a:t>
            </a:r>
            <a:r>
              <a:rPr lang="fr-CA" sz="1800" u="sng">
                <a:solidFill>
                  <a:srgbClr val="0563C1"/>
                </a:solidFill>
                <a:effectLst/>
                <a:latin typeface="Calibri" panose="020F0502020204030204" pitchFamily="34" charset="0"/>
                <a:ea typeface="Calibri" panose="020F0502020204030204" pitchFamily="34" charset="0"/>
                <a:cs typeface="Arial" panose="020B0604020202020204" pitchFamily="34" charset="0"/>
                <a:hlinkClick r:id="rId4"/>
              </a:rPr>
              <a:t>https://www.mongodb.com/try/download/community</a:t>
            </a:r>
            <a:r>
              <a:rPr lang="fr-CA" sz="1800">
                <a:effectLst/>
                <a:latin typeface="Calibri" panose="020F0502020204030204" pitchFamily="34" charset="0"/>
                <a:ea typeface="Calibri" panose="020F0502020204030204" pitchFamily="34"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fr-CA" sz="1800">
                <a:effectLst/>
                <a:latin typeface="Calibri" panose="020F0502020204030204" pitchFamily="34" charset="0"/>
                <a:ea typeface="Calibri" panose="020F0502020204030204" pitchFamily="34" charset="0"/>
                <a:cs typeface="Arial" panose="020B0604020202020204" pitchFamily="34" charset="0"/>
              </a:rPr>
              <a:t>Sélection installation complète et cocher installer comme un service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fr-CA" sz="1800">
                <a:effectLst/>
                <a:latin typeface="Calibri" panose="020F0502020204030204" pitchFamily="34" charset="0"/>
                <a:ea typeface="Calibri" panose="020F0502020204030204" pitchFamily="34" charset="0"/>
                <a:cs typeface="Arial" panose="020B0604020202020204" pitchFamily="34" charset="0"/>
              </a:rPr>
              <a:t>Cocher installer MongoDB Compass</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Symbol" panose="05050102010706020507" pitchFamily="18" charset="2"/>
              <a:buChar char=""/>
            </a:pPr>
            <a:r>
              <a:rPr lang="fr-CA" sz="1800">
                <a:effectLst/>
                <a:latin typeface="Calibri" panose="020F0502020204030204" pitchFamily="34" charset="0"/>
                <a:ea typeface="Calibri" panose="020F0502020204030204" pitchFamily="34" charset="0"/>
                <a:cs typeface="Arial" panose="020B0604020202020204" pitchFamily="34" charset="0"/>
              </a:rPr>
              <a:t>Configuration du fichier   </a:t>
            </a:r>
            <a:r>
              <a:rPr lang="fr-CA" sz="1800">
                <a:solidFill>
                  <a:srgbClr val="001E2B"/>
                </a:solidFill>
                <a:effectLst/>
                <a:latin typeface="Courier New" panose="02070309020205020404" pitchFamily="49" charset="0"/>
                <a:ea typeface="Calibri" panose="020F0502020204030204" pitchFamily="34" charset="0"/>
                <a:cs typeface="Arial" panose="020B0604020202020204" pitchFamily="34" charset="0"/>
              </a:rPr>
              <a:t>&lt;install directory&gt;\bin\mongod.cfg </a:t>
            </a:r>
            <a:endParaRPr lang="en-US">
              <a:solidFill>
                <a:srgbClr val="001E2B"/>
              </a:solidFill>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Symbol" panose="05050102010706020507" pitchFamily="18" charset="2"/>
              <a:buChar char=""/>
            </a:pPr>
            <a:r>
              <a:rPr lang="fr-CA" sz="1800">
                <a:effectLst/>
                <a:latin typeface="Calibri" panose="020F0502020204030204" pitchFamily="34" charset="0"/>
                <a:ea typeface="Calibri" panose="020F0502020204030204" pitchFamily="34" charset="0"/>
                <a:cs typeface="Arial" panose="020B0604020202020204" pitchFamily="34" charset="0"/>
              </a:rPr>
              <a:t>Lancer MongoDB compass et connecter au serveur MangoDB sur </a:t>
            </a:r>
            <a:r>
              <a:rPr lang="fr-CA" sz="1800" b="1">
                <a:effectLst/>
                <a:latin typeface="Calibri" panose="020F0502020204030204" pitchFamily="34" charset="0"/>
                <a:ea typeface="Calibri" panose="020F0502020204030204" pitchFamily="34" charset="0"/>
                <a:cs typeface="Arial" panose="020B0604020202020204" pitchFamily="34" charset="0"/>
              </a:rPr>
              <a:t>localhost : 27017</a:t>
            </a:r>
            <a:endParaRPr lang="en-US"/>
          </a:p>
        </p:txBody>
      </p:sp>
    </p:spTree>
    <p:extLst>
      <p:ext uri="{BB962C8B-B14F-4D97-AF65-F5344CB8AC3E}">
        <p14:creationId xmlns:p14="http://schemas.microsoft.com/office/powerpoint/2010/main" val="376198940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lIns="91440" tIns="45720" rIns="91440" bIns="45720" rtlCol="0" anchor="t">
            <a:spAutoFit/>
          </a:bodyPr>
          <a:lstStyle>
            <a:defPPr>
              <a:defRPr lang="fr-FR"/>
            </a:defPPr>
            <a:lvl1pPr>
              <a:defRPr sz="2400" b="1">
                <a:solidFill>
                  <a:schemeClr val="accent1"/>
                </a:solidFill>
              </a:defRPr>
            </a:lvl1pPr>
          </a:lstStyle>
          <a:p>
            <a:r>
              <a:rPr lang="fr-CA"/>
              <a:t>Première connexion à une base de données  </a:t>
            </a:r>
          </a:p>
        </p:txBody>
      </p:sp>
      <p:sp>
        <p:nvSpPr>
          <p:cNvPr id="5" name="TextBox 4">
            <a:extLst>
              <a:ext uri="{FF2B5EF4-FFF2-40B4-BE49-F238E27FC236}">
                <a16:creationId xmlns:a16="http://schemas.microsoft.com/office/drawing/2014/main" id="{C673B3B5-53F5-70A4-3542-05D082C0CFD6}"/>
              </a:ext>
            </a:extLst>
          </p:cNvPr>
          <p:cNvSpPr txBox="1"/>
          <p:nvPr/>
        </p:nvSpPr>
        <p:spPr>
          <a:xfrm>
            <a:off x="2168433" y="1377514"/>
            <a:ext cx="9858104" cy="37555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Création une base de données</a:t>
            </a:r>
            <a:endParaRPr lang="en-US"/>
          </a:p>
        </p:txBody>
      </p:sp>
      <p:sp>
        <p:nvSpPr>
          <p:cNvPr id="6" name="TextBox 5">
            <a:extLst>
              <a:ext uri="{FF2B5EF4-FFF2-40B4-BE49-F238E27FC236}">
                <a16:creationId xmlns:a16="http://schemas.microsoft.com/office/drawing/2014/main" id="{110F2B60-3430-F789-307B-A48D5276BA43}"/>
              </a:ext>
            </a:extLst>
          </p:cNvPr>
          <p:cNvSpPr txBox="1"/>
          <p:nvPr/>
        </p:nvSpPr>
        <p:spPr>
          <a:xfrm>
            <a:off x="2168432" y="1802161"/>
            <a:ext cx="9461315" cy="369332"/>
          </a:xfrm>
          <a:prstGeom prst="rect">
            <a:avLst/>
          </a:prstGeom>
          <a:noFill/>
        </p:spPr>
        <p:txBody>
          <a:bodyPr wrap="square" lIns="91440" tIns="45720" rIns="91440" bIns="45720" rtlCol="0" anchor="t">
            <a:spAutoFit/>
          </a:bodyPr>
          <a:lstStyle/>
          <a:p>
            <a:r>
              <a:rPr lang="fr-CA">
                <a:latin typeface="Calibri"/>
                <a:ea typeface="Calibri"/>
                <a:cs typeface="Arial"/>
              </a:rPr>
              <a:t>En utilisant MongoDB Compass, on va créer une base de données vide test01.</a:t>
            </a:r>
            <a:endParaRPr lang="en-US">
              <a:latin typeface="Calibri"/>
              <a:ea typeface="Calibri"/>
              <a:cs typeface="Arial"/>
            </a:endParaRPr>
          </a:p>
        </p:txBody>
      </p:sp>
      <p:sp>
        <p:nvSpPr>
          <p:cNvPr id="3" name="TextBox 2">
            <a:extLst>
              <a:ext uri="{FF2B5EF4-FFF2-40B4-BE49-F238E27FC236}">
                <a16:creationId xmlns:a16="http://schemas.microsoft.com/office/drawing/2014/main" id="{7CF0EF77-CAE7-0EA7-BA16-741CB815B5AA}"/>
              </a:ext>
            </a:extLst>
          </p:cNvPr>
          <p:cNvSpPr txBox="1"/>
          <p:nvPr/>
        </p:nvSpPr>
        <p:spPr>
          <a:xfrm>
            <a:off x="2104008" y="2879483"/>
            <a:ext cx="9858104" cy="3416320"/>
          </a:xfrm>
          <a:prstGeom prst="rect">
            <a:avLst/>
          </a:prstGeom>
          <a:solidFill>
            <a:schemeClr val="tx2">
              <a:lumMod val="50000"/>
            </a:schemeClr>
          </a:solidFill>
        </p:spPr>
        <p:txBody>
          <a:bodyPr wrap="square" rtlCol="0">
            <a:spAutoFit/>
          </a:bodyPr>
          <a:lstStyle>
            <a:defPPr>
              <a:defRPr lang="fr-FR"/>
            </a:defPPr>
            <a:lvl1pPr>
              <a:defRPr i="1">
                <a:solidFill>
                  <a:srgbClr val="82AAFF"/>
                </a:solidFill>
                <a:latin typeface="Consolas" panose="020B0609020204030204" pitchFamily="49" charset="0"/>
              </a:defRPr>
            </a:lvl1pPr>
          </a:lstStyle>
          <a:p>
            <a:r>
              <a:rPr lang="en-US" b="0">
                <a:solidFill>
                  <a:srgbClr val="82AAFF"/>
                </a:solidFill>
                <a:effectLst/>
                <a:latin typeface="Consolas" panose="020B0609020204030204" pitchFamily="49" charset="0"/>
              </a:rPr>
              <a:t>const</a:t>
            </a:r>
            <a:r>
              <a:rPr lang="en-US" b="0" i="1">
                <a:solidFill>
                  <a:srgbClr val="C792EA"/>
                </a:solidFill>
                <a:effectLst/>
                <a:latin typeface="Consolas" panose="020B0609020204030204" pitchFamily="49" charset="0"/>
              </a:rPr>
              <a:t> </a:t>
            </a:r>
            <a:r>
              <a:rPr lang="en-US" b="0" i="1">
                <a:solidFill>
                  <a:srgbClr val="82AAFF"/>
                </a:solidFill>
                <a:effectLst/>
                <a:latin typeface="Consolas" panose="020B0609020204030204" pitchFamily="49" charset="0"/>
              </a:rPr>
              <a:t>express</a:t>
            </a:r>
            <a:r>
              <a:rPr lang="en-US" b="0" i="1">
                <a:solidFill>
                  <a:srgbClr val="C792EA"/>
                </a:solidFill>
                <a:effectLst/>
                <a:latin typeface="Consolas" panose="020B0609020204030204" pitchFamily="49" charset="0"/>
              </a:rPr>
              <a:t> </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a:solidFill>
                  <a:srgbClr val="82AAFF"/>
                </a:solidFill>
                <a:effectLst/>
                <a:latin typeface="Consolas" panose="020B0609020204030204" pitchFamily="49" charset="0"/>
              </a:rPr>
              <a:t>require</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express</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a:p>
            <a:r>
              <a:rPr lang="en-US" b="0">
                <a:solidFill>
                  <a:srgbClr val="82AAFF"/>
                </a:solidFill>
                <a:effectLst/>
                <a:latin typeface="Consolas" panose="020B0609020204030204" pitchFamily="49" charset="0"/>
              </a:rPr>
              <a:t>const</a:t>
            </a:r>
            <a:r>
              <a:rPr lang="en-US" b="0" i="1">
                <a:solidFill>
                  <a:srgbClr val="C792EA"/>
                </a:solidFill>
                <a:effectLst/>
                <a:latin typeface="Consolas" panose="020B0609020204030204" pitchFamily="49" charset="0"/>
              </a:rPr>
              <a:t> </a:t>
            </a:r>
            <a:r>
              <a:rPr lang="en-US" b="0" i="1">
                <a:solidFill>
                  <a:srgbClr val="82AAFF"/>
                </a:solidFill>
                <a:effectLst/>
                <a:latin typeface="Consolas" panose="020B0609020204030204" pitchFamily="49" charset="0"/>
              </a:rPr>
              <a:t>app</a:t>
            </a:r>
            <a:r>
              <a:rPr lang="en-US" b="0" i="1">
                <a:solidFill>
                  <a:srgbClr val="C792EA"/>
                </a:solidFill>
                <a:effectLst/>
                <a:latin typeface="Consolas" panose="020B0609020204030204" pitchFamily="49" charset="0"/>
              </a:rPr>
              <a:t> </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a:solidFill>
                  <a:srgbClr val="82AAFF"/>
                </a:solidFill>
                <a:effectLst/>
                <a:latin typeface="Consolas" panose="020B0609020204030204" pitchFamily="49" charset="0"/>
              </a:rPr>
              <a:t>express</a:t>
            </a:r>
            <a:r>
              <a:rPr lang="en-US" b="0">
                <a:solidFill>
                  <a:srgbClr val="D6DEEB"/>
                </a:solidFill>
                <a:effectLst/>
                <a:latin typeface="Consolas" panose="020B0609020204030204" pitchFamily="49" charset="0"/>
              </a:rPr>
              <a:t>();</a:t>
            </a:r>
          </a:p>
          <a:p>
            <a:r>
              <a:rPr lang="en-US" b="0">
                <a:solidFill>
                  <a:srgbClr val="637777"/>
                </a:solidFill>
                <a:effectLst/>
                <a:latin typeface="Consolas" panose="020B0609020204030204" pitchFamily="49" charset="0"/>
              </a:rPr>
              <a:t>//</a:t>
            </a:r>
            <a:r>
              <a:rPr lang="en-US" b="0" i="1">
                <a:solidFill>
                  <a:srgbClr val="637777"/>
                </a:solidFill>
                <a:effectLst/>
                <a:latin typeface="Consolas" panose="020B0609020204030204" pitchFamily="49" charset="0"/>
              </a:rPr>
              <a:t> Import the mongoose module</a:t>
            </a:r>
            <a:endParaRPr lang="en-US" b="0">
              <a:solidFill>
                <a:srgbClr val="D6DEEB"/>
              </a:solidFill>
              <a:effectLst/>
              <a:latin typeface="Consolas" panose="020B0609020204030204" pitchFamily="49" charset="0"/>
            </a:endParaRPr>
          </a:p>
          <a:p>
            <a:r>
              <a:rPr lang="en-US" b="0">
                <a:solidFill>
                  <a:srgbClr val="82AAFF"/>
                </a:solidFill>
                <a:effectLst/>
                <a:latin typeface="Consolas" panose="020B0609020204030204" pitchFamily="49" charset="0"/>
              </a:rPr>
              <a:t>const</a:t>
            </a:r>
            <a:r>
              <a:rPr lang="en-US" b="0" i="1">
                <a:solidFill>
                  <a:srgbClr val="C792EA"/>
                </a:solidFill>
                <a:effectLst/>
                <a:latin typeface="Consolas" panose="020B0609020204030204" pitchFamily="49" charset="0"/>
              </a:rPr>
              <a:t> </a:t>
            </a:r>
            <a:r>
              <a:rPr lang="en-US" b="0" i="1">
                <a:solidFill>
                  <a:srgbClr val="82AAFF"/>
                </a:solidFill>
                <a:effectLst/>
                <a:latin typeface="Consolas" panose="020B0609020204030204" pitchFamily="49" charset="0"/>
              </a:rPr>
              <a:t>mongoose</a:t>
            </a:r>
            <a:r>
              <a:rPr lang="en-US" b="0" i="1">
                <a:solidFill>
                  <a:srgbClr val="C792EA"/>
                </a:solidFill>
                <a:effectLst/>
                <a:latin typeface="Consolas" panose="020B0609020204030204" pitchFamily="49" charset="0"/>
              </a:rPr>
              <a:t> </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a:solidFill>
                  <a:srgbClr val="82AAFF"/>
                </a:solidFill>
                <a:effectLst/>
                <a:latin typeface="Consolas" panose="020B0609020204030204" pitchFamily="49" charset="0"/>
              </a:rPr>
              <a:t>require</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mongoose</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a:p>
            <a:r>
              <a:rPr lang="en-US" b="0">
                <a:solidFill>
                  <a:srgbClr val="637777"/>
                </a:solidFill>
                <a:effectLst/>
                <a:latin typeface="Consolas" panose="020B0609020204030204" pitchFamily="49" charset="0"/>
              </a:rPr>
              <a:t>//</a:t>
            </a:r>
            <a:r>
              <a:rPr lang="en-US" b="0" i="1">
                <a:solidFill>
                  <a:srgbClr val="637777"/>
                </a:solidFill>
                <a:effectLst/>
                <a:latin typeface="Consolas" panose="020B0609020204030204" pitchFamily="49" charset="0"/>
              </a:rPr>
              <a:t> Set up default mongoose connection</a:t>
            </a:r>
            <a:endParaRPr lang="en-US" b="0">
              <a:solidFill>
                <a:srgbClr val="D6DEEB"/>
              </a:solidFill>
              <a:effectLst/>
              <a:latin typeface="Consolas" panose="020B0609020204030204" pitchFamily="49" charset="0"/>
            </a:endParaRPr>
          </a:p>
          <a:p>
            <a:r>
              <a:rPr lang="en-US" b="0">
                <a:solidFill>
                  <a:srgbClr val="82AAFF"/>
                </a:solidFill>
                <a:effectLst/>
                <a:latin typeface="Consolas" panose="020B0609020204030204" pitchFamily="49" charset="0"/>
              </a:rPr>
              <a:t>const</a:t>
            </a:r>
            <a:r>
              <a:rPr lang="en-US" b="0" i="1">
                <a:solidFill>
                  <a:srgbClr val="C792EA"/>
                </a:solidFill>
                <a:effectLst/>
                <a:latin typeface="Consolas" panose="020B0609020204030204" pitchFamily="49" charset="0"/>
              </a:rPr>
              <a:t> </a:t>
            </a:r>
            <a:r>
              <a:rPr lang="en-US" b="0" i="1">
                <a:solidFill>
                  <a:srgbClr val="82AAFF"/>
                </a:solidFill>
                <a:effectLst/>
                <a:latin typeface="Consolas" panose="020B0609020204030204" pitchFamily="49" charset="0"/>
              </a:rPr>
              <a:t>mongoDB</a:t>
            </a:r>
            <a:r>
              <a:rPr lang="en-US" b="0" i="1">
                <a:solidFill>
                  <a:srgbClr val="C792EA"/>
                </a:solidFill>
                <a:effectLst/>
                <a:latin typeface="Consolas" panose="020B0609020204030204" pitchFamily="49" charset="0"/>
              </a:rPr>
              <a:t> </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mongodb://localhost/test01</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mongoose</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connect</a:t>
            </a:r>
            <a:r>
              <a:rPr lang="en-US" b="0">
                <a:solidFill>
                  <a:srgbClr val="D6DEEB"/>
                </a:solidFill>
                <a:effectLst/>
                <a:latin typeface="Consolas" panose="020B0609020204030204" pitchFamily="49" charset="0"/>
              </a:rPr>
              <a:t>(</a:t>
            </a:r>
            <a:r>
              <a:rPr lang="en-US" b="0">
                <a:solidFill>
                  <a:srgbClr val="D7DBE0"/>
                </a:solidFill>
                <a:effectLst/>
                <a:latin typeface="Consolas" panose="020B0609020204030204" pitchFamily="49" charset="0"/>
              </a:rPr>
              <a:t>mongoDB</a:t>
            </a:r>
            <a:r>
              <a:rPr lang="en-US" b="0">
                <a:solidFill>
                  <a:srgbClr val="D6DEEB"/>
                </a:solidFill>
                <a:effectLst/>
                <a:latin typeface="Consolas" panose="020B0609020204030204" pitchFamily="49" charset="0"/>
              </a:rPr>
              <a:t>, { useNewUrlParser: </a:t>
            </a:r>
            <a:r>
              <a:rPr lang="en-US" b="0">
                <a:solidFill>
                  <a:srgbClr val="FF5874"/>
                </a:solidFill>
                <a:effectLst/>
                <a:latin typeface="Consolas" panose="020B0609020204030204" pitchFamily="49" charset="0"/>
              </a:rPr>
              <a:t>true</a:t>
            </a:r>
            <a:r>
              <a:rPr lang="en-US" b="0">
                <a:solidFill>
                  <a:srgbClr val="D6DEEB"/>
                </a:solidFill>
                <a:effectLst/>
                <a:latin typeface="Consolas" panose="020B0609020204030204" pitchFamily="49" charset="0"/>
              </a:rPr>
              <a:t>});  </a:t>
            </a:r>
          </a:p>
          <a:p>
            <a:r>
              <a:rPr lang="en-US" b="0">
                <a:solidFill>
                  <a:srgbClr val="82AAFF"/>
                </a:solidFill>
                <a:effectLst/>
                <a:latin typeface="Consolas" panose="020B0609020204030204" pitchFamily="49" charset="0"/>
              </a:rPr>
              <a:t>const</a:t>
            </a:r>
            <a:r>
              <a:rPr lang="en-US" b="0" i="1">
                <a:solidFill>
                  <a:srgbClr val="C792EA"/>
                </a:solidFill>
                <a:effectLst/>
                <a:latin typeface="Consolas" panose="020B0609020204030204" pitchFamily="49" charset="0"/>
              </a:rPr>
              <a:t> </a:t>
            </a:r>
            <a:r>
              <a:rPr lang="en-US" b="0" i="1">
                <a:solidFill>
                  <a:srgbClr val="82AAFF"/>
                </a:solidFill>
                <a:effectLst/>
                <a:latin typeface="Consolas" panose="020B0609020204030204" pitchFamily="49" charset="0"/>
              </a:rPr>
              <a:t>db</a:t>
            </a:r>
            <a:r>
              <a:rPr lang="en-US" b="0" i="1">
                <a:solidFill>
                  <a:srgbClr val="C792EA"/>
                </a:solidFill>
                <a:effectLst/>
                <a:latin typeface="Consolas" panose="020B0609020204030204" pitchFamily="49" charset="0"/>
              </a:rPr>
              <a:t> </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a:solidFill>
                  <a:srgbClr val="D6DEEB"/>
                </a:solidFill>
                <a:effectLst/>
                <a:latin typeface="Consolas" panose="020B0609020204030204" pitchFamily="49" charset="0"/>
              </a:rPr>
              <a:t>mongoose</a:t>
            </a:r>
            <a:r>
              <a:rPr lang="en-US" b="0" i="1">
                <a:solidFill>
                  <a:srgbClr val="C792EA"/>
                </a:solidFill>
                <a:effectLst/>
                <a:latin typeface="Consolas" panose="020B0609020204030204" pitchFamily="49" charset="0"/>
              </a:rPr>
              <a:t>.</a:t>
            </a:r>
            <a:r>
              <a:rPr lang="en-US" b="0" i="1">
                <a:solidFill>
                  <a:srgbClr val="7FDBCA"/>
                </a:solidFill>
                <a:effectLst/>
                <a:latin typeface="Consolas" panose="020B0609020204030204" pitchFamily="49" charset="0"/>
              </a:rPr>
              <a:t>connection</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db</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on</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error</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D9F5DD"/>
                </a:solidFill>
                <a:effectLst/>
                <a:latin typeface="Consolas" panose="020B0609020204030204" pitchFamily="49" charset="0"/>
              </a:rPr>
              <a:t>(</a:t>
            </a:r>
            <a:r>
              <a:rPr lang="en-US" b="0">
                <a:solidFill>
                  <a:srgbClr val="D7DBE0"/>
                </a:solidFill>
                <a:effectLst/>
                <a:latin typeface="Consolas" panose="020B0609020204030204" pitchFamily="49" charset="0"/>
              </a:rPr>
              <a:t>error</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82AAFF"/>
                </a:solidFill>
                <a:effectLst/>
                <a:latin typeface="Consolas" panose="020B0609020204030204" pitchFamily="49" charset="0"/>
              </a:rPr>
              <a:t>=&gt;</a:t>
            </a:r>
            <a:r>
              <a:rPr lang="en-US" b="0">
                <a:solidFill>
                  <a:srgbClr val="D6DEEB"/>
                </a:solidFill>
                <a:effectLst/>
                <a:latin typeface="Consolas" panose="020B0609020204030204" pitchFamily="49" charset="0"/>
              </a:rPr>
              <a:t> console</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error</a:t>
            </a:r>
            <a:r>
              <a:rPr lang="en-US" b="0">
                <a:solidFill>
                  <a:srgbClr val="D6DEEB"/>
                </a:solidFill>
                <a:effectLst/>
                <a:latin typeface="Consolas" panose="020B0609020204030204" pitchFamily="49" charset="0"/>
              </a:rPr>
              <a:t>(</a:t>
            </a:r>
            <a:r>
              <a:rPr lang="en-US" b="0">
                <a:solidFill>
                  <a:srgbClr val="D7DBE0"/>
                </a:solidFill>
                <a:effectLst/>
                <a:latin typeface="Consolas" panose="020B0609020204030204" pitchFamily="49" charset="0"/>
              </a:rPr>
              <a:t>error</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db</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once</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open</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82AAFF"/>
                </a:solidFill>
                <a:effectLst/>
                <a:latin typeface="Consolas" panose="020B0609020204030204" pitchFamily="49" charset="0"/>
              </a:rPr>
              <a:t>=&gt;</a:t>
            </a:r>
            <a:r>
              <a:rPr lang="en-US" b="0">
                <a:solidFill>
                  <a:srgbClr val="D6DEEB"/>
                </a:solidFill>
                <a:effectLst/>
                <a:latin typeface="Consolas" panose="020B0609020204030204" pitchFamily="49" charset="0"/>
              </a:rPr>
              <a:t> console</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log</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connected to database</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app</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listen</a:t>
            </a:r>
            <a:r>
              <a:rPr lang="en-US" b="0">
                <a:solidFill>
                  <a:srgbClr val="D6DEEB"/>
                </a:solidFill>
                <a:effectLst/>
                <a:latin typeface="Consolas" panose="020B0609020204030204" pitchFamily="49" charset="0"/>
              </a:rPr>
              <a:t>(</a:t>
            </a:r>
            <a:r>
              <a:rPr lang="en-US" b="0">
                <a:solidFill>
                  <a:srgbClr val="F78C6C"/>
                </a:solidFill>
                <a:effectLst/>
                <a:latin typeface="Consolas" panose="020B0609020204030204" pitchFamily="49" charset="0"/>
              </a:rPr>
              <a:t>3000</a:t>
            </a:r>
            <a:r>
              <a:rPr lang="en-US" b="0">
                <a:solidFill>
                  <a:srgbClr val="D6DEEB"/>
                </a:solidFill>
                <a:effectLst/>
                <a:latin typeface="Consolas" panose="020B0609020204030204" pitchFamily="49" charset="0"/>
              </a:rPr>
              <a:t>, </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82AAFF"/>
                </a:solidFill>
                <a:effectLst/>
                <a:latin typeface="Consolas" panose="020B0609020204030204" pitchFamily="49" charset="0"/>
              </a:rPr>
              <a:t>=&gt;</a:t>
            </a:r>
            <a:r>
              <a:rPr lang="en-US" b="0">
                <a:solidFill>
                  <a:srgbClr val="D6DEEB"/>
                </a:solidFill>
                <a:effectLst/>
                <a:latin typeface="Consolas" panose="020B0609020204030204" pitchFamily="49" charset="0"/>
              </a:rPr>
              <a:t> console</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log</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server started</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a:p>
            <a:endParaRPr lang="en-US"/>
          </a:p>
        </p:txBody>
      </p:sp>
      <p:sp>
        <p:nvSpPr>
          <p:cNvPr id="8" name="TextBox 7">
            <a:extLst>
              <a:ext uri="{FF2B5EF4-FFF2-40B4-BE49-F238E27FC236}">
                <a16:creationId xmlns:a16="http://schemas.microsoft.com/office/drawing/2014/main" id="{71C809DB-972F-655F-0EDE-B72D61967C99}"/>
              </a:ext>
            </a:extLst>
          </p:cNvPr>
          <p:cNvSpPr txBox="1"/>
          <p:nvPr/>
        </p:nvSpPr>
        <p:spPr>
          <a:xfrm>
            <a:off x="2168429" y="2382653"/>
            <a:ext cx="8928657" cy="369332"/>
          </a:xfrm>
          <a:prstGeom prst="rect">
            <a:avLst/>
          </a:prstGeom>
          <a:noFill/>
        </p:spPr>
        <p:txBody>
          <a:bodyPr wrap="square" lIns="91440" tIns="45720" rIns="91440" bIns="45720" rtlCol="0" anchor="t">
            <a:spAutoFit/>
          </a:bodyPr>
          <a:lstStyle>
            <a:defPPr>
              <a:defRPr lang="fr-FR"/>
            </a:defPPr>
            <a:lvl1pPr>
              <a:defRPr>
                <a:ln w="0"/>
                <a:solidFill>
                  <a:schemeClr val="accent1"/>
                </a:solidFill>
                <a:effectLst/>
              </a:defRPr>
            </a:lvl1pPr>
          </a:lstStyle>
          <a:p>
            <a:r>
              <a:rPr lang="fr-CA"/>
              <a:t>Création un serveur Express qui connecte à cette base de données tp01.js</a:t>
            </a:r>
            <a:endParaRPr lang="en-US"/>
          </a:p>
        </p:txBody>
      </p:sp>
    </p:spTree>
    <p:extLst>
      <p:ext uri="{BB962C8B-B14F-4D97-AF65-F5344CB8AC3E}">
        <p14:creationId xmlns:p14="http://schemas.microsoft.com/office/powerpoint/2010/main" val="143252342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lIns="91440" tIns="45720" rIns="91440" bIns="45720" rtlCol="0" anchor="t">
            <a:spAutoFit/>
          </a:bodyPr>
          <a:lstStyle>
            <a:defPPr>
              <a:defRPr lang="fr-FR"/>
            </a:defPPr>
            <a:lvl1pPr>
              <a:defRPr sz="2400" b="1">
                <a:solidFill>
                  <a:schemeClr val="accent1"/>
                </a:solidFill>
              </a:defRPr>
            </a:lvl1pPr>
          </a:lstStyle>
          <a:p>
            <a:r>
              <a:rPr lang="fr-CA"/>
              <a:t>Première connexion à une base de données  </a:t>
            </a:r>
          </a:p>
        </p:txBody>
      </p:sp>
      <p:sp>
        <p:nvSpPr>
          <p:cNvPr id="5" name="TextBox 4">
            <a:extLst>
              <a:ext uri="{FF2B5EF4-FFF2-40B4-BE49-F238E27FC236}">
                <a16:creationId xmlns:a16="http://schemas.microsoft.com/office/drawing/2014/main" id="{C673B3B5-53F5-70A4-3542-05D082C0CFD6}"/>
              </a:ext>
            </a:extLst>
          </p:cNvPr>
          <p:cNvSpPr txBox="1"/>
          <p:nvPr/>
        </p:nvSpPr>
        <p:spPr>
          <a:xfrm>
            <a:off x="2168433" y="1377514"/>
            <a:ext cx="9858104" cy="37555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Création une base de données tp02.js</a:t>
            </a:r>
            <a:endParaRPr lang="en-US"/>
          </a:p>
        </p:txBody>
      </p:sp>
      <p:sp>
        <p:nvSpPr>
          <p:cNvPr id="6" name="TextBox 5">
            <a:extLst>
              <a:ext uri="{FF2B5EF4-FFF2-40B4-BE49-F238E27FC236}">
                <a16:creationId xmlns:a16="http://schemas.microsoft.com/office/drawing/2014/main" id="{110F2B60-3430-F789-307B-A48D5276BA43}"/>
              </a:ext>
            </a:extLst>
          </p:cNvPr>
          <p:cNvSpPr txBox="1"/>
          <p:nvPr/>
        </p:nvSpPr>
        <p:spPr>
          <a:xfrm>
            <a:off x="2168432" y="1802161"/>
            <a:ext cx="9461315" cy="369332"/>
          </a:xfrm>
          <a:prstGeom prst="rect">
            <a:avLst/>
          </a:prstGeom>
          <a:noFill/>
        </p:spPr>
        <p:txBody>
          <a:bodyPr wrap="square" lIns="91440" tIns="45720" rIns="91440" bIns="45720" rtlCol="0" anchor="t">
            <a:spAutoFit/>
          </a:bodyPr>
          <a:lstStyle/>
          <a:p>
            <a:r>
              <a:rPr lang="fr-CA">
                <a:latin typeface="Calibri"/>
                <a:ea typeface="Calibri"/>
                <a:cs typeface="Arial"/>
              </a:rPr>
              <a:t>En utilisant MongoDB Compass, on va créer une base de données vide test02.</a:t>
            </a:r>
            <a:endParaRPr lang="en-US">
              <a:latin typeface="Calibri"/>
              <a:ea typeface="Calibri"/>
              <a:cs typeface="Arial"/>
            </a:endParaRPr>
          </a:p>
        </p:txBody>
      </p:sp>
      <p:sp>
        <p:nvSpPr>
          <p:cNvPr id="3" name="TextBox 2">
            <a:extLst>
              <a:ext uri="{FF2B5EF4-FFF2-40B4-BE49-F238E27FC236}">
                <a16:creationId xmlns:a16="http://schemas.microsoft.com/office/drawing/2014/main" id="{7CF0EF77-CAE7-0EA7-BA16-741CB815B5AA}"/>
              </a:ext>
            </a:extLst>
          </p:cNvPr>
          <p:cNvSpPr txBox="1"/>
          <p:nvPr/>
        </p:nvSpPr>
        <p:spPr>
          <a:xfrm>
            <a:off x="2104008" y="2879483"/>
            <a:ext cx="9858104" cy="3693319"/>
          </a:xfrm>
          <a:prstGeom prst="rect">
            <a:avLst/>
          </a:prstGeom>
          <a:solidFill>
            <a:schemeClr val="tx2">
              <a:lumMod val="50000"/>
            </a:schemeClr>
          </a:solidFill>
        </p:spPr>
        <p:txBody>
          <a:bodyPr wrap="square" lIns="91440" tIns="45720" rIns="91440" bIns="45720" rtlCol="0" anchor="t">
            <a:spAutoFit/>
          </a:bodyPr>
          <a:lstStyle>
            <a:defPPr>
              <a:defRPr lang="fr-FR"/>
            </a:defPPr>
            <a:lvl1pPr>
              <a:defRPr i="1">
                <a:solidFill>
                  <a:srgbClr val="82AAFF"/>
                </a:solidFill>
                <a:latin typeface="Consolas" panose="020B0609020204030204" pitchFamily="49" charset="0"/>
              </a:defRPr>
            </a:lvl1pPr>
          </a:lstStyle>
          <a:p>
            <a:r>
              <a:rPr lang="en-US" b="0">
                <a:solidFill>
                  <a:srgbClr val="82AAFF"/>
                </a:solidFill>
                <a:effectLst/>
                <a:latin typeface="Consolas" panose="020B0609020204030204" pitchFamily="49" charset="0"/>
              </a:rPr>
              <a:t>const</a:t>
            </a:r>
            <a:r>
              <a:rPr lang="en-US" b="0" i="1">
                <a:solidFill>
                  <a:srgbClr val="C792EA"/>
                </a:solidFill>
                <a:effectLst/>
                <a:latin typeface="Consolas" panose="020B0609020204030204" pitchFamily="49" charset="0"/>
              </a:rPr>
              <a:t> </a:t>
            </a:r>
            <a:r>
              <a:rPr lang="en-US" b="0" i="1">
                <a:solidFill>
                  <a:srgbClr val="82AAFF"/>
                </a:solidFill>
                <a:effectLst/>
                <a:latin typeface="Consolas" panose="020B0609020204030204" pitchFamily="49" charset="0"/>
              </a:rPr>
              <a:t>express</a:t>
            </a:r>
            <a:r>
              <a:rPr lang="en-US" b="0" i="1">
                <a:solidFill>
                  <a:srgbClr val="C792EA"/>
                </a:solidFill>
                <a:effectLst/>
                <a:latin typeface="Consolas" panose="020B0609020204030204" pitchFamily="49" charset="0"/>
              </a:rPr>
              <a:t> </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a:solidFill>
                  <a:srgbClr val="82AAFF"/>
                </a:solidFill>
                <a:effectLst/>
                <a:latin typeface="Consolas" panose="020B0609020204030204" pitchFamily="49" charset="0"/>
              </a:rPr>
              <a:t>require</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express</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a:p>
            <a:r>
              <a:rPr lang="en-US" b="0">
                <a:solidFill>
                  <a:srgbClr val="82AAFF"/>
                </a:solidFill>
                <a:effectLst/>
                <a:latin typeface="Consolas"/>
              </a:rPr>
              <a:t>const</a:t>
            </a:r>
            <a:r>
              <a:rPr lang="en-US" b="0" i="1">
                <a:solidFill>
                  <a:srgbClr val="C792EA"/>
                </a:solidFill>
                <a:effectLst/>
                <a:latin typeface="Consolas"/>
              </a:rPr>
              <a:t> </a:t>
            </a:r>
            <a:r>
              <a:rPr lang="en-US" b="0" i="1" err="1">
                <a:solidFill>
                  <a:srgbClr val="82AAFF"/>
                </a:solidFill>
                <a:effectLst/>
                <a:latin typeface="Consolas"/>
              </a:rPr>
              <a:t>userRouter</a:t>
            </a:r>
            <a:r>
              <a:rPr lang="en-US" b="0" i="1">
                <a:solidFill>
                  <a:srgbClr val="C792EA"/>
                </a:solidFill>
                <a:effectLst/>
                <a:latin typeface="Consolas"/>
              </a:rPr>
              <a:t> </a:t>
            </a:r>
            <a:r>
              <a:rPr lang="en-US" b="0">
                <a:solidFill>
                  <a:srgbClr val="C792EA"/>
                </a:solidFill>
                <a:effectLst/>
                <a:latin typeface="Consolas"/>
              </a:rPr>
              <a:t>=</a:t>
            </a:r>
            <a:r>
              <a:rPr lang="en-US" b="0" i="1">
                <a:solidFill>
                  <a:srgbClr val="C792EA"/>
                </a:solidFill>
                <a:effectLst/>
                <a:latin typeface="Consolas"/>
              </a:rPr>
              <a:t> </a:t>
            </a:r>
            <a:r>
              <a:rPr lang="en-US" b="0">
                <a:solidFill>
                  <a:srgbClr val="82AAFF"/>
                </a:solidFill>
                <a:effectLst/>
                <a:latin typeface="Consolas"/>
              </a:rPr>
              <a:t>require</a:t>
            </a:r>
            <a:r>
              <a:rPr lang="en-US" b="0">
                <a:solidFill>
                  <a:srgbClr val="D6DEEB"/>
                </a:solidFill>
                <a:effectLst/>
                <a:latin typeface="Consolas"/>
              </a:rPr>
              <a:t>(</a:t>
            </a:r>
            <a:r>
              <a:rPr lang="en-US" b="0">
                <a:solidFill>
                  <a:srgbClr val="D9F5DD"/>
                </a:solidFill>
                <a:effectLst/>
                <a:latin typeface="Consolas"/>
              </a:rPr>
              <a:t>"</a:t>
            </a:r>
            <a:r>
              <a:rPr lang="en-US" b="0">
                <a:solidFill>
                  <a:srgbClr val="ECC48D"/>
                </a:solidFill>
                <a:effectLst/>
                <a:latin typeface="Consolas"/>
              </a:rPr>
              <a:t>./router</a:t>
            </a:r>
            <a:r>
              <a:rPr lang="en-US">
                <a:solidFill>
                  <a:srgbClr val="D9F5DD"/>
                </a:solidFill>
                <a:latin typeface="Consolas"/>
              </a:rPr>
              <a:t>"</a:t>
            </a:r>
            <a:r>
              <a:rPr lang="en-US">
                <a:solidFill>
                  <a:srgbClr val="D6DEEB"/>
                </a:solidFill>
                <a:latin typeface="Consolas"/>
              </a:rPr>
              <a:t>)</a:t>
            </a:r>
            <a:br>
              <a:rPr lang="en-US" b="0">
                <a:effectLst/>
                <a:latin typeface="Consolas" panose="020B0609020204030204" pitchFamily="49" charset="0"/>
              </a:rPr>
            </a:br>
            <a:r>
              <a:rPr lang="en-US" b="0">
                <a:solidFill>
                  <a:srgbClr val="82AAFF"/>
                </a:solidFill>
                <a:effectLst/>
                <a:latin typeface="Consolas"/>
              </a:rPr>
              <a:t>const</a:t>
            </a:r>
            <a:r>
              <a:rPr lang="en-US" b="0" i="1">
                <a:solidFill>
                  <a:srgbClr val="C792EA"/>
                </a:solidFill>
                <a:effectLst/>
                <a:latin typeface="Consolas"/>
              </a:rPr>
              <a:t> </a:t>
            </a:r>
            <a:r>
              <a:rPr lang="en-US" b="0" i="1">
                <a:solidFill>
                  <a:srgbClr val="82AAFF"/>
                </a:solidFill>
                <a:effectLst/>
                <a:latin typeface="Consolas"/>
              </a:rPr>
              <a:t>app</a:t>
            </a:r>
            <a:r>
              <a:rPr lang="en-US" b="0" i="1">
                <a:solidFill>
                  <a:srgbClr val="C792EA"/>
                </a:solidFill>
                <a:effectLst/>
                <a:latin typeface="Consolas"/>
              </a:rPr>
              <a:t> </a:t>
            </a:r>
            <a:r>
              <a:rPr lang="en-US" b="0">
                <a:solidFill>
                  <a:srgbClr val="C792EA"/>
                </a:solidFill>
                <a:effectLst/>
                <a:latin typeface="Consolas"/>
              </a:rPr>
              <a:t>=</a:t>
            </a:r>
            <a:r>
              <a:rPr lang="en-US" b="0" i="1">
                <a:solidFill>
                  <a:srgbClr val="C792EA"/>
                </a:solidFill>
                <a:effectLst/>
                <a:latin typeface="Consolas"/>
              </a:rPr>
              <a:t> </a:t>
            </a:r>
            <a:r>
              <a:rPr lang="en-US" b="0">
                <a:solidFill>
                  <a:srgbClr val="82AAFF"/>
                </a:solidFill>
                <a:effectLst/>
                <a:latin typeface="Consolas"/>
              </a:rPr>
              <a:t>express</a:t>
            </a:r>
            <a:r>
              <a:rPr lang="en-US" b="0">
                <a:solidFill>
                  <a:srgbClr val="D6DEEB"/>
                </a:solidFill>
                <a:effectLst/>
                <a:latin typeface="Consolas"/>
              </a:rPr>
              <a:t>();</a:t>
            </a:r>
            <a:br>
              <a:rPr lang="en-US" b="0">
                <a:effectLst/>
                <a:latin typeface="Consolas" panose="020B0609020204030204" pitchFamily="49" charset="0"/>
              </a:rPr>
            </a:br>
            <a:r>
              <a:rPr lang="en-US" b="0">
                <a:solidFill>
                  <a:srgbClr val="637777"/>
                </a:solidFill>
                <a:effectLst/>
                <a:latin typeface="Consolas"/>
              </a:rPr>
              <a:t>//</a:t>
            </a:r>
            <a:r>
              <a:rPr lang="en-US" b="0" i="1">
                <a:solidFill>
                  <a:srgbClr val="637777"/>
                </a:solidFill>
                <a:effectLst/>
                <a:latin typeface="Consolas"/>
              </a:rPr>
              <a:t> Import the mongoose module</a:t>
            </a:r>
            <a:endParaRPr lang="en-US" b="0">
              <a:solidFill>
                <a:srgbClr val="D6DEEB"/>
              </a:solidFill>
              <a:effectLst/>
              <a:latin typeface="Consolas"/>
            </a:endParaRPr>
          </a:p>
          <a:p>
            <a:r>
              <a:rPr lang="en-US" b="0">
                <a:solidFill>
                  <a:srgbClr val="82AAFF"/>
                </a:solidFill>
                <a:effectLst/>
                <a:latin typeface="Consolas" panose="020B0609020204030204" pitchFamily="49" charset="0"/>
              </a:rPr>
              <a:t>const</a:t>
            </a:r>
            <a:r>
              <a:rPr lang="en-US" b="0" i="1">
                <a:solidFill>
                  <a:srgbClr val="C792EA"/>
                </a:solidFill>
                <a:effectLst/>
                <a:latin typeface="Consolas" panose="020B0609020204030204" pitchFamily="49" charset="0"/>
              </a:rPr>
              <a:t> </a:t>
            </a:r>
            <a:r>
              <a:rPr lang="en-US" b="0" i="1">
                <a:solidFill>
                  <a:srgbClr val="82AAFF"/>
                </a:solidFill>
                <a:effectLst/>
                <a:latin typeface="Consolas" panose="020B0609020204030204" pitchFamily="49" charset="0"/>
              </a:rPr>
              <a:t>mongoose</a:t>
            </a:r>
            <a:r>
              <a:rPr lang="en-US" b="0" i="1">
                <a:solidFill>
                  <a:srgbClr val="C792EA"/>
                </a:solidFill>
                <a:effectLst/>
                <a:latin typeface="Consolas" panose="020B0609020204030204" pitchFamily="49" charset="0"/>
              </a:rPr>
              <a:t> </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a:solidFill>
                  <a:srgbClr val="82AAFF"/>
                </a:solidFill>
                <a:effectLst/>
                <a:latin typeface="Consolas" panose="020B0609020204030204" pitchFamily="49" charset="0"/>
              </a:rPr>
              <a:t>require</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mongoose</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a:p>
            <a:r>
              <a:rPr lang="en-US" b="0">
                <a:solidFill>
                  <a:srgbClr val="637777"/>
                </a:solidFill>
                <a:effectLst/>
                <a:latin typeface="Consolas" panose="020B0609020204030204" pitchFamily="49" charset="0"/>
              </a:rPr>
              <a:t>//</a:t>
            </a:r>
            <a:r>
              <a:rPr lang="en-US" b="0" i="1">
                <a:solidFill>
                  <a:srgbClr val="637777"/>
                </a:solidFill>
                <a:effectLst/>
                <a:latin typeface="Consolas" panose="020B0609020204030204" pitchFamily="49" charset="0"/>
              </a:rPr>
              <a:t> Set up default mongoose connection</a:t>
            </a:r>
            <a:endParaRPr lang="en-US" b="0">
              <a:solidFill>
                <a:srgbClr val="D6DEEB"/>
              </a:solidFill>
              <a:effectLst/>
              <a:latin typeface="Consolas" panose="020B0609020204030204" pitchFamily="49" charset="0"/>
            </a:endParaRPr>
          </a:p>
          <a:p>
            <a:r>
              <a:rPr lang="en-US" b="0">
                <a:solidFill>
                  <a:srgbClr val="82AAFF"/>
                </a:solidFill>
                <a:effectLst/>
                <a:latin typeface="Consolas" panose="020B0609020204030204" pitchFamily="49" charset="0"/>
              </a:rPr>
              <a:t>const</a:t>
            </a:r>
            <a:r>
              <a:rPr lang="en-US" b="0" i="1">
                <a:solidFill>
                  <a:srgbClr val="C792EA"/>
                </a:solidFill>
                <a:effectLst/>
                <a:latin typeface="Consolas" panose="020B0609020204030204" pitchFamily="49" charset="0"/>
              </a:rPr>
              <a:t> </a:t>
            </a:r>
            <a:r>
              <a:rPr lang="en-US" b="0" i="1">
                <a:solidFill>
                  <a:srgbClr val="82AAFF"/>
                </a:solidFill>
                <a:effectLst/>
                <a:latin typeface="Consolas" panose="020B0609020204030204" pitchFamily="49" charset="0"/>
              </a:rPr>
              <a:t>mongoDB</a:t>
            </a:r>
            <a:r>
              <a:rPr lang="en-US" b="0" i="1">
                <a:solidFill>
                  <a:srgbClr val="C792EA"/>
                </a:solidFill>
                <a:effectLst/>
                <a:latin typeface="Consolas" panose="020B0609020204030204" pitchFamily="49" charset="0"/>
              </a:rPr>
              <a:t> </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mongodb://localhost/test02</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mongoose</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connect</a:t>
            </a:r>
            <a:r>
              <a:rPr lang="en-US" b="0">
                <a:solidFill>
                  <a:srgbClr val="D6DEEB"/>
                </a:solidFill>
                <a:effectLst/>
                <a:latin typeface="Consolas" panose="020B0609020204030204" pitchFamily="49" charset="0"/>
              </a:rPr>
              <a:t>(</a:t>
            </a:r>
            <a:r>
              <a:rPr lang="en-US" b="0">
                <a:solidFill>
                  <a:srgbClr val="D7DBE0"/>
                </a:solidFill>
                <a:effectLst/>
                <a:latin typeface="Consolas" panose="020B0609020204030204" pitchFamily="49" charset="0"/>
              </a:rPr>
              <a:t>mongoDB</a:t>
            </a:r>
            <a:r>
              <a:rPr lang="en-US" b="0">
                <a:solidFill>
                  <a:srgbClr val="D6DEEB"/>
                </a:solidFill>
                <a:effectLst/>
                <a:latin typeface="Consolas" panose="020B0609020204030204" pitchFamily="49" charset="0"/>
              </a:rPr>
              <a:t>, { useNewUrlParser: </a:t>
            </a:r>
            <a:r>
              <a:rPr lang="en-US" b="0">
                <a:solidFill>
                  <a:srgbClr val="FF5874"/>
                </a:solidFill>
                <a:effectLst/>
                <a:latin typeface="Consolas" panose="020B0609020204030204" pitchFamily="49" charset="0"/>
              </a:rPr>
              <a:t>true</a:t>
            </a:r>
            <a:r>
              <a:rPr lang="en-US" b="0">
                <a:solidFill>
                  <a:srgbClr val="D6DEEB"/>
                </a:solidFill>
                <a:effectLst/>
                <a:latin typeface="Consolas" panose="020B0609020204030204" pitchFamily="49" charset="0"/>
              </a:rPr>
              <a:t>});  </a:t>
            </a:r>
          </a:p>
          <a:p>
            <a:r>
              <a:rPr lang="en-US" b="0">
                <a:solidFill>
                  <a:srgbClr val="82AAFF"/>
                </a:solidFill>
                <a:effectLst/>
                <a:latin typeface="Consolas"/>
              </a:rPr>
              <a:t>const</a:t>
            </a:r>
            <a:r>
              <a:rPr lang="en-US" b="0" i="1">
                <a:solidFill>
                  <a:srgbClr val="C792EA"/>
                </a:solidFill>
                <a:effectLst/>
                <a:latin typeface="Consolas"/>
              </a:rPr>
              <a:t> </a:t>
            </a:r>
            <a:r>
              <a:rPr lang="en-US" b="0" i="1" err="1">
                <a:solidFill>
                  <a:srgbClr val="82AAFF"/>
                </a:solidFill>
                <a:effectLst/>
                <a:latin typeface="Consolas"/>
              </a:rPr>
              <a:t>db</a:t>
            </a:r>
            <a:r>
              <a:rPr lang="en-US" b="0" i="1">
                <a:solidFill>
                  <a:srgbClr val="C792EA"/>
                </a:solidFill>
                <a:effectLst/>
                <a:latin typeface="Consolas"/>
              </a:rPr>
              <a:t> </a:t>
            </a:r>
            <a:r>
              <a:rPr lang="en-US" b="0">
                <a:solidFill>
                  <a:srgbClr val="C792EA"/>
                </a:solidFill>
                <a:effectLst/>
                <a:latin typeface="Consolas"/>
              </a:rPr>
              <a:t>=</a:t>
            </a:r>
            <a:r>
              <a:rPr lang="en-US" b="0" i="1">
                <a:solidFill>
                  <a:srgbClr val="C792EA"/>
                </a:solidFill>
                <a:effectLst/>
                <a:latin typeface="Consolas"/>
              </a:rPr>
              <a:t> </a:t>
            </a:r>
            <a:r>
              <a:rPr lang="en-US" b="0" err="1">
                <a:solidFill>
                  <a:srgbClr val="D6DEEB"/>
                </a:solidFill>
                <a:effectLst/>
                <a:latin typeface="Consolas"/>
              </a:rPr>
              <a:t>mongoose</a:t>
            </a:r>
            <a:r>
              <a:rPr lang="en-US" b="0" i="1" err="1">
                <a:solidFill>
                  <a:srgbClr val="C792EA"/>
                </a:solidFill>
                <a:effectLst/>
                <a:latin typeface="Consolas"/>
              </a:rPr>
              <a:t>.</a:t>
            </a:r>
            <a:r>
              <a:rPr lang="en-US" b="0" i="1" err="1">
                <a:solidFill>
                  <a:srgbClr val="7FDBCA"/>
                </a:solidFill>
                <a:effectLst/>
                <a:latin typeface="Consolas"/>
              </a:rPr>
              <a:t>connection</a:t>
            </a:r>
            <a:r>
              <a:rPr lang="en-US" b="0">
                <a:solidFill>
                  <a:srgbClr val="D6DEEB"/>
                </a:solidFill>
                <a:effectLst/>
                <a:latin typeface="Consolas"/>
              </a:rPr>
              <a:t>;</a:t>
            </a:r>
            <a:br>
              <a:rPr lang="en-US" b="0">
                <a:effectLst/>
                <a:latin typeface="Consolas" panose="020B0609020204030204" pitchFamily="49" charset="0"/>
              </a:rPr>
            </a:br>
            <a:r>
              <a:rPr lang="en-US" b="0" err="1">
                <a:solidFill>
                  <a:srgbClr val="D6DEEB"/>
                </a:solidFill>
                <a:effectLst/>
                <a:latin typeface="Consolas"/>
              </a:rPr>
              <a:t>app</a:t>
            </a:r>
            <a:r>
              <a:rPr lang="en-US" b="0" i="1" err="1">
                <a:solidFill>
                  <a:srgbClr val="C792EA"/>
                </a:solidFill>
                <a:effectLst/>
                <a:latin typeface="Consolas"/>
              </a:rPr>
              <a:t>.</a:t>
            </a:r>
            <a:r>
              <a:rPr lang="en-US" b="0" err="1">
                <a:solidFill>
                  <a:srgbClr val="82AAFF"/>
                </a:solidFill>
                <a:effectLst/>
                <a:latin typeface="Consolas"/>
              </a:rPr>
              <a:t>use</a:t>
            </a:r>
            <a:r>
              <a:rPr lang="en-US" b="0">
                <a:solidFill>
                  <a:srgbClr val="D6DEEB"/>
                </a:solidFill>
                <a:effectLst/>
                <a:latin typeface="Consolas"/>
              </a:rPr>
              <a:t>(</a:t>
            </a:r>
            <a:r>
              <a:rPr lang="en-US" b="0">
                <a:solidFill>
                  <a:srgbClr val="D9F5DD"/>
                </a:solidFill>
                <a:effectLst/>
                <a:latin typeface="Consolas"/>
              </a:rPr>
              <a:t>'</a:t>
            </a:r>
            <a:r>
              <a:rPr lang="en-US" b="0">
                <a:solidFill>
                  <a:srgbClr val="ECC48D"/>
                </a:solidFill>
                <a:effectLst/>
                <a:latin typeface="Consolas"/>
              </a:rPr>
              <a:t>/users</a:t>
            </a:r>
            <a:r>
              <a:rPr lang="en-US" b="0">
                <a:solidFill>
                  <a:srgbClr val="D9F5DD"/>
                </a:solidFill>
                <a:effectLst/>
                <a:latin typeface="Consolas"/>
              </a:rPr>
              <a:t>'</a:t>
            </a:r>
            <a:r>
              <a:rPr lang="en-US" b="0">
                <a:solidFill>
                  <a:srgbClr val="D6DEEB"/>
                </a:solidFill>
                <a:effectLst/>
                <a:latin typeface="Consolas"/>
              </a:rPr>
              <a:t>, </a:t>
            </a:r>
            <a:r>
              <a:rPr lang="en-US" b="0" err="1">
                <a:solidFill>
                  <a:srgbClr val="D7DBE0"/>
                </a:solidFill>
                <a:effectLst/>
                <a:latin typeface="Consolas"/>
              </a:rPr>
              <a:t>userRouter</a:t>
            </a:r>
            <a:r>
              <a:rPr lang="en-US" b="0">
                <a:solidFill>
                  <a:srgbClr val="D6DEEB"/>
                </a:solidFill>
                <a:effectLst/>
                <a:latin typeface="Consolas"/>
              </a:rPr>
              <a:t>)</a:t>
            </a:r>
            <a:br>
              <a:rPr lang="en-US" b="0">
                <a:effectLst/>
                <a:latin typeface="Consolas" panose="020B0609020204030204" pitchFamily="49" charset="0"/>
              </a:rPr>
            </a:br>
            <a:r>
              <a:rPr lang="en-US" b="0">
                <a:solidFill>
                  <a:srgbClr val="D6DEEB"/>
                </a:solidFill>
                <a:effectLst/>
                <a:latin typeface="Consolas"/>
              </a:rPr>
              <a:t>app</a:t>
            </a:r>
            <a:r>
              <a:rPr lang="en-US" b="0" i="1">
                <a:solidFill>
                  <a:srgbClr val="C792EA"/>
                </a:solidFill>
                <a:effectLst/>
                <a:latin typeface="Consolas"/>
              </a:rPr>
              <a:t>.</a:t>
            </a:r>
            <a:r>
              <a:rPr lang="en-US" b="0">
                <a:solidFill>
                  <a:srgbClr val="82AAFF"/>
                </a:solidFill>
                <a:effectLst/>
                <a:latin typeface="Consolas"/>
              </a:rPr>
              <a:t>listen</a:t>
            </a:r>
            <a:r>
              <a:rPr lang="en-US" b="0">
                <a:solidFill>
                  <a:srgbClr val="D6DEEB"/>
                </a:solidFill>
                <a:effectLst/>
                <a:latin typeface="Consolas"/>
              </a:rPr>
              <a:t>(</a:t>
            </a:r>
            <a:r>
              <a:rPr lang="en-US" b="0">
                <a:solidFill>
                  <a:srgbClr val="F78C6C"/>
                </a:solidFill>
                <a:effectLst/>
                <a:latin typeface="Consolas"/>
              </a:rPr>
              <a:t>3000</a:t>
            </a:r>
            <a:r>
              <a:rPr lang="en-US" b="0">
                <a:solidFill>
                  <a:srgbClr val="D6DEEB"/>
                </a:solidFill>
                <a:effectLst/>
                <a:latin typeface="Consolas"/>
              </a:rPr>
              <a:t>, </a:t>
            </a:r>
            <a:r>
              <a:rPr lang="en-US" b="0">
                <a:solidFill>
                  <a:srgbClr val="D9F5DD"/>
                </a:solidFill>
                <a:effectLst/>
                <a:latin typeface="Consolas"/>
              </a:rPr>
              <a:t>()</a:t>
            </a:r>
            <a:r>
              <a:rPr lang="en-US" b="0">
                <a:solidFill>
                  <a:srgbClr val="D6DEEB"/>
                </a:solidFill>
                <a:effectLst/>
                <a:latin typeface="Consolas"/>
              </a:rPr>
              <a:t> </a:t>
            </a:r>
            <a:r>
              <a:rPr lang="en-US" b="0">
                <a:solidFill>
                  <a:srgbClr val="82AAFF"/>
                </a:solidFill>
                <a:effectLst/>
                <a:latin typeface="Consolas"/>
              </a:rPr>
              <a:t>=&gt;</a:t>
            </a:r>
            <a:r>
              <a:rPr lang="en-US" b="0">
                <a:solidFill>
                  <a:srgbClr val="D6DEEB"/>
                </a:solidFill>
                <a:effectLst/>
                <a:latin typeface="Consolas"/>
              </a:rPr>
              <a:t> console</a:t>
            </a:r>
            <a:r>
              <a:rPr lang="en-US" b="0" i="1">
                <a:solidFill>
                  <a:srgbClr val="C792EA"/>
                </a:solidFill>
                <a:effectLst/>
                <a:latin typeface="Consolas"/>
              </a:rPr>
              <a:t>.</a:t>
            </a:r>
            <a:r>
              <a:rPr lang="en-US" b="0">
                <a:solidFill>
                  <a:srgbClr val="82AAFF"/>
                </a:solidFill>
                <a:effectLst/>
                <a:latin typeface="Consolas"/>
              </a:rPr>
              <a:t>log</a:t>
            </a:r>
            <a:r>
              <a:rPr lang="en-US" b="0">
                <a:solidFill>
                  <a:srgbClr val="D6DEEB"/>
                </a:solidFill>
                <a:effectLst/>
                <a:latin typeface="Consolas"/>
              </a:rPr>
              <a:t>(</a:t>
            </a:r>
            <a:r>
              <a:rPr lang="en-US" b="0">
                <a:solidFill>
                  <a:srgbClr val="D9F5DD"/>
                </a:solidFill>
                <a:effectLst/>
                <a:latin typeface="Consolas"/>
              </a:rPr>
              <a:t>"</a:t>
            </a:r>
            <a:r>
              <a:rPr lang="en-US" b="0">
                <a:solidFill>
                  <a:srgbClr val="ECC48D"/>
                </a:solidFill>
                <a:effectLst/>
                <a:latin typeface="Consolas"/>
              </a:rPr>
              <a:t>server started</a:t>
            </a:r>
            <a:r>
              <a:rPr lang="en-US" b="0">
                <a:solidFill>
                  <a:srgbClr val="D9F5DD"/>
                </a:solidFill>
                <a:effectLst/>
                <a:latin typeface="Consolas"/>
              </a:rPr>
              <a:t>"</a:t>
            </a:r>
            <a:r>
              <a:rPr lang="en-US" b="0">
                <a:solidFill>
                  <a:srgbClr val="D6DEEB"/>
                </a:solidFill>
                <a:effectLst/>
                <a:latin typeface="Consolas"/>
              </a:rPr>
              <a:t>));</a:t>
            </a:r>
          </a:p>
          <a:p>
            <a:r>
              <a:rPr lang="en-US" b="0">
                <a:solidFill>
                  <a:srgbClr val="D6DEEB"/>
                </a:solidFill>
                <a:effectLst/>
                <a:latin typeface="Consolas" panose="020B0609020204030204" pitchFamily="49" charset="0"/>
              </a:rPr>
              <a:t>db</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on</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error</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D9F5DD"/>
                </a:solidFill>
                <a:effectLst/>
                <a:latin typeface="Consolas" panose="020B0609020204030204" pitchFamily="49" charset="0"/>
              </a:rPr>
              <a:t>(</a:t>
            </a:r>
            <a:r>
              <a:rPr lang="en-US" b="0">
                <a:solidFill>
                  <a:srgbClr val="D7DBE0"/>
                </a:solidFill>
                <a:effectLst/>
                <a:latin typeface="Consolas" panose="020B0609020204030204" pitchFamily="49" charset="0"/>
              </a:rPr>
              <a:t>error</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82AAFF"/>
                </a:solidFill>
                <a:effectLst/>
                <a:latin typeface="Consolas" panose="020B0609020204030204" pitchFamily="49" charset="0"/>
              </a:rPr>
              <a:t>=&gt;</a:t>
            </a:r>
            <a:r>
              <a:rPr lang="en-US" b="0">
                <a:solidFill>
                  <a:srgbClr val="D6DEEB"/>
                </a:solidFill>
                <a:effectLst/>
                <a:latin typeface="Consolas" panose="020B0609020204030204" pitchFamily="49" charset="0"/>
              </a:rPr>
              <a:t> console</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error</a:t>
            </a:r>
            <a:r>
              <a:rPr lang="en-US" b="0">
                <a:solidFill>
                  <a:srgbClr val="D6DEEB"/>
                </a:solidFill>
                <a:effectLst/>
                <a:latin typeface="Consolas" panose="020B0609020204030204" pitchFamily="49" charset="0"/>
              </a:rPr>
              <a:t>(</a:t>
            </a:r>
            <a:r>
              <a:rPr lang="en-US" b="0">
                <a:solidFill>
                  <a:srgbClr val="D7DBE0"/>
                </a:solidFill>
                <a:effectLst/>
                <a:latin typeface="Consolas" panose="020B0609020204030204" pitchFamily="49" charset="0"/>
              </a:rPr>
              <a:t>error</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db</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once</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open</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82AAFF"/>
                </a:solidFill>
                <a:effectLst/>
                <a:latin typeface="Consolas" panose="020B0609020204030204" pitchFamily="49" charset="0"/>
              </a:rPr>
              <a:t>=&gt;</a:t>
            </a:r>
            <a:r>
              <a:rPr lang="en-US" b="0">
                <a:solidFill>
                  <a:srgbClr val="D6DEEB"/>
                </a:solidFill>
                <a:effectLst/>
                <a:latin typeface="Consolas" panose="020B0609020204030204" pitchFamily="49" charset="0"/>
              </a:rPr>
              <a:t> console</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log</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connected to database</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71C809DB-972F-655F-0EDE-B72D61967C99}"/>
              </a:ext>
            </a:extLst>
          </p:cNvPr>
          <p:cNvSpPr txBox="1"/>
          <p:nvPr/>
        </p:nvSpPr>
        <p:spPr>
          <a:xfrm>
            <a:off x="2168430" y="2382653"/>
            <a:ext cx="9123966"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Server.js</a:t>
            </a:r>
            <a:endParaRPr lang="en-US"/>
          </a:p>
        </p:txBody>
      </p:sp>
    </p:spTree>
    <p:extLst>
      <p:ext uri="{BB962C8B-B14F-4D97-AF65-F5344CB8AC3E}">
        <p14:creationId xmlns:p14="http://schemas.microsoft.com/office/powerpoint/2010/main" val="196804227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6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lIns="91440" tIns="45720" rIns="91440" bIns="45720" rtlCol="0" anchor="t">
            <a:spAutoFit/>
          </a:bodyPr>
          <a:lstStyle>
            <a:defPPr>
              <a:defRPr lang="fr-FR"/>
            </a:defPPr>
            <a:lvl1pPr>
              <a:defRPr sz="2400" b="1">
                <a:solidFill>
                  <a:schemeClr val="accent1"/>
                </a:solidFill>
              </a:defRPr>
            </a:lvl1pPr>
          </a:lstStyle>
          <a:p>
            <a:r>
              <a:rPr lang="fr-CA"/>
              <a:t>Première connexion à une base de données  </a:t>
            </a:r>
          </a:p>
        </p:txBody>
      </p:sp>
      <p:sp>
        <p:nvSpPr>
          <p:cNvPr id="5" name="TextBox 4">
            <a:extLst>
              <a:ext uri="{FF2B5EF4-FFF2-40B4-BE49-F238E27FC236}">
                <a16:creationId xmlns:a16="http://schemas.microsoft.com/office/drawing/2014/main" id="{C673B3B5-53F5-70A4-3542-05D082C0CFD6}"/>
              </a:ext>
            </a:extLst>
          </p:cNvPr>
          <p:cNvSpPr txBox="1"/>
          <p:nvPr/>
        </p:nvSpPr>
        <p:spPr>
          <a:xfrm>
            <a:off x="2168433" y="1377514"/>
            <a:ext cx="9858104" cy="37555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Création un router pour notre route</a:t>
            </a:r>
            <a:endParaRPr lang="en-US"/>
          </a:p>
        </p:txBody>
      </p:sp>
      <p:sp>
        <p:nvSpPr>
          <p:cNvPr id="3" name="TextBox 2">
            <a:extLst>
              <a:ext uri="{FF2B5EF4-FFF2-40B4-BE49-F238E27FC236}">
                <a16:creationId xmlns:a16="http://schemas.microsoft.com/office/drawing/2014/main" id="{7CF0EF77-CAE7-0EA7-BA16-741CB815B5AA}"/>
              </a:ext>
            </a:extLst>
          </p:cNvPr>
          <p:cNvSpPr txBox="1"/>
          <p:nvPr/>
        </p:nvSpPr>
        <p:spPr>
          <a:xfrm>
            <a:off x="2104008" y="2879483"/>
            <a:ext cx="9858104" cy="3970318"/>
          </a:xfrm>
          <a:prstGeom prst="rect">
            <a:avLst/>
          </a:prstGeom>
          <a:solidFill>
            <a:schemeClr val="tx2">
              <a:lumMod val="50000"/>
            </a:schemeClr>
          </a:solidFill>
        </p:spPr>
        <p:txBody>
          <a:bodyPr wrap="square" lIns="91440" tIns="45720" rIns="91440" bIns="45720" rtlCol="0" anchor="t">
            <a:spAutoFit/>
          </a:bodyPr>
          <a:lstStyle>
            <a:defPPr>
              <a:defRPr lang="fr-FR"/>
            </a:defPPr>
            <a:lvl1pPr>
              <a:defRPr i="1">
                <a:solidFill>
                  <a:srgbClr val="82AAFF"/>
                </a:solidFill>
                <a:latin typeface="Consolas" panose="020B0609020204030204" pitchFamily="49" charset="0"/>
              </a:defRPr>
            </a:lvl1pPr>
          </a:lstStyle>
          <a:p>
            <a:r>
              <a:rPr lang="en-US" b="0">
                <a:solidFill>
                  <a:srgbClr val="82AAFF"/>
                </a:solidFill>
                <a:effectLst/>
                <a:latin typeface="Consolas" panose="020B0609020204030204" pitchFamily="49" charset="0"/>
              </a:rPr>
              <a:t>const</a:t>
            </a:r>
            <a:r>
              <a:rPr lang="en-US" b="0" i="1">
                <a:solidFill>
                  <a:srgbClr val="C792EA"/>
                </a:solidFill>
                <a:effectLst/>
                <a:latin typeface="Consolas" panose="020B0609020204030204" pitchFamily="49" charset="0"/>
              </a:rPr>
              <a:t> </a:t>
            </a:r>
            <a:r>
              <a:rPr lang="en-US" b="0" i="1">
                <a:solidFill>
                  <a:srgbClr val="82AAFF"/>
                </a:solidFill>
                <a:effectLst/>
                <a:latin typeface="Consolas" panose="020B0609020204030204" pitchFamily="49" charset="0"/>
              </a:rPr>
              <a:t>express</a:t>
            </a:r>
            <a:r>
              <a:rPr lang="en-US" b="0" i="1">
                <a:solidFill>
                  <a:srgbClr val="C792EA"/>
                </a:solidFill>
                <a:effectLst/>
                <a:latin typeface="Consolas" panose="020B0609020204030204" pitchFamily="49" charset="0"/>
              </a:rPr>
              <a:t> </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a:solidFill>
                  <a:srgbClr val="82AAFF"/>
                </a:solidFill>
                <a:effectLst/>
                <a:latin typeface="Consolas" panose="020B0609020204030204" pitchFamily="49" charset="0"/>
              </a:rPr>
              <a:t>require</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express</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a:p>
            <a:r>
              <a:rPr lang="en-US" b="0">
                <a:solidFill>
                  <a:srgbClr val="82AAFF"/>
                </a:solidFill>
                <a:effectLst/>
                <a:latin typeface="Consolas"/>
              </a:rPr>
              <a:t>const</a:t>
            </a:r>
            <a:r>
              <a:rPr lang="en-US" b="0" i="1">
                <a:solidFill>
                  <a:srgbClr val="C792EA"/>
                </a:solidFill>
                <a:effectLst/>
                <a:latin typeface="Consolas"/>
              </a:rPr>
              <a:t> </a:t>
            </a:r>
            <a:r>
              <a:rPr lang="en-US" b="0" i="1">
                <a:solidFill>
                  <a:srgbClr val="82AAFF"/>
                </a:solidFill>
                <a:effectLst/>
                <a:latin typeface="Consolas"/>
              </a:rPr>
              <a:t>User</a:t>
            </a:r>
            <a:r>
              <a:rPr lang="en-US" b="0" i="1">
                <a:solidFill>
                  <a:srgbClr val="C792EA"/>
                </a:solidFill>
                <a:effectLst/>
                <a:latin typeface="Consolas"/>
              </a:rPr>
              <a:t> </a:t>
            </a:r>
            <a:r>
              <a:rPr lang="en-US" b="0">
                <a:solidFill>
                  <a:srgbClr val="C792EA"/>
                </a:solidFill>
                <a:effectLst/>
                <a:latin typeface="Consolas"/>
              </a:rPr>
              <a:t>=</a:t>
            </a:r>
            <a:r>
              <a:rPr lang="en-US" b="0" i="1">
                <a:solidFill>
                  <a:srgbClr val="C792EA"/>
                </a:solidFill>
                <a:effectLst/>
                <a:latin typeface="Consolas"/>
              </a:rPr>
              <a:t> </a:t>
            </a:r>
            <a:r>
              <a:rPr lang="en-US" b="0">
                <a:solidFill>
                  <a:srgbClr val="82AAFF"/>
                </a:solidFill>
                <a:effectLst/>
                <a:latin typeface="Consolas"/>
              </a:rPr>
              <a:t>require</a:t>
            </a:r>
            <a:r>
              <a:rPr lang="en-US" b="0">
                <a:solidFill>
                  <a:srgbClr val="D6DEEB"/>
                </a:solidFill>
                <a:effectLst/>
                <a:latin typeface="Consolas"/>
              </a:rPr>
              <a:t>(</a:t>
            </a:r>
            <a:r>
              <a:rPr lang="en-US" b="0">
                <a:solidFill>
                  <a:srgbClr val="D9F5DD"/>
                </a:solidFill>
                <a:effectLst/>
                <a:latin typeface="Consolas"/>
              </a:rPr>
              <a:t>'</a:t>
            </a:r>
            <a:r>
              <a:rPr lang="en-US" b="0">
                <a:solidFill>
                  <a:srgbClr val="ECC48D"/>
                </a:solidFill>
                <a:effectLst/>
                <a:latin typeface="Consolas"/>
              </a:rPr>
              <a:t>../models/user</a:t>
            </a:r>
            <a:r>
              <a:rPr lang="en-US" b="0">
                <a:solidFill>
                  <a:srgbClr val="D9F5DD"/>
                </a:solidFill>
                <a:effectLst/>
                <a:latin typeface="Consolas"/>
              </a:rPr>
              <a:t>'</a:t>
            </a:r>
            <a:r>
              <a:rPr lang="en-US" b="0">
                <a:solidFill>
                  <a:srgbClr val="D6DEEB"/>
                </a:solidFill>
                <a:effectLst/>
                <a:latin typeface="Consolas"/>
              </a:rPr>
              <a:t>)</a:t>
            </a:r>
            <a:br>
              <a:rPr lang="en-US" b="0">
                <a:effectLst/>
                <a:latin typeface="Consolas" panose="020B0609020204030204" pitchFamily="49" charset="0"/>
              </a:rPr>
            </a:br>
            <a:r>
              <a:rPr lang="en-US" b="0">
                <a:solidFill>
                  <a:srgbClr val="82AAFF"/>
                </a:solidFill>
                <a:effectLst/>
                <a:latin typeface="Consolas"/>
              </a:rPr>
              <a:t>const</a:t>
            </a:r>
            <a:r>
              <a:rPr lang="en-US" b="0" i="1">
                <a:solidFill>
                  <a:srgbClr val="C792EA"/>
                </a:solidFill>
                <a:effectLst/>
                <a:latin typeface="Consolas"/>
              </a:rPr>
              <a:t> </a:t>
            </a:r>
            <a:r>
              <a:rPr lang="en-US" b="0" i="1">
                <a:solidFill>
                  <a:srgbClr val="82AAFF"/>
                </a:solidFill>
                <a:effectLst/>
                <a:latin typeface="Consolas"/>
              </a:rPr>
              <a:t>router</a:t>
            </a:r>
            <a:r>
              <a:rPr lang="en-US" b="0" i="1">
                <a:solidFill>
                  <a:srgbClr val="C792EA"/>
                </a:solidFill>
                <a:effectLst/>
                <a:latin typeface="Consolas"/>
              </a:rPr>
              <a:t> </a:t>
            </a:r>
            <a:r>
              <a:rPr lang="en-US" b="0">
                <a:solidFill>
                  <a:srgbClr val="C792EA"/>
                </a:solidFill>
                <a:effectLst/>
                <a:latin typeface="Consolas"/>
              </a:rPr>
              <a:t>=</a:t>
            </a:r>
            <a:r>
              <a:rPr lang="en-US" b="0" i="1">
                <a:solidFill>
                  <a:srgbClr val="C792EA"/>
                </a:solidFill>
                <a:effectLst/>
                <a:latin typeface="Consolas"/>
              </a:rPr>
              <a:t> </a:t>
            </a:r>
            <a:r>
              <a:rPr lang="en-US" b="0">
                <a:solidFill>
                  <a:srgbClr val="D6DEEB"/>
                </a:solidFill>
                <a:effectLst/>
                <a:latin typeface="Consolas"/>
              </a:rPr>
              <a:t>express</a:t>
            </a:r>
            <a:r>
              <a:rPr lang="en-US" b="0" i="1">
                <a:solidFill>
                  <a:srgbClr val="C792EA"/>
                </a:solidFill>
                <a:effectLst/>
                <a:latin typeface="Consolas"/>
              </a:rPr>
              <a:t>.</a:t>
            </a:r>
            <a:r>
              <a:rPr lang="en-US" b="0">
                <a:solidFill>
                  <a:srgbClr val="82AAFF"/>
                </a:solidFill>
                <a:effectLst/>
                <a:latin typeface="Consolas"/>
              </a:rPr>
              <a:t>Router</a:t>
            </a:r>
            <a:r>
              <a:rPr lang="en-US" b="0">
                <a:solidFill>
                  <a:srgbClr val="D6DEEB"/>
                </a:solidFill>
                <a:effectLst/>
                <a:latin typeface="Consolas"/>
              </a:rPr>
              <a:t>()</a:t>
            </a:r>
            <a:br>
              <a:rPr lang="en-US" b="0">
                <a:effectLst/>
                <a:latin typeface="Consolas" panose="020B0609020204030204" pitchFamily="49" charset="0"/>
              </a:rPr>
            </a:br>
            <a:r>
              <a:rPr lang="en-US" b="0">
                <a:solidFill>
                  <a:srgbClr val="637777"/>
                </a:solidFill>
                <a:effectLst/>
                <a:latin typeface="Consolas"/>
              </a:rPr>
              <a:t>//</a:t>
            </a:r>
            <a:r>
              <a:rPr lang="en-US" b="0" i="1">
                <a:solidFill>
                  <a:srgbClr val="637777"/>
                </a:solidFill>
                <a:effectLst/>
                <a:latin typeface="Consolas"/>
              </a:rPr>
              <a:t> Getting all users</a:t>
            </a:r>
            <a:endParaRPr lang="en-US" b="0">
              <a:solidFill>
                <a:srgbClr val="D6DEEB"/>
              </a:solidFill>
              <a:effectLst/>
              <a:latin typeface="Consolas"/>
            </a:endParaRPr>
          </a:p>
          <a:p>
            <a:r>
              <a:rPr lang="en-US" b="0">
                <a:solidFill>
                  <a:srgbClr val="D6DEEB"/>
                </a:solidFill>
                <a:effectLst/>
                <a:latin typeface="Consolas" panose="020B0609020204030204" pitchFamily="49" charset="0"/>
              </a:rPr>
              <a:t>router</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get</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D9F5DD"/>
                </a:solidFill>
                <a:effectLst/>
                <a:latin typeface="Consolas" panose="020B0609020204030204" pitchFamily="49" charset="0"/>
              </a:rPr>
              <a:t>(</a:t>
            </a:r>
            <a:r>
              <a:rPr lang="en-US" b="0">
                <a:solidFill>
                  <a:srgbClr val="D7DBE0"/>
                </a:solidFill>
                <a:effectLst/>
                <a:latin typeface="Consolas" panose="020B0609020204030204" pitchFamily="49" charset="0"/>
              </a:rPr>
              <a:t>req</a:t>
            </a:r>
            <a:r>
              <a:rPr lang="en-US" b="0">
                <a:solidFill>
                  <a:srgbClr val="D6DEEB"/>
                </a:solidFill>
                <a:effectLst/>
                <a:latin typeface="Consolas" panose="020B0609020204030204" pitchFamily="49" charset="0"/>
              </a:rPr>
              <a:t>, </a:t>
            </a:r>
            <a:r>
              <a:rPr lang="en-US" b="0">
                <a:solidFill>
                  <a:srgbClr val="D7DBE0"/>
                </a:solidFill>
                <a:effectLst/>
                <a:latin typeface="Consolas" panose="020B0609020204030204" pitchFamily="49" charset="0"/>
              </a:rPr>
              <a:t>res</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82AAFF"/>
                </a:solidFill>
                <a:effectLst/>
                <a:latin typeface="Consolas" panose="020B0609020204030204" pitchFamily="49" charset="0"/>
              </a:rPr>
              <a:t>=&gt;</a:t>
            </a:r>
            <a:r>
              <a:rPr lang="en-US" b="0">
                <a:solidFill>
                  <a:srgbClr val="D6DEEB"/>
                </a:solidFill>
                <a:effectLst/>
                <a:latin typeface="Consolas" panose="020B0609020204030204" pitchFamily="49" charset="0"/>
              </a:rPr>
              <a:t> {</a:t>
            </a:r>
          </a:p>
          <a:p>
            <a:r>
              <a:rPr lang="en-US" b="0">
                <a:solidFill>
                  <a:srgbClr val="D6DEEB"/>
                </a:solidFill>
                <a:effectLst/>
                <a:latin typeface="Consolas" panose="020B0609020204030204" pitchFamily="49" charset="0"/>
              </a:rPr>
              <a:t>    User</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find</a:t>
            </a:r>
            <a:r>
              <a:rPr lang="en-US" b="0">
                <a:solidFill>
                  <a:srgbClr val="D6DEEB"/>
                </a:solidFill>
                <a:effectLst/>
                <a:latin typeface="Consolas" panose="020B0609020204030204" pitchFamily="49" charset="0"/>
              </a:rPr>
              <a:t>({}, </a:t>
            </a:r>
            <a:r>
              <a:rPr lang="en-US" b="0">
                <a:solidFill>
                  <a:srgbClr val="D9F5DD"/>
                </a:solidFill>
                <a:effectLst/>
                <a:latin typeface="Consolas" panose="020B0609020204030204" pitchFamily="49" charset="0"/>
              </a:rPr>
              <a:t>(</a:t>
            </a:r>
            <a:r>
              <a:rPr lang="en-US" b="0">
                <a:solidFill>
                  <a:srgbClr val="D7DBE0"/>
                </a:solidFill>
                <a:effectLst/>
                <a:latin typeface="Consolas" panose="020B0609020204030204" pitchFamily="49" charset="0"/>
              </a:rPr>
              <a:t>err</a:t>
            </a:r>
            <a:r>
              <a:rPr lang="en-US" b="0">
                <a:solidFill>
                  <a:srgbClr val="D6DEEB"/>
                </a:solidFill>
                <a:effectLst/>
                <a:latin typeface="Consolas" panose="020B0609020204030204" pitchFamily="49" charset="0"/>
              </a:rPr>
              <a:t>, </a:t>
            </a:r>
            <a:r>
              <a:rPr lang="en-US" b="0">
                <a:solidFill>
                  <a:srgbClr val="D7DBE0"/>
                </a:solidFill>
                <a:effectLst/>
                <a:latin typeface="Consolas" panose="020B0609020204030204" pitchFamily="49" charset="0"/>
              </a:rPr>
              <a:t>users</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82AAFF"/>
                </a:solidFill>
                <a:effectLst/>
                <a:latin typeface="Consolas" panose="020B0609020204030204" pitchFamily="49" charset="0"/>
              </a:rPr>
              <a:t>=&gt;</a:t>
            </a:r>
            <a:r>
              <a:rPr lang="en-US" b="0">
                <a:solidFill>
                  <a:srgbClr val="D6DEEB"/>
                </a:solidFill>
                <a:effectLst/>
                <a:latin typeface="Consolas" panose="020B0609020204030204" pitchFamily="49" charset="0"/>
              </a:rPr>
              <a:t> {</a:t>
            </a:r>
          </a:p>
          <a:p>
            <a:r>
              <a:rPr lang="en-US" b="0">
                <a:solidFill>
                  <a:srgbClr val="D6DEEB"/>
                </a:solidFill>
                <a:effectLst/>
                <a:latin typeface="Consolas" panose="020B0609020204030204" pitchFamily="49" charset="0"/>
              </a:rPr>
              <a:t>        </a:t>
            </a:r>
            <a:r>
              <a:rPr lang="en-US" b="0">
                <a:solidFill>
                  <a:srgbClr val="C792EA"/>
                </a:solidFill>
                <a:effectLst/>
                <a:latin typeface="Consolas" panose="020B0609020204030204" pitchFamily="49" charset="0"/>
              </a:rPr>
              <a:t>if</a:t>
            </a:r>
            <a:r>
              <a:rPr lang="en-US" b="0">
                <a:solidFill>
                  <a:srgbClr val="D6DEEB"/>
                </a:solidFill>
                <a:effectLst/>
                <a:latin typeface="Consolas" panose="020B0609020204030204" pitchFamily="49" charset="0"/>
              </a:rPr>
              <a:t>(</a:t>
            </a:r>
            <a:r>
              <a:rPr lang="en-US" b="0">
                <a:solidFill>
                  <a:srgbClr val="D7DBE0"/>
                </a:solidFill>
                <a:effectLst/>
                <a:latin typeface="Consolas" panose="020B0609020204030204" pitchFamily="49" charset="0"/>
              </a:rPr>
              <a:t>err</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            console</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log</a:t>
            </a:r>
            <a:r>
              <a:rPr lang="en-US" b="0">
                <a:solidFill>
                  <a:srgbClr val="D6DEEB"/>
                </a:solidFill>
                <a:effectLst/>
                <a:latin typeface="Consolas" panose="020B0609020204030204" pitchFamily="49" charset="0"/>
              </a:rPr>
              <a:t>(</a:t>
            </a:r>
            <a:r>
              <a:rPr lang="en-US" b="0">
                <a:solidFill>
                  <a:srgbClr val="D7DBE0"/>
                </a:solidFill>
                <a:effectLst/>
                <a:latin typeface="Consolas" panose="020B0609020204030204" pitchFamily="49" charset="0"/>
              </a:rPr>
              <a:t>err</a:t>
            </a:r>
            <a:r>
              <a:rPr lang="en-US" b="0">
                <a:solidFill>
                  <a:srgbClr val="D6DEEB"/>
                </a:solidFill>
                <a:effectLst/>
                <a:latin typeface="Consolas" panose="020B0609020204030204" pitchFamily="49" charset="0"/>
              </a:rPr>
              <a:t>)</a:t>
            </a:r>
          </a:p>
          <a:p>
            <a:r>
              <a:rPr lang="en-US" b="0">
                <a:solidFill>
                  <a:srgbClr val="D6DEEB"/>
                </a:solidFill>
                <a:effectLst/>
                <a:latin typeface="Consolas"/>
              </a:rPr>
              <a:t>            res</a:t>
            </a:r>
            <a:r>
              <a:rPr lang="en-US" b="0" i="1">
                <a:solidFill>
                  <a:srgbClr val="C792EA"/>
                </a:solidFill>
                <a:effectLst/>
                <a:latin typeface="Consolas"/>
              </a:rPr>
              <a:t>.</a:t>
            </a:r>
            <a:r>
              <a:rPr lang="en-US" b="0">
                <a:solidFill>
                  <a:srgbClr val="82AAFF"/>
                </a:solidFill>
                <a:effectLst/>
                <a:latin typeface="Consolas"/>
              </a:rPr>
              <a:t>status</a:t>
            </a:r>
            <a:r>
              <a:rPr lang="en-US" b="0">
                <a:solidFill>
                  <a:srgbClr val="D6DEEB"/>
                </a:solidFill>
                <a:effectLst/>
                <a:latin typeface="Consolas"/>
              </a:rPr>
              <a:t>(</a:t>
            </a:r>
            <a:r>
              <a:rPr lang="en-US" b="0">
                <a:solidFill>
                  <a:srgbClr val="F78C6C"/>
                </a:solidFill>
                <a:effectLst/>
                <a:latin typeface="Consolas"/>
              </a:rPr>
              <a:t>500</a:t>
            </a:r>
            <a:r>
              <a:rPr lang="en-US" b="0">
                <a:solidFill>
                  <a:srgbClr val="D6DEEB"/>
                </a:solidFill>
                <a:effectLst/>
                <a:latin typeface="Consolas"/>
              </a:rPr>
              <a:t>)</a:t>
            </a:r>
            <a:r>
              <a:rPr lang="en-US" b="0" i="1">
                <a:solidFill>
                  <a:srgbClr val="C792EA"/>
                </a:solidFill>
                <a:effectLst/>
                <a:latin typeface="Consolas"/>
              </a:rPr>
              <a:t>.</a:t>
            </a:r>
            <a:r>
              <a:rPr lang="en-US" b="0">
                <a:solidFill>
                  <a:srgbClr val="82AAFF"/>
                </a:solidFill>
                <a:effectLst/>
                <a:latin typeface="Consolas"/>
              </a:rPr>
              <a:t>send</a:t>
            </a:r>
            <a:r>
              <a:rPr lang="en-US" b="0">
                <a:solidFill>
                  <a:srgbClr val="D6DEEB"/>
                </a:solidFill>
                <a:effectLst/>
                <a:latin typeface="Consolas"/>
              </a:rPr>
              <a:t>({ message: err</a:t>
            </a:r>
            <a:r>
              <a:rPr lang="en-US" b="0" i="1">
                <a:solidFill>
                  <a:srgbClr val="C792EA"/>
                </a:solidFill>
                <a:effectLst/>
                <a:latin typeface="Consolas"/>
              </a:rPr>
              <a:t>.</a:t>
            </a:r>
            <a:r>
              <a:rPr lang="en-US" b="0">
                <a:solidFill>
                  <a:srgbClr val="7FDBCA"/>
                </a:solidFill>
                <a:effectLst/>
                <a:latin typeface="Consolas"/>
              </a:rPr>
              <a:t>message</a:t>
            </a:r>
            <a:r>
              <a:rPr lang="en-US" b="0">
                <a:solidFill>
                  <a:srgbClr val="D6DEEB"/>
                </a:solidFill>
                <a:effectLst/>
                <a:latin typeface="Consolas"/>
              </a:rPr>
              <a:t> })} </a:t>
            </a:r>
            <a:endParaRPr lang="en-US">
              <a:solidFill>
                <a:srgbClr val="D6DEEB"/>
              </a:solidFill>
              <a:latin typeface="Consolas"/>
            </a:endParaRPr>
          </a:p>
          <a:p>
            <a:r>
              <a:rPr lang="en-US">
                <a:solidFill>
                  <a:srgbClr val="C792EA"/>
                </a:solidFill>
                <a:latin typeface="Consolas"/>
              </a:rPr>
              <a:t>       </a:t>
            </a:r>
            <a:r>
              <a:rPr lang="en-US" b="0">
                <a:solidFill>
                  <a:srgbClr val="C792EA"/>
                </a:solidFill>
                <a:effectLst/>
                <a:latin typeface="Consolas"/>
              </a:rPr>
              <a:t>else</a:t>
            </a:r>
            <a:r>
              <a:rPr lang="en-US" b="0">
                <a:solidFill>
                  <a:srgbClr val="D6DEEB"/>
                </a:solidFill>
                <a:effectLst/>
                <a:latin typeface="Consolas"/>
              </a:rPr>
              <a:t>{</a:t>
            </a:r>
            <a:endParaRPr lang="en-US">
              <a:latin typeface="Consolas"/>
            </a:endParaRPr>
          </a:p>
          <a:p>
            <a:r>
              <a:rPr lang="en-US" b="0">
                <a:solidFill>
                  <a:srgbClr val="D6DEEB"/>
                </a:solidFill>
                <a:effectLst/>
                <a:latin typeface="Consolas" panose="020B0609020204030204" pitchFamily="49" charset="0"/>
              </a:rPr>
              <a:t>            res</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status</a:t>
            </a:r>
            <a:r>
              <a:rPr lang="en-US" b="0">
                <a:solidFill>
                  <a:srgbClr val="D6DEEB"/>
                </a:solidFill>
                <a:effectLst/>
                <a:latin typeface="Consolas" panose="020B0609020204030204" pitchFamily="49" charset="0"/>
              </a:rPr>
              <a:t>(</a:t>
            </a:r>
            <a:r>
              <a:rPr lang="en-US" b="0">
                <a:solidFill>
                  <a:srgbClr val="F78C6C"/>
                </a:solidFill>
                <a:effectLst/>
                <a:latin typeface="Consolas" panose="020B0609020204030204" pitchFamily="49" charset="0"/>
              </a:rPr>
              <a:t>200</a:t>
            </a:r>
            <a:r>
              <a:rPr lang="en-US" b="0">
                <a:solidFill>
                  <a:srgbClr val="D6DEEB"/>
                </a:solidFill>
                <a:effectLst/>
                <a:latin typeface="Consolas" panose="020B0609020204030204" pitchFamily="49" charset="0"/>
              </a:rPr>
              <a:t>)</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send</a:t>
            </a:r>
            <a:r>
              <a:rPr lang="en-US" b="0">
                <a:solidFill>
                  <a:srgbClr val="D6DEEB"/>
                </a:solidFill>
                <a:effectLst/>
                <a:latin typeface="Consolas" panose="020B0609020204030204" pitchFamily="49" charset="0"/>
              </a:rPr>
              <a:t>(</a:t>
            </a:r>
            <a:r>
              <a:rPr lang="en-US" b="0">
                <a:solidFill>
                  <a:srgbClr val="D7DBE0"/>
                </a:solidFill>
                <a:effectLst/>
                <a:latin typeface="Consolas" panose="020B0609020204030204" pitchFamily="49" charset="0"/>
              </a:rPr>
              <a:t>users</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      })</a:t>
            </a:r>
          </a:p>
          <a:p>
            <a:r>
              <a:rPr lang="en-US" b="0">
                <a:solidFill>
                  <a:srgbClr val="D6DEEB"/>
                </a:solidFill>
                <a:effectLst/>
                <a:latin typeface="Consolas" panose="020B0609020204030204" pitchFamily="49" charset="0"/>
              </a:rPr>
              <a:t>  })</a:t>
            </a:r>
            <a:br>
              <a:rPr lang="en-US" b="0">
                <a:solidFill>
                  <a:srgbClr val="D6DEEB"/>
                </a:solidFill>
                <a:effectLst/>
                <a:latin typeface="Consolas" panose="020B0609020204030204" pitchFamily="49" charset="0"/>
              </a:rPr>
            </a:br>
            <a:r>
              <a:rPr lang="en-US" b="0">
                <a:solidFill>
                  <a:srgbClr val="D6DEEB"/>
                </a:solidFill>
                <a:effectLst/>
                <a:latin typeface="Consolas" panose="020B0609020204030204" pitchFamily="49" charset="0"/>
              </a:rPr>
              <a:t>  </a:t>
            </a:r>
            <a:r>
              <a:rPr lang="en-US" b="0">
                <a:solidFill>
                  <a:srgbClr val="ADDB67"/>
                </a:solidFill>
                <a:effectLst/>
                <a:latin typeface="Consolas" panose="020B0609020204030204" pitchFamily="49" charset="0"/>
              </a:rPr>
              <a:t>module</a:t>
            </a:r>
            <a:r>
              <a:rPr lang="en-US" b="0" i="1">
                <a:solidFill>
                  <a:srgbClr val="C792EA"/>
                </a:solidFill>
                <a:effectLst/>
                <a:latin typeface="Consolas" panose="020B0609020204030204" pitchFamily="49" charset="0"/>
              </a:rPr>
              <a:t>.</a:t>
            </a:r>
            <a:r>
              <a:rPr lang="en-US" b="0">
                <a:solidFill>
                  <a:srgbClr val="ADDB67"/>
                </a:solidFill>
                <a:effectLst/>
                <a:latin typeface="Consolas" panose="020B0609020204030204" pitchFamily="49" charset="0"/>
              </a:rPr>
              <a:t>exports</a:t>
            </a:r>
            <a:r>
              <a:rPr lang="en-US" b="0">
                <a:solidFill>
                  <a:srgbClr val="D6DEEB"/>
                </a:solidFill>
                <a:effectLst/>
                <a:latin typeface="Consolas" panose="020B0609020204030204" pitchFamily="49" charset="0"/>
              </a:rPr>
              <a:t> </a:t>
            </a:r>
            <a:r>
              <a:rPr lang="en-US" b="0">
                <a:solidFill>
                  <a:srgbClr val="C792EA"/>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D7DBE0"/>
                </a:solidFill>
                <a:effectLst/>
                <a:latin typeface="Consolas" panose="020B0609020204030204" pitchFamily="49" charset="0"/>
              </a:rPr>
              <a:t>router</a:t>
            </a:r>
            <a:endParaRPr lang="en-US" b="0">
              <a:solidFill>
                <a:srgbClr val="D6DEEB"/>
              </a:solidFill>
              <a:effectLst/>
              <a:latin typeface="Consolas" panose="020B0609020204030204" pitchFamily="49" charset="0"/>
            </a:endParaRPr>
          </a:p>
        </p:txBody>
      </p:sp>
      <p:sp>
        <p:nvSpPr>
          <p:cNvPr id="8" name="TextBox 7">
            <a:extLst>
              <a:ext uri="{FF2B5EF4-FFF2-40B4-BE49-F238E27FC236}">
                <a16:creationId xmlns:a16="http://schemas.microsoft.com/office/drawing/2014/main" id="{71C809DB-972F-655F-0EDE-B72D61967C99}"/>
              </a:ext>
            </a:extLst>
          </p:cNvPr>
          <p:cNvSpPr txBox="1"/>
          <p:nvPr/>
        </p:nvSpPr>
        <p:spPr>
          <a:xfrm>
            <a:off x="2168430" y="2382653"/>
            <a:ext cx="9123966"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Router</a:t>
            </a:r>
            <a:endParaRPr lang="en-US"/>
          </a:p>
        </p:txBody>
      </p:sp>
    </p:spTree>
    <p:extLst>
      <p:ext uri="{BB962C8B-B14F-4D97-AF65-F5344CB8AC3E}">
        <p14:creationId xmlns:p14="http://schemas.microsoft.com/office/powerpoint/2010/main" val="193530194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6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lIns="91440" tIns="45720" rIns="91440" bIns="45720" rtlCol="0" anchor="t">
            <a:spAutoFit/>
          </a:bodyPr>
          <a:lstStyle>
            <a:defPPr>
              <a:defRPr lang="fr-FR"/>
            </a:defPPr>
            <a:lvl1pPr>
              <a:defRPr sz="2400" b="1">
                <a:solidFill>
                  <a:schemeClr val="accent1"/>
                </a:solidFill>
              </a:defRPr>
            </a:lvl1pPr>
          </a:lstStyle>
          <a:p>
            <a:r>
              <a:rPr lang="fr-CA"/>
              <a:t>Première connexion à une base de données  </a:t>
            </a:r>
          </a:p>
        </p:txBody>
      </p:sp>
      <p:sp>
        <p:nvSpPr>
          <p:cNvPr id="5" name="TextBox 4">
            <a:extLst>
              <a:ext uri="{FF2B5EF4-FFF2-40B4-BE49-F238E27FC236}">
                <a16:creationId xmlns:a16="http://schemas.microsoft.com/office/drawing/2014/main" id="{C673B3B5-53F5-70A4-3542-05D082C0CFD6}"/>
              </a:ext>
            </a:extLst>
          </p:cNvPr>
          <p:cNvSpPr txBox="1"/>
          <p:nvPr/>
        </p:nvSpPr>
        <p:spPr>
          <a:xfrm>
            <a:off x="2168433" y="1377514"/>
            <a:ext cx="9858104" cy="375552"/>
          </a:xfrm>
          <a:prstGeom prst="rect">
            <a:avLst/>
          </a:prstGeom>
          <a:noFill/>
        </p:spPr>
        <p:txBody>
          <a:bodyPr wrap="square" lIns="91440" tIns="45720" rIns="91440" bIns="45720" rtlCol="0" anchor="t">
            <a:spAutoFit/>
          </a:bodyPr>
          <a:lstStyle>
            <a:defPPr>
              <a:defRPr lang="fr-FR"/>
            </a:defPPr>
            <a:lvl1pPr>
              <a:defRPr>
                <a:ln w="0"/>
                <a:solidFill>
                  <a:schemeClr val="accent1"/>
                </a:solidFill>
                <a:effectLst/>
              </a:defRPr>
            </a:lvl1pPr>
          </a:lstStyle>
          <a:p>
            <a:r>
              <a:rPr lang="fr-CA"/>
              <a:t>Définition un modèle pour notre schéma</a:t>
            </a:r>
            <a:endParaRPr lang="en-US"/>
          </a:p>
        </p:txBody>
      </p:sp>
      <p:sp>
        <p:nvSpPr>
          <p:cNvPr id="3" name="TextBox 2">
            <a:extLst>
              <a:ext uri="{FF2B5EF4-FFF2-40B4-BE49-F238E27FC236}">
                <a16:creationId xmlns:a16="http://schemas.microsoft.com/office/drawing/2014/main" id="{7CF0EF77-CAE7-0EA7-BA16-741CB815B5AA}"/>
              </a:ext>
            </a:extLst>
          </p:cNvPr>
          <p:cNvSpPr txBox="1"/>
          <p:nvPr/>
        </p:nvSpPr>
        <p:spPr>
          <a:xfrm>
            <a:off x="2104008" y="2879483"/>
            <a:ext cx="9858104" cy="3416320"/>
          </a:xfrm>
          <a:prstGeom prst="rect">
            <a:avLst/>
          </a:prstGeom>
          <a:solidFill>
            <a:schemeClr val="tx2">
              <a:lumMod val="50000"/>
            </a:schemeClr>
          </a:solidFill>
        </p:spPr>
        <p:txBody>
          <a:bodyPr wrap="square" rtlCol="0">
            <a:spAutoFit/>
          </a:bodyPr>
          <a:lstStyle>
            <a:defPPr>
              <a:defRPr lang="fr-FR"/>
            </a:defPPr>
            <a:lvl1pPr>
              <a:defRPr i="1">
                <a:solidFill>
                  <a:srgbClr val="82AAFF"/>
                </a:solidFill>
                <a:latin typeface="Consolas" panose="020B0609020204030204" pitchFamily="49" charset="0"/>
              </a:defRPr>
            </a:lvl1pPr>
          </a:lstStyle>
          <a:p>
            <a:r>
              <a:rPr lang="en-US" b="0">
                <a:solidFill>
                  <a:srgbClr val="82AAFF"/>
                </a:solidFill>
                <a:effectLst/>
                <a:latin typeface="Consolas" panose="020B0609020204030204" pitchFamily="49" charset="0"/>
              </a:rPr>
              <a:t>const</a:t>
            </a:r>
            <a:r>
              <a:rPr lang="en-US" b="0" i="1">
                <a:solidFill>
                  <a:srgbClr val="C792EA"/>
                </a:solidFill>
                <a:effectLst/>
                <a:latin typeface="Consolas" panose="020B0609020204030204" pitchFamily="49" charset="0"/>
              </a:rPr>
              <a:t> </a:t>
            </a:r>
            <a:r>
              <a:rPr lang="en-US" b="0" i="1">
                <a:solidFill>
                  <a:srgbClr val="82AAFF"/>
                </a:solidFill>
                <a:effectLst/>
                <a:latin typeface="Consolas" panose="020B0609020204030204" pitchFamily="49" charset="0"/>
              </a:rPr>
              <a:t>mongoose</a:t>
            </a:r>
            <a:r>
              <a:rPr lang="en-US" b="0" i="1">
                <a:solidFill>
                  <a:srgbClr val="C792EA"/>
                </a:solidFill>
                <a:effectLst/>
                <a:latin typeface="Consolas" panose="020B0609020204030204" pitchFamily="49" charset="0"/>
              </a:rPr>
              <a:t> </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a:solidFill>
                  <a:srgbClr val="82AAFF"/>
                </a:solidFill>
                <a:effectLst/>
                <a:latin typeface="Consolas" panose="020B0609020204030204" pitchFamily="49" charset="0"/>
              </a:rPr>
              <a:t>require</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mongoose</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br>
              <a:rPr lang="en-US" b="0">
                <a:solidFill>
                  <a:srgbClr val="D6DEEB"/>
                </a:solidFill>
                <a:effectLst/>
                <a:latin typeface="Consolas" panose="020B0609020204030204" pitchFamily="49" charset="0"/>
              </a:rPr>
            </a:br>
            <a:r>
              <a:rPr lang="en-US" b="0">
                <a:solidFill>
                  <a:srgbClr val="82AAFF"/>
                </a:solidFill>
                <a:effectLst/>
                <a:latin typeface="Consolas" panose="020B0609020204030204" pitchFamily="49" charset="0"/>
              </a:rPr>
              <a:t>const</a:t>
            </a:r>
            <a:r>
              <a:rPr lang="en-US" b="0" i="1">
                <a:solidFill>
                  <a:srgbClr val="C792EA"/>
                </a:solidFill>
                <a:effectLst/>
                <a:latin typeface="Consolas" panose="020B0609020204030204" pitchFamily="49" charset="0"/>
              </a:rPr>
              <a:t> </a:t>
            </a:r>
            <a:r>
              <a:rPr lang="en-US" b="0" i="1">
                <a:solidFill>
                  <a:srgbClr val="82AAFF"/>
                </a:solidFill>
                <a:effectLst/>
                <a:latin typeface="Consolas" panose="020B0609020204030204" pitchFamily="49" charset="0"/>
              </a:rPr>
              <a:t>userSchema</a:t>
            </a:r>
            <a:r>
              <a:rPr lang="en-US" b="0" i="1">
                <a:solidFill>
                  <a:srgbClr val="C792EA"/>
                </a:solidFill>
                <a:effectLst/>
                <a:latin typeface="Consolas" panose="020B0609020204030204" pitchFamily="49" charset="0"/>
              </a:rPr>
              <a:t> </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a:solidFill>
                  <a:srgbClr val="7FDBCA"/>
                </a:solidFill>
                <a:effectLst/>
                <a:latin typeface="Consolas" panose="020B0609020204030204" pitchFamily="49" charset="0"/>
              </a:rPr>
              <a:t>new</a:t>
            </a:r>
            <a:r>
              <a:rPr lang="en-US" b="0" i="1">
                <a:solidFill>
                  <a:srgbClr val="C792EA"/>
                </a:solidFill>
                <a:effectLst/>
                <a:latin typeface="Consolas" panose="020B0609020204030204" pitchFamily="49" charset="0"/>
              </a:rPr>
              <a:t> </a:t>
            </a:r>
            <a:r>
              <a:rPr lang="en-US" b="0">
                <a:solidFill>
                  <a:srgbClr val="D6DEEB"/>
                </a:solidFill>
                <a:effectLst/>
                <a:latin typeface="Consolas" panose="020B0609020204030204" pitchFamily="49" charset="0"/>
              </a:rPr>
              <a:t>mongoose</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Schema</a:t>
            </a:r>
            <a:r>
              <a:rPr lang="en-US" b="0">
                <a:solidFill>
                  <a:srgbClr val="D6DEEB"/>
                </a:solidFill>
                <a:effectLst/>
                <a:latin typeface="Consolas" panose="020B0609020204030204" pitchFamily="49" charset="0"/>
              </a:rPr>
              <a:t>(</a:t>
            </a:r>
            <a:r>
              <a:rPr lang="en-US" b="0">
                <a:solidFill>
                  <a:srgbClr val="C792EA"/>
                </a:solidFill>
                <a:effectLst/>
                <a:latin typeface="Consolas" panose="020B0609020204030204" pitchFamily="49" charset="0"/>
              </a:rPr>
              <a:t>{</a:t>
            </a:r>
            <a:endParaRPr lang="en-US" b="0">
              <a:solidFill>
                <a:srgbClr val="D6DEEB"/>
              </a:solidFill>
              <a:effectLst/>
              <a:latin typeface="Consolas" panose="020B0609020204030204" pitchFamily="49" charset="0"/>
            </a:endParaRPr>
          </a:p>
          <a:p>
            <a:r>
              <a:rPr lang="en-US" b="0" i="1">
                <a:solidFill>
                  <a:srgbClr val="C792EA"/>
                </a:solidFill>
                <a:effectLst/>
                <a:latin typeface="Consolas" panose="020B0609020204030204" pitchFamily="49" charset="0"/>
              </a:rPr>
              <a:t>  fullName</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a:solidFill>
                  <a:srgbClr val="C792EA"/>
                </a:solidFill>
                <a:effectLst/>
                <a:latin typeface="Consolas" panose="020B0609020204030204" pitchFamily="49" charset="0"/>
              </a:rPr>
              <a:t>{</a:t>
            </a:r>
            <a:endParaRPr lang="en-US" b="0">
              <a:solidFill>
                <a:srgbClr val="D6DEEB"/>
              </a:solidFill>
              <a:effectLst/>
              <a:latin typeface="Consolas" panose="020B0609020204030204" pitchFamily="49" charset="0"/>
            </a:endParaRPr>
          </a:p>
          <a:p>
            <a:r>
              <a:rPr lang="en-US" b="0" i="1">
                <a:solidFill>
                  <a:srgbClr val="C792EA"/>
                </a:solidFill>
                <a:effectLst/>
                <a:latin typeface="Consolas" panose="020B0609020204030204" pitchFamily="49" charset="0"/>
              </a:rPr>
              <a:t>    type</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a:solidFill>
                  <a:srgbClr val="D7DBE0"/>
                </a:solidFill>
                <a:effectLst/>
                <a:latin typeface="Consolas" panose="020B0609020204030204" pitchFamily="49" charset="0"/>
              </a:rPr>
              <a:t>String</a:t>
            </a:r>
            <a:r>
              <a:rPr lang="en-US" b="0">
                <a:solidFill>
                  <a:srgbClr val="C792EA"/>
                </a:solidFill>
                <a:effectLst/>
                <a:latin typeface="Consolas" panose="020B0609020204030204" pitchFamily="49" charset="0"/>
              </a:rPr>
              <a:t>,</a:t>
            </a:r>
            <a:endParaRPr lang="en-US" b="0">
              <a:solidFill>
                <a:srgbClr val="D6DEEB"/>
              </a:solidFill>
              <a:effectLst/>
              <a:latin typeface="Consolas" panose="020B0609020204030204" pitchFamily="49" charset="0"/>
            </a:endParaRPr>
          </a:p>
          <a:p>
            <a:r>
              <a:rPr lang="en-US" b="0" i="1">
                <a:solidFill>
                  <a:srgbClr val="C792EA"/>
                </a:solidFill>
                <a:effectLst/>
                <a:latin typeface="Consolas" panose="020B0609020204030204" pitchFamily="49" charset="0"/>
              </a:rPr>
              <a:t>    required</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i="1">
                <a:solidFill>
                  <a:srgbClr val="FF5874"/>
                </a:solidFill>
                <a:effectLst/>
                <a:latin typeface="Consolas" panose="020B0609020204030204" pitchFamily="49" charset="0"/>
              </a:rPr>
              <a:t>true</a:t>
            </a:r>
            <a:endParaRPr lang="en-US" b="0">
              <a:solidFill>
                <a:srgbClr val="D6DEEB"/>
              </a:solidFill>
              <a:effectLst/>
              <a:latin typeface="Consolas" panose="020B0609020204030204" pitchFamily="49" charset="0"/>
            </a:endParaRPr>
          </a:p>
          <a:p>
            <a:r>
              <a:rPr lang="en-US" b="0" i="1">
                <a:solidFill>
                  <a:srgbClr val="C792EA"/>
                </a:solidFill>
                <a:effectLst/>
                <a:latin typeface="Consolas" panose="020B0609020204030204" pitchFamily="49" charset="0"/>
              </a:rPr>
              <a:t>  </a:t>
            </a:r>
            <a:r>
              <a:rPr lang="en-US" b="0">
                <a:solidFill>
                  <a:srgbClr val="C792EA"/>
                </a:solidFill>
                <a:effectLst/>
                <a:latin typeface="Consolas" panose="020B0609020204030204" pitchFamily="49" charset="0"/>
              </a:rPr>
              <a:t>},</a:t>
            </a:r>
            <a:endParaRPr lang="en-US" b="0">
              <a:solidFill>
                <a:srgbClr val="D6DEEB"/>
              </a:solidFill>
              <a:effectLst/>
              <a:latin typeface="Consolas" panose="020B0609020204030204" pitchFamily="49" charset="0"/>
            </a:endParaRPr>
          </a:p>
          <a:p>
            <a:r>
              <a:rPr lang="en-US" b="0" i="1">
                <a:solidFill>
                  <a:srgbClr val="C792EA"/>
                </a:solidFill>
                <a:effectLst/>
                <a:latin typeface="Consolas" panose="020B0609020204030204" pitchFamily="49" charset="0"/>
              </a:rPr>
              <a:t>  age</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a:solidFill>
                  <a:srgbClr val="C792EA"/>
                </a:solidFill>
                <a:effectLst/>
                <a:latin typeface="Consolas" panose="020B0609020204030204" pitchFamily="49" charset="0"/>
              </a:rPr>
              <a:t>{</a:t>
            </a:r>
            <a:endParaRPr lang="en-US" b="0">
              <a:solidFill>
                <a:srgbClr val="D6DEEB"/>
              </a:solidFill>
              <a:effectLst/>
              <a:latin typeface="Consolas" panose="020B0609020204030204" pitchFamily="49" charset="0"/>
            </a:endParaRPr>
          </a:p>
          <a:p>
            <a:r>
              <a:rPr lang="en-US" b="0" i="1">
                <a:solidFill>
                  <a:srgbClr val="C792EA"/>
                </a:solidFill>
                <a:effectLst/>
                <a:latin typeface="Consolas" panose="020B0609020204030204" pitchFamily="49" charset="0"/>
              </a:rPr>
              <a:t>    type</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a:solidFill>
                  <a:srgbClr val="D7DBE0"/>
                </a:solidFill>
                <a:effectLst/>
                <a:latin typeface="Consolas" panose="020B0609020204030204" pitchFamily="49" charset="0"/>
              </a:rPr>
              <a:t>String</a:t>
            </a:r>
            <a:r>
              <a:rPr lang="en-US" b="0">
                <a:solidFill>
                  <a:srgbClr val="C792EA"/>
                </a:solidFill>
                <a:effectLst/>
                <a:latin typeface="Consolas" panose="020B0609020204030204" pitchFamily="49" charset="0"/>
              </a:rPr>
              <a:t>,</a:t>
            </a:r>
            <a:endParaRPr lang="en-US" b="0">
              <a:solidFill>
                <a:srgbClr val="D6DEEB"/>
              </a:solidFill>
              <a:effectLst/>
              <a:latin typeface="Consolas" panose="020B0609020204030204" pitchFamily="49" charset="0"/>
            </a:endParaRPr>
          </a:p>
          <a:p>
            <a:r>
              <a:rPr lang="en-US" b="0" i="1">
                <a:solidFill>
                  <a:srgbClr val="C792EA"/>
                </a:solidFill>
                <a:effectLst/>
                <a:latin typeface="Consolas" panose="020B0609020204030204" pitchFamily="49" charset="0"/>
              </a:rPr>
              <a:t>    required</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i="1">
                <a:solidFill>
                  <a:srgbClr val="FF5874"/>
                </a:solidFill>
                <a:effectLst/>
                <a:latin typeface="Consolas" panose="020B0609020204030204" pitchFamily="49" charset="0"/>
              </a:rPr>
              <a:t>true</a:t>
            </a:r>
            <a:endParaRPr lang="en-US" b="0">
              <a:solidFill>
                <a:srgbClr val="D6DEEB"/>
              </a:solidFill>
              <a:effectLst/>
              <a:latin typeface="Consolas" panose="020B0609020204030204" pitchFamily="49" charset="0"/>
            </a:endParaRPr>
          </a:p>
          <a:p>
            <a:r>
              <a:rPr lang="en-US" b="0" i="1">
                <a:solidFill>
                  <a:srgbClr val="C792EA"/>
                </a:solidFill>
                <a:effectLst/>
                <a:latin typeface="Consolas" panose="020B0609020204030204" pitchFamily="49" charset="0"/>
              </a:rPr>
              <a:t>  </a:t>
            </a:r>
            <a:r>
              <a:rPr lang="en-US" b="0">
                <a:solidFill>
                  <a:srgbClr val="C792EA"/>
                </a:solidFill>
                <a:effectLst/>
                <a:latin typeface="Consolas" panose="020B0609020204030204" pitchFamily="49" charset="0"/>
              </a:rPr>
              <a:t>}</a:t>
            </a:r>
            <a:endParaRPr lang="en-US" b="0">
              <a:solidFill>
                <a:srgbClr val="D6DEEB"/>
              </a:solidFill>
              <a:effectLst/>
              <a:latin typeface="Consolas" panose="020B0609020204030204" pitchFamily="49" charset="0"/>
            </a:endParaRPr>
          </a:p>
          <a:p>
            <a:r>
              <a:rPr lang="en-US" b="0">
                <a:solidFill>
                  <a:srgbClr val="C792EA"/>
                </a:solidFill>
                <a:effectLst/>
                <a:latin typeface="Consolas" panose="020B0609020204030204" pitchFamily="49" charset="0"/>
              </a:rPr>
              <a:t>}</a:t>
            </a:r>
            <a:r>
              <a:rPr lang="en-US" b="0">
                <a:solidFill>
                  <a:srgbClr val="D6DEEB"/>
                </a:solidFill>
                <a:effectLst/>
                <a:latin typeface="Consolas" panose="020B0609020204030204" pitchFamily="49" charset="0"/>
              </a:rPr>
              <a:t>)</a:t>
            </a:r>
            <a:br>
              <a:rPr lang="en-US" b="0">
                <a:solidFill>
                  <a:srgbClr val="D6DEEB"/>
                </a:solidFill>
                <a:effectLst/>
                <a:latin typeface="Consolas" panose="020B0609020204030204" pitchFamily="49" charset="0"/>
              </a:rPr>
            </a:br>
            <a:r>
              <a:rPr lang="en-US" b="0">
                <a:solidFill>
                  <a:srgbClr val="ADDB67"/>
                </a:solidFill>
                <a:effectLst/>
                <a:latin typeface="Consolas" panose="020B0609020204030204" pitchFamily="49" charset="0"/>
              </a:rPr>
              <a:t>module</a:t>
            </a:r>
            <a:r>
              <a:rPr lang="en-US" b="0" i="1">
                <a:solidFill>
                  <a:srgbClr val="C792EA"/>
                </a:solidFill>
                <a:effectLst/>
                <a:latin typeface="Consolas" panose="020B0609020204030204" pitchFamily="49" charset="0"/>
              </a:rPr>
              <a:t>.</a:t>
            </a:r>
            <a:r>
              <a:rPr lang="en-US" b="0">
                <a:solidFill>
                  <a:srgbClr val="ADDB67"/>
                </a:solidFill>
                <a:effectLst/>
                <a:latin typeface="Consolas" panose="020B0609020204030204" pitchFamily="49" charset="0"/>
              </a:rPr>
              <a:t>exports</a:t>
            </a:r>
            <a:r>
              <a:rPr lang="en-US" b="0">
                <a:solidFill>
                  <a:srgbClr val="D6DEEB"/>
                </a:solidFill>
                <a:effectLst/>
                <a:latin typeface="Consolas" panose="020B0609020204030204" pitchFamily="49" charset="0"/>
              </a:rPr>
              <a:t> </a:t>
            </a:r>
            <a:r>
              <a:rPr lang="en-US" b="0">
                <a:solidFill>
                  <a:srgbClr val="C792EA"/>
                </a:solidFill>
                <a:effectLst/>
                <a:latin typeface="Consolas" panose="020B0609020204030204" pitchFamily="49" charset="0"/>
              </a:rPr>
              <a:t>=</a:t>
            </a:r>
            <a:r>
              <a:rPr lang="en-US" b="0">
                <a:solidFill>
                  <a:srgbClr val="D6DEEB"/>
                </a:solidFill>
                <a:effectLst/>
                <a:latin typeface="Consolas" panose="020B0609020204030204" pitchFamily="49" charset="0"/>
              </a:rPr>
              <a:t> mongoose</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model</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User</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D7DBE0"/>
                </a:solidFill>
                <a:effectLst/>
                <a:latin typeface="Consolas" panose="020B0609020204030204" pitchFamily="49" charset="0"/>
              </a:rPr>
              <a:t>userSchema</a:t>
            </a:r>
            <a:r>
              <a:rPr lang="en-US" b="0">
                <a:solidFill>
                  <a:srgbClr val="D6DEEB"/>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71C809DB-972F-655F-0EDE-B72D61967C99}"/>
              </a:ext>
            </a:extLst>
          </p:cNvPr>
          <p:cNvSpPr txBox="1"/>
          <p:nvPr/>
        </p:nvSpPr>
        <p:spPr>
          <a:xfrm>
            <a:off x="2168430" y="2382653"/>
            <a:ext cx="9123966"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Model</a:t>
            </a:r>
            <a:endParaRPr lang="en-US"/>
          </a:p>
        </p:txBody>
      </p:sp>
    </p:spTree>
    <p:extLst>
      <p:ext uri="{BB962C8B-B14F-4D97-AF65-F5344CB8AC3E}">
        <p14:creationId xmlns:p14="http://schemas.microsoft.com/office/powerpoint/2010/main" val="385348020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6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Exercice </a:t>
            </a:r>
          </a:p>
        </p:txBody>
      </p:sp>
      <p:sp>
        <p:nvSpPr>
          <p:cNvPr id="2" name="TextBox 1">
            <a:extLst>
              <a:ext uri="{FF2B5EF4-FFF2-40B4-BE49-F238E27FC236}">
                <a16:creationId xmlns:a16="http://schemas.microsoft.com/office/drawing/2014/main" id="{12A4B49F-569A-10FC-9769-EA86628925A4}"/>
              </a:ext>
            </a:extLst>
          </p:cNvPr>
          <p:cNvSpPr txBox="1"/>
          <p:nvPr/>
        </p:nvSpPr>
        <p:spPr>
          <a:xfrm>
            <a:off x="2168434" y="1482571"/>
            <a:ext cx="9001957" cy="4088170"/>
          </a:xfrm>
          <a:prstGeom prst="rect">
            <a:avLst/>
          </a:prstGeom>
          <a:noFill/>
        </p:spPr>
        <p:txBody>
          <a:bodyPr wrap="square" lIns="91440" tIns="45720" rIns="91440" bIns="45720" rtlCol="0" anchor="t">
            <a:spAutoFit/>
          </a:bodyPr>
          <a:lstStyle/>
          <a:p>
            <a:pPr marL="0" marR="0">
              <a:lnSpc>
                <a:spcPct val="107000"/>
              </a:lnSpc>
              <a:spcBef>
                <a:spcPts val="0"/>
              </a:spcBef>
              <a:spcAft>
                <a:spcPts val="800"/>
              </a:spcAft>
            </a:pPr>
            <a:r>
              <a:rPr lang="fr-CA" sz="1800">
                <a:effectLst/>
                <a:latin typeface="Calibri" panose="020F0502020204030204" pitchFamily="34" charset="0"/>
                <a:ea typeface="Calibri" panose="020F0502020204030204" pitchFamily="34" charset="0"/>
                <a:cs typeface="Arial" panose="020B0604020202020204" pitchFamily="34" charset="0"/>
              </a:rPr>
              <a:t>Création un API restful avec express et mongodb.</a:t>
            </a:r>
            <a:endParaRPr lang="en-US" sz="1800">
              <a:effectLst/>
              <a:latin typeface="Calibri" panose="020F0502020204030204" pitchFamily="34" charset="0"/>
              <a:ea typeface="Calibri" panose="020F0502020204030204" pitchFamily="34" charset="0"/>
              <a:cs typeface="Arial" panose="020B0604020202020204" pitchFamily="34" charset="0"/>
            </a:endParaRPr>
          </a:p>
          <a:p>
            <a:pPr>
              <a:lnSpc>
                <a:spcPts val="1425"/>
              </a:lnSpc>
            </a:pPr>
            <a:r>
              <a:rPr lang="en-US" err="1">
                <a:solidFill>
                  <a:srgbClr val="82AAFF"/>
                </a:solidFill>
                <a:latin typeface="Consolas"/>
                <a:ea typeface="Times New Roman" panose="02020603050405020304" pitchFamily="18" charset="0"/>
                <a:cs typeface="Times New Roman"/>
              </a:rPr>
              <a:t>n</a:t>
            </a:r>
            <a:r>
              <a:rPr lang="en-US" sz="1800" err="1">
                <a:solidFill>
                  <a:srgbClr val="82AAFF"/>
                </a:solidFill>
                <a:effectLst/>
                <a:latin typeface="Consolas"/>
                <a:ea typeface="Times New Roman" panose="02020603050405020304" pitchFamily="18" charset="0"/>
                <a:cs typeface="Times New Roman"/>
              </a:rPr>
              <a:t>pm</a:t>
            </a:r>
            <a:r>
              <a:rPr lang="en-US" sz="1800">
                <a:solidFill>
                  <a:srgbClr val="82AAFF"/>
                </a:solidFill>
                <a:effectLst/>
                <a:latin typeface="Consolas"/>
                <a:ea typeface="Times New Roman" panose="02020603050405020304" pitchFamily="18" charset="0"/>
                <a:cs typeface="Times New Roman"/>
              </a:rPr>
              <a:t> </a:t>
            </a:r>
            <a:r>
              <a:rPr lang="en-US" sz="1800" err="1">
                <a:solidFill>
                  <a:srgbClr val="82AAFF"/>
                </a:solidFill>
                <a:effectLst/>
                <a:latin typeface="Consolas"/>
                <a:ea typeface="Times New Roman" panose="02020603050405020304" pitchFamily="18" charset="0"/>
                <a:cs typeface="Times New Roman"/>
              </a:rPr>
              <a:t>init</a:t>
            </a:r>
            <a:r>
              <a:rPr lang="en-US">
                <a:solidFill>
                  <a:srgbClr val="82AAFF"/>
                </a:solidFill>
                <a:latin typeface="Consolas"/>
                <a:ea typeface="Times New Roman" panose="02020603050405020304" pitchFamily="18" charset="0"/>
                <a:cs typeface="Times New Roman"/>
              </a:rPr>
              <a:t> -y</a:t>
            </a:r>
            <a:endParaRPr lang="en-US" sz="1800">
              <a:effectLst/>
              <a:latin typeface="Times New Roman"/>
              <a:ea typeface="Calibri" panose="020F0502020204030204" pitchFamily="34" charset="0"/>
              <a:cs typeface="Arial" panose="020B0604020202020204" pitchFamily="34" charset="0"/>
            </a:endParaRPr>
          </a:p>
          <a:p>
            <a:pPr marL="0" marR="0">
              <a:lnSpc>
                <a:spcPts val="1425"/>
              </a:lnSpc>
              <a:spcBef>
                <a:spcPts val="0"/>
              </a:spcBef>
              <a:spcAft>
                <a:spcPts val="0"/>
              </a:spcAft>
            </a:pPr>
            <a:r>
              <a:rPr lang="en-US" sz="1800">
                <a:solidFill>
                  <a:srgbClr val="82AAFF"/>
                </a:solidFill>
                <a:effectLst/>
                <a:latin typeface="Consolas" panose="020B0609020204030204" pitchFamily="49" charset="0"/>
                <a:ea typeface="Times New Roman" panose="02020603050405020304" pitchFamily="18" charset="0"/>
                <a:cs typeface="Times New Roman" panose="02020603050405020304" pitchFamily="18" charset="0"/>
              </a:rPr>
              <a:t>npm install dotenv  --save-dev</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lnSpc>
                <a:spcPts val="1425"/>
              </a:lnSpc>
              <a:spcBef>
                <a:spcPts val="0"/>
              </a:spcBef>
              <a:spcAft>
                <a:spcPts val="0"/>
              </a:spcAft>
            </a:pPr>
            <a:r>
              <a:rPr lang="en-US" sz="1800">
                <a:solidFill>
                  <a:srgbClr val="82AAFF"/>
                </a:solidFill>
                <a:effectLst/>
                <a:latin typeface="Consolas" panose="020B0609020204030204" pitchFamily="49" charset="0"/>
                <a:ea typeface="Times New Roman" panose="02020603050405020304" pitchFamily="18" charset="0"/>
                <a:cs typeface="Times New Roman" panose="02020603050405020304" pitchFamily="18" charset="0"/>
              </a:rPr>
              <a:t>npm install -g nodemon</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fr-CA" sz="1800">
                <a:effectLst/>
                <a:latin typeface="Calibri" panose="020F0502020204030204" pitchFamily="34" charset="0"/>
                <a:ea typeface="Calibri" panose="020F0502020204030204" pitchFamily="34" charset="0"/>
                <a:cs typeface="Arial" panose="020B0604020202020204" pitchFamily="34" charset="0"/>
              </a:rPr>
              <a:t>Installer restclient VCS extension.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fr-CA" sz="1800">
                <a:effectLst/>
                <a:latin typeface="Calibri" panose="020F0502020204030204" pitchFamily="34" charset="0"/>
                <a:ea typeface="Calibri" panose="020F0502020204030204" pitchFamily="34" charset="0"/>
                <a:cs typeface="Arial" panose="020B0604020202020204" pitchFamily="34" charset="0"/>
              </a:rPr>
              <a:t>Création l’api restful</a:t>
            </a:r>
            <a:r>
              <a:rPr lang="fr-CA">
                <a:latin typeface="Calibri" panose="020F0502020204030204" pitchFamily="34" charset="0"/>
                <a:ea typeface="Calibri" panose="020F0502020204030204" pitchFamily="34" charset="0"/>
                <a:cs typeface="Arial" panose="020B0604020202020204" pitchFamily="34" charset="0"/>
              </a:rPr>
              <a:t> employee</a:t>
            </a:r>
            <a:r>
              <a:rPr lang="fr-CA" sz="1800">
                <a:effectLst/>
                <a:latin typeface="Calibri" panose="020F0502020204030204" pitchFamily="34" charset="0"/>
                <a:ea typeface="Calibri" panose="020F0502020204030204" pitchFamily="34" charset="0"/>
                <a:cs typeface="Arial" panose="020B0604020202020204" pitchFamily="34" charset="0"/>
              </a:rPr>
              <a:t> avec les routes suivantes: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fr-CA" sz="1800">
                <a:effectLst/>
                <a:latin typeface="Calibri" panose="020F0502020204030204" pitchFamily="34" charset="0"/>
                <a:ea typeface="Calibri" panose="020F0502020204030204" pitchFamily="34" charset="0"/>
                <a:cs typeface="Arial" panose="020B0604020202020204" pitchFamily="34" charset="0"/>
              </a:rPr>
              <a:t>Retourner tous les employés (get localhost:3000/employee)</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fr-CA" sz="1800">
                <a:effectLst/>
                <a:latin typeface="Calibri" panose="020F0502020204030204" pitchFamily="34" charset="0"/>
                <a:ea typeface="Calibri" panose="020F0502020204030204" pitchFamily="34" charset="0"/>
                <a:cs typeface="Arial" panose="020B0604020202020204" pitchFamily="34" charset="0"/>
              </a:rPr>
              <a:t>Retourner un seul employé par son Id</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fr-CA" sz="1800">
                <a:effectLst/>
                <a:latin typeface="Calibri" panose="020F0502020204030204" pitchFamily="34" charset="0"/>
                <a:ea typeface="Calibri" panose="020F0502020204030204" pitchFamily="34" charset="0"/>
                <a:cs typeface="Arial" panose="020B0604020202020204" pitchFamily="34" charset="0"/>
              </a:rPr>
              <a:t>Ajouter un nouvel employé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fr-CA" sz="1800">
                <a:effectLst/>
                <a:latin typeface="Calibri" panose="020F0502020204030204" pitchFamily="34" charset="0"/>
                <a:ea typeface="Calibri" panose="020F0502020204030204" pitchFamily="34" charset="0"/>
                <a:cs typeface="Arial" panose="020B0604020202020204" pitchFamily="34" charset="0"/>
              </a:rPr>
              <a:t>(Modifier un employé existant)</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Symbol" panose="05050102010706020507" pitchFamily="18" charset="2"/>
              <a:buChar char=""/>
            </a:pPr>
            <a:r>
              <a:rPr lang="fr-CA" sz="1800">
                <a:effectLst/>
                <a:latin typeface="Calibri" panose="020F0502020204030204" pitchFamily="34" charset="0"/>
                <a:ea typeface="Calibri" panose="020F0502020204030204" pitchFamily="34" charset="0"/>
                <a:cs typeface="Arial" panose="020B0604020202020204" pitchFamily="34" charset="0"/>
              </a:rPr>
              <a:t>Supprimer un employé </a:t>
            </a:r>
            <a:endParaRPr lang="en-US" sz="1800">
              <a:effectLst/>
              <a:latin typeface="Calibri" panose="020F0502020204030204" pitchFamily="34" charset="0"/>
              <a:ea typeface="Calibri" panose="020F0502020204030204" pitchFamily="34" charset="0"/>
              <a:cs typeface="Arial" panose="020B0604020202020204" pitchFamily="34" charset="0"/>
            </a:endParaRPr>
          </a:p>
          <a:p>
            <a:endParaRPr lang="en-US"/>
          </a:p>
        </p:txBody>
      </p:sp>
    </p:spTree>
    <p:extLst>
      <p:ext uri="{BB962C8B-B14F-4D97-AF65-F5344CB8AC3E}">
        <p14:creationId xmlns:p14="http://schemas.microsoft.com/office/powerpoint/2010/main" val="1919247218"/>
      </p:ext>
    </p:extLst>
  </p:cSld>
  <p:clrMapOvr>
    <a:overrideClrMapping bg1="lt1" tx1="dk1" bg2="lt2" tx2="dk2" accent1="accent1" accent2="accent2" accent3="accent3" accent4="accent4" accent5="accent5" accent6="accent6" hlink="hlink" folHlink="folHlink"/>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9304" y="3698928"/>
            <a:ext cx="9401176" cy="662894"/>
          </a:xfrm>
        </p:spPr>
        <p:txBody>
          <a:bodyPr>
            <a:noAutofit/>
          </a:bodyPr>
          <a:lstStyle/>
          <a:p>
            <a:r>
              <a:rPr lang="fr-CA" sz="3200" dirty="0"/>
              <a:t>ReactJs</a:t>
            </a:r>
          </a:p>
        </p:txBody>
      </p:sp>
      <p:sp>
        <p:nvSpPr>
          <p:cNvPr id="4" name="Subtitle 3"/>
          <p:cNvSpPr>
            <a:spLocks noGrp="1"/>
          </p:cNvSpPr>
          <p:nvPr>
            <p:ph type="subTitle" idx="1"/>
          </p:nvPr>
        </p:nvSpPr>
        <p:spPr>
          <a:xfrm>
            <a:off x="2136366" y="4638037"/>
            <a:ext cx="8915399" cy="1126283"/>
          </a:xfrm>
        </p:spPr>
        <p:txBody>
          <a:bodyPr/>
          <a:lstStyle/>
          <a:p>
            <a:r>
              <a:rPr lang="fr-CA"/>
              <a:t>Au terme de ce chapitre, les participants auront les connaissances pour pouvoir intégrer une couche UI avec une backend node.js </a:t>
            </a:r>
          </a:p>
        </p:txBody>
      </p:sp>
      <p:sp>
        <p:nvSpPr>
          <p:cNvPr id="5" name="Title 1"/>
          <p:cNvSpPr txBox="1">
            <a:spLocks/>
          </p:cNvSpPr>
          <p:nvPr/>
        </p:nvSpPr>
        <p:spPr>
          <a:xfrm>
            <a:off x="4563018" y="2889216"/>
            <a:ext cx="2778308" cy="662894"/>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sz="3200"/>
              <a:t>Chapitre 06</a:t>
            </a:r>
          </a:p>
        </p:txBody>
      </p:sp>
    </p:spTree>
    <p:extLst>
      <p:ext uri="{BB962C8B-B14F-4D97-AF65-F5344CB8AC3E}">
        <p14:creationId xmlns:p14="http://schemas.microsoft.com/office/powerpoint/2010/main" val="26037831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Introduction </a:t>
            </a:r>
          </a:p>
        </p:txBody>
      </p:sp>
      <p:sp>
        <p:nvSpPr>
          <p:cNvPr id="2" name="TextBox 1">
            <a:extLst>
              <a:ext uri="{FF2B5EF4-FFF2-40B4-BE49-F238E27FC236}">
                <a16:creationId xmlns:a16="http://schemas.microsoft.com/office/drawing/2014/main" id="{12A4B49F-569A-10FC-9769-EA86628925A4}"/>
              </a:ext>
            </a:extLst>
          </p:cNvPr>
          <p:cNvSpPr txBox="1"/>
          <p:nvPr/>
        </p:nvSpPr>
        <p:spPr>
          <a:xfrm>
            <a:off x="2168434" y="1482571"/>
            <a:ext cx="9001957" cy="968278"/>
          </a:xfrm>
          <a:prstGeom prst="rect">
            <a:avLst/>
          </a:prstGeom>
          <a:noFill/>
        </p:spPr>
        <p:txBody>
          <a:bodyPr wrap="square" lIns="91440" tIns="45720" rIns="91440" bIns="45720" rtlCol="0" anchor="t">
            <a:spAutoFit/>
          </a:bodyPr>
          <a:lstStyle/>
          <a:p>
            <a:pPr marL="0" marR="0">
              <a:lnSpc>
                <a:spcPct val="107000"/>
              </a:lnSpc>
              <a:spcBef>
                <a:spcPts val="0"/>
              </a:spcBef>
              <a:spcAft>
                <a:spcPts val="800"/>
              </a:spcAft>
            </a:pPr>
            <a:r>
              <a:rPr lang="fr-CA" sz="1800">
                <a:effectLst/>
                <a:latin typeface="Calibri"/>
                <a:ea typeface="Calibri" panose="020F0502020204030204" pitchFamily="34" charset="0"/>
                <a:cs typeface="Arial"/>
              </a:rPr>
              <a:t>React est une bibliothèque JavaScript déclarative, efficace et flexible pour la création d'interfaces utilisateur. Il vous permet de composer des interfaces utilisateur complexes à partir de petits morceaux de code isolés appelés "composants".</a:t>
            </a:r>
            <a:endParaRPr lang="en-US" sz="1800">
              <a:effectLst/>
              <a:latin typeface="Calibri"/>
              <a:ea typeface="Calibri" panose="020F0502020204030204" pitchFamily="34" charset="0"/>
              <a:cs typeface="Arial"/>
            </a:endParaRPr>
          </a:p>
        </p:txBody>
      </p:sp>
      <p:sp>
        <p:nvSpPr>
          <p:cNvPr id="5" name="TextBox 4">
            <a:extLst>
              <a:ext uri="{FF2B5EF4-FFF2-40B4-BE49-F238E27FC236}">
                <a16:creationId xmlns:a16="http://schemas.microsoft.com/office/drawing/2014/main" id="{14BE8CB9-1783-B943-EF61-BBC405094810}"/>
              </a:ext>
            </a:extLst>
          </p:cNvPr>
          <p:cNvSpPr txBox="1"/>
          <p:nvPr/>
        </p:nvSpPr>
        <p:spPr>
          <a:xfrm>
            <a:off x="2168434" y="3109727"/>
            <a:ext cx="9312675" cy="1477328"/>
          </a:xfrm>
          <a:prstGeom prst="rect">
            <a:avLst/>
          </a:prstGeom>
          <a:solidFill>
            <a:schemeClr val="tx2">
              <a:lumMod val="50000"/>
            </a:schemeClr>
          </a:solidFill>
        </p:spPr>
        <p:txBody>
          <a:bodyPr wrap="square" lIns="91440" tIns="45720" rIns="91440" bIns="45720" rtlCol="0" anchor="t">
            <a:spAutoFit/>
          </a:bodyPr>
          <a:lstStyle>
            <a:defPPr>
              <a:defRPr lang="fr-FR"/>
            </a:defPPr>
            <a:lvl1pPr>
              <a:defRPr b="0" i="1">
                <a:solidFill>
                  <a:srgbClr val="82AAFF"/>
                </a:solidFill>
                <a:effectLst/>
                <a:latin typeface="Consolas" panose="020B0609020204030204" pitchFamily="49" charset="0"/>
              </a:defRPr>
            </a:lvl1pPr>
          </a:lstStyle>
          <a:p>
            <a:r>
              <a:rPr lang="en-US" b="0">
                <a:solidFill>
                  <a:srgbClr val="82AAFF"/>
                </a:solidFill>
                <a:effectLst/>
                <a:latin typeface="Consolas"/>
              </a:rPr>
              <a:t>class</a:t>
            </a:r>
            <a:r>
              <a:rPr lang="en-US" b="0">
                <a:solidFill>
                  <a:srgbClr val="D6DEEB"/>
                </a:solidFill>
                <a:effectLst/>
                <a:latin typeface="Consolas"/>
              </a:rPr>
              <a:t> </a:t>
            </a:r>
            <a:r>
              <a:rPr lang="en-US" b="0">
                <a:solidFill>
                  <a:srgbClr val="FFCB8B"/>
                </a:solidFill>
                <a:effectLst/>
                <a:latin typeface="Consolas"/>
              </a:rPr>
              <a:t>Welcome</a:t>
            </a:r>
            <a:r>
              <a:rPr lang="en-US" b="0">
                <a:solidFill>
                  <a:srgbClr val="D6DEEB"/>
                </a:solidFill>
                <a:effectLst/>
                <a:latin typeface="Consolas"/>
              </a:rPr>
              <a:t> </a:t>
            </a:r>
            <a:r>
              <a:rPr lang="en-US" b="0" i="1">
                <a:solidFill>
                  <a:srgbClr val="C792EA"/>
                </a:solidFill>
                <a:effectLst/>
                <a:latin typeface="Consolas"/>
              </a:rPr>
              <a:t>extends</a:t>
            </a:r>
            <a:r>
              <a:rPr lang="en-US" b="0">
                <a:solidFill>
                  <a:srgbClr val="D6DEEB"/>
                </a:solidFill>
                <a:effectLst/>
                <a:latin typeface="Consolas"/>
              </a:rPr>
              <a:t> </a:t>
            </a:r>
            <a:r>
              <a:rPr lang="en-US" b="0">
                <a:solidFill>
                  <a:srgbClr val="FFCB8B"/>
                </a:solidFill>
                <a:effectLst/>
                <a:latin typeface="Consolas"/>
              </a:rPr>
              <a:t>React</a:t>
            </a:r>
            <a:r>
              <a:rPr lang="en-US" b="0" i="1">
                <a:solidFill>
                  <a:srgbClr val="C792EA"/>
                </a:solidFill>
                <a:effectLst/>
                <a:latin typeface="Consolas"/>
              </a:rPr>
              <a:t>.</a:t>
            </a:r>
            <a:r>
              <a:rPr lang="fr-CA" b="0">
                <a:solidFill>
                  <a:srgbClr val="ADDB67"/>
                </a:solidFill>
                <a:effectLst/>
                <a:latin typeface="Consolas"/>
              </a:rPr>
              <a:t>Component</a:t>
            </a:r>
            <a:r>
              <a:rPr lang="en-US" b="0">
                <a:solidFill>
                  <a:srgbClr val="D6DEEB"/>
                </a:solidFill>
                <a:effectLst/>
                <a:latin typeface="Consolas"/>
              </a:rPr>
              <a:t> {</a:t>
            </a:r>
          </a:p>
          <a:p>
            <a:r>
              <a:rPr lang="en-US" b="0">
                <a:solidFill>
                  <a:srgbClr val="D6DEEB"/>
                </a:solidFill>
                <a:effectLst/>
                <a:latin typeface="Consolas"/>
              </a:rPr>
              <a:t>    </a:t>
            </a:r>
            <a:r>
              <a:rPr lang="en-US" b="0">
                <a:solidFill>
                  <a:srgbClr val="82AAFF"/>
                </a:solidFill>
                <a:effectLst/>
                <a:latin typeface="Consolas"/>
              </a:rPr>
              <a:t>render</a:t>
            </a:r>
            <a:r>
              <a:rPr lang="en-US" b="0">
                <a:solidFill>
                  <a:srgbClr val="D9F5DD"/>
                </a:solidFill>
                <a:effectLst/>
                <a:latin typeface="Consolas"/>
              </a:rPr>
              <a:t>()</a:t>
            </a:r>
            <a:r>
              <a:rPr lang="en-US" b="0">
                <a:solidFill>
                  <a:srgbClr val="D6DEEB"/>
                </a:solidFill>
                <a:effectLst/>
                <a:latin typeface="Consolas"/>
              </a:rPr>
              <a:t> {</a:t>
            </a:r>
          </a:p>
          <a:p>
            <a:r>
              <a:rPr lang="en-US" b="0">
                <a:solidFill>
                  <a:srgbClr val="D6DEEB"/>
                </a:solidFill>
                <a:effectLst/>
                <a:latin typeface="Consolas"/>
              </a:rPr>
              <a:t>      </a:t>
            </a:r>
            <a:r>
              <a:rPr lang="en-US" b="0" i="1">
                <a:solidFill>
                  <a:srgbClr val="C792EA"/>
                </a:solidFill>
                <a:effectLst/>
                <a:latin typeface="Consolas"/>
              </a:rPr>
              <a:t>return</a:t>
            </a:r>
            <a:r>
              <a:rPr lang="en-US" b="0">
                <a:solidFill>
                  <a:srgbClr val="D6DEEB"/>
                </a:solidFill>
                <a:effectLst/>
                <a:latin typeface="Consolas"/>
              </a:rPr>
              <a:t> </a:t>
            </a:r>
            <a:r>
              <a:rPr lang="en-US" b="0">
                <a:solidFill>
                  <a:srgbClr val="7FDBCA"/>
                </a:solidFill>
                <a:effectLst/>
                <a:latin typeface="Consolas"/>
              </a:rPr>
              <a:t>&lt;h1&gt;</a:t>
            </a:r>
            <a:r>
              <a:rPr lang="en-US" b="0">
                <a:solidFill>
                  <a:srgbClr val="D6DEEB"/>
                </a:solidFill>
                <a:effectLst/>
                <a:latin typeface="Consolas"/>
              </a:rPr>
              <a:t>Hello, </a:t>
            </a:r>
            <a:r>
              <a:rPr lang="en-US" b="0">
                <a:solidFill>
                  <a:srgbClr val="D3423E"/>
                </a:solidFill>
                <a:effectLst/>
                <a:latin typeface="Consolas"/>
              </a:rPr>
              <a:t>{</a:t>
            </a:r>
            <a:r>
              <a:rPr lang="en-US" b="0">
                <a:solidFill>
                  <a:srgbClr val="7FDBCA"/>
                </a:solidFill>
                <a:effectLst/>
                <a:latin typeface="Consolas"/>
              </a:rPr>
              <a:t>this</a:t>
            </a:r>
            <a:r>
              <a:rPr lang="en-US" b="0" i="1">
                <a:solidFill>
                  <a:srgbClr val="C792EA"/>
                </a:solidFill>
                <a:effectLst/>
                <a:latin typeface="Consolas"/>
              </a:rPr>
              <a:t>.</a:t>
            </a:r>
            <a:r>
              <a:rPr lang="en-US" b="0" i="1">
                <a:solidFill>
                  <a:srgbClr val="D7DBE0"/>
                </a:solidFill>
                <a:effectLst/>
                <a:latin typeface="Consolas"/>
              </a:rPr>
              <a:t>props</a:t>
            </a:r>
            <a:r>
              <a:rPr lang="en-US" b="0" i="1">
                <a:solidFill>
                  <a:srgbClr val="C792EA"/>
                </a:solidFill>
                <a:effectLst/>
                <a:latin typeface="Consolas"/>
              </a:rPr>
              <a:t>.</a:t>
            </a:r>
            <a:r>
              <a:rPr lang="en-US" b="0">
                <a:solidFill>
                  <a:srgbClr val="7FDBCA"/>
                </a:solidFill>
                <a:effectLst/>
                <a:latin typeface="Consolas"/>
              </a:rPr>
              <a:t>name</a:t>
            </a:r>
            <a:r>
              <a:rPr lang="en-US" b="0">
                <a:solidFill>
                  <a:srgbClr val="D3423E"/>
                </a:solidFill>
                <a:effectLst/>
                <a:latin typeface="Consolas"/>
              </a:rPr>
              <a:t>}</a:t>
            </a:r>
            <a:r>
              <a:rPr lang="en-US" b="0">
                <a:solidFill>
                  <a:srgbClr val="7FDBCA"/>
                </a:solidFill>
                <a:effectLst/>
                <a:latin typeface="Consolas"/>
              </a:rPr>
              <a:t>&lt;/h1&gt;</a:t>
            </a:r>
            <a:r>
              <a:rPr lang="en-US" b="0">
                <a:solidFill>
                  <a:srgbClr val="D6DEEB"/>
                </a:solidFill>
                <a:effectLst/>
                <a:latin typeface="Consolas"/>
              </a:rPr>
              <a:t>;</a:t>
            </a:r>
          </a:p>
          <a:p>
            <a:r>
              <a:rPr lang="en-US" b="0">
                <a:solidFill>
                  <a:srgbClr val="D6DEEB"/>
                </a:solidFill>
                <a:effectLst/>
                <a:latin typeface="Consolas"/>
              </a:rPr>
              <a:t>    }</a:t>
            </a:r>
          </a:p>
          <a:p>
            <a:r>
              <a:rPr lang="en-US" b="0">
                <a:solidFill>
                  <a:srgbClr val="D6DEEB"/>
                </a:solidFill>
                <a:effectLst/>
                <a:latin typeface="Consolas"/>
              </a:rPr>
              <a:t>}</a:t>
            </a:r>
          </a:p>
        </p:txBody>
      </p:sp>
      <p:sp>
        <p:nvSpPr>
          <p:cNvPr id="3" name="TextBox 2">
            <a:extLst>
              <a:ext uri="{FF2B5EF4-FFF2-40B4-BE49-F238E27FC236}">
                <a16:creationId xmlns:a16="http://schemas.microsoft.com/office/drawing/2014/main" id="{E2363FE5-AC2F-0001-DF25-4BD75F612E5F}"/>
              </a:ext>
            </a:extLst>
          </p:cNvPr>
          <p:cNvSpPr txBox="1"/>
          <p:nvPr/>
        </p:nvSpPr>
        <p:spPr>
          <a:xfrm>
            <a:off x="2168434" y="2565953"/>
            <a:ext cx="3524435" cy="372862"/>
          </a:xfrm>
          <a:prstGeom prst="rect">
            <a:avLst/>
          </a:prstGeom>
          <a:noFill/>
        </p:spPr>
        <p:txBody>
          <a:bodyPr wrap="square" lIns="91440" tIns="45720" rIns="91440" bIns="45720" rtlCol="0" anchor="t">
            <a:spAutoFit/>
          </a:bodyPr>
          <a:lstStyle>
            <a:defPPr>
              <a:defRPr lang="fr-FR"/>
            </a:defPPr>
            <a:lvl1pPr>
              <a:defRPr>
                <a:ln w="0"/>
                <a:solidFill>
                  <a:schemeClr val="accent1"/>
                </a:solidFill>
                <a:effectLst/>
              </a:defRPr>
            </a:lvl1pPr>
          </a:lstStyle>
          <a:p>
            <a:r>
              <a:rPr lang="fr-CA"/>
              <a:t>React component (class)</a:t>
            </a:r>
            <a:endParaRPr lang="en-US"/>
          </a:p>
        </p:txBody>
      </p:sp>
      <p:sp>
        <p:nvSpPr>
          <p:cNvPr id="6" name="TextBox 5">
            <a:extLst>
              <a:ext uri="{FF2B5EF4-FFF2-40B4-BE49-F238E27FC236}">
                <a16:creationId xmlns:a16="http://schemas.microsoft.com/office/drawing/2014/main" id="{E3C407CD-68F4-62D8-3B00-871BD5CF6786}"/>
              </a:ext>
            </a:extLst>
          </p:cNvPr>
          <p:cNvSpPr txBox="1"/>
          <p:nvPr/>
        </p:nvSpPr>
        <p:spPr>
          <a:xfrm>
            <a:off x="2168433" y="4757967"/>
            <a:ext cx="3524435" cy="372862"/>
          </a:xfrm>
          <a:prstGeom prst="rect">
            <a:avLst/>
          </a:prstGeom>
          <a:noFill/>
        </p:spPr>
        <p:txBody>
          <a:bodyPr wrap="square" lIns="91440" tIns="45720" rIns="91440" bIns="45720" rtlCol="0" anchor="t">
            <a:spAutoFit/>
          </a:bodyPr>
          <a:lstStyle>
            <a:defPPr>
              <a:defRPr lang="fr-FR"/>
            </a:defPPr>
            <a:lvl1pPr>
              <a:defRPr>
                <a:ln w="0"/>
                <a:solidFill>
                  <a:schemeClr val="accent1"/>
                </a:solidFill>
                <a:effectLst/>
              </a:defRPr>
            </a:lvl1pPr>
          </a:lstStyle>
          <a:p>
            <a:r>
              <a:rPr lang="fr-CA"/>
              <a:t>React component (fonction)</a:t>
            </a:r>
            <a:endParaRPr lang="en-US"/>
          </a:p>
        </p:txBody>
      </p:sp>
      <p:sp>
        <p:nvSpPr>
          <p:cNvPr id="7" name="TextBox 6">
            <a:extLst>
              <a:ext uri="{FF2B5EF4-FFF2-40B4-BE49-F238E27FC236}">
                <a16:creationId xmlns:a16="http://schemas.microsoft.com/office/drawing/2014/main" id="{971D8D90-DFAA-E2FD-C8AB-6F8C0D4C791C}"/>
              </a:ext>
            </a:extLst>
          </p:cNvPr>
          <p:cNvSpPr txBox="1"/>
          <p:nvPr/>
        </p:nvSpPr>
        <p:spPr>
          <a:xfrm>
            <a:off x="2168433" y="5301741"/>
            <a:ext cx="9312675" cy="923330"/>
          </a:xfrm>
          <a:prstGeom prst="rect">
            <a:avLst/>
          </a:prstGeom>
          <a:solidFill>
            <a:schemeClr val="tx2">
              <a:lumMod val="50000"/>
            </a:schemeClr>
          </a:solidFill>
        </p:spPr>
        <p:txBody>
          <a:bodyPr wrap="square" rtlCol="0">
            <a:spAutoFit/>
          </a:bodyPr>
          <a:lstStyle>
            <a:defPPr>
              <a:defRPr lang="fr-FR"/>
            </a:defPPr>
            <a:lvl1pPr>
              <a:defRPr b="0" i="1">
                <a:solidFill>
                  <a:srgbClr val="82AAFF"/>
                </a:solidFill>
                <a:effectLst/>
                <a:latin typeface="Consolas" panose="020B0609020204030204" pitchFamily="49" charset="0"/>
              </a:defRPr>
            </a:lvl1pPr>
          </a:lstStyle>
          <a:p>
            <a:r>
              <a:rPr lang="en-US" b="0">
                <a:solidFill>
                  <a:srgbClr val="82AAFF"/>
                </a:solidFill>
                <a:effectLst/>
                <a:latin typeface="Consolas" panose="020B0609020204030204" pitchFamily="49" charset="0"/>
              </a:rPr>
              <a:t>function</a:t>
            </a:r>
            <a:r>
              <a:rPr lang="en-US" b="0">
                <a:solidFill>
                  <a:srgbClr val="D6DEEB"/>
                </a:solidFill>
                <a:effectLst/>
                <a:latin typeface="Consolas" panose="020B0609020204030204" pitchFamily="49" charset="0"/>
              </a:rPr>
              <a:t> </a:t>
            </a:r>
            <a:r>
              <a:rPr lang="en-US" b="0">
                <a:solidFill>
                  <a:srgbClr val="82AAFF"/>
                </a:solidFill>
                <a:effectLst/>
                <a:latin typeface="Consolas" panose="020B0609020204030204" pitchFamily="49" charset="0"/>
              </a:rPr>
              <a:t>Welcome</a:t>
            </a:r>
            <a:r>
              <a:rPr lang="en-US" b="0">
                <a:solidFill>
                  <a:srgbClr val="D9F5DD"/>
                </a:solidFill>
                <a:effectLst/>
                <a:latin typeface="Consolas" panose="020B0609020204030204" pitchFamily="49" charset="0"/>
              </a:rPr>
              <a:t>(</a:t>
            </a:r>
            <a:r>
              <a:rPr lang="en-US" b="0">
                <a:solidFill>
                  <a:srgbClr val="D7DBE0"/>
                </a:solidFill>
                <a:effectLst/>
                <a:latin typeface="Consolas" panose="020B0609020204030204" pitchFamily="49" charset="0"/>
              </a:rPr>
              <a:t>props</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p>
          <a:p>
            <a:r>
              <a:rPr lang="en-US" b="0">
                <a:solidFill>
                  <a:srgbClr val="D6DEEB"/>
                </a:solidFill>
                <a:effectLst/>
                <a:latin typeface="Consolas" panose="020B0609020204030204" pitchFamily="49" charset="0"/>
              </a:rPr>
              <a:t>    </a:t>
            </a:r>
            <a:r>
              <a:rPr lang="en-US" b="0" i="1">
                <a:solidFill>
                  <a:srgbClr val="C792EA"/>
                </a:solidFill>
                <a:effectLst/>
                <a:latin typeface="Consolas" panose="020B0609020204030204" pitchFamily="49" charset="0"/>
              </a:rPr>
              <a:t>return</a:t>
            </a:r>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&lt;h1&gt;</a:t>
            </a:r>
            <a:r>
              <a:rPr lang="en-US" b="0">
                <a:solidFill>
                  <a:srgbClr val="D6DEEB"/>
                </a:solidFill>
                <a:effectLst/>
                <a:latin typeface="Consolas" panose="020B0609020204030204" pitchFamily="49" charset="0"/>
              </a:rPr>
              <a:t>Hello, </a:t>
            </a:r>
            <a:r>
              <a:rPr lang="en-US" b="0">
                <a:solidFill>
                  <a:srgbClr val="D3423E"/>
                </a:solidFill>
                <a:effectLst/>
                <a:latin typeface="Consolas" panose="020B0609020204030204" pitchFamily="49" charset="0"/>
              </a:rPr>
              <a:t>{</a:t>
            </a:r>
            <a:r>
              <a:rPr lang="en-US" b="0">
                <a:solidFill>
                  <a:srgbClr val="D6DEEB"/>
                </a:solidFill>
                <a:effectLst/>
                <a:latin typeface="Consolas" panose="020B0609020204030204" pitchFamily="49" charset="0"/>
              </a:rPr>
              <a:t>props</a:t>
            </a:r>
            <a:r>
              <a:rPr lang="en-US" b="0" i="1">
                <a:solidFill>
                  <a:srgbClr val="C792EA"/>
                </a:solidFill>
                <a:effectLst/>
                <a:latin typeface="Consolas" panose="020B0609020204030204" pitchFamily="49" charset="0"/>
              </a:rPr>
              <a:t>.</a:t>
            </a:r>
            <a:r>
              <a:rPr lang="en-US" b="0">
                <a:solidFill>
                  <a:srgbClr val="7FDBCA"/>
                </a:solidFill>
                <a:effectLst/>
                <a:latin typeface="Consolas" panose="020B0609020204030204" pitchFamily="49" charset="0"/>
              </a:rPr>
              <a:t>name</a:t>
            </a:r>
            <a:r>
              <a:rPr lang="en-US" b="0">
                <a:solidFill>
                  <a:srgbClr val="D3423E"/>
                </a:solidFill>
                <a:effectLst/>
                <a:latin typeface="Consolas" panose="020B0609020204030204" pitchFamily="49" charset="0"/>
              </a:rPr>
              <a:t>}</a:t>
            </a:r>
            <a:r>
              <a:rPr lang="en-US" b="0">
                <a:solidFill>
                  <a:srgbClr val="7FDBCA"/>
                </a:solidFill>
                <a:effectLst/>
                <a:latin typeface="Consolas" panose="020B0609020204030204" pitchFamily="49" charset="0"/>
              </a:rPr>
              <a:t>&lt;/h1&gt;</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a:t>
            </a:r>
          </a:p>
        </p:txBody>
      </p:sp>
    </p:spTree>
    <p:extLst>
      <p:ext uri="{BB962C8B-B14F-4D97-AF65-F5344CB8AC3E}">
        <p14:creationId xmlns:p14="http://schemas.microsoft.com/office/powerpoint/2010/main" val="3492541499"/>
      </p:ext>
    </p:extLst>
  </p:cSld>
  <p:clrMapOvr>
    <a:overrideClrMapping bg1="lt1" tx1="dk1" bg2="lt2" tx2="dk2" accent1="accent1" accent2="accent2" accent3="accent3" accent4="accent4" accent5="accent5" accent6="accent6" hlink="hlink" folHlink="folHlink"/>
  </p:clrMapOvr>
</p:sld>
</file>

<file path=ppt/slides/slide7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Introduction </a:t>
            </a:r>
          </a:p>
        </p:txBody>
      </p:sp>
      <p:sp>
        <p:nvSpPr>
          <p:cNvPr id="2" name="TextBox 1">
            <a:extLst>
              <a:ext uri="{FF2B5EF4-FFF2-40B4-BE49-F238E27FC236}">
                <a16:creationId xmlns:a16="http://schemas.microsoft.com/office/drawing/2014/main" id="{12A4B49F-569A-10FC-9769-EA86628925A4}"/>
              </a:ext>
            </a:extLst>
          </p:cNvPr>
          <p:cNvSpPr txBox="1"/>
          <p:nvPr/>
        </p:nvSpPr>
        <p:spPr>
          <a:xfrm>
            <a:off x="2168434" y="1482571"/>
            <a:ext cx="9001957" cy="2849050"/>
          </a:xfrm>
          <a:prstGeom prst="rect">
            <a:avLst/>
          </a:prstGeom>
          <a:noFill/>
        </p:spPr>
        <p:txBody>
          <a:bodyPr wrap="square" lIns="91440" tIns="45720" rIns="91440" bIns="45720" rtlCol="0" anchor="t">
            <a:spAutoFit/>
          </a:bodyPr>
          <a:lstStyle/>
          <a:p>
            <a:pPr marL="0" marR="0">
              <a:lnSpc>
                <a:spcPct val="107000"/>
              </a:lnSpc>
              <a:spcBef>
                <a:spcPts val="0"/>
              </a:spcBef>
              <a:spcAft>
                <a:spcPts val="800"/>
              </a:spcAft>
            </a:pPr>
            <a:r>
              <a:rPr lang="fr-CA" sz="1800">
                <a:effectLst/>
                <a:latin typeface="Calibri"/>
                <a:ea typeface="Calibri" panose="020F0502020204030204" pitchFamily="34" charset="0"/>
                <a:cs typeface="Arial"/>
              </a:rPr>
              <a:t>ShoppingList est une classe de composant </a:t>
            </a:r>
            <a:r>
              <a:rPr lang="fr-CA" sz="1800" err="1">
                <a:effectLst/>
                <a:latin typeface="Calibri"/>
                <a:ea typeface="Calibri" panose="020F0502020204030204" pitchFamily="34" charset="0"/>
                <a:cs typeface="Arial"/>
              </a:rPr>
              <a:t>React</a:t>
            </a:r>
            <a:r>
              <a:rPr lang="fr-CA" sz="1800">
                <a:effectLst/>
                <a:latin typeface="Calibri"/>
                <a:ea typeface="Calibri" panose="020F0502020204030204" pitchFamily="34" charset="0"/>
                <a:cs typeface="Arial"/>
              </a:rPr>
              <a:t> ou un type de composant </a:t>
            </a:r>
            <a:r>
              <a:rPr lang="fr-CA" sz="1800" err="1">
                <a:effectLst/>
                <a:latin typeface="Calibri"/>
                <a:ea typeface="Calibri" panose="020F0502020204030204" pitchFamily="34" charset="0"/>
                <a:cs typeface="Arial"/>
              </a:rPr>
              <a:t>React</a:t>
            </a:r>
            <a:r>
              <a:rPr lang="fr-CA" sz="1800">
                <a:effectLst/>
                <a:latin typeface="Calibri"/>
                <a:ea typeface="Calibri" panose="020F0502020204030204" pitchFamily="34" charset="0"/>
                <a:cs typeface="Arial"/>
              </a:rPr>
              <a:t>. Un composant accepte des paramètres, appelés </a:t>
            </a:r>
            <a:r>
              <a:rPr lang="fr-CA" sz="1800" err="1">
                <a:effectLst/>
                <a:latin typeface="Calibri"/>
                <a:ea typeface="Calibri" panose="020F0502020204030204" pitchFamily="34" charset="0"/>
                <a:cs typeface="Arial"/>
              </a:rPr>
              <a:t>props</a:t>
            </a:r>
            <a:r>
              <a:rPr lang="fr-CA" sz="1800">
                <a:effectLst/>
                <a:latin typeface="Calibri"/>
                <a:ea typeface="Calibri" panose="020F0502020204030204" pitchFamily="34" charset="0"/>
                <a:cs typeface="Arial"/>
              </a:rPr>
              <a:t> (abréviation de « propriétés »), et renvoie une hiérarchie de vues à afficher via la méthode de </a:t>
            </a:r>
            <a:r>
              <a:rPr lang="fr-CA" sz="1800" err="1">
                <a:effectLst/>
                <a:latin typeface="Calibri"/>
                <a:ea typeface="Calibri" panose="020F0502020204030204" pitchFamily="34" charset="0"/>
                <a:cs typeface="Arial"/>
              </a:rPr>
              <a:t>render</a:t>
            </a:r>
            <a:r>
              <a:rPr lang="fr-CA" sz="1800">
                <a:effectLst/>
                <a:latin typeface="Calibri"/>
                <a:ea typeface="Calibri" panose="020F0502020204030204" pitchFamily="34" charset="0"/>
                <a:cs typeface="Arial"/>
              </a:rPr>
              <a:t>.</a:t>
            </a:r>
            <a:endParaRPr lang="en-US" sz="1800">
              <a:effectLst/>
              <a:latin typeface="Calibri"/>
              <a:ea typeface="Calibri" panose="020F0502020204030204" pitchFamily="34" charset="0"/>
              <a:cs typeface="Arial"/>
            </a:endParaRPr>
          </a:p>
          <a:p>
            <a:pPr marL="0" marR="0">
              <a:lnSpc>
                <a:spcPct val="107000"/>
              </a:lnSpc>
              <a:spcBef>
                <a:spcPts val="0"/>
              </a:spcBef>
              <a:spcAft>
                <a:spcPts val="800"/>
              </a:spcAft>
            </a:pPr>
            <a:r>
              <a:rPr lang="fr-CA" sz="1800">
                <a:effectLst/>
                <a:latin typeface="Calibri"/>
                <a:ea typeface="Calibri" panose="020F0502020204030204" pitchFamily="34" charset="0"/>
                <a:cs typeface="Arial"/>
              </a:rPr>
              <a:t>La méthode render renvoie une description de ce que vous voulez voir à l'écran. </a:t>
            </a:r>
            <a:r>
              <a:rPr lang="fr-CA" sz="1800" err="1">
                <a:effectLst/>
                <a:latin typeface="Calibri"/>
                <a:ea typeface="Calibri" panose="020F0502020204030204" pitchFamily="34" charset="0"/>
                <a:cs typeface="Arial"/>
              </a:rPr>
              <a:t>React</a:t>
            </a:r>
            <a:r>
              <a:rPr lang="fr-CA" sz="1800">
                <a:effectLst/>
                <a:latin typeface="Calibri"/>
                <a:ea typeface="Calibri" panose="020F0502020204030204" pitchFamily="34" charset="0"/>
                <a:cs typeface="Arial"/>
              </a:rPr>
              <a:t> prend la description et affiche le résultat. En particulier, </a:t>
            </a:r>
            <a:r>
              <a:rPr lang="fr-CA" sz="1800" err="1">
                <a:effectLst/>
                <a:latin typeface="Calibri"/>
                <a:ea typeface="Calibri" panose="020F0502020204030204" pitchFamily="34" charset="0"/>
                <a:cs typeface="Arial"/>
              </a:rPr>
              <a:t>render</a:t>
            </a:r>
            <a:r>
              <a:rPr lang="fr-CA" sz="1800">
                <a:effectLst/>
                <a:latin typeface="Calibri"/>
                <a:ea typeface="Calibri" panose="020F0502020204030204" pitchFamily="34" charset="0"/>
                <a:cs typeface="Arial"/>
              </a:rPr>
              <a:t> renvoie un élément </a:t>
            </a:r>
            <a:r>
              <a:rPr lang="fr-CA" sz="1800" err="1">
                <a:effectLst/>
                <a:latin typeface="Calibri"/>
                <a:ea typeface="Calibri" panose="020F0502020204030204" pitchFamily="34" charset="0"/>
                <a:cs typeface="Arial"/>
              </a:rPr>
              <a:t>React</a:t>
            </a:r>
            <a:r>
              <a:rPr lang="fr-CA" sz="1800">
                <a:effectLst/>
                <a:latin typeface="Calibri"/>
                <a:ea typeface="Calibri" panose="020F0502020204030204" pitchFamily="34" charset="0"/>
                <a:cs typeface="Arial"/>
              </a:rPr>
              <a:t>, qui est une description légère de ce qu'il faut afficher. La plupart des développeurs </a:t>
            </a:r>
            <a:r>
              <a:rPr lang="fr-CA" sz="1800" err="1">
                <a:effectLst/>
                <a:latin typeface="Calibri"/>
                <a:ea typeface="Calibri" panose="020F0502020204030204" pitchFamily="34" charset="0"/>
                <a:cs typeface="Arial"/>
              </a:rPr>
              <a:t>React</a:t>
            </a:r>
            <a:r>
              <a:rPr lang="fr-CA" sz="1800">
                <a:effectLst/>
                <a:latin typeface="Calibri"/>
                <a:ea typeface="Calibri" panose="020F0502020204030204" pitchFamily="34" charset="0"/>
                <a:cs typeface="Arial"/>
              </a:rPr>
              <a:t> utilisent une syntaxe spéciale appelée "JSX" qui facilite l'écriture de ces structures. La syntaxe </a:t>
            </a:r>
            <a:r>
              <a:rPr lang="fr-CA" sz="1800" b="1">
                <a:effectLst/>
                <a:latin typeface="Calibri"/>
                <a:ea typeface="Calibri" panose="020F0502020204030204" pitchFamily="34" charset="0"/>
                <a:cs typeface="Arial"/>
              </a:rPr>
              <a:t>&lt;div /&gt;</a:t>
            </a:r>
            <a:r>
              <a:rPr lang="fr-CA" sz="1800">
                <a:effectLst/>
                <a:latin typeface="Calibri"/>
                <a:ea typeface="Calibri" panose="020F0502020204030204" pitchFamily="34" charset="0"/>
                <a:cs typeface="Arial"/>
              </a:rPr>
              <a:t> est transformée au moment de la construction en </a:t>
            </a:r>
            <a:r>
              <a:rPr lang="fr-CA" sz="1800" b="1" err="1">
                <a:effectLst/>
                <a:latin typeface="Calibri"/>
                <a:ea typeface="Calibri" panose="020F0502020204030204" pitchFamily="34" charset="0"/>
                <a:cs typeface="Arial"/>
              </a:rPr>
              <a:t>React.createElement</a:t>
            </a:r>
            <a:r>
              <a:rPr lang="fr-CA" sz="1800" b="1">
                <a:effectLst/>
                <a:latin typeface="Calibri"/>
                <a:ea typeface="Calibri" panose="020F0502020204030204" pitchFamily="34" charset="0"/>
                <a:cs typeface="Arial"/>
              </a:rPr>
              <a:t>('div').</a:t>
            </a:r>
            <a:r>
              <a:rPr lang="fr-CA" sz="1800">
                <a:effectLst/>
                <a:latin typeface="Calibri"/>
                <a:ea typeface="Calibri" panose="020F0502020204030204" pitchFamily="34" charset="0"/>
                <a:cs typeface="Arial"/>
              </a:rPr>
              <a:t> L'exemple ci-dessus est équivalent à :</a:t>
            </a:r>
            <a:endParaRPr lang="en-US" sz="1800">
              <a:effectLst/>
              <a:latin typeface="Calibri"/>
              <a:ea typeface="Calibri" panose="020F0502020204030204" pitchFamily="34" charset="0"/>
              <a:cs typeface="Arial"/>
            </a:endParaRPr>
          </a:p>
        </p:txBody>
      </p:sp>
      <p:sp>
        <p:nvSpPr>
          <p:cNvPr id="5" name="TextBox 4">
            <a:extLst>
              <a:ext uri="{FF2B5EF4-FFF2-40B4-BE49-F238E27FC236}">
                <a16:creationId xmlns:a16="http://schemas.microsoft.com/office/drawing/2014/main" id="{14BE8CB9-1783-B943-EF61-BBC405094810}"/>
              </a:ext>
            </a:extLst>
          </p:cNvPr>
          <p:cNvSpPr txBox="1"/>
          <p:nvPr/>
        </p:nvSpPr>
        <p:spPr>
          <a:xfrm>
            <a:off x="2168434" y="4397001"/>
            <a:ext cx="9312675" cy="2308324"/>
          </a:xfrm>
          <a:prstGeom prst="rect">
            <a:avLst/>
          </a:prstGeom>
          <a:solidFill>
            <a:schemeClr val="tx2">
              <a:lumMod val="50000"/>
            </a:schemeClr>
          </a:solidFill>
        </p:spPr>
        <p:txBody>
          <a:bodyPr wrap="square" rtlCol="0">
            <a:spAutoFit/>
          </a:bodyPr>
          <a:lstStyle>
            <a:defPPr>
              <a:defRPr lang="fr-FR"/>
            </a:defPPr>
            <a:lvl1pPr>
              <a:defRPr b="0" i="1">
                <a:solidFill>
                  <a:srgbClr val="82AAFF"/>
                </a:solidFill>
                <a:effectLst/>
                <a:latin typeface="Consolas" panose="020B0609020204030204" pitchFamily="49" charset="0"/>
              </a:defRPr>
            </a:lvl1pPr>
          </a:lstStyle>
          <a:p>
            <a:r>
              <a:rPr lang="en-US" b="0" i="1">
                <a:solidFill>
                  <a:srgbClr val="C792EA"/>
                </a:solidFill>
                <a:effectLst/>
                <a:latin typeface="Consolas" panose="020B0609020204030204" pitchFamily="49" charset="0"/>
              </a:rPr>
              <a:t>return</a:t>
            </a:r>
            <a:r>
              <a:rPr lang="en-US" b="0">
                <a:solidFill>
                  <a:srgbClr val="D6DEEB"/>
                </a:solidFill>
                <a:effectLst/>
                <a:latin typeface="Consolas" panose="020B0609020204030204" pitchFamily="49" charset="0"/>
              </a:rPr>
              <a:t> React</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createElement</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div</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p>
          <a:p>
            <a:r>
              <a:rPr lang="en-US" b="0">
                <a:solidFill>
                  <a:srgbClr val="D6DEEB"/>
                </a:solidFill>
                <a:effectLst/>
                <a:latin typeface="Consolas" panose="020B0609020204030204" pitchFamily="49" charset="0"/>
              </a:rPr>
              <a:t>    className: </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shopping-list</a:t>
            </a:r>
            <a:r>
              <a:rPr lang="en-US" b="0">
                <a:solidFill>
                  <a:srgbClr val="D9F5DD"/>
                </a:solidFill>
                <a:effectLst/>
                <a:latin typeface="Consolas" panose="020B0609020204030204" pitchFamily="49" charset="0"/>
              </a:rPr>
              <a: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 </a:t>
            </a:r>
          </a:p>
          <a:p>
            <a:r>
              <a:rPr lang="en-US" b="0">
                <a:solidFill>
                  <a:srgbClr val="D6DEEB"/>
                </a:solidFill>
                <a:effectLst/>
                <a:latin typeface="Consolas" panose="020B0609020204030204" pitchFamily="49" charset="0"/>
              </a:rPr>
              <a:t>  React</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createElement</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h1</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FF5874"/>
                </a:solidFill>
                <a:effectLst/>
                <a:latin typeface="Consolas" panose="020B0609020204030204" pitchFamily="49" charset="0"/>
              </a:rPr>
              <a:t>null</a:t>
            </a:r>
            <a:r>
              <a:rPr lang="en-US" b="0">
                <a:solidFill>
                  <a:srgbClr val="D6DEEB"/>
                </a:solidFill>
                <a:effectLst/>
                <a:latin typeface="Consolas" panose="020B0609020204030204" pitchFamily="49" charset="0"/>
              </a:rPr>
              <a:t>, </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Shopping List for </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props</a:t>
            </a:r>
            <a:r>
              <a:rPr lang="en-US" b="0" i="1">
                <a:solidFill>
                  <a:srgbClr val="C792EA"/>
                </a:solidFill>
                <a:effectLst/>
                <a:latin typeface="Consolas" panose="020B0609020204030204" pitchFamily="49" charset="0"/>
              </a:rPr>
              <a:t>.</a:t>
            </a:r>
            <a:r>
              <a:rPr lang="en-US" b="0">
                <a:solidFill>
                  <a:srgbClr val="7FDBCA"/>
                </a:solidFill>
                <a:effectLst/>
                <a:latin typeface="Consolas" panose="020B0609020204030204" pitchFamily="49" charset="0"/>
              </a:rPr>
              <a:t>name</a:t>
            </a:r>
            <a:r>
              <a:rPr lang="en-US" b="0">
                <a:solidFill>
                  <a:srgbClr val="D6DEEB"/>
                </a:solidFill>
                <a:effectLst/>
                <a:latin typeface="Consolas" panose="020B0609020204030204" pitchFamily="49" charset="0"/>
              </a:rPr>
              <a:t>),</a:t>
            </a:r>
          </a:p>
          <a:p>
            <a:r>
              <a:rPr lang="en-US">
                <a:solidFill>
                  <a:srgbClr val="D6DEEB"/>
                </a:solidFill>
              </a:rPr>
              <a:t>  </a:t>
            </a:r>
            <a:r>
              <a:rPr lang="en-US" b="0">
                <a:solidFill>
                  <a:srgbClr val="D6DEEB"/>
                </a:solidFill>
                <a:effectLst/>
                <a:latin typeface="Consolas" panose="020B0609020204030204" pitchFamily="49" charset="0"/>
              </a:rPr>
              <a:t>React</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createElement</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ul</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FF5874"/>
                </a:solidFill>
                <a:effectLst/>
                <a:latin typeface="Consolas" panose="020B0609020204030204" pitchFamily="49" charset="0"/>
              </a:rPr>
              <a:t>null</a:t>
            </a:r>
            <a:r>
              <a:rPr lang="en-US" b="0">
                <a:solidFill>
                  <a:srgbClr val="D6DEEB"/>
                </a:solidFill>
                <a:effectLst/>
                <a:latin typeface="Consolas" panose="020B0609020204030204" pitchFamily="49" charset="0"/>
              </a:rPr>
              <a:t>, </a:t>
            </a:r>
          </a:p>
          <a:p>
            <a:r>
              <a:rPr lang="en-US" b="0">
                <a:solidFill>
                  <a:srgbClr val="D6DEEB"/>
                </a:solidFill>
                <a:effectLst/>
                <a:latin typeface="Consolas" panose="020B0609020204030204" pitchFamily="49" charset="0"/>
              </a:rPr>
              <a:t>  React</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createElement</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li</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FF5874"/>
                </a:solidFill>
                <a:effectLst/>
                <a:latin typeface="Consolas" panose="020B0609020204030204" pitchFamily="49" charset="0"/>
              </a:rPr>
              <a:t>null</a:t>
            </a:r>
            <a:r>
              <a:rPr lang="en-US" b="0">
                <a:solidFill>
                  <a:srgbClr val="D6DEEB"/>
                </a:solidFill>
                <a:effectLst/>
                <a:latin typeface="Consolas" panose="020B0609020204030204" pitchFamily="49" charset="0"/>
              </a:rPr>
              <a:t>, </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Instagram</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  React</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createElement</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li</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FF5874"/>
                </a:solidFill>
                <a:effectLst/>
                <a:latin typeface="Consolas" panose="020B0609020204030204" pitchFamily="49" charset="0"/>
              </a:rPr>
              <a:t>null</a:t>
            </a:r>
            <a:r>
              <a:rPr lang="en-US" b="0">
                <a:solidFill>
                  <a:srgbClr val="D6DEEB"/>
                </a:solidFill>
                <a:effectLst/>
                <a:latin typeface="Consolas" panose="020B0609020204030204" pitchFamily="49" charset="0"/>
              </a:rPr>
              <a:t>, </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WhatsApp</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  React</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createElement</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li</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FF5874"/>
                </a:solidFill>
                <a:effectLst/>
                <a:latin typeface="Consolas" panose="020B0609020204030204" pitchFamily="49" charset="0"/>
              </a:rPr>
              <a:t>null</a:t>
            </a:r>
            <a:r>
              <a:rPr lang="en-US" b="0">
                <a:solidFill>
                  <a:srgbClr val="D6DEEB"/>
                </a:solidFill>
                <a:effectLst/>
                <a:latin typeface="Consolas" panose="020B0609020204030204" pitchFamily="49" charset="0"/>
              </a:rPr>
              <a:t>, </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Oculus</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p:txBody>
      </p:sp>
    </p:spTree>
    <p:extLst>
      <p:ext uri="{BB962C8B-B14F-4D97-AF65-F5344CB8AC3E}">
        <p14:creationId xmlns:p14="http://schemas.microsoft.com/office/powerpoint/2010/main" val="1384508823"/>
      </p:ext>
    </p:extLst>
  </p:cSld>
  <p:clrMapOvr>
    <a:overrideClrMapping bg1="lt1" tx1="dk1" bg2="lt2" tx2="dk2" accent1="accent1" accent2="accent2" accent3="accent3" accent4="accent4" accent5="accent5" accent6="accent6" hlink="hlink" folHlink="folHlink"/>
  </p:clrMapOvr>
</p:sld>
</file>

<file path=ppt/slides/slide7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Premier exemple (App.js) </a:t>
            </a:r>
          </a:p>
        </p:txBody>
      </p:sp>
      <p:sp>
        <p:nvSpPr>
          <p:cNvPr id="2" name="TextBox 1">
            <a:extLst>
              <a:ext uri="{FF2B5EF4-FFF2-40B4-BE49-F238E27FC236}">
                <a16:creationId xmlns:a16="http://schemas.microsoft.com/office/drawing/2014/main" id="{12A4B49F-569A-10FC-9769-EA86628925A4}"/>
              </a:ext>
            </a:extLst>
          </p:cNvPr>
          <p:cNvSpPr txBox="1"/>
          <p:nvPr/>
        </p:nvSpPr>
        <p:spPr>
          <a:xfrm>
            <a:off x="2168434" y="1482571"/>
            <a:ext cx="9001957" cy="1469826"/>
          </a:xfrm>
          <a:prstGeom prst="rect">
            <a:avLst/>
          </a:prstGeom>
          <a:noFill/>
        </p:spPr>
        <p:txBody>
          <a:bodyPr wrap="square" lIns="91440" tIns="45720" rIns="91440" bIns="45720" rtlCol="0" anchor="t">
            <a:spAutoFit/>
          </a:bodyPr>
          <a:lstStyle/>
          <a:p>
            <a:pPr>
              <a:lnSpc>
                <a:spcPct val="107000"/>
              </a:lnSpc>
              <a:spcAft>
                <a:spcPts val="800"/>
              </a:spcAft>
            </a:pPr>
            <a:r>
              <a:rPr lang="fr-CA" sz="1800">
                <a:effectLst/>
                <a:latin typeface="Calibri"/>
                <a:ea typeface="Calibri" panose="020F0502020204030204" pitchFamily="34" charset="0"/>
                <a:cs typeface="Arial"/>
              </a:rPr>
              <a:t>Nous allons définir notre première application </a:t>
            </a:r>
            <a:r>
              <a:rPr lang="fr-CA" noProof="1">
                <a:latin typeface="Calibri"/>
                <a:ea typeface="Calibri" panose="020F0502020204030204" pitchFamily="34" charset="0"/>
                <a:cs typeface="Arial"/>
              </a:rPr>
              <a:t>R</a:t>
            </a:r>
            <a:r>
              <a:rPr lang="fr-CA" sz="1800" noProof="1">
                <a:effectLst/>
                <a:latin typeface="Calibri"/>
                <a:ea typeface="Calibri" panose="020F0502020204030204" pitchFamily="34" charset="0"/>
                <a:cs typeface="Arial"/>
              </a:rPr>
              <a:t>eact</a:t>
            </a:r>
            <a:r>
              <a:rPr lang="fr-CA" sz="1800">
                <a:effectLst/>
                <a:latin typeface="Calibri"/>
                <a:ea typeface="Calibri" panose="020F0502020204030204" pitchFamily="34" charset="0"/>
                <a:cs typeface="Arial"/>
              </a:rPr>
              <a:t> </a:t>
            </a:r>
            <a:r>
              <a:rPr lang="fr-CA" sz="1800" err="1">
                <a:effectLst/>
                <a:latin typeface="Calibri"/>
                <a:ea typeface="Calibri" panose="020F0502020204030204" pitchFamily="34" charset="0"/>
                <a:cs typeface="Arial"/>
              </a:rPr>
              <a:t>js</a:t>
            </a:r>
            <a:r>
              <a:rPr lang="fr-CA" sz="1800">
                <a:effectLst/>
                <a:latin typeface="Calibri"/>
                <a:ea typeface="Calibri" panose="020F0502020204030204" pitchFamily="34" charset="0"/>
                <a:cs typeface="Arial"/>
              </a:rPr>
              <a:t> permettant d’afficher un simple message.</a:t>
            </a:r>
            <a:r>
              <a:rPr lang="fr-CA">
                <a:latin typeface="Calibri"/>
                <a:ea typeface="Calibri" panose="020F0502020204030204" pitchFamily="34" charset="0"/>
                <a:cs typeface="Arial"/>
              </a:rPr>
              <a:t> </a:t>
            </a:r>
            <a:r>
              <a:rPr lang="fr-CA" sz="1800">
                <a:effectLst/>
                <a:latin typeface="Calibri"/>
                <a:ea typeface="Calibri" panose="020F0502020204030204" pitchFamily="34" charset="0"/>
                <a:cs typeface="Arial"/>
              </a:rPr>
              <a:t> </a:t>
            </a:r>
            <a:r>
              <a:rPr lang="en-US" sz="1800" b="1" err="1">
                <a:effectLst/>
                <a:latin typeface="Calibri"/>
                <a:ea typeface="Calibri" panose="020F0502020204030204" pitchFamily="34" charset="0"/>
                <a:cs typeface="Arial"/>
              </a:rPr>
              <a:t>npx</a:t>
            </a:r>
            <a:r>
              <a:rPr lang="en-US" sz="1800" b="1">
                <a:effectLst/>
                <a:latin typeface="Calibri"/>
                <a:ea typeface="Calibri" panose="020F0502020204030204" pitchFamily="34" charset="0"/>
                <a:cs typeface="Arial"/>
              </a:rPr>
              <a:t> create-react-app </a:t>
            </a:r>
            <a:r>
              <a:rPr lang="en-US" sz="1800" b="1" err="1">
                <a:effectLst/>
                <a:latin typeface="Calibri"/>
                <a:ea typeface="Calibri" panose="020F0502020204030204" pitchFamily="34" charset="0"/>
                <a:cs typeface="Arial"/>
              </a:rPr>
              <a:t>myapp</a:t>
            </a:r>
            <a:r>
              <a:rPr lang="en-US" b="1">
                <a:latin typeface="Calibri"/>
                <a:ea typeface="Calibri" panose="020F0502020204030204" pitchFamily="34" charset="0"/>
                <a:cs typeface="Arial"/>
              </a:rPr>
              <a:t> </a:t>
            </a:r>
            <a:endParaRPr lang="en-US" sz="1800" b="1">
              <a:effectLst/>
              <a:latin typeface="Calibri"/>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800">
                <a:effectLst/>
                <a:latin typeface="Calibri"/>
                <a:ea typeface="Calibri" panose="020F0502020204030204" pitchFamily="34" charset="0"/>
                <a:cs typeface="Arial"/>
              </a:rPr>
              <a:t>(pour </a:t>
            </a:r>
            <a:r>
              <a:rPr lang="en-US" sz="1800" err="1">
                <a:effectLst/>
                <a:latin typeface="Calibri"/>
                <a:ea typeface="Calibri" panose="020F0502020204030204" pitchFamily="34" charset="0"/>
                <a:cs typeface="Arial"/>
              </a:rPr>
              <a:t>créer</a:t>
            </a:r>
            <a:r>
              <a:rPr lang="en-US" sz="1800">
                <a:effectLst/>
                <a:latin typeface="Calibri"/>
                <a:ea typeface="Calibri" panose="020F0502020204030204" pitchFamily="34" charset="0"/>
                <a:cs typeface="Arial"/>
              </a:rPr>
              <a:t> </a:t>
            </a:r>
            <a:r>
              <a:rPr lang="en-US" sz="1800" err="1">
                <a:effectLst/>
                <a:latin typeface="Calibri"/>
                <a:ea typeface="Calibri" panose="020F0502020204030204" pitchFamily="34" charset="0"/>
                <a:cs typeface="Arial"/>
              </a:rPr>
              <a:t>une</a:t>
            </a:r>
            <a:r>
              <a:rPr lang="en-US" sz="1800">
                <a:effectLst/>
                <a:latin typeface="Calibri"/>
                <a:ea typeface="Calibri" panose="020F0502020204030204" pitchFamily="34" charset="0"/>
                <a:cs typeface="Arial"/>
              </a:rPr>
              <a:t> application React avec </a:t>
            </a:r>
            <a:r>
              <a:rPr lang="en-US" sz="1800" err="1">
                <a:effectLst/>
                <a:latin typeface="Calibri"/>
                <a:ea typeface="Calibri" panose="020F0502020204030204" pitchFamily="34" charset="0"/>
                <a:cs typeface="Arial"/>
              </a:rPr>
              <a:t>tous</a:t>
            </a:r>
            <a:r>
              <a:rPr lang="en-US" sz="1800">
                <a:effectLst/>
                <a:latin typeface="Calibri"/>
                <a:ea typeface="Calibri" panose="020F0502020204030204" pitchFamily="34" charset="0"/>
                <a:cs typeface="Arial"/>
              </a:rPr>
              <a:t> les </a:t>
            </a:r>
            <a:r>
              <a:rPr lang="en-US" sz="1800" err="1">
                <a:effectLst/>
                <a:latin typeface="Calibri"/>
                <a:ea typeface="Calibri" panose="020F0502020204030204" pitchFamily="34" charset="0"/>
                <a:cs typeface="Arial"/>
              </a:rPr>
              <a:t>composants</a:t>
            </a:r>
            <a:r>
              <a:rPr lang="en-US" sz="1800">
                <a:effectLst/>
                <a:latin typeface="Calibri"/>
                <a:ea typeface="Calibri" panose="020F0502020204030204" pitchFamily="34" charset="0"/>
                <a:cs typeface="Arial"/>
              </a:rPr>
              <a:t> necessaire)</a:t>
            </a:r>
          </a:p>
          <a:p>
            <a:pPr marL="0" marR="0">
              <a:lnSpc>
                <a:spcPct val="107000"/>
              </a:lnSpc>
              <a:spcBef>
                <a:spcPts val="0"/>
              </a:spcBef>
              <a:spcAft>
                <a:spcPts val="800"/>
              </a:spcAft>
            </a:pPr>
            <a:r>
              <a:rPr lang="en-US">
                <a:latin typeface="Calibri"/>
                <a:ea typeface="Calibri" panose="020F0502020204030204" pitchFamily="34" charset="0"/>
                <a:cs typeface="Arial"/>
              </a:rPr>
              <a:t>cd </a:t>
            </a:r>
            <a:r>
              <a:rPr lang="en-US" err="1">
                <a:latin typeface="Calibri"/>
                <a:ea typeface="Calibri" panose="020F0502020204030204" pitchFamily="34" charset="0"/>
                <a:cs typeface="Arial"/>
              </a:rPr>
              <a:t>myapp</a:t>
            </a:r>
          </a:p>
        </p:txBody>
      </p:sp>
      <p:sp>
        <p:nvSpPr>
          <p:cNvPr id="5" name="TextBox 4">
            <a:extLst>
              <a:ext uri="{FF2B5EF4-FFF2-40B4-BE49-F238E27FC236}">
                <a16:creationId xmlns:a16="http://schemas.microsoft.com/office/drawing/2014/main" id="{14BE8CB9-1783-B943-EF61-BBC405094810}"/>
              </a:ext>
            </a:extLst>
          </p:cNvPr>
          <p:cNvSpPr txBox="1"/>
          <p:nvPr/>
        </p:nvSpPr>
        <p:spPr>
          <a:xfrm>
            <a:off x="2168434" y="3027719"/>
            <a:ext cx="9312675" cy="3693319"/>
          </a:xfrm>
          <a:prstGeom prst="rect">
            <a:avLst/>
          </a:prstGeom>
          <a:solidFill>
            <a:schemeClr val="tx2">
              <a:lumMod val="50000"/>
            </a:schemeClr>
          </a:solidFill>
        </p:spPr>
        <p:txBody>
          <a:bodyPr wrap="square" rtlCol="0">
            <a:spAutoFit/>
          </a:bodyPr>
          <a:lstStyle>
            <a:defPPr>
              <a:defRPr lang="fr-FR"/>
            </a:defPPr>
            <a:lvl1pPr>
              <a:defRPr b="0" i="1">
                <a:solidFill>
                  <a:srgbClr val="82AAFF"/>
                </a:solidFill>
                <a:effectLst/>
                <a:latin typeface="Consolas" panose="020B0609020204030204" pitchFamily="49" charset="0"/>
              </a:defRPr>
            </a:lvl1pPr>
          </a:lstStyle>
          <a:p>
            <a:r>
              <a:rPr lang="fr-CA" b="0">
                <a:solidFill>
                  <a:srgbClr val="D6DEEB"/>
                </a:solidFill>
                <a:effectLst/>
                <a:latin typeface="Consolas" panose="020B0609020204030204" pitchFamily="49" charset="0"/>
              </a:rPr>
              <a:t>//Src folder</a:t>
            </a:r>
          </a:p>
          <a:p>
            <a:r>
              <a:rPr lang="en-US" b="0">
                <a:solidFill>
                  <a:srgbClr val="FF0000"/>
                </a:solidFill>
                <a:effectLst/>
                <a:highlight>
                  <a:srgbClr val="FFFF00"/>
                </a:highlight>
                <a:latin typeface="Consolas" panose="020B0609020204030204" pitchFamily="49" charset="0"/>
              </a:rPr>
              <a:t>// App.js  (React component)</a:t>
            </a:r>
          </a:p>
          <a:p>
            <a:r>
              <a:rPr lang="en-US" b="0">
                <a:solidFill>
                  <a:srgbClr val="FF0000"/>
                </a:solidFill>
                <a:effectLst/>
                <a:latin typeface="Consolas" panose="020B0609020204030204" pitchFamily="49" charset="0"/>
              </a:rPr>
              <a:t>function App() {</a:t>
            </a:r>
          </a:p>
          <a:p>
            <a:r>
              <a:rPr lang="en-US" b="0">
                <a:solidFill>
                  <a:srgbClr val="D6DEEB"/>
                </a:solidFill>
                <a:effectLst/>
                <a:latin typeface="Consolas" panose="020B0609020204030204" pitchFamily="49" charset="0"/>
              </a:rPr>
              <a:t>  </a:t>
            </a:r>
            <a:r>
              <a:rPr lang="en-US" b="0" i="1">
                <a:solidFill>
                  <a:srgbClr val="C792EA"/>
                </a:solidFill>
                <a:effectLst/>
                <a:latin typeface="Consolas" panose="020B0609020204030204" pitchFamily="49" charset="0"/>
              </a:rPr>
              <a:t>return</a:t>
            </a:r>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&lt;div&gt;&lt;h1&gt;</a:t>
            </a:r>
            <a:r>
              <a:rPr lang="en-US" b="0">
                <a:solidFill>
                  <a:srgbClr val="D6DEEB"/>
                </a:solidFill>
                <a:effectLst/>
                <a:latin typeface="Consolas" panose="020B0609020204030204" pitchFamily="49" charset="0"/>
              </a:rPr>
              <a:t>This is my first react app!</a:t>
            </a:r>
            <a:r>
              <a:rPr lang="en-US" b="0">
                <a:solidFill>
                  <a:srgbClr val="7FDBCA"/>
                </a:solidFill>
                <a:effectLst/>
                <a:latin typeface="Consolas" panose="020B0609020204030204" pitchFamily="49" charset="0"/>
              </a:rPr>
              <a:t>&lt;/h1&gt;&lt;/div&gt;</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a:t>
            </a:r>
          </a:p>
          <a:p>
            <a:r>
              <a:rPr lang="en-US" b="0">
                <a:solidFill>
                  <a:srgbClr val="7FDBCA"/>
                </a:solidFill>
                <a:effectLst/>
                <a:latin typeface="Consolas" panose="020B0609020204030204" pitchFamily="49" charset="0"/>
              </a:rPr>
              <a:t>export</a:t>
            </a:r>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default</a:t>
            </a:r>
            <a:r>
              <a:rPr lang="en-US" b="0">
                <a:solidFill>
                  <a:srgbClr val="D6DEEB"/>
                </a:solidFill>
                <a:effectLst/>
                <a:latin typeface="Consolas" panose="020B0609020204030204" pitchFamily="49" charset="0"/>
              </a:rPr>
              <a:t> </a:t>
            </a:r>
            <a:r>
              <a:rPr lang="en-US" b="0">
                <a:solidFill>
                  <a:srgbClr val="D7DBE0"/>
                </a:solidFill>
                <a:effectLst/>
                <a:latin typeface="Consolas" panose="020B0609020204030204" pitchFamily="49" charset="0"/>
              </a:rPr>
              <a:t>App</a:t>
            </a:r>
            <a:r>
              <a:rPr lang="en-US" b="0">
                <a:solidFill>
                  <a:srgbClr val="D6DEEB"/>
                </a:solidFill>
                <a:effectLst/>
                <a:latin typeface="Consolas" panose="020B0609020204030204" pitchFamily="49" charset="0"/>
              </a:rPr>
              <a:t>;</a:t>
            </a:r>
          </a:p>
          <a:p>
            <a:r>
              <a:rPr lang="en-US">
                <a:solidFill>
                  <a:srgbClr val="FF0000"/>
                </a:solidFill>
                <a:highlight>
                  <a:srgbClr val="FFFF00"/>
                </a:highlight>
              </a:rPr>
              <a:t>// index.js</a:t>
            </a:r>
          </a:p>
          <a:p>
            <a:r>
              <a:rPr lang="en-US" b="0" i="1">
                <a:solidFill>
                  <a:srgbClr val="C792EA"/>
                </a:solidFill>
                <a:effectLst/>
                <a:latin typeface="Consolas" panose="020B0609020204030204" pitchFamily="49" charset="0"/>
              </a:rPr>
              <a:t>import</a:t>
            </a:r>
            <a:r>
              <a:rPr lang="en-US" b="0">
                <a:solidFill>
                  <a:srgbClr val="D6DEEB"/>
                </a:solidFill>
                <a:effectLst/>
                <a:latin typeface="Consolas" panose="020B0609020204030204" pitchFamily="49" charset="0"/>
              </a:rPr>
              <a:t> ReactDOM </a:t>
            </a:r>
            <a:r>
              <a:rPr lang="en-US" b="0" i="1">
                <a:solidFill>
                  <a:srgbClr val="C792EA"/>
                </a:solidFill>
                <a:effectLst/>
                <a:latin typeface="Consolas" panose="020B0609020204030204" pitchFamily="49" charset="0"/>
              </a:rPr>
              <a:t>from</a:t>
            </a:r>
            <a:r>
              <a:rPr lang="en-US" b="0">
                <a:solidFill>
                  <a:srgbClr val="D6DEEB"/>
                </a:solidFill>
                <a:effectLst/>
                <a:latin typeface="Consolas" panose="020B0609020204030204" pitchFamily="49" charset="0"/>
              </a:rPr>
              <a:t> </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react-dom/client</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a:p>
            <a:r>
              <a:rPr lang="en-US" b="0" i="1">
                <a:solidFill>
                  <a:srgbClr val="C792EA"/>
                </a:solidFill>
                <a:effectLst/>
                <a:latin typeface="Consolas" panose="020B0609020204030204" pitchFamily="49" charset="0"/>
              </a:rPr>
              <a:t>import</a:t>
            </a:r>
            <a:r>
              <a:rPr lang="en-US" b="0">
                <a:solidFill>
                  <a:srgbClr val="D6DEEB"/>
                </a:solidFill>
                <a:effectLst/>
                <a:latin typeface="Consolas" panose="020B0609020204030204" pitchFamily="49" charset="0"/>
              </a:rPr>
              <a:t> App </a:t>
            </a:r>
            <a:r>
              <a:rPr lang="en-US" b="0" i="1">
                <a:solidFill>
                  <a:srgbClr val="C792EA"/>
                </a:solidFill>
                <a:effectLst/>
                <a:latin typeface="Consolas" panose="020B0609020204030204" pitchFamily="49" charset="0"/>
              </a:rPr>
              <a:t>from</a:t>
            </a:r>
            <a:r>
              <a:rPr lang="en-US" b="0">
                <a:solidFill>
                  <a:srgbClr val="D6DEEB"/>
                </a:solidFill>
                <a:effectLst/>
                <a:latin typeface="Consolas" panose="020B0609020204030204" pitchFamily="49" charset="0"/>
              </a:rPr>
              <a:t> </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./App</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a:p>
            <a:r>
              <a:rPr lang="en-US" b="0">
                <a:solidFill>
                  <a:srgbClr val="82AAFF"/>
                </a:solidFill>
                <a:effectLst/>
                <a:latin typeface="Consolas" panose="020B0609020204030204" pitchFamily="49" charset="0"/>
              </a:rPr>
              <a:t>const</a:t>
            </a:r>
            <a:r>
              <a:rPr lang="en-US" b="0" i="1">
                <a:solidFill>
                  <a:srgbClr val="C792EA"/>
                </a:solidFill>
                <a:effectLst/>
                <a:latin typeface="Consolas" panose="020B0609020204030204" pitchFamily="49" charset="0"/>
              </a:rPr>
              <a:t> </a:t>
            </a:r>
            <a:r>
              <a:rPr lang="en-US" b="0" i="1">
                <a:solidFill>
                  <a:srgbClr val="82AAFF"/>
                </a:solidFill>
                <a:effectLst/>
                <a:latin typeface="Consolas" panose="020B0609020204030204" pitchFamily="49" charset="0"/>
              </a:rPr>
              <a:t>root</a:t>
            </a:r>
            <a:r>
              <a:rPr lang="en-US" b="0" i="1">
                <a:solidFill>
                  <a:srgbClr val="C792EA"/>
                </a:solidFill>
                <a:effectLst/>
                <a:latin typeface="Consolas" panose="020B0609020204030204" pitchFamily="49" charset="0"/>
              </a:rPr>
              <a:t> </a:t>
            </a:r>
            <a:r>
              <a:rPr lang="en-US" b="0">
                <a:solidFill>
                  <a:srgbClr val="C792EA"/>
                </a:solidFill>
                <a:effectLst/>
                <a:latin typeface="Consolas" panose="020B0609020204030204" pitchFamily="49" charset="0"/>
              </a:rPr>
              <a:t>=</a:t>
            </a:r>
            <a:r>
              <a:rPr lang="en-US" b="0" i="1">
                <a:solidFill>
                  <a:srgbClr val="C792EA"/>
                </a:solidFill>
                <a:effectLst/>
                <a:latin typeface="Consolas" panose="020B0609020204030204" pitchFamily="49" charset="0"/>
              </a:rPr>
              <a:t> </a:t>
            </a:r>
            <a:r>
              <a:rPr lang="en-US" b="0">
                <a:solidFill>
                  <a:srgbClr val="D6DEEB"/>
                </a:solidFill>
                <a:effectLst/>
                <a:latin typeface="Consolas" panose="020B0609020204030204" pitchFamily="49" charset="0"/>
              </a:rPr>
              <a:t>ReactDOM</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createRoot</a:t>
            </a:r>
            <a:r>
              <a:rPr lang="en-US" b="0">
                <a:solidFill>
                  <a:srgbClr val="D6DEEB"/>
                </a:solidFill>
                <a:effectLst/>
                <a:latin typeface="Consolas" panose="020B0609020204030204" pitchFamily="49" charset="0"/>
              </a:rPr>
              <a:t>(document</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getElementById</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root</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root</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render</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a:t>
            </a:r>
            <a:r>
              <a:rPr lang="en-US" b="0">
                <a:solidFill>
                  <a:srgbClr val="F78C6C"/>
                </a:solidFill>
                <a:effectLst/>
                <a:latin typeface="Consolas" panose="020B0609020204030204" pitchFamily="49" charset="0"/>
              </a:rPr>
              <a:t>App</a:t>
            </a:r>
            <a:r>
              <a:rPr lang="en-US" b="0">
                <a:solidFill>
                  <a:srgbClr val="7FDBCA"/>
                </a:solidFill>
                <a:effectLst/>
                <a:latin typeface="Consolas" panose="020B0609020204030204" pitchFamily="49" charset="0"/>
              </a:rPr>
              <a:t> /&gt;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a:t>
            </a:r>
          </a:p>
        </p:txBody>
      </p:sp>
    </p:spTree>
    <p:extLst>
      <p:ext uri="{BB962C8B-B14F-4D97-AF65-F5344CB8AC3E}">
        <p14:creationId xmlns:p14="http://schemas.microsoft.com/office/powerpoint/2010/main" val="2989375659"/>
      </p:ext>
    </p:extLst>
  </p:cSld>
  <p:clrMapOvr>
    <a:overrideClrMapping bg1="lt1" tx1="dk1" bg2="lt2" tx2="dk2" accent1="accent1" accent2="accent2" accent3="accent3" accent4="accent4" accent5="accent5" accent6="accent6" hlink="hlink" folHlink="folHlink"/>
  </p:clrMapOvr>
</p:sld>
</file>

<file path=ppt/slides/slide7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Premier exemple </a:t>
            </a:r>
          </a:p>
        </p:txBody>
      </p:sp>
      <p:sp>
        <p:nvSpPr>
          <p:cNvPr id="2" name="TextBox 1">
            <a:extLst>
              <a:ext uri="{FF2B5EF4-FFF2-40B4-BE49-F238E27FC236}">
                <a16:creationId xmlns:a16="http://schemas.microsoft.com/office/drawing/2014/main" id="{12A4B49F-569A-10FC-9769-EA86628925A4}"/>
              </a:ext>
            </a:extLst>
          </p:cNvPr>
          <p:cNvSpPr txBox="1"/>
          <p:nvPr/>
        </p:nvSpPr>
        <p:spPr>
          <a:xfrm>
            <a:off x="2168434" y="1482571"/>
            <a:ext cx="9001957" cy="375552"/>
          </a:xfrm>
          <a:prstGeom prst="rect">
            <a:avLst/>
          </a:prstGeom>
          <a:noFill/>
        </p:spPr>
        <p:txBody>
          <a:bodyPr wrap="square" rtlCol="0">
            <a:spAutoFit/>
          </a:bodyPr>
          <a:lstStyle/>
          <a:p>
            <a:pPr marL="0" marR="0">
              <a:lnSpc>
                <a:spcPct val="107000"/>
              </a:lnSpc>
              <a:spcBef>
                <a:spcPts val="0"/>
              </a:spcBef>
              <a:spcAft>
                <a:spcPts val="800"/>
              </a:spcAft>
            </a:pPr>
            <a:r>
              <a:rPr lang="fr-CA">
                <a:latin typeface="Calibri" panose="020F0502020204030204" pitchFamily="34" charset="0"/>
                <a:ea typeface="Calibri" panose="020F0502020204030204" pitchFamily="34" charset="0"/>
                <a:cs typeface="Arial" panose="020B0604020202020204" pitchFamily="34" charset="0"/>
              </a:rPr>
              <a:t>Sous le répertoire </a:t>
            </a:r>
            <a:r>
              <a:rPr lang="fr-CA" b="1">
                <a:latin typeface="Calibri" panose="020F0502020204030204" pitchFamily="34" charset="0"/>
                <a:ea typeface="Calibri" panose="020F0502020204030204" pitchFamily="34" charset="0"/>
                <a:cs typeface="Arial" panose="020B0604020202020204" pitchFamily="34" charset="0"/>
              </a:rPr>
              <a:t>public</a:t>
            </a:r>
            <a:r>
              <a:rPr lang="fr-CA">
                <a:latin typeface="Calibri" panose="020F0502020204030204" pitchFamily="34" charset="0"/>
                <a:ea typeface="Calibri" panose="020F0502020204030204" pitchFamily="34" charset="0"/>
                <a:cs typeface="Arial" panose="020B0604020202020204" pitchFamily="34" charset="0"/>
              </a:rPr>
              <a:t> nous allons créer notre </a:t>
            </a:r>
            <a:r>
              <a:rPr lang="fr-CA" b="1">
                <a:latin typeface="Calibri" panose="020F0502020204030204" pitchFamily="34" charset="0"/>
                <a:ea typeface="Calibri" panose="020F0502020204030204" pitchFamily="34" charset="0"/>
                <a:cs typeface="Arial" panose="020B0604020202020204" pitchFamily="34" charset="0"/>
              </a:rPr>
              <a:t>index.html</a:t>
            </a:r>
            <a:r>
              <a:rPr lang="fr-CA">
                <a:latin typeface="Calibri" panose="020F0502020204030204" pitchFamily="34" charset="0"/>
                <a:ea typeface="Calibri" panose="020F0502020204030204" pitchFamily="34" charset="0"/>
                <a:cs typeface="Arial" panose="020B0604020202020204" pitchFamily="34" charset="0"/>
              </a:rPr>
              <a:t>  </a:t>
            </a:r>
            <a:endParaRPr lang="en-US">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14BE8CB9-1783-B943-EF61-BBC405094810}"/>
              </a:ext>
            </a:extLst>
          </p:cNvPr>
          <p:cNvSpPr txBox="1"/>
          <p:nvPr/>
        </p:nvSpPr>
        <p:spPr>
          <a:xfrm>
            <a:off x="2168434" y="2148829"/>
            <a:ext cx="9312675" cy="2862322"/>
          </a:xfrm>
          <a:prstGeom prst="rect">
            <a:avLst/>
          </a:prstGeom>
          <a:solidFill>
            <a:schemeClr val="tx2">
              <a:lumMod val="50000"/>
            </a:schemeClr>
          </a:solidFill>
        </p:spPr>
        <p:txBody>
          <a:bodyPr wrap="square" rtlCol="0">
            <a:spAutoFit/>
          </a:bodyPr>
          <a:lstStyle>
            <a:defPPr>
              <a:defRPr lang="fr-FR"/>
            </a:defPPr>
            <a:lvl1pPr>
              <a:defRPr b="0" i="1">
                <a:solidFill>
                  <a:srgbClr val="82AAFF"/>
                </a:solidFill>
                <a:effectLst/>
                <a:latin typeface="Consolas" panose="020B0609020204030204" pitchFamily="49" charset="0"/>
              </a:defRPr>
            </a:lvl1pPr>
          </a:lstStyle>
          <a:p>
            <a:r>
              <a:rPr lang="fr-CA" b="0">
                <a:solidFill>
                  <a:srgbClr val="D6DEEB"/>
                </a:solidFill>
                <a:effectLst/>
                <a:latin typeface="Consolas" panose="020B0609020204030204" pitchFamily="49" charset="0"/>
              </a:rPr>
              <a:t>//public folder</a:t>
            </a:r>
          </a:p>
          <a:p>
            <a:r>
              <a:rPr lang="en-US">
                <a:solidFill>
                  <a:srgbClr val="FF0000"/>
                </a:solidFill>
                <a:highlight>
                  <a:srgbClr val="FFFF00"/>
                </a:highlight>
              </a:rPr>
              <a:t>// index.html</a:t>
            </a:r>
          </a:p>
          <a:p>
            <a:r>
              <a:rPr lang="en-US" b="0">
                <a:solidFill>
                  <a:srgbClr val="7FDBCA"/>
                </a:solidFill>
                <a:effectLst/>
                <a:latin typeface="Consolas" panose="020B0609020204030204" pitchFamily="49" charset="0"/>
              </a:rPr>
              <a:t>&lt;!DOCTYPE </a:t>
            </a:r>
            <a:r>
              <a:rPr lang="en-US" b="0" i="1">
                <a:solidFill>
                  <a:srgbClr val="ADDB67"/>
                </a:solidFill>
                <a:effectLst/>
                <a:latin typeface="Consolas" panose="020B0609020204030204" pitchFamily="49" charset="0"/>
              </a:rPr>
              <a:t>html</a:t>
            </a:r>
            <a:r>
              <a:rPr lang="en-US" b="0">
                <a:solidFill>
                  <a:srgbClr val="7FDBCA"/>
                </a:solidFill>
                <a:effectLst/>
                <a:latin typeface="Consolas" panose="020B0609020204030204" pitchFamily="49" charset="0"/>
              </a:rPr>
              <a:t>&gt;</a:t>
            </a:r>
            <a:endParaRPr lang="en-US" b="0">
              <a:solidFill>
                <a:srgbClr val="D6DEEB"/>
              </a:solidFill>
              <a:effectLst/>
              <a:latin typeface="Consolas" panose="020B0609020204030204" pitchFamily="49" charset="0"/>
            </a:endParaRPr>
          </a:p>
          <a:p>
            <a:r>
              <a:rPr lang="en-US" b="0">
                <a:solidFill>
                  <a:srgbClr val="7FDBCA"/>
                </a:solidFill>
                <a:effectLst/>
                <a:latin typeface="Consolas" panose="020B0609020204030204" pitchFamily="49" charset="0"/>
              </a:rPr>
              <a:t>&lt;html </a:t>
            </a:r>
            <a:r>
              <a:rPr lang="en-US" b="0" i="1">
                <a:solidFill>
                  <a:srgbClr val="ADDB67"/>
                </a:solidFill>
                <a:effectLst/>
                <a:latin typeface="Consolas" panose="020B0609020204030204" pitchFamily="49" charset="0"/>
              </a:rPr>
              <a:t>lang</a:t>
            </a:r>
            <a:r>
              <a:rPr lang="en-US" b="0">
                <a:solidFill>
                  <a:srgbClr val="7FDBCA"/>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en</a:t>
            </a:r>
            <a:r>
              <a:rPr lang="en-US" b="0">
                <a:solidFill>
                  <a:srgbClr val="D9F5DD"/>
                </a:solidFill>
                <a:effectLst/>
                <a:latin typeface="Consolas" panose="020B0609020204030204" pitchFamily="49" charset="0"/>
              </a:rPr>
              <a:t>"</a:t>
            </a:r>
            <a:r>
              <a:rPr lang="en-US" b="0">
                <a:solidFill>
                  <a:srgbClr val="7FDBCA"/>
                </a:solidFill>
                <a:effectLst/>
                <a:latin typeface="Consolas" panose="020B0609020204030204" pitchFamily="49" charset="0"/>
              </a:rPr>
              <a:t>&gt;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&lt;head&gt;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&lt;/head&gt;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&lt;body&gt;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&lt;div </a:t>
            </a:r>
            <a:r>
              <a:rPr lang="en-US" b="0" i="1">
                <a:solidFill>
                  <a:srgbClr val="ADDB67"/>
                </a:solidFill>
                <a:effectLst/>
                <a:latin typeface="Consolas" panose="020B0609020204030204" pitchFamily="49" charset="0"/>
              </a:rPr>
              <a:t>id</a:t>
            </a:r>
            <a:r>
              <a:rPr lang="en-US" b="0">
                <a:solidFill>
                  <a:srgbClr val="7FDBCA"/>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root</a:t>
            </a:r>
            <a:r>
              <a:rPr lang="en-US" b="0">
                <a:solidFill>
                  <a:srgbClr val="D9F5DD"/>
                </a:solidFill>
                <a:effectLst/>
                <a:latin typeface="Consolas" panose="020B0609020204030204" pitchFamily="49" charset="0"/>
              </a:rPr>
              <a:t>"</a:t>
            </a:r>
            <a:r>
              <a:rPr lang="en-US" b="0">
                <a:solidFill>
                  <a:srgbClr val="7FDBCA"/>
                </a:solidFill>
                <a:effectLst/>
                <a:latin typeface="Consolas" panose="020B0609020204030204" pitchFamily="49" charset="0"/>
              </a:rPr>
              <a:t>&gt;&lt;/div&gt;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&lt;/body&gt;</a:t>
            </a:r>
            <a:endParaRPr lang="en-US" b="0">
              <a:solidFill>
                <a:srgbClr val="D6DEEB"/>
              </a:solidFill>
              <a:effectLst/>
              <a:latin typeface="Consolas" panose="020B0609020204030204" pitchFamily="49" charset="0"/>
            </a:endParaRPr>
          </a:p>
          <a:p>
            <a:r>
              <a:rPr lang="en-US" b="0">
                <a:solidFill>
                  <a:srgbClr val="7FDBCA"/>
                </a:solidFill>
                <a:effectLst/>
                <a:latin typeface="Consolas" panose="020B0609020204030204" pitchFamily="49" charset="0"/>
              </a:rPr>
              <a:t>&lt;/html&gt;</a:t>
            </a:r>
            <a:endParaRPr lang="en-US" b="0">
              <a:solidFill>
                <a:srgbClr val="D6DEEB"/>
              </a:solidFill>
              <a:effectLst/>
              <a:latin typeface="Consolas" panose="020B0609020204030204" pitchFamily="49" charset="0"/>
            </a:endParaRPr>
          </a:p>
        </p:txBody>
      </p:sp>
      <p:sp>
        <p:nvSpPr>
          <p:cNvPr id="3" name="TextBox 2">
            <a:extLst>
              <a:ext uri="{FF2B5EF4-FFF2-40B4-BE49-F238E27FC236}">
                <a16:creationId xmlns:a16="http://schemas.microsoft.com/office/drawing/2014/main" id="{CE1B3CCF-1987-2DD1-DBE8-A36876158CE6}"/>
              </a:ext>
            </a:extLst>
          </p:cNvPr>
          <p:cNvSpPr txBox="1"/>
          <p:nvPr/>
        </p:nvSpPr>
        <p:spPr>
          <a:xfrm>
            <a:off x="2168433" y="5375429"/>
            <a:ext cx="9312675" cy="646331"/>
          </a:xfrm>
          <a:prstGeom prst="rect">
            <a:avLst/>
          </a:prstGeom>
          <a:noFill/>
        </p:spPr>
        <p:txBody>
          <a:bodyPr wrap="square" rtlCol="0">
            <a:spAutoFit/>
          </a:bodyPr>
          <a:lstStyle/>
          <a:p>
            <a:r>
              <a:rPr lang="fr-CA"/>
              <a:t>Pour démarrer notre application React, on exécute </a:t>
            </a:r>
          </a:p>
          <a:p>
            <a:r>
              <a:rPr lang="fr-CA" b="1"/>
              <a:t>npm start</a:t>
            </a:r>
            <a:endParaRPr lang="en-US" b="1"/>
          </a:p>
        </p:txBody>
      </p:sp>
    </p:spTree>
    <p:extLst>
      <p:ext uri="{BB962C8B-B14F-4D97-AF65-F5344CB8AC3E}">
        <p14:creationId xmlns:p14="http://schemas.microsoft.com/office/powerpoint/2010/main" val="188740423"/>
      </p:ext>
    </p:extLst>
  </p:cSld>
  <p:clrMapOvr>
    <a:overrideClrMapping bg1="lt1" tx1="dk1" bg2="lt2" tx2="dk2" accent1="accent1" accent2="accent2" accent3="accent3" accent4="accent4" accent5="accent5" accent6="accent6" hlink="hlink" folHlink="folHlink"/>
  </p:clrMapOvr>
</p:sld>
</file>

<file path=ppt/slides/slide7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Concepts de base </a:t>
            </a:r>
          </a:p>
        </p:txBody>
      </p:sp>
      <p:sp>
        <p:nvSpPr>
          <p:cNvPr id="5" name="TextBox 4">
            <a:extLst>
              <a:ext uri="{FF2B5EF4-FFF2-40B4-BE49-F238E27FC236}">
                <a16:creationId xmlns:a16="http://schemas.microsoft.com/office/drawing/2014/main" id="{14BE8CB9-1783-B943-EF61-BBC405094810}"/>
              </a:ext>
            </a:extLst>
          </p:cNvPr>
          <p:cNvSpPr txBox="1"/>
          <p:nvPr/>
        </p:nvSpPr>
        <p:spPr>
          <a:xfrm>
            <a:off x="2168434" y="5224206"/>
            <a:ext cx="9312675" cy="1477328"/>
          </a:xfrm>
          <a:prstGeom prst="rect">
            <a:avLst/>
          </a:prstGeom>
          <a:solidFill>
            <a:schemeClr val="tx2">
              <a:lumMod val="50000"/>
            </a:schemeClr>
          </a:solidFill>
        </p:spPr>
        <p:txBody>
          <a:bodyPr wrap="square" rtlCol="0">
            <a:spAutoFit/>
          </a:bodyPr>
          <a:lstStyle>
            <a:defPPr>
              <a:defRPr lang="fr-FR"/>
            </a:defPPr>
            <a:lvl1pPr>
              <a:defRPr b="0" i="1">
                <a:solidFill>
                  <a:srgbClr val="82AAFF"/>
                </a:solidFill>
                <a:effectLst/>
                <a:latin typeface="Consolas" panose="020B0609020204030204" pitchFamily="49" charset="0"/>
              </a:defRPr>
            </a:lvl1pPr>
          </a:lstStyle>
          <a:p>
            <a:r>
              <a:rPr lang="en-US" b="0">
                <a:solidFill>
                  <a:srgbClr val="7FDBCA"/>
                </a:solidFill>
                <a:effectLst/>
                <a:latin typeface="Consolas" panose="020B0609020204030204" pitchFamily="49" charset="0"/>
              </a:rPr>
              <a:t>&lt;script </a:t>
            </a:r>
            <a:r>
              <a:rPr lang="en-US" b="0" i="1">
                <a:solidFill>
                  <a:srgbClr val="ADDB67"/>
                </a:solidFill>
                <a:effectLst/>
                <a:latin typeface="Consolas" panose="020B0609020204030204" pitchFamily="49" charset="0"/>
              </a:rPr>
              <a:t>type</a:t>
            </a:r>
            <a:r>
              <a:rPr lang="en-US" b="0">
                <a:solidFill>
                  <a:srgbClr val="C792EA"/>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text/jsx</a:t>
            </a:r>
            <a:r>
              <a:rPr lang="en-US" b="0">
                <a:solidFill>
                  <a:srgbClr val="D9F5DD"/>
                </a:solidFill>
                <a:effectLst/>
                <a:latin typeface="Consolas" panose="020B0609020204030204" pitchFamily="49" charset="0"/>
              </a:rPr>
              <a:t>"</a:t>
            </a:r>
            <a:r>
              <a:rPr lang="en-US" b="0">
                <a:solidFill>
                  <a:srgbClr val="7FDBCA"/>
                </a:solidFill>
                <a:effectLst/>
                <a:latin typeface="Consolas" panose="020B0609020204030204" pitchFamily="49" charset="0"/>
              </a:rPr>
              <a:t>&gt;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const app = document.getElementById("app")</a:t>
            </a:r>
          </a:p>
          <a:p>
            <a:r>
              <a:rPr lang="en-US" b="0">
                <a:solidFill>
                  <a:srgbClr val="D6DEEB"/>
                </a:solidFill>
                <a:effectLst/>
                <a:latin typeface="Consolas" panose="020B0609020204030204" pitchFamily="49" charset="0"/>
              </a:rPr>
              <a:t>  function Header() </a:t>
            </a:r>
            <a:r>
              <a:rPr lang="en-US" b="0">
                <a:solidFill>
                  <a:srgbClr val="D3423E"/>
                </a:solidFill>
                <a:effectLst/>
                <a:latin typeface="Consolas" panose="020B0609020204030204" pitchFamily="49" charset="0"/>
              </a:rPr>
              <a: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ReactDOM.render(</a:t>
            </a:r>
            <a:r>
              <a:rPr lang="en-US" b="0">
                <a:solidFill>
                  <a:srgbClr val="7FDBCA"/>
                </a:solidFill>
                <a:effectLst/>
                <a:latin typeface="Consolas" panose="020B0609020204030204" pitchFamily="49" charset="0"/>
              </a:rPr>
              <a:t>&lt;h1&gt;</a:t>
            </a:r>
            <a:r>
              <a:rPr lang="en-US" b="0">
                <a:solidFill>
                  <a:srgbClr val="D6DEEB"/>
                </a:solidFill>
                <a:effectLst/>
                <a:latin typeface="Consolas" panose="020B0609020204030204" pitchFamily="49" charset="0"/>
              </a:rPr>
              <a:t>Develop. Preview. Ship.</a:t>
            </a:r>
            <a:r>
              <a:rPr lang="en-US" b="0">
                <a:solidFill>
                  <a:srgbClr val="7FDBCA"/>
                </a:solidFill>
                <a:effectLst/>
                <a:latin typeface="Consolas" panose="020B0609020204030204" pitchFamily="49" charset="0"/>
              </a:rPr>
              <a:t>&lt;/h1&gt;</a:t>
            </a:r>
            <a:r>
              <a:rPr lang="en-US" b="0">
                <a:solidFill>
                  <a:srgbClr val="D6DEEB"/>
                </a:solidFill>
                <a:effectLst/>
                <a:latin typeface="Consolas" panose="020B0609020204030204" pitchFamily="49" charset="0"/>
              </a:rPr>
              <a:t>, app)</a:t>
            </a:r>
          </a:p>
          <a:p>
            <a:r>
              <a:rPr lang="en-US" b="0">
                <a:solidFill>
                  <a:srgbClr val="7FDBCA"/>
                </a:solidFill>
                <a:effectLst/>
                <a:latin typeface="Consolas" panose="020B0609020204030204" pitchFamily="49" charset="0"/>
              </a:rPr>
              <a:t>&lt;/script&gt;</a:t>
            </a:r>
            <a:endParaRPr lang="en-US" b="0">
              <a:solidFill>
                <a:srgbClr val="D6DEEB"/>
              </a:solidFill>
              <a:effectLst/>
              <a:latin typeface="Consolas" panose="020B0609020204030204" pitchFamily="49" charset="0"/>
            </a:endParaRPr>
          </a:p>
        </p:txBody>
      </p:sp>
      <p:sp>
        <p:nvSpPr>
          <p:cNvPr id="3" name="TextBox 2">
            <a:extLst>
              <a:ext uri="{FF2B5EF4-FFF2-40B4-BE49-F238E27FC236}">
                <a16:creationId xmlns:a16="http://schemas.microsoft.com/office/drawing/2014/main" id="{6E7D9BBE-4708-B72B-9BB9-DFD6F05EC6A3}"/>
              </a:ext>
            </a:extLst>
          </p:cNvPr>
          <p:cNvSpPr txBox="1"/>
          <p:nvPr/>
        </p:nvSpPr>
        <p:spPr>
          <a:xfrm>
            <a:off x="2168434" y="1291299"/>
            <a:ext cx="2467992"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Component</a:t>
            </a:r>
            <a:endParaRPr lang="en-US"/>
          </a:p>
        </p:txBody>
      </p:sp>
      <p:sp>
        <p:nvSpPr>
          <p:cNvPr id="6" name="TextBox 5">
            <a:extLst>
              <a:ext uri="{FF2B5EF4-FFF2-40B4-BE49-F238E27FC236}">
                <a16:creationId xmlns:a16="http://schemas.microsoft.com/office/drawing/2014/main" id="{C4330C34-0000-989B-EFA8-E8E99947ED75}"/>
              </a:ext>
            </a:extLst>
          </p:cNvPr>
          <p:cNvSpPr txBox="1"/>
          <p:nvPr/>
        </p:nvSpPr>
        <p:spPr>
          <a:xfrm>
            <a:off x="2168434" y="1669509"/>
            <a:ext cx="9177228" cy="3518784"/>
          </a:xfrm>
          <a:prstGeom prst="rect">
            <a:avLst/>
          </a:prstGeom>
          <a:noFill/>
        </p:spPr>
        <p:txBody>
          <a:bodyPr wrap="square" rtlCol="0">
            <a:spAutoFit/>
          </a:bodyPr>
          <a:lstStyle/>
          <a:p>
            <a:pPr marL="0" marR="0">
              <a:lnSpc>
                <a:spcPct val="107000"/>
              </a:lnSpc>
              <a:spcBef>
                <a:spcPts val="0"/>
              </a:spcBef>
              <a:spcAft>
                <a:spcPts val="800"/>
              </a:spcAft>
            </a:pPr>
            <a:r>
              <a:rPr lang="fr-CA" sz="1800">
                <a:effectLst/>
                <a:latin typeface="Calibri" panose="020F0502020204030204" pitchFamily="34" charset="0"/>
                <a:ea typeface="Calibri" panose="020F0502020204030204" pitchFamily="34" charset="0"/>
                <a:cs typeface="Arial" panose="020B0604020202020204" pitchFamily="34" charset="0"/>
              </a:rPr>
              <a:t>Les interfaces utilisateur peuvent être décomposées en blocs de construction plus petits appelés composants (component).</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fr-CA" sz="1800">
                <a:effectLst/>
                <a:latin typeface="Calibri" panose="020F0502020204030204" pitchFamily="34" charset="0"/>
                <a:ea typeface="Calibri" panose="020F0502020204030204" pitchFamily="34" charset="0"/>
                <a:cs typeface="Arial" panose="020B0604020202020204" pitchFamily="34" charset="0"/>
              </a:rPr>
              <a:t>Les composants vous permettent de créer des extraits de code autonomes et réutilisables. Si vous considérez les composants comme des briques LEGO, vous pouvez prendre ces briques individuelles et les combiner pour former des structures plus grandes. Si vous devez mettre à jour une partie de l'interface utilisateur, vous pouvez mettre à jour le composant ou la brique spécifique.</a:t>
            </a:r>
            <a:r>
              <a:rPr lang="en-US">
                <a:latin typeface="Calibri" panose="020F0502020204030204" pitchFamily="34" charset="0"/>
                <a:ea typeface="Calibri" panose="020F0502020204030204" pitchFamily="34" charset="0"/>
                <a:cs typeface="Arial" panose="020B0604020202020204" pitchFamily="34" charset="0"/>
              </a:rPr>
              <a:t> </a:t>
            </a:r>
            <a:r>
              <a:rPr lang="fr-CA" sz="1800">
                <a:effectLst/>
                <a:latin typeface="Calibri" panose="020F0502020204030204" pitchFamily="34" charset="0"/>
                <a:ea typeface="Calibri" panose="020F0502020204030204" pitchFamily="34" charset="0"/>
                <a:cs typeface="Arial" panose="020B0604020202020204" pitchFamily="34" charset="0"/>
              </a:rPr>
              <a:t>Cette modularité permet à votre code d'être plus maintenable au fur et à mesure de sa croissance, car vous pouvez facilement ajouter, mettre à jour et supprimer des composants sans toucher au reste de notre application.</a:t>
            </a:r>
            <a:endParaRPr lang="en-US" sz="1800">
              <a:effectLst/>
              <a:latin typeface="Calibri" panose="020F0502020204030204" pitchFamily="34" charset="0"/>
              <a:ea typeface="Calibri" panose="020F0502020204030204" pitchFamily="34" charset="0"/>
              <a:cs typeface="Arial" panose="020B0604020202020204" pitchFamily="34" charset="0"/>
            </a:endParaRPr>
          </a:p>
          <a:p>
            <a:r>
              <a:rPr lang="fr-CA" sz="1800">
                <a:effectLst/>
                <a:latin typeface="Calibri" panose="020F0502020204030204" pitchFamily="34" charset="0"/>
                <a:ea typeface="Calibri" panose="020F0502020204030204" pitchFamily="34" charset="0"/>
                <a:cs typeface="Arial" panose="020B0604020202020204" pitchFamily="34" charset="0"/>
              </a:rPr>
              <a:t>La bonne chose à propos des composants React est qu'ils ne sont que du JavaScript. Voyons comment vous pouvez écrire un composant React, du point de vue JavaScript :</a:t>
            </a:r>
            <a:endParaRPr lang="en-US"/>
          </a:p>
        </p:txBody>
      </p:sp>
    </p:spTree>
    <p:extLst>
      <p:ext uri="{BB962C8B-B14F-4D97-AF65-F5344CB8AC3E}">
        <p14:creationId xmlns:p14="http://schemas.microsoft.com/office/powerpoint/2010/main" val="723311486"/>
      </p:ext>
    </p:extLst>
  </p:cSld>
  <p:clrMapOvr>
    <a:overrideClrMapping bg1="lt1" tx1="dk1" bg2="lt2" tx2="dk2" accent1="accent1" accent2="accent2" accent3="accent3" accent4="accent4" accent5="accent5" accent6="accent6" hlink="hlink" folHlink="folHlink"/>
  </p:clrMapOvr>
</p:sld>
</file>

<file path=ppt/slides/slide7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Concepts de base </a:t>
            </a:r>
          </a:p>
        </p:txBody>
      </p:sp>
      <p:sp>
        <p:nvSpPr>
          <p:cNvPr id="5" name="TextBox 4">
            <a:extLst>
              <a:ext uri="{FF2B5EF4-FFF2-40B4-BE49-F238E27FC236}">
                <a16:creationId xmlns:a16="http://schemas.microsoft.com/office/drawing/2014/main" id="{14BE8CB9-1783-B943-EF61-BBC405094810}"/>
              </a:ext>
            </a:extLst>
          </p:cNvPr>
          <p:cNvSpPr txBox="1"/>
          <p:nvPr/>
        </p:nvSpPr>
        <p:spPr>
          <a:xfrm>
            <a:off x="2168434" y="2717984"/>
            <a:ext cx="9312675" cy="2031325"/>
          </a:xfrm>
          <a:prstGeom prst="rect">
            <a:avLst/>
          </a:prstGeom>
          <a:solidFill>
            <a:schemeClr val="tx2">
              <a:lumMod val="50000"/>
            </a:schemeClr>
          </a:solidFill>
        </p:spPr>
        <p:txBody>
          <a:bodyPr wrap="square" rtlCol="0">
            <a:spAutoFit/>
          </a:bodyPr>
          <a:lstStyle>
            <a:defPPr>
              <a:defRPr lang="fr-FR"/>
            </a:defPPr>
            <a:lvl1pPr>
              <a:defRPr b="0" i="1">
                <a:solidFill>
                  <a:srgbClr val="82AAFF"/>
                </a:solidFill>
                <a:effectLst/>
                <a:latin typeface="Consolas" panose="020B0609020204030204" pitchFamily="49" charset="0"/>
              </a:defRPr>
            </a:lvl1pPr>
          </a:lstStyle>
          <a:p>
            <a:r>
              <a:rPr lang="en-US" b="0">
                <a:solidFill>
                  <a:srgbClr val="7FDBCA"/>
                </a:solidFill>
                <a:effectLst/>
                <a:latin typeface="Consolas" panose="020B0609020204030204" pitchFamily="49" charset="0"/>
              </a:rPr>
              <a:t>&lt;script </a:t>
            </a:r>
            <a:r>
              <a:rPr lang="en-US" b="0" i="1">
                <a:solidFill>
                  <a:srgbClr val="ADDB67"/>
                </a:solidFill>
                <a:effectLst/>
                <a:latin typeface="Consolas" panose="020B0609020204030204" pitchFamily="49" charset="0"/>
              </a:rPr>
              <a:t>type</a:t>
            </a:r>
            <a:r>
              <a:rPr lang="en-US" b="0">
                <a:solidFill>
                  <a:srgbClr val="C792EA"/>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text/jsx</a:t>
            </a:r>
            <a:r>
              <a:rPr lang="en-US" b="0">
                <a:solidFill>
                  <a:srgbClr val="D9F5DD"/>
                </a:solidFill>
                <a:effectLst/>
                <a:latin typeface="Consolas" panose="020B0609020204030204" pitchFamily="49" charset="0"/>
              </a:rPr>
              <a:t>"</a:t>
            </a:r>
            <a:r>
              <a:rPr lang="en-US" b="0">
                <a:solidFill>
                  <a:srgbClr val="7FDBCA"/>
                </a:solidFill>
                <a:effectLst/>
                <a:latin typeface="Consolas" panose="020B0609020204030204" pitchFamily="49" charset="0"/>
              </a:rPr>
              <a:t>&gt;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const app = document.getElementById("app")</a:t>
            </a:r>
          </a:p>
          <a:p>
            <a:r>
              <a:rPr lang="en-US" b="0">
                <a:solidFill>
                  <a:srgbClr val="D6DEEB"/>
                </a:solidFill>
                <a:effectLst/>
                <a:latin typeface="Consolas" panose="020B0609020204030204" pitchFamily="49" charset="0"/>
              </a:rPr>
              <a:t>  function Header() </a:t>
            </a:r>
            <a:r>
              <a:rPr lang="en-US" b="0">
                <a:solidFill>
                  <a:srgbClr val="D3423E"/>
                </a:solidFill>
                <a:effectLst/>
                <a:latin typeface="Consolas" panose="020B0609020204030204" pitchFamily="49" charset="0"/>
              </a:rPr>
              <a: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r>
              <a:rPr lang="en-US" b="0">
                <a:solidFill>
                  <a:srgbClr val="82AAFF"/>
                </a:solidFill>
                <a:effectLst/>
                <a:latin typeface="Consolas" panose="020B0609020204030204" pitchFamily="49" charset="0"/>
              </a:rPr>
              <a:t>return</a:t>
            </a:r>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&lt;h1&gt;</a:t>
            </a:r>
            <a:r>
              <a:rPr lang="en-US" b="0">
                <a:solidFill>
                  <a:srgbClr val="D6DEEB"/>
                </a:solidFill>
                <a:effectLst/>
                <a:latin typeface="Consolas" panose="020B0609020204030204" pitchFamily="49" charset="0"/>
              </a:rPr>
              <a:t>Develop. Preview. Ship.</a:t>
            </a:r>
            <a:r>
              <a:rPr lang="en-US" b="0">
                <a:solidFill>
                  <a:srgbClr val="7FDBCA"/>
                </a:solidFill>
                <a:effectLst/>
                <a:latin typeface="Consolas" panose="020B0609020204030204" pitchFamily="49" charset="0"/>
              </a:rPr>
              <a:t>&lt;/h1&gt;</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   </a:t>
            </a:r>
            <a:r>
              <a:rPr lang="en-US" b="0">
                <a:solidFill>
                  <a:srgbClr val="D3423E"/>
                </a:solidFill>
                <a:effectLst/>
                <a:latin typeface="Consolas" panose="020B0609020204030204" pitchFamily="49" charset="0"/>
              </a:rPr>
              <a: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ReactDOM.render(</a:t>
            </a:r>
            <a:r>
              <a:rPr lang="en-US" b="0">
                <a:solidFill>
                  <a:srgbClr val="7FDBCA"/>
                </a:solidFill>
                <a:effectLst/>
                <a:latin typeface="Consolas" panose="020B0609020204030204" pitchFamily="49" charset="0"/>
              </a:rPr>
              <a:t>&lt;</a:t>
            </a:r>
            <a:r>
              <a:rPr lang="en-US" b="0">
                <a:solidFill>
                  <a:srgbClr val="F78C6C"/>
                </a:solidFill>
                <a:effectLst/>
                <a:latin typeface="Consolas" panose="020B0609020204030204" pitchFamily="49" charset="0"/>
              </a:rPr>
              <a:t>Header</a:t>
            </a:r>
            <a:r>
              <a:rPr lang="en-US" b="0">
                <a:solidFill>
                  <a:srgbClr val="7FDBCA"/>
                </a:solidFill>
                <a:effectLst/>
                <a:latin typeface="Consolas" panose="020B0609020204030204" pitchFamily="49" charset="0"/>
              </a:rPr>
              <a:t> /&gt;</a:t>
            </a:r>
            <a:r>
              <a:rPr lang="en-US" b="0">
                <a:solidFill>
                  <a:srgbClr val="D6DEEB"/>
                </a:solidFill>
                <a:effectLst/>
                <a:latin typeface="Consolas" panose="020B0609020204030204" pitchFamily="49" charset="0"/>
              </a:rPr>
              <a:t>, app);</a:t>
            </a:r>
          </a:p>
          <a:p>
            <a:r>
              <a:rPr lang="en-US" b="0">
                <a:solidFill>
                  <a:srgbClr val="7FDBCA"/>
                </a:solidFill>
                <a:effectLst/>
                <a:latin typeface="Consolas" panose="020B0609020204030204" pitchFamily="49" charset="0"/>
              </a:rPr>
              <a:t>&lt;/script&gt;</a:t>
            </a:r>
            <a:endParaRPr lang="en-US" b="0">
              <a:solidFill>
                <a:srgbClr val="D6DEEB"/>
              </a:solidFill>
              <a:effectLst/>
              <a:latin typeface="Consolas" panose="020B0609020204030204" pitchFamily="49" charset="0"/>
            </a:endParaRPr>
          </a:p>
        </p:txBody>
      </p:sp>
      <p:sp>
        <p:nvSpPr>
          <p:cNvPr id="3" name="TextBox 2">
            <a:extLst>
              <a:ext uri="{FF2B5EF4-FFF2-40B4-BE49-F238E27FC236}">
                <a16:creationId xmlns:a16="http://schemas.microsoft.com/office/drawing/2014/main" id="{6E7D9BBE-4708-B72B-9BB9-DFD6F05EC6A3}"/>
              </a:ext>
            </a:extLst>
          </p:cNvPr>
          <p:cNvSpPr txBox="1"/>
          <p:nvPr/>
        </p:nvSpPr>
        <p:spPr>
          <a:xfrm>
            <a:off x="2168434" y="1291299"/>
            <a:ext cx="2467992"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Component</a:t>
            </a:r>
            <a:endParaRPr lang="en-US"/>
          </a:p>
        </p:txBody>
      </p:sp>
      <p:sp>
        <p:nvSpPr>
          <p:cNvPr id="6" name="TextBox 5">
            <a:extLst>
              <a:ext uri="{FF2B5EF4-FFF2-40B4-BE49-F238E27FC236}">
                <a16:creationId xmlns:a16="http://schemas.microsoft.com/office/drawing/2014/main" id="{C4330C34-0000-989B-EFA8-E8E99947ED75}"/>
              </a:ext>
            </a:extLst>
          </p:cNvPr>
          <p:cNvSpPr txBox="1"/>
          <p:nvPr/>
        </p:nvSpPr>
        <p:spPr>
          <a:xfrm>
            <a:off x="2168434" y="1669509"/>
            <a:ext cx="9177228" cy="669863"/>
          </a:xfrm>
          <a:prstGeom prst="rect">
            <a:avLst/>
          </a:prstGeom>
          <a:noFill/>
        </p:spPr>
        <p:txBody>
          <a:bodyPr wrap="square" rtlCol="0">
            <a:spAutoFit/>
          </a:bodyPr>
          <a:lstStyle/>
          <a:p>
            <a:pPr marL="0" marR="0">
              <a:lnSpc>
                <a:spcPct val="107000"/>
              </a:lnSpc>
              <a:spcBef>
                <a:spcPts val="0"/>
              </a:spcBef>
              <a:spcAft>
                <a:spcPts val="800"/>
              </a:spcAft>
            </a:pPr>
            <a:r>
              <a:rPr lang="fr-CA" sz="1800">
                <a:effectLst/>
                <a:latin typeface="Calibri" panose="020F0502020204030204" pitchFamily="34" charset="0"/>
                <a:ea typeface="Calibri" panose="020F0502020204030204" pitchFamily="34" charset="0"/>
                <a:cs typeface="Arial" panose="020B0604020202020204" pitchFamily="34" charset="0"/>
              </a:rPr>
              <a:t>Un composant est une fonction qui renvoie des éléments d'interface utilisateur. Dans l'instruction de retour de la fonction, vous pouvez écrire JSX :</a:t>
            </a:r>
            <a:endParaRPr lang="en-US"/>
          </a:p>
        </p:txBody>
      </p:sp>
    </p:spTree>
    <p:extLst>
      <p:ext uri="{BB962C8B-B14F-4D97-AF65-F5344CB8AC3E}">
        <p14:creationId xmlns:p14="http://schemas.microsoft.com/office/powerpoint/2010/main" val="3694466139"/>
      </p:ext>
    </p:extLst>
  </p:cSld>
  <p:clrMapOvr>
    <a:overrideClrMapping bg1="lt1" tx1="dk1" bg2="lt2" tx2="dk2" accent1="accent1" accent2="accent2" accent3="accent3" accent4="accent4" accent5="accent5" accent6="accent6" hlink="hlink" folHlink="folHlink"/>
  </p:clrMapOvr>
</p:sld>
</file>

<file path=ppt/slides/slide7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Concepts de base </a:t>
            </a:r>
          </a:p>
        </p:txBody>
      </p:sp>
      <p:sp>
        <p:nvSpPr>
          <p:cNvPr id="5" name="TextBox 4">
            <a:extLst>
              <a:ext uri="{FF2B5EF4-FFF2-40B4-BE49-F238E27FC236}">
                <a16:creationId xmlns:a16="http://schemas.microsoft.com/office/drawing/2014/main" id="{14BE8CB9-1783-B943-EF61-BBC405094810}"/>
              </a:ext>
            </a:extLst>
          </p:cNvPr>
          <p:cNvSpPr txBox="1"/>
          <p:nvPr/>
        </p:nvSpPr>
        <p:spPr>
          <a:xfrm>
            <a:off x="2168434" y="2407266"/>
            <a:ext cx="9312675" cy="3139321"/>
          </a:xfrm>
          <a:prstGeom prst="rect">
            <a:avLst/>
          </a:prstGeom>
          <a:solidFill>
            <a:schemeClr val="tx2">
              <a:lumMod val="50000"/>
            </a:schemeClr>
          </a:solidFill>
        </p:spPr>
        <p:txBody>
          <a:bodyPr wrap="square" lIns="91440" tIns="45720" rIns="91440" bIns="45720" rtlCol="0" anchor="t">
            <a:spAutoFit/>
          </a:bodyPr>
          <a:lstStyle>
            <a:defPPr>
              <a:defRPr lang="fr-FR"/>
            </a:defPPr>
            <a:lvl1pPr>
              <a:defRPr b="0" i="1">
                <a:solidFill>
                  <a:srgbClr val="82AAFF"/>
                </a:solidFill>
                <a:effectLst/>
                <a:latin typeface="Consolas" panose="020B0609020204030204" pitchFamily="49" charset="0"/>
              </a:defRPr>
            </a:lvl1pPr>
          </a:lstStyle>
          <a:p>
            <a:r>
              <a:rPr lang="en-US" b="0">
                <a:solidFill>
                  <a:srgbClr val="82AAFF"/>
                </a:solidFill>
                <a:effectLst/>
                <a:latin typeface="Consolas"/>
              </a:rPr>
              <a:t>function</a:t>
            </a:r>
            <a:r>
              <a:rPr lang="en-US" b="0">
                <a:solidFill>
                  <a:srgbClr val="D6DEEB"/>
                </a:solidFill>
                <a:effectLst/>
                <a:latin typeface="Consolas"/>
              </a:rPr>
              <a:t> </a:t>
            </a:r>
            <a:r>
              <a:rPr lang="en-US" b="0">
                <a:solidFill>
                  <a:srgbClr val="82AAFF"/>
                </a:solidFill>
                <a:effectLst/>
                <a:latin typeface="Consolas"/>
              </a:rPr>
              <a:t>Header</a:t>
            </a:r>
            <a:r>
              <a:rPr lang="en-US" b="0">
                <a:solidFill>
                  <a:srgbClr val="D9F5DD"/>
                </a:solidFill>
                <a:effectLst/>
                <a:latin typeface="Consolas"/>
              </a:rPr>
              <a:t>()</a:t>
            </a:r>
            <a:r>
              <a:rPr lang="en-US" b="0">
                <a:solidFill>
                  <a:srgbClr val="D6DEEB"/>
                </a:solidFill>
                <a:effectLst/>
                <a:latin typeface="Consolas"/>
              </a:rPr>
              <a:t> {</a:t>
            </a:r>
          </a:p>
          <a:p>
            <a:r>
              <a:rPr lang="en-US" b="0">
                <a:solidFill>
                  <a:srgbClr val="D6DEEB"/>
                </a:solidFill>
                <a:effectLst/>
                <a:latin typeface="Consolas"/>
              </a:rPr>
              <a:t>    </a:t>
            </a:r>
            <a:r>
              <a:rPr lang="en-US" b="0" i="1">
                <a:solidFill>
                  <a:srgbClr val="C792EA"/>
                </a:solidFill>
                <a:effectLst/>
                <a:latin typeface="Consolas"/>
              </a:rPr>
              <a:t>return</a:t>
            </a:r>
            <a:r>
              <a:rPr lang="en-US" b="0">
                <a:solidFill>
                  <a:srgbClr val="D6DEEB"/>
                </a:solidFill>
                <a:effectLst/>
                <a:latin typeface="Consolas"/>
              </a:rPr>
              <a:t> </a:t>
            </a:r>
            <a:r>
              <a:rPr lang="en-US" b="0">
                <a:solidFill>
                  <a:srgbClr val="7FDBCA"/>
                </a:solidFill>
                <a:effectLst/>
                <a:latin typeface="Consolas"/>
              </a:rPr>
              <a:t>&lt;h1&gt;</a:t>
            </a:r>
            <a:r>
              <a:rPr lang="en-US" b="0">
                <a:solidFill>
                  <a:srgbClr val="D6DEEB"/>
                </a:solidFill>
                <a:effectLst/>
                <a:latin typeface="Consolas"/>
              </a:rPr>
              <a:t>Develop. Preview. Ship.</a:t>
            </a:r>
            <a:r>
              <a:rPr lang="en-US" b="0">
                <a:solidFill>
                  <a:srgbClr val="7FDBCA"/>
                </a:solidFill>
                <a:effectLst/>
                <a:latin typeface="Consolas"/>
              </a:rPr>
              <a:t>&lt;/h1&gt;</a:t>
            </a:r>
            <a:r>
              <a:rPr lang="en-US" b="0">
                <a:solidFill>
                  <a:srgbClr val="D6DEEB"/>
                </a:solidFill>
                <a:effectLst/>
                <a:latin typeface="Consolas"/>
              </a:rPr>
              <a:t>;</a:t>
            </a:r>
          </a:p>
          <a:p>
            <a:r>
              <a:rPr lang="en-US" b="0">
                <a:solidFill>
                  <a:srgbClr val="D6DEEB"/>
                </a:solidFill>
                <a:effectLst/>
                <a:latin typeface="Consolas"/>
              </a:rPr>
              <a:t>  }</a:t>
            </a:r>
          </a:p>
          <a:p>
            <a:r>
              <a:rPr lang="en-US" b="0">
                <a:solidFill>
                  <a:srgbClr val="D6DEEB"/>
                </a:solidFill>
                <a:effectLst/>
                <a:latin typeface="Consolas"/>
              </a:rPr>
              <a:t>  </a:t>
            </a:r>
            <a:r>
              <a:rPr lang="en-US" b="0">
                <a:solidFill>
                  <a:srgbClr val="82AAFF"/>
                </a:solidFill>
                <a:effectLst/>
                <a:latin typeface="Consolas"/>
              </a:rPr>
              <a:t>function</a:t>
            </a:r>
            <a:r>
              <a:rPr lang="en-US" b="0">
                <a:solidFill>
                  <a:srgbClr val="D6DEEB"/>
                </a:solidFill>
                <a:effectLst/>
                <a:latin typeface="Consolas"/>
              </a:rPr>
              <a:t> </a:t>
            </a:r>
            <a:r>
              <a:rPr lang="en-US" b="0">
                <a:solidFill>
                  <a:srgbClr val="82AAFF"/>
                </a:solidFill>
                <a:effectLst/>
                <a:latin typeface="Consolas"/>
              </a:rPr>
              <a:t>HomePage</a:t>
            </a:r>
            <a:r>
              <a:rPr lang="en-US" b="0">
                <a:solidFill>
                  <a:srgbClr val="D9F5DD"/>
                </a:solidFill>
                <a:effectLst/>
                <a:latin typeface="Consolas"/>
              </a:rPr>
              <a:t>()</a:t>
            </a:r>
            <a:r>
              <a:rPr lang="en-US" b="0">
                <a:solidFill>
                  <a:srgbClr val="D6DEEB"/>
                </a:solidFill>
                <a:effectLst/>
                <a:latin typeface="Consolas"/>
              </a:rPr>
              <a:t> {</a:t>
            </a:r>
          </a:p>
          <a:p>
            <a:r>
              <a:rPr lang="en-US" b="0">
                <a:solidFill>
                  <a:srgbClr val="D6DEEB"/>
                </a:solidFill>
                <a:effectLst/>
                <a:latin typeface="Consolas"/>
              </a:rPr>
              <a:t>    </a:t>
            </a:r>
            <a:r>
              <a:rPr lang="en-US" b="0" i="1">
                <a:solidFill>
                  <a:srgbClr val="C792EA"/>
                </a:solidFill>
                <a:effectLst/>
                <a:latin typeface="Consolas"/>
              </a:rPr>
              <a:t>return</a:t>
            </a:r>
            <a:r>
              <a:rPr lang="en-US" b="0">
                <a:solidFill>
                  <a:srgbClr val="D6DEEB"/>
                </a:solidFill>
                <a:effectLst/>
                <a:latin typeface="Consolas"/>
              </a:rPr>
              <a:t> (</a:t>
            </a:r>
          </a:p>
          <a:p>
            <a:r>
              <a:rPr lang="en-US" b="0">
                <a:solidFill>
                  <a:srgbClr val="D6DEEB"/>
                </a:solidFill>
                <a:effectLst/>
                <a:latin typeface="Consolas"/>
              </a:rPr>
              <a:t>      </a:t>
            </a:r>
            <a:r>
              <a:rPr lang="en-US" b="0">
                <a:solidFill>
                  <a:srgbClr val="7FDBCA"/>
                </a:solidFill>
                <a:effectLst/>
                <a:latin typeface="Consolas"/>
              </a:rPr>
              <a:t>&lt;div&gt;</a:t>
            </a:r>
            <a:endParaRPr lang="en-US" b="0">
              <a:solidFill>
                <a:srgbClr val="D6DEEB"/>
              </a:solidFill>
              <a:effectLst/>
              <a:latin typeface="Consolas"/>
            </a:endParaRPr>
          </a:p>
          <a:p>
            <a:r>
              <a:rPr lang="en-US" b="0">
                <a:solidFill>
                  <a:srgbClr val="D6DEEB"/>
                </a:solidFill>
                <a:effectLst/>
                <a:latin typeface="Consolas"/>
              </a:rPr>
              <a:t>        </a:t>
            </a:r>
            <a:r>
              <a:rPr lang="en-US" b="0">
                <a:solidFill>
                  <a:srgbClr val="7FDBCA"/>
                </a:solidFill>
                <a:effectLst/>
                <a:latin typeface="Consolas"/>
              </a:rPr>
              <a:t>&lt;</a:t>
            </a:r>
            <a:r>
              <a:rPr lang="en-US" b="0">
                <a:solidFill>
                  <a:srgbClr val="F78C6C"/>
                </a:solidFill>
                <a:effectLst/>
                <a:latin typeface="Consolas"/>
              </a:rPr>
              <a:t>Header</a:t>
            </a:r>
            <a:r>
              <a:rPr lang="en-US" b="0">
                <a:solidFill>
                  <a:srgbClr val="7FDBCA"/>
                </a:solidFill>
                <a:effectLst/>
                <a:latin typeface="Consolas"/>
              </a:rPr>
              <a:t> /&gt;</a:t>
            </a:r>
            <a:endParaRPr lang="en-US" b="0">
              <a:solidFill>
                <a:srgbClr val="D6DEEB"/>
              </a:solidFill>
              <a:effectLst/>
              <a:latin typeface="Consolas"/>
            </a:endParaRPr>
          </a:p>
          <a:p>
            <a:r>
              <a:rPr lang="en-US" b="0">
                <a:solidFill>
                  <a:srgbClr val="D6DEEB"/>
                </a:solidFill>
                <a:effectLst/>
                <a:latin typeface="Consolas"/>
              </a:rPr>
              <a:t>        </a:t>
            </a:r>
            <a:r>
              <a:rPr lang="en-US" b="0">
                <a:solidFill>
                  <a:srgbClr val="7FDBCA"/>
                </a:solidFill>
                <a:effectLst/>
                <a:latin typeface="Consolas"/>
              </a:rPr>
              <a:t>&lt;</a:t>
            </a:r>
            <a:r>
              <a:rPr lang="en-US" b="0">
                <a:solidFill>
                  <a:srgbClr val="F78C6C"/>
                </a:solidFill>
                <a:effectLst/>
                <a:latin typeface="Consolas"/>
              </a:rPr>
              <a:t>Header</a:t>
            </a:r>
            <a:r>
              <a:rPr lang="en-US" b="0">
                <a:solidFill>
                  <a:srgbClr val="7FDBCA"/>
                </a:solidFill>
                <a:effectLst/>
                <a:latin typeface="Consolas"/>
              </a:rPr>
              <a:t> /&gt;</a:t>
            </a:r>
            <a:endParaRPr lang="en-US" b="0">
              <a:solidFill>
                <a:srgbClr val="D6DEEB"/>
              </a:solidFill>
              <a:effectLst/>
              <a:latin typeface="Consolas"/>
            </a:endParaRPr>
          </a:p>
          <a:p>
            <a:r>
              <a:rPr lang="en-US" b="0">
                <a:solidFill>
                  <a:srgbClr val="D6DEEB"/>
                </a:solidFill>
                <a:effectLst/>
                <a:latin typeface="Consolas"/>
              </a:rPr>
              <a:t>      </a:t>
            </a:r>
            <a:r>
              <a:rPr lang="en-US" b="0">
                <a:solidFill>
                  <a:srgbClr val="7FDBCA"/>
                </a:solidFill>
                <a:effectLst/>
                <a:latin typeface="Consolas"/>
              </a:rPr>
              <a:t>&lt;/div&gt;</a:t>
            </a:r>
            <a:endParaRPr lang="en-US" b="0">
              <a:solidFill>
                <a:srgbClr val="D6DEEB"/>
              </a:solidFill>
              <a:effectLst/>
              <a:latin typeface="Consolas"/>
            </a:endParaRPr>
          </a:p>
          <a:p>
            <a:r>
              <a:rPr lang="en-US" b="0">
                <a:solidFill>
                  <a:srgbClr val="D6DEEB"/>
                </a:solidFill>
                <a:effectLst/>
                <a:latin typeface="Consolas"/>
              </a:rPr>
              <a:t>    );</a:t>
            </a:r>
          </a:p>
          <a:p>
            <a:r>
              <a:rPr lang="en-US" b="0">
                <a:solidFill>
                  <a:srgbClr val="D6DEEB"/>
                </a:solidFill>
                <a:effectLst/>
                <a:latin typeface="Consolas"/>
              </a:rPr>
              <a:t>  }</a:t>
            </a:r>
          </a:p>
        </p:txBody>
      </p:sp>
      <p:sp>
        <p:nvSpPr>
          <p:cNvPr id="3" name="TextBox 2">
            <a:extLst>
              <a:ext uri="{FF2B5EF4-FFF2-40B4-BE49-F238E27FC236}">
                <a16:creationId xmlns:a16="http://schemas.microsoft.com/office/drawing/2014/main" id="{6E7D9BBE-4708-B72B-9BB9-DFD6F05EC6A3}"/>
              </a:ext>
            </a:extLst>
          </p:cNvPr>
          <p:cNvSpPr txBox="1"/>
          <p:nvPr/>
        </p:nvSpPr>
        <p:spPr>
          <a:xfrm>
            <a:off x="2168434" y="1291299"/>
            <a:ext cx="2467992" cy="37555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Props (Properties) </a:t>
            </a:r>
            <a:endParaRPr lang="en-US"/>
          </a:p>
        </p:txBody>
      </p:sp>
      <p:sp>
        <p:nvSpPr>
          <p:cNvPr id="6" name="TextBox 5">
            <a:extLst>
              <a:ext uri="{FF2B5EF4-FFF2-40B4-BE49-F238E27FC236}">
                <a16:creationId xmlns:a16="http://schemas.microsoft.com/office/drawing/2014/main" id="{C4330C34-0000-989B-EFA8-E8E99947ED75}"/>
              </a:ext>
            </a:extLst>
          </p:cNvPr>
          <p:cNvSpPr txBox="1"/>
          <p:nvPr/>
        </p:nvSpPr>
        <p:spPr>
          <a:xfrm>
            <a:off x="2168434" y="1669509"/>
            <a:ext cx="9177228" cy="669863"/>
          </a:xfrm>
          <a:prstGeom prst="rect">
            <a:avLst/>
          </a:prstGeom>
          <a:noFill/>
        </p:spPr>
        <p:txBody>
          <a:bodyPr wrap="square" rtlCol="0">
            <a:spAutoFit/>
          </a:bodyPr>
          <a:lstStyle/>
          <a:p>
            <a:pPr marL="0" marR="0">
              <a:lnSpc>
                <a:spcPct val="107000"/>
              </a:lnSpc>
              <a:spcBef>
                <a:spcPts val="0"/>
              </a:spcBef>
              <a:spcAft>
                <a:spcPts val="800"/>
              </a:spcAft>
            </a:pPr>
            <a:r>
              <a:rPr lang="fr-CA" sz="1800">
                <a:effectLst/>
                <a:latin typeface="Calibri" panose="020F0502020204030204" pitchFamily="34" charset="0"/>
                <a:ea typeface="Calibri" panose="020F0502020204030204" pitchFamily="34" charset="0"/>
                <a:cs typeface="Arial" panose="020B0604020202020204" pitchFamily="34" charset="0"/>
              </a:rPr>
              <a:t>Jusqu'à présent, si vous deviez réutiliser votre composant &lt;Header /&gt;, il afficherait le même contenu à chaque fois. </a:t>
            </a:r>
            <a:endParaRPr lang="en-US" sz="180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782408125"/>
      </p:ext>
    </p:extLst>
  </p:cSld>
  <p:clrMapOvr>
    <a:overrideClrMapping bg1="lt1" tx1="dk1" bg2="lt2" tx2="dk2" accent1="accent1" accent2="accent2" accent3="accent3" accent4="accent4" accent5="accent5" accent6="accent6" hlink="hlink" folHlink="folHlink"/>
  </p:clrMapOvr>
</p:sld>
</file>

<file path=ppt/slides/slide7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Concepts de base </a:t>
            </a:r>
          </a:p>
        </p:txBody>
      </p:sp>
      <p:sp>
        <p:nvSpPr>
          <p:cNvPr id="3" name="TextBox 2">
            <a:extLst>
              <a:ext uri="{FF2B5EF4-FFF2-40B4-BE49-F238E27FC236}">
                <a16:creationId xmlns:a16="http://schemas.microsoft.com/office/drawing/2014/main" id="{6E7D9BBE-4708-B72B-9BB9-DFD6F05EC6A3}"/>
              </a:ext>
            </a:extLst>
          </p:cNvPr>
          <p:cNvSpPr txBox="1"/>
          <p:nvPr/>
        </p:nvSpPr>
        <p:spPr>
          <a:xfrm>
            <a:off x="2168434" y="1291299"/>
            <a:ext cx="2467992" cy="375552"/>
          </a:xfrm>
          <a:prstGeom prst="rect">
            <a:avLst/>
          </a:prstGeom>
          <a:noFill/>
        </p:spPr>
        <p:txBody>
          <a:bodyPr wrap="square" lIns="91440" tIns="45720" rIns="91440" bIns="45720" rtlCol="0" anchor="t">
            <a:spAutoFit/>
          </a:bodyPr>
          <a:lstStyle>
            <a:defPPr>
              <a:defRPr lang="fr-FR"/>
            </a:defPPr>
            <a:lvl1pPr>
              <a:defRPr>
                <a:ln w="0"/>
                <a:solidFill>
                  <a:schemeClr val="accent1"/>
                </a:solidFill>
                <a:effectLst/>
              </a:defRPr>
            </a:lvl1pPr>
          </a:lstStyle>
          <a:p>
            <a:r>
              <a:rPr lang="fr-CA"/>
              <a:t>Props (Properties) </a:t>
            </a:r>
            <a:endParaRPr lang="en-US"/>
          </a:p>
        </p:txBody>
      </p:sp>
      <p:sp>
        <p:nvSpPr>
          <p:cNvPr id="6" name="TextBox 5">
            <a:extLst>
              <a:ext uri="{FF2B5EF4-FFF2-40B4-BE49-F238E27FC236}">
                <a16:creationId xmlns:a16="http://schemas.microsoft.com/office/drawing/2014/main" id="{C4330C34-0000-989B-EFA8-E8E99947ED75}"/>
              </a:ext>
            </a:extLst>
          </p:cNvPr>
          <p:cNvSpPr txBox="1"/>
          <p:nvPr/>
        </p:nvSpPr>
        <p:spPr>
          <a:xfrm>
            <a:off x="2168434" y="1669509"/>
            <a:ext cx="9177228" cy="2552686"/>
          </a:xfrm>
          <a:prstGeom prst="rect">
            <a:avLst/>
          </a:prstGeom>
          <a:noFill/>
        </p:spPr>
        <p:txBody>
          <a:bodyPr wrap="square" rtlCol="0">
            <a:spAutoFit/>
          </a:bodyPr>
          <a:lstStyle/>
          <a:p>
            <a:pPr marL="0" marR="0">
              <a:lnSpc>
                <a:spcPct val="107000"/>
              </a:lnSpc>
              <a:spcBef>
                <a:spcPts val="0"/>
              </a:spcBef>
              <a:spcAft>
                <a:spcPts val="800"/>
              </a:spcAft>
            </a:pPr>
            <a:r>
              <a:rPr lang="fr-CA" sz="1800">
                <a:effectLst/>
                <a:latin typeface="Calibri" panose="020F0502020204030204" pitchFamily="34" charset="0"/>
                <a:ea typeface="Calibri" panose="020F0502020204030204" pitchFamily="34" charset="0"/>
                <a:cs typeface="Arial" panose="020B0604020202020204" pitchFamily="34" charset="0"/>
              </a:rPr>
              <a:t>Mais que se passe-t-il si vous souhaitez transmettre un texte différent ou si vous ne connaissez pas les informations à l'avance parce que vous récupérez des données à partir d'une source externe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fr-CA" sz="1800">
                <a:effectLst/>
                <a:latin typeface="Calibri" panose="020F0502020204030204" pitchFamily="34" charset="0"/>
                <a:ea typeface="Calibri" panose="020F0502020204030204" pitchFamily="34" charset="0"/>
                <a:cs typeface="Arial" panose="020B0604020202020204" pitchFamily="34" charset="0"/>
              </a:rPr>
              <a:t>Les éléments HTML réguliers ont des attributs que vous pouvez utiliser pour transmettre des informations qui modifient le comportement de ces éléments. Par exemple, la modification de l'attribut src d'un élément &lt;img&gt; modifie l'image affichée. Changer l'attribut href d'une balise &lt;a&gt; change la destination du lien.</a:t>
            </a:r>
            <a:r>
              <a:rPr lang="en-US">
                <a:latin typeface="Calibri" panose="020F0502020204030204" pitchFamily="34" charset="0"/>
                <a:ea typeface="Calibri" panose="020F0502020204030204" pitchFamily="34" charset="0"/>
                <a:cs typeface="Arial" panose="020B0604020202020204" pitchFamily="34" charset="0"/>
              </a:rPr>
              <a:t> </a:t>
            </a:r>
            <a:r>
              <a:rPr lang="fr-CA" sz="1800">
                <a:effectLst/>
                <a:latin typeface="Calibri" panose="020F0502020204030204" pitchFamily="34" charset="0"/>
                <a:ea typeface="Calibri" panose="020F0502020204030204" pitchFamily="34" charset="0"/>
                <a:cs typeface="Arial" panose="020B0604020202020204" pitchFamily="34" charset="0"/>
              </a:rPr>
              <a:t>De la même manière, vous pouvez transmettre des informations en tant que propriétés aux composants React. </a:t>
            </a:r>
            <a:r>
              <a:rPr lang="en-US" sz="1800">
                <a:effectLst/>
                <a:latin typeface="Calibri" panose="020F0502020204030204" pitchFamily="34" charset="0"/>
                <a:ea typeface="Calibri" panose="020F0502020204030204" pitchFamily="34" charset="0"/>
                <a:cs typeface="Arial" panose="020B0604020202020204" pitchFamily="34" charset="0"/>
              </a:rPr>
              <a:t>Ceux-ci sont appelés </a:t>
            </a:r>
            <a:r>
              <a:rPr lang="en-US" sz="1800" b="1" u="sng">
                <a:effectLst/>
                <a:latin typeface="Calibri" panose="020F0502020204030204" pitchFamily="34" charset="0"/>
                <a:ea typeface="Calibri" panose="020F0502020204030204" pitchFamily="34" charset="0"/>
                <a:cs typeface="Arial" panose="020B0604020202020204" pitchFamily="34" charset="0"/>
              </a:rPr>
              <a:t>props</a:t>
            </a:r>
            <a:r>
              <a:rPr lang="en-US" sz="1800">
                <a:effectLst/>
                <a:latin typeface="Calibri" panose="020F0502020204030204" pitchFamily="34" charset="0"/>
                <a:ea typeface="Calibri" panose="020F0502020204030204" pitchFamily="34" charset="0"/>
                <a:cs typeface="Arial" panose="020B0604020202020204" pitchFamily="34" charset="0"/>
              </a:rPr>
              <a:t>.</a:t>
            </a:r>
          </a:p>
        </p:txBody>
      </p:sp>
      <p:sp>
        <p:nvSpPr>
          <p:cNvPr id="2" name="TextBox 1">
            <a:extLst>
              <a:ext uri="{FF2B5EF4-FFF2-40B4-BE49-F238E27FC236}">
                <a16:creationId xmlns:a16="http://schemas.microsoft.com/office/drawing/2014/main" id="{5DE89129-4873-B01B-E002-249663682AEF}"/>
              </a:ext>
            </a:extLst>
          </p:cNvPr>
          <p:cNvSpPr txBox="1"/>
          <p:nvPr/>
        </p:nvSpPr>
        <p:spPr>
          <a:xfrm>
            <a:off x="2168434" y="4314548"/>
            <a:ext cx="9274883" cy="2308324"/>
          </a:xfrm>
          <a:prstGeom prst="rect">
            <a:avLst/>
          </a:prstGeom>
          <a:solidFill>
            <a:schemeClr val="tx2">
              <a:lumMod val="50000"/>
            </a:schemeClr>
          </a:solidFill>
        </p:spPr>
        <p:txBody>
          <a:bodyPr wrap="square" lIns="91440" tIns="45720" rIns="91440" bIns="45720" rtlCol="0" anchor="t">
            <a:spAutoFit/>
          </a:bodyPr>
          <a:lstStyle>
            <a:defPPr>
              <a:defRPr lang="fr-FR"/>
            </a:defPPr>
            <a:lvl1pPr>
              <a:defRPr b="0" i="1">
                <a:solidFill>
                  <a:srgbClr val="82AAFF"/>
                </a:solidFill>
                <a:effectLst/>
                <a:latin typeface="Consolas" panose="020B0609020204030204" pitchFamily="49" charset="0"/>
              </a:defRPr>
            </a:lvl1pPr>
          </a:lstStyle>
          <a:p>
            <a:r>
              <a:rPr lang="en-US" b="0" dirty="0">
                <a:solidFill>
                  <a:srgbClr val="82AAFF"/>
                </a:solidFill>
                <a:effectLst/>
                <a:latin typeface="Consolas"/>
              </a:rPr>
              <a:t>function</a:t>
            </a:r>
            <a:r>
              <a:rPr lang="en-US" b="0" dirty="0">
                <a:solidFill>
                  <a:srgbClr val="D6DEEB"/>
                </a:solidFill>
                <a:effectLst/>
                <a:latin typeface="Consolas"/>
              </a:rPr>
              <a:t> </a:t>
            </a:r>
            <a:r>
              <a:rPr lang="en-US" b="0" dirty="0">
                <a:solidFill>
                  <a:srgbClr val="82AAFF"/>
                </a:solidFill>
                <a:effectLst/>
                <a:latin typeface="Consolas"/>
              </a:rPr>
              <a:t>Header</a:t>
            </a:r>
            <a:r>
              <a:rPr lang="en-US" b="0" dirty="0">
                <a:solidFill>
                  <a:srgbClr val="D9F5DD"/>
                </a:solidFill>
                <a:effectLst/>
                <a:latin typeface="Consolas"/>
              </a:rPr>
              <a:t>(</a:t>
            </a:r>
            <a:r>
              <a:rPr lang="en-US" b="0" dirty="0">
                <a:solidFill>
                  <a:srgbClr val="D7DBE0"/>
                </a:solidFill>
                <a:effectLst/>
                <a:latin typeface="Consolas"/>
              </a:rPr>
              <a:t>props</a:t>
            </a:r>
            <a:r>
              <a:rPr lang="en-US" b="0" dirty="0">
                <a:solidFill>
                  <a:srgbClr val="D9F5DD"/>
                </a:solidFill>
                <a:effectLst/>
                <a:latin typeface="Consolas"/>
              </a:rPr>
              <a:t>)</a:t>
            </a:r>
            <a:r>
              <a:rPr lang="en-US" b="0" dirty="0">
                <a:solidFill>
                  <a:srgbClr val="D6DEEB"/>
                </a:solidFill>
                <a:effectLst/>
                <a:latin typeface="Consolas"/>
              </a:rPr>
              <a:t> {</a:t>
            </a:r>
            <a:r>
              <a:rPr lang="en-US" b="0" i="1" dirty="0">
                <a:solidFill>
                  <a:srgbClr val="C792EA"/>
                </a:solidFill>
                <a:effectLst/>
                <a:latin typeface="Consolas"/>
              </a:rPr>
              <a:t>return</a:t>
            </a:r>
            <a:r>
              <a:rPr lang="en-US" b="0" dirty="0">
                <a:solidFill>
                  <a:srgbClr val="D6DEEB"/>
                </a:solidFill>
                <a:effectLst/>
                <a:latin typeface="Consolas"/>
              </a:rPr>
              <a:t> </a:t>
            </a:r>
            <a:r>
              <a:rPr lang="en-US" b="0" dirty="0">
                <a:solidFill>
                  <a:srgbClr val="7FDBCA"/>
                </a:solidFill>
                <a:effectLst/>
                <a:latin typeface="Consolas"/>
              </a:rPr>
              <a:t>&lt;h1&gt;</a:t>
            </a:r>
            <a:r>
              <a:rPr lang="en-US" b="0" dirty="0">
                <a:solidFill>
                  <a:srgbClr val="D3423E"/>
                </a:solidFill>
                <a:effectLst/>
                <a:latin typeface="Consolas"/>
              </a:rPr>
              <a:t>{</a:t>
            </a:r>
            <a:r>
              <a:rPr lang="en-US" b="0" dirty="0" err="1">
                <a:solidFill>
                  <a:srgbClr val="D6DEEB"/>
                </a:solidFill>
                <a:effectLst/>
                <a:latin typeface="Consolas"/>
              </a:rPr>
              <a:t>props</a:t>
            </a:r>
            <a:r>
              <a:rPr lang="en-US" b="0" i="1" dirty="0" err="1">
                <a:solidFill>
                  <a:srgbClr val="C792EA"/>
                </a:solidFill>
                <a:effectLst/>
                <a:latin typeface="Consolas"/>
              </a:rPr>
              <a:t>.</a:t>
            </a:r>
            <a:r>
              <a:rPr lang="en-US" b="0" dirty="0" err="1">
                <a:solidFill>
                  <a:srgbClr val="7FDBCA"/>
                </a:solidFill>
                <a:effectLst/>
                <a:latin typeface="Consolas"/>
              </a:rPr>
              <a:t>title</a:t>
            </a:r>
            <a:r>
              <a:rPr lang="en-US" b="0" dirty="0">
                <a:solidFill>
                  <a:srgbClr val="D3423E"/>
                </a:solidFill>
                <a:effectLst/>
                <a:latin typeface="Consolas"/>
              </a:rPr>
              <a:t>}</a:t>
            </a:r>
            <a:r>
              <a:rPr lang="en-US" b="0" dirty="0">
                <a:solidFill>
                  <a:srgbClr val="7FDBCA"/>
                </a:solidFill>
                <a:effectLst/>
                <a:latin typeface="Consolas"/>
              </a:rPr>
              <a:t>&lt;/h1&gt;</a:t>
            </a:r>
            <a:r>
              <a:rPr lang="en-US" b="0" dirty="0">
                <a:solidFill>
                  <a:srgbClr val="D6DEEB"/>
                </a:solidFill>
                <a:effectLst/>
                <a:latin typeface="Consolas"/>
              </a:rPr>
              <a:t>;}</a:t>
            </a:r>
          </a:p>
          <a:p>
            <a:r>
              <a:rPr lang="en-US" b="0" dirty="0">
                <a:solidFill>
                  <a:srgbClr val="D6DEEB"/>
                </a:solidFill>
                <a:effectLst/>
                <a:latin typeface="Consolas"/>
              </a:rPr>
              <a:t>  </a:t>
            </a:r>
            <a:r>
              <a:rPr lang="en-US" b="0" dirty="0">
                <a:solidFill>
                  <a:srgbClr val="82AAFF"/>
                </a:solidFill>
                <a:effectLst/>
                <a:latin typeface="Consolas"/>
              </a:rPr>
              <a:t>function</a:t>
            </a:r>
            <a:r>
              <a:rPr lang="en-US" dirty="0">
                <a:solidFill>
                  <a:srgbClr val="D6DEEB"/>
                </a:solidFill>
                <a:latin typeface="Consolas"/>
              </a:rPr>
              <a:t> </a:t>
            </a:r>
            <a:r>
              <a:rPr lang="en-US" dirty="0" err="1">
                <a:solidFill>
                  <a:srgbClr val="D6DEEB"/>
                </a:solidFill>
                <a:latin typeface="Consolas"/>
              </a:rPr>
              <a:t>Home</a:t>
            </a:r>
            <a:r>
              <a:rPr lang="en-US" dirty="0" err="1">
                <a:latin typeface="Consolas"/>
              </a:rPr>
              <a:t>Page</a:t>
            </a:r>
            <a:r>
              <a:rPr lang="en-US" b="0" dirty="0">
                <a:solidFill>
                  <a:srgbClr val="D9F5DD"/>
                </a:solidFill>
                <a:effectLst/>
                <a:latin typeface="Consolas"/>
              </a:rPr>
              <a:t>()</a:t>
            </a:r>
            <a:r>
              <a:rPr lang="en-US" b="0" dirty="0">
                <a:solidFill>
                  <a:srgbClr val="D6DEEB"/>
                </a:solidFill>
                <a:effectLst/>
                <a:latin typeface="Consolas"/>
              </a:rPr>
              <a:t> {</a:t>
            </a:r>
          </a:p>
          <a:p>
            <a:r>
              <a:rPr lang="en-US" b="0" dirty="0">
                <a:solidFill>
                  <a:srgbClr val="D6DEEB"/>
                </a:solidFill>
                <a:effectLst/>
                <a:latin typeface="Consolas"/>
              </a:rPr>
              <a:t>    </a:t>
            </a:r>
            <a:r>
              <a:rPr lang="en-US" b="0" i="1" dirty="0">
                <a:solidFill>
                  <a:srgbClr val="C792EA"/>
                </a:solidFill>
                <a:effectLst/>
                <a:latin typeface="Consolas"/>
              </a:rPr>
              <a:t>return</a:t>
            </a:r>
            <a:r>
              <a:rPr lang="en-US" b="0" dirty="0">
                <a:solidFill>
                  <a:srgbClr val="D6DEEB"/>
                </a:solidFill>
                <a:effectLst/>
                <a:latin typeface="Consolas"/>
              </a:rPr>
              <a:t> (</a:t>
            </a:r>
          </a:p>
          <a:p>
            <a:r>
              <a:rPr lang="en-US" b="0" dirty="0">
                <a:solidFill>
                  <a:srgbClr val="D6DEEB"/>
                </a:solidFill>
                <a:effectLst/>
                <a:latin typeface="Consolas"/>
              </a:rPr>
              <a:t>      </a:t>
            </a:r>
            <a:r>
              <a:rPr lang="en-US" b="0" dirty="0">
                <a:solidFill>
                  <a:srgbClr val="7FDBCA"/>
                </a:solidFill>
                <a:effectLst/>
                <a:latin typeface="Consolas"/>
              </a:rPr>
              <a:t>&lt;div&gt;</a:t>
            </a:r>
            <a:endParaRPr lang="en-US" b="0" dirty="0">
              <a:solidFill>
                <a:srgbClr val="D6DEEB"/>
              </a:solidFill>
              <a:effectLst/>
              <a:latin typeface="Consolas"/>
            </a:endParaRPr>
          </a:p>
          <a:p>
            <a:r>
              <a:rPr lang="en-US" b="0" dirty="0">
                <a:solidFill>
                  <a:srgbClr val="D6DEEB"/>
                </a:solidFill>
                <a:effectLst/>
                <a:latin typeface="Consolas"/>
              </a:rPr>
              <a:t>        </a:t>
            </a:r>
            <a:r>
              <a:rPr lang="en-US" b="0" dirty="0">
                <a:solidFill>
                  <a:srgbClr val="7FDBCA"/>
                </a:solidFill>
                <a:effectLst/>
                <a:latin typeface="Consolas"/>
              </a:rPr>
              <a:t>&lt;</a:t>
            </a:r>
            <a:r>
              <a:rPr lang="en-US" b="0" dirty="0">
                <a:solidFill>
                  <a:srgbClr val="F78C6C"/>
                </a:solidFill>
                <a:effectLst/>
                <a:latin typeface="Consolas"/>
              </a:rPr>
              <a:t>Header</a:t>
            </a:r>
            <a:r>
              <a:rPr lang="en-US" b="0" dirty="0">
                <a:solidFill>
                  <a:srgbClr val="7FDBCA"/>
                </a:solidFill>
                <a:effectLst/>
                <a:latin typeface="Consolas"/>
              </a:rPr>
              <a:t> </a:t>
            </a:r>
            <a:r>
              <a:rPr lang="en-US" b="0" i="1" dirty="0">
                <a:solidFill>
                  <a:srgbClr val="ADDB67"/>
                </a:solidFill>
                <a:effectLst/>
                <a:latin typeface="Consolas"/>
              </a:rPr>
              <a:t>title</a:t>
            </a:r>
            <a:r>
              <a:rPr lang="en-US" b="0" dirty="0">
                <a:solidFill>
                  <a:srgbClr val="C792EA"/>
                </a:solidFill>
                <a:effectLst/>
                <a:latin typeface="Consolas"/>
              </a:rPr>
              <a:t>=</a:t>
            </a:r>
            <a:r>
              <a:rPr lang="en-US" b="0" dirty="0">
                <a:solidFill>
                  <a:srgbClr val="D9F5DD"/>
                </a:solidFill>
                <a:effectLst/>
                <a:latin typeface="Consolas"/>
              </a:rPr>
              <a:t>"</a:t>
            </a:r>
            <a:r>
              <a:rPr lang="en-US" b="0" dirty="0">
                <a:solidFill>
                  <a:srgbClr val="ECC48D"/>
                </a:solidFill>
                <a:effectLst/>
                <a:latin typeface="Consolas"/>
              </a:rPr>
              <a:t>React</a:t>
            </a:r>
            <a:r>
              <a:rPr lang="en-US" b="0" dirty="0">
                <a:solidFill>
                  <a:srgbClr val="D9F5DD"/>
                </a:solidFill>
                <a:effectLst/>
                <a:latin typeface="Consolas"/>
              </a:rPr>
              <a:t>"</a:t>
            </a:r>
            <a:r>
              <a:rPr lang="en-US" b="0" dirty="0">
                <a:solidFill>
                  <a:srgbClr val="7FDBCA"/>
                </a:solidFill>
                <a:effectLst/>
                <a:latin typeface="Consolas"/>
              </a:rPr>
              <a:t> /&gt;</a:t>
            </a:r>
            <a:endParaRPr lang="en-US" b="0" dirty="0">
              <a:solidFill>
                <a:srgbClr val="D6DEEB"/>
              </a:solidFill>
              <a:effectLst/>
              <a:latin typeface="Consolas"/>
            </a:endParaRPr>
          </a:p>
          <a:p>
            <a:r>
              <a:rPr lang="en-US" b="0" dirty="0">
                <a:solidFill>
                  <a:srgbClr val="D6DEEB"/>
                </a:solidFill>
                <a:effectLst/>
                <a:latin typeface="Consolas"/>
              </a:rPr>
              <a:t>        </a:t>
            </a:r>
            <a:r>
              <a:rPr lang="en-US" b="0" dirty="0">
                <a:solidFill>
                  <a:srgbClr val="7FDBCA"/>
                </a:solidFill>
                <a:effectLst/>
                <a:latin typeface="Consolas"/>
              </a:rPr>
              <a:t>&lt;</a:t>
            </a:r>
            <a:r>
              <a:rPr lang="en-US" b="0" dirty="0">
                <a:solidFill>
                  <a:srgbClr val="F78C6C"/>
                </a:solidFill>
                <a:effectLst/>
                <a:latin typeface="Consolas"/>
              </a:rPr>
              <a:t>Header</a:t>
            </a:r>
            <a:r>
              <a:rPr lang="en-US" b="0" dirty="0">
                <a:solidFill>
                  <a:srgbClr val="7FDBCA"/>
                </a:solidFill>
                <a:effectLst/>
                <a:latin typeface="Consolas"/>
              </a:rPr>
              <a:t> </a:t>
            </a:r>
            <a:r>
              <a:rPr lang="en-US" b="0" i="1" dirty="0">
                <a:solidFill>
                  <a:srgbClr val="ADDB67"/>
                </a:solidFill>
                <a:effectLst/>
                <a:latin typeface="Consolas"/>
              </a:rPr>
              <a:t>title</a:t>
            </a:r>
            <a:r>
              <a:rPr lang="en-US" b="0" dirty="0">
                <a:solidFill>
                  <a:srgbClr val="C792EA"/>
                </a:solidFill>
                <a:effectLst/>
                <a:latin typeface="Consolas"/>
              </a:rPr>
              <a:t>=</a:t>
            </a:r>
            <a:r>
              <a:rPr lang="en-US" b="0" dirty="0">
                <a:solidFill>
                  <a:srgbClr val="D9F5DD"/>
                </a:solidFill>
                <a:effectLst/>
                <a:latin typeface="Consolas"/>
              </a:rPr>
              <a:t>"</a:t>
            </a:r>
            <a:r>
              <a:rPr lang="en-US" b="0" dirty="0">
                <a:solidFill>
                  <a:srgbClr val="ECC48D"/>
                </a:solidFill>
                <a:effectLst/>
                <a:latin typeface="Consolas"/>
              </a:rPr>
              <a:t>A new title</a:t>
            </a:r>
            <a:r>
              <a:rPr lang="en-US" b="0" dirty="0">
                <a:solidFill>
                  <a:srgbClr val="D9F5DD"/>
                </a:solidFill>
                <a:effectLst/>
                <a:latin typeface="Consolas"/>
              </a:rPr>
              <a:t>"</a:t>
            </a:r>
            <a:r>
              <a:rPr lang="en-US" b="0" dirty="0">
                <a:solidFill>
                  <a:srgbClr val="7FDBCA"/>
                </a:solidFill>
                <a:effectLst/>
                <a:latin typeface="Consolas"/>
              </a:rPr>
              <a:t> /&gt;</a:t>
            </a:r>
            <a:endParaRPr lang="en-US" b="0" dirty="0">
              <a:solidFill>
                <a:srgbClr val="D6DEEB"/>
              </a:solidFill>
              <a:effectLst/>
              <a:latin typeface="Consolas"/>
            </a:endParaRPr>
          </a:p>
          <a:p>
            <a:r>
              <a:rPr lang="en-US" b="0" dirty="0">
                <a:solidFill>
                  <a:srgbClr val="D6DEEB"/>
                </a:solidFill>
                <a:effectLst/>
                <a:latin typeface="Consolas"/>
              </a:rPr>
              <a:t>      </a:t>
            </a:r>
            <a:r>
              <a:rPr lang="en-US" b="0" dirty="0">
                <a:solidFill>
                  <a:srgbClr val="7FDBCA"/>
                </a:solidFill>
                <a:effectLst/>
                <a:latin typeface="Consolas"/>
              </a:rPr>
              <a:t>&lt;/div&gt;</a:t>
            </a:r>
            <a:r>
              <a:rPr lang="en-US" b="0" dirty="0">
                <a:solidFill>
                  <a:srgbClr val="D6DEEB"/>
                </a:solidFill>
                <a:effectLst/>
                <a:latin typeface="Consolas"/>
              </a:rPr>
              <a:t>);</a:t>
            </a:r>
          </a:p>
          <a:p>
            <a:r>
              <a:rPr lang="en-US" dirty="0">
                <a:solidFill>
                  <a:srgbClr val="D6DEEB"/>
                </a:solidFill>
                <a:latin typeface="Consolas"/>
              </a:rPr>
              <a:t>  </a:t>
            </a:r>
            <a:r>
              <a:rPr lang="en-US" b="0" dirty="0">
                <a:solidFill>
                  <a:srgbClr val="D6DEEB"/>
                </a:solidFill>
                <a:effectLst/>
                <a:latin typeface="Consolas"/>
              </a:rPr>
              <a:t>}  </a:t>
            </a:r>
          </a:p>
        </p:txBody>
      </p:sp>
    </p:spTree>
    <p:extLst>
      <p:ext uri="{BB962C8B-B14F-4D97-AF65-F5344CB8AC3E}">
        <p14:creationId xmlns:p14="http://schemas.microsoft.com/office/powerpoint/2010/main" val="548279842"/>
      </p:ext>
    </p:extLst>
  </p:cSld>
  <p:clrMapOvr>
    <a:overrideClrMapping bg1="lt1" tx1="dk1" bg2="lt2" tx2="dk2" accent1="accent1" accent2="accent2" accent3="accent3" accent4="accent4" accent5="accent5" accent6="accent6" hlink="hlink" folHlink="folHlink"/>
  </p:clrMapOvr>
</p:sld>
</file>

<file path=ppt/slides/slide7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Concepts de base </a:t>
            </a:r>
          </a:p>
        </p:txBody>
      </p:sp>
      <p:sp>
        <p:nvSpPr>
          <p:cNvPr id="3" name="TextBox 2">
            <a:extLst>
              <a:ext uri="{FF2B5EF4-FFF2-40B4-BE49-F238E27FC236}">
                <a16:creationId xmlns:a16="http://schemas.microsoft.com/office/drawing/2014/main" id="{6E7D9BBE-4708-B72B-9BB9-DFD6F05EC6A3}"/>
              </a:ext>
            </a:extLst>
          </p:cNvPr>
          <p:cNvSpPr txBox="1"/>
          <p:nvPr/>
        </p:nvSpPr>
        <p:spPr>
          <a:xfrm>
            <a:off x="2168433" y="1291299"/>
            <a:ext cx="4409919" cy="37555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Exemple Props  exemple01.js</a:t>
            </a:r>
            <a:endParaRPr lang="en-US"/>
          </a:p>
        </p:txBody>
      </p:sp>
      <p:sp>
        <p:nvSpPr>
          <p:cNvPr id="5" name="TextBox 4">
            <a:extLst>
              <a:ext uri="{FF2B5EF4-FFF2-40B4-BE49-F238E27FC236}">
                <a16:creationId xmlns:a16="http://schemas.microsoft.com/office/drawing/2014/main" id="{A45FE264-6A64-69EA-88BB-803AE6561987}"/>
              </a:ext>
            </a:extLst>
          </p:cNvPr>
          <p:cNvSpPr txBox="1"/>
          <p:nvPr/>
        </p:nvSpPr>
        <p:spPr>
          <a:xfrm>
            <a:off x="2168433" y="1917577"/>
            <a:ext cx="8369361" cy="923330"/>
          </a:xfrm>
          <a:prstGeom prst="rect">
            <a:avLst/>
          </a:prstGeom>
          <a:noFill/>
        </p:spPr>
        <p:txBody>
          <a:bodyPr wrap="square" rtlCol="0">
            <a:spAutoFit/>
          </a:bodyPr>
          <a:lstStyle/>
          <a:p>
            <a:r>
              <a:rPr lang="fr-CA"/>
              <a:t>Nous allons créer un composant React </a:t>
            </a:r>
            <a:r>
              <a:rPr lang="fr-CA" b="1"/>
              <a:t>Welcome</a:t>
            </a:r>
            <a:r>
              <a:rPr lang="fr-CA"/>
              <a:t> qui affiche un message </a:t>
            </a:r>
            <a:r>
              <a:rPr lang="fr-CA" b="1"/>
              <a:t>Hello</a:t>
            </a:r>
            <a:r>
              <a:rPr lang="fr-CA"/>
              <a:t> avec le nom passé comme propriété à ce composant. </a:t>
            </a:r>
          </a:p>
          <a:p>
            <a:r>
              <a:rPr lang="fr-CA">
                <a:latin typeface="Consolas" panose="020B0609020204030204" pitchFamily="49" charset="0"/>
              </a:rPr>
              <a:t>e</a:t>
            </a:r>
            <a:r>
              <a:rPr lang="fr-CA" b="0">
                <a:effectLst/>
                <a:latin typeface="Consolas" panose="020B0609020204030204" pitchFamily="49" charset="0"/>
              </a:rPr>
              <a:t>xemple1.js</a:t>
            </a:r>
          </a:p>
        </p:txBody>
      </p:sp>
    </p:spTree>
    <p:extLst>
      <p:ext uri="{BB962C8B-B14F-4D97-AF65-F5344CB8AC3E}">
        <p14:creationId xmlns:p14="http://schemas.microsoft.com/office/powerpoint/2010/main" val="3216209508"/>
      </p:ext>
    </p:extLst>
  </p:cSld>
  <p:clrMapOvr>
    <a:overrideClrMapping bg1="lt1" tx1="dk1" bg2="lt2" tx2="dk2" accent1="accent1" accent2="accent2" accent3="accent3" accent4="accent4" accent5="accent5" accent6="accent6" hlink="hlink" folHlink="folHlink"/>
  </p:clrMapOvr>
</p:sld>
</file>

<file path=ppt/slides/slide8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Concepts de base </a:t>
            </a:r>
          </a:p>
        </p:txBody>
      </p:sp>
      <p:sp>
        <p:nvSpPr>
          <p:cNvPr id="3" name="TextBox 2">
            <a:extLst>
              <a:ext uri="{FF2B5EF4-FFF2-40B4-BE49-F238E27FC236}">
                <a16:creationId xmlns:a16="http://schemas.microsoft.com/office/drawing/2014/main" id="{6E7D9BBE-4708-B72B-9BB9-DFD6F05EC6A3}"/>
              </a:ext>
            </a:extLst>
          </p:cNvPr>
          <p:cNvSpPr txBox="1"/>
          <p:nvPr/>
        </p:nvSpPr>
        <p:spPr>
          <a:xfrm>
            <a:off x="2168434" y="1291299"/>
            <a:ext cx="2467992" cy="37555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State</a:t>
            </a:r>
            <a:endParaRPr lang="en-US"/>
          </a:p>
        </p:txBody>
      </p:sp>
      <p:sp>
        <p:nvSpPr>
          <p:cNvPr id="6" name="TextBox 5">
            <a:extLst>
              <a:ext uri="{FF2B5EF4-FFF2-40B4-BE49-F238E27FC236}">
                <a16:creationId xmlns:a16="http://schemas.microsoft.com/office/drawing/2014/main" id="{C4330C34-0000-989B-EFA8-E8E99947ED75}"/>
              </a:ext>
            </a:extLst>
          </p:cNvPr>
          <p:cNvSpPr txBox="1"/>
          <p:nvPr/>
        </p:nvSpPr>
        <p:spPr>
          <a:xfrm>
            <a:off x="2168434" y="1669509"/>
            <a:ext cx="9177228" cy="1367234"/>
          </a:xfrm>
          <a:prstGeom prst="rect">
            <a:avLst/>
          </a:prstGeom>
          <a:noFill/>
        </p:spPr>
        <p:txBody>
          <a:bodyPr wrap="square" rtlCol="0">
            <a:spAutoFit/>
          </a:bodyPr>
          <a:lstStyle/>
          <a:p>
            <a:pPr marL="0" marR="0">
              <a:lnSpc>
                <a:spcPct val="107000"/>
              </a:lnSpc>
              <a:spcBef>
                <a:spcPts val="0"/>
              </a:spcBef>
              <a:spcAft>
                <a:spcPts val="800"/>
              </a:spcAft>
            </a:pPr>
            <a:r>
              <a:rPr lang="fr-CA" sz="1800">
                <a:effectLst/>
                <a:latin typeface="Calibri" panose="020F0502020204030204" pitchFamily="34" charset="0"/>
                <a:ea typeface="Calibri" panose="020F0502020204030204" pitchFamily="34" charset="0"/>
                <a:cs typeface="Arial" panose="020B0604020202020204" pitchFamily="34" charset="0"/>
              </a:rPr>
              <a:t>On va explorer comment React nous aide à ajouter de l'interactivité avec les gestionnaires d'états et d'événements.</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fr-CA" sz="1800">
                <a:effectLst/>
                <a:latin typeface="Calibri" panose="020F0502020204030204" pitchFamily="34" charset="0"/>
                <a:ea typeface="Calibri" panose="020F0502020204030204" pitchFamily="34" charset="0"/>
                <a:cs typeface="Arial" panose="020B0604020202020204" pitchFamily="34" charset="0"/>
              </a:rPr>
              <a:t>Par exemple, créons un bouton similaire dans votre composant HomePage. Tout d'abord, ajoutez un élément de bouton à l'intérieur de l'instruction </a:t>
            </a:r>
            <a:r>
              <a:rPr lang="fr-CA" sz="1800" b="1">
                <a:effectLst/>
                <a:latin typeface="Calibri" panose="020F0502020204030204" pitchFamily="34" charset="0"/>
                <a:ea typeface="Calibri" panose="020F0502020204030204" pitchFamily="34" charset="0"/>
                <a:cs typeface="Arial" panose="020B0604020202020204" pitchFamily="34" charset="0"/>
              </a:rPr>
              <a:t>return ()</a:t>
            </a:r>
            <a:r>
              <a:rPr lang="fr-CA" sz="1800">
                <a:effectLst/>
                <a:latin typeface="Calibri" panose="020F0502020204030204" pitchFamily="34" charset="0"/>
                <a:ea typeface="Calibri" panose="020F0502020204030204" pitchFamily="34"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p:txBody>
      </p:sp>
      <p:sp>
        <p:nvSpPr>
          <p:cNvPr id="2" name="TextBox 1">
            <a:extLst>
              <a:ext uri="{FF2B5EF4-FFF2-40B4-BE49-F238E27FC236}">
                <a16:creationId xmlns:a16="http://schemas.microsoft.com/office/drawing/2014/main" id="{5DE89129-4873-B01B-E002-249663682AEF}"/>
              </a:ext>
            </a:extLst>
          </p:cNvPr>
          <p:cNvSpPr txBox="1"/>
          <p:nvPr/>
        </p:nvSpPr>
        <p:spPr>
          <a:xfrm>
            <a:off x="2168434" y="3036743"/>
            <a:ext cx="9274883" cy="3693319"/>
          </a:xfrm>
          <a:prstGeom prst="rect">
            <a:avLst/>
          </a:prstGeom>
          <a:solidFill>
            <a:schemeClr val="tx2">
              <a:lumMod val="50000"/>
            </a:schemeClr>
          </a:solidFill>
        </p:spPr>
        <p:txBody>
          <a:bodyPr wrap="square" rtlCol="0">
            <a:spAutoFit/>
          </a:bodyPr>
          <a:lstStyle>
            <a:defPPr>
              <a:defRPr lang="fr-FR"/>
            </a:defPPr>
            <a:lvl1pPr>
              <a:defRPr b="0" i="1">
                <a:solidFill>
                  <a:srgbClr val="82AAFF"/>
                </a:solidFill>
                <a:effectLst/>
                <a:latin typeface="Consolas" panose="020B0609020204030204" pitchFamily="49" charset="0"/>
              </a:defRPr>
            </a:lvl1pPr>
          </a:lstStyle>
          <a:p>
            <a:r>
              <a:rPr lang="en-US" b="0">
                <a:solidFill>
                  <a:srgbClr val="82AAFF"/>
                </a:solidFill>
                <a:effectLst/>
                <a:latin typeface="Consolas" panose="020B0609020204030204" pitchFamily="49" charset="0"/>
              </a:rPr>
              <a:t>function</a:t>
            </a:r>
            <a:r>
              <a:rPr lang="en-US" b="0">
                <a:solidFill>
                  <a:srgbClr val="D6DEEB"/>
                </a:solidFill>
                <a:effectLst/>
                <a:latin typeface="Consolas" panose="020B0609020204030204" pitchFamily="49" charset="0"/>
              </a:rPr>
              <a:t> </a:t>
            </a:r>
            <a:r>
              <a:rPr lang="en-US" b="0">
                <a:solidFill>
                  <a:srgbClr val="82AAFF"/>
                </a:solidFill>
                <a:effectLst/>
                <a:latin typeface="Consolas" panose="020B0609020204030204" pitchFamily="49" charset="0"/>
              </a:rPr>
              <a:t>HomePage</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p>
          <a:p>
            <a:r>
              <a:rPr lang="en-US" b="0">
                <a:solidFill>
                  <a:srgbClr val="D6DEEB"/>
                </a:solidFill>
                <a:effectLst/>
                <a:latin typeface="Consolas" panose="020B0609020204030204" pitchFamily="49" charset="0"/>
              </a:rPr>
              <a:t>    </a:t>
            </a:r>
            <a:r>
              <a:rPr lang="en-US" b="0">
                <a:solidFill>
                  <a:srgbClr val="82AAFF"/>
                </a:solidFill>
                <a:effectLst/>
                <a:latin typeface="Consolas" panose="020B0609020204030204" pitchFamily="49" charset="0"/>
              </a:rPr>
              <a:t>const</a:t>
            </a:r>
            <a:r>
              <a:rPr lang="en-US" b="0" i="1">
                <a:solidFill>
                  <a:srgbClr val="C792EA"/>
                </a:solidFill>
                <a:effectLst/>
                <a:latin typeface="Consolas" panose="020B0609020204030204" pitchFamily="49" charset="0"/>
              </a:rPr>
              <a:t> </a:t>
            </a:r>
            <a:r>
              <a:rPr lang="en-US" b="0" i="1">
                <a:solidFill>
                  <a:srgbClr val="82AAFF"/>
                </a:solidFill>
                <a:effectLst/>
                <a:latin typeface="Consolas" panose="020B0609020204030204" pitchFamily="49" charset="0"/>
              </a:rPr>
              <a:t>names</a:t>
            </a:r>
            <a:r>
              <a:rPr lang="en-US" b="0" i="1">
                <a:solidFill>
                  <a:srgbClr val="C792EA"/>
                </a:solidFill>
                <a:effectLst/>
                <a:latin typeface="Consolas" panose="020B0609020204030204" pitchFamily="49" charset="0"/>
              </a:rPr>
              <a:t> </a:t>
            </a:r>
            <a:r>
              <a:rPr lang="en-US" b="0">
                <a:solidFill>
                  <a:srgbClr val="C792EA"/>
                </a:solidFill>
                <a:effectLst/>
                <a:latin typeface="Consolas" panose="020B0609020204030204" pitchFamily="49" charset="0"/>
              </a:rPr>
              <a:t>=</a:t>
            </a:r>
            <a:r>
              <a:rPr lang="en-US" b="0" i="1">
                <a:solidFill>
                  <a:srgbClr val="D6DEEB"/>
                </a:solidFill>
                <a:effectLst/>
                <a:latin typeface="Consolas" panose="020B0609020204030204" pitchFamily="49" charset="0"/>
              </a:rPr>
              <a:t> </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Ada Lovelace</a:t>
            </a:r>
            <a:r>
              <a:rPr lang="en-US" b="0">
                <a:solidFill>
                  <a:srgbClr val="D9F5DD"/>
                </a:solidFill>
                <a:effectLst/>
                <a:latin typeface="Consolas" panose="020B0609020204030204" pitchFamily="49" charset="0"/>
              </a:rPr>
              <a:t>'</a:t>
            </a:r>
            <a:r>
              <a:rPr lang="en-US" b="0">
                <a:solidFill>
                  <a:srgbClr val="5F7E97"/>
                </a:solidFill>
                <a:effectLst/>
                <a:latin typeface="Consolas" panose="020B0609020204030204" pitchFamily="49" charset="0"/>
              </a:rPr>
              <a:t>,</a:t>
            </a:r>
            <a:r>
              <a:rPr lang="en-US" b="0" i="1">
                <a:solidFill>
                  <a:srgbClr val="D6DEEB"/>
                </a:solidFill>
                <a:effectLst/>
                <a:latin typeface="Consolas" panose="020B0609020204030204" pitchFamily="49" charset="0"/>
              </a:rPr>
              <a:t> </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Grace Hopper</a:t>
            </a:r>
            <a:r>
              <a:rPr lang="en-US" b="0">
                <a:solidFill>
                  <a:srgbClr val="D9F5DD"/>
                </a:solidFill>
                <a:effectLst/>
                <a:latin typeface="Consolas" panose="020B0609020204030204" pitchFamily="49" charset="0"/>
              </a:rPr>
              <a:t>'</a:t>
            </a:r>
            <a:r>
              <a:rPr lang="en-US" b="0">
                <a:solidFill>
                  <a:srgbClr val="5F7E97"/>
                </a:solidFill>
                <a:effectLst/>
                <a:latin typeface="Consolas" panose="020B0609020204030204" pitchFamily="49" charset="0"/>
              </a:rPr>
              <a:t>,</a:t>
            </a:r>
            <a:r>
              <a:rPr lang="en-US" b="0" i="1">
                <a:solidFill>
                  <a:srgbClr val="D6DEEB"/>
                </a:solidFill>
                <a:effectLst/>
                <a:latin typeface="Consolas" panose="020B0609020204030204" pitchFamily="49" charset="0"/>
              </a:rPr>
              <a:t> </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Margaret Hamilton</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    </a:t>
            </a:r>
            <a:r>
              <a:rPr lang="en-US" b="0" i="1">
                <a:solidFill>
                  <a:srgbClr val="C792EA"/>
                </a:solidFill>
                <a:effectLst/>
                <a:latin typeface="Consolas" panose="020B0609020204030204" pitchFamily="49" charset="0"/>
              </a:rPr>
              <a:t>return</a:t>
            </a:r>
            <a:r>
              <a:rPr lang="en-US" b="0">
                <a:solidFill>
                  <a:srgbClr val="D6DEEB"/>
                </a:solidFill>
                <a:effectLst/>
                <a:latin typeface="Consolas" panose="020B0609020204030204" pitchFamily="49" charset="0"/>
              </a:rPr>
              <a:t> (</a:t>
            </a:r>
          </a:p>
          <a:p>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&lt;div&gt;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a:t>
            </a:r>
            <a:r>
              <a:rPr lang="en-US" b="0">
                <a:solidFill>
                  <a:srgbClr val="F78C6C"/>
                </a:solidFill>
                <a:effectLst/>
                <a:latin typeface="Consolas" panose="020B0609020204030204" pitchFamily="49" charset="0"/>
              </a:rPr>
              <a:t>Header</a:t>
            </a:r>
            <a:r>
              <a:rPr lang="en-US" b="0">
                <a:solidFill>
                  <a:srgbClr val="7FDBCA"/>
                </a:solidFill>
                <a:effectLst/>
                <a:latin typeface="Consolas" panose="020B0609020204030204" pitchFamily="49" charset="0"/>
              </a:rPr>
              <a:t> </a:t>
            </a:r>
            <a:r>
              <a:rPr lang="en-US" b="0" i="1">
                <a:solidFill>
                  <a:srgbClr val="ADDB67"/>
                </a:solidFill>
                <a:effectLst/>
                <a:latin typeface="Consolas" panose="020B0609020204030204" pitchFamily="49" charset="0"/>
              </a:rPr>
              <a:t>title</a:t>
            </a:r>
            <a:r>
              <a:rPr lang="en-US" b="0">
                <a:solidFill>
                  <a:srgbClr val="C792EA"/>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Develop. Preview. Ship.</a:t>
            </a:r>
            <a:r>
              <a:rPr lang="en-US" b="0">
                <a:solidFill>
                  <a:srgbClr val="D9F5DD"/>
                </a:solidFill>
                <a:effectLst/>
                <a:latin typeface="Consolas" panose="020B0609020204030204" pitchFamily="49" charset="0"/>
              </a:rPr>
              <a:t>"</a:t>
            </a:r>
            <a:r>
              <a:rPr lang="en-US" b="0">
                <a:solidFill>
                  <a:srgbClr val="7FDBCA"/>
                </a:solidFill>
                <a:effectLst/>
                <a:latin typeface="Consolas" panose="020B0609020204030204" pitchFamily="49" charset="0"/>
              </a:rPr>
              <a:t> /&gt;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&lt;ul&gt;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r>
              <a:rPr lang="en-US" b="0">
                <a:solidFill>
                  <a:srgbClr val="D3423E"/>
                </a:solidFill>
                <a:effectLst/>
                <a:latin typeface="Consolas" panose="020B0609020204030204" pitchFamily="49" charset="0"/>
              </a:rPr>
              <a:t>{</a:t>
            </a:r>
            <a:r>
              <a:rPr lang="en-US" b="0">
                <a:solidFill>
                  <a:srgbClr val="D6DEEB"/>
                </a:solidFill>
                <a:effectLst/>
                <a:latin typeface="Consolas" panose="020B0609020204030204" pitchFamily="49" charset="0"/>
              </a:rPr>
              <a:t>names</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map</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D7DBE0"/>
                </a:solidFill>
                <a:effectLst/>
                <a:latin typeface="Consolas" panose="020B0609020204030204" pitchFamily="49" charset="0"/>
              </a:rPr>
              <a:t>name</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r>
              <a:rPr lang="en-US" b="0">
                <a:solidFill>
                  <a:srgbClr val="82AAFF"/>
                </a:solidFill>
                <a:effectLst/>
                <a:latin typeface="Consolas" panose="020B0609020204030204" pitchFamily="49" charset="0"/>
              </a:rPr>
              <a:t>=&gt;</a:t>
            </a:r>
            <a:r>
              <a:rPr lang="en-US" b="0">
                <a:solidFill>
                  <a:srgbClr val="D6DEEB"/>
                </a:solidFill>
                <a:effectLst/>
                <a:latin typeface="Consolas" panose="020B0609020204030204" pitchFamily="49" charset="0"/>
              </a:rPr>
              <a:t> (</a:t>
            </a:r>
          </a:p>
          <a:p>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&lt;li </a:t>
            </a:r>
            <a:r>
              <a:rPr lang="en-US" b="0" i="1">
                <a:solidFill>
                  <a:srgbClr val="ADDB67"/>
                </a:solidFill>
                <a:effectLst/>
                <a:latin typeface="Consolas" panose="020B0609020204030204" pitchFamily="49" charset="0"/>
              </a:rPr>
              <a:t>key</a:t>
            </a:r>
            <a:r>
              <a:rPr lang="en-US" b="0">
                <a:solidFill>
                  <a:srgbClr val="C792EA"/>
                </a:solidFill>
                <a:effectLst/>
                <a:latin typeface="Consolas" panose="020B0609020204030204" pitchFamily="49" charset="0"/>
              </a:rPr>
              <a:t>=</a:t>
            </a:r>
            <a:r>
              <a:rPr lang="en-US" b="0">
                <a:solidFill>
                  <a:srgbClr val="D3423E"/>
                </a:solidFill>
                <a:effectLst/>
                <a:latin typeface="Consolas" panose="020B0609020204030204" pitchFamily="49" charset="0"/>
              </a:rPr>
              <a:t>{</a:t>
            </a:r>
            <a:r>
              <a:rPr lang="en-US" b="0">
                <a:solidFill>
                  <a:srgbClr val="D7DBE0"/>
                </a:solidFill>
                <a:effectLst/>
                <a:latin typeface="Consolas" panose="020B0609020204030204" pitchFamily="49" charset="0"/>
              </a:rPr>
              <a:t>name</a:t>
            </a:r>
            <a:r>
              <a:rPr lang="en-US" b="0">
                <a:solidFill>
                  <a:srgbClr val="D3423E"/>
                </a:solidFill>
                <a:effectLst/>
                <a:latin typeface="Consolas" panose="020B0609020204030204" pitchFamily="49" charset="0"/>
              </a:rPr>
              <a:t>}</a:t>
            </a:r>
            <a:r>
              <a:rPr lang="en-US" b="0">
                <a:solidFill>
                  <a:srgbClr val="7FDBCA"/>
                </a:solidFill>
                <a:effectLst/>
                <a:latin typeface="Consolas" panose="020B0609020204030204" pitchFamily="49" charset="0"/>
              </a:rPr>
              <a:t>&gt;</a:t>
            </a:r>
            <a:r>
              <a:rPr lang="en-US" b="0">
                <a:solidFill>
                  <a:srgbClr val="D3423E"/>
                </a:solidFill>
                <a:effectLst/>
                <a:latin typeface="Consolas" panose="020B0609020204030204" pitchFamily="49" charset="0"/>
              </a:rPr>
              <a:t>{</a:t>
            </a:r>
            <a:r>
              <a:rPr lang="en-US" b="0">
                <a:solidFill>
                  <a:srgbClr val="D7DBE0"/>
                </a:solidFill>
                <a:effectLst/>
                <a:latin typeface="Consolas" panose="020B0609020204030204" pitchFamily="49" charset="0"/>
              </a:rPr>
              <a:t>name</a:t>
            </a:r>
            <a:r>
              <a:rPr lang="en-US" b="0">
                <a:solidFill>
                  <a:srgbClr val="D3423E"/>
                </a:solidFill>
                <a:effectLst/>
                <a:latin typeface="Consolas" panose="020B0609020204030204" pitchFamily="49" charset="0"/>
              </a:rPr>
              <a:t>}</a:t>
            </a:r>
            <a:r>
              <a:rPr lang="en-US" b="0">
                <a:solidFill>
                  <a:srgbClr val="7FDBCA"/>
                </a:solidFill>
                <a:effectLst/>
                <a:latin typeface="Consolas" panose="020B0609020204030204" pitchFamily="49" charset="0"/>
              </a:rPr>
              <a:t>&lt;/li&gt;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r>
              <a:rPr lang="en-US" b="0">
                <a:solidFill>
                  <a:srgbClr val="D3423E"/>
                </a:solidFill>
                <a:effectLst/>
                <a:latin typeface="Consolas" panose="020B0609020204030204" pitchFamily="49" charset="0"/>
              </a:rPr>
              <a: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&lt;/ul&gt;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&lt;button&gt;</a:t>
            </a:r>
            <a:r>
              <a:rPr lang="en-US" b="0">
                <a:solidFill>
                  <a:srgbClr val="D6DEEB"/>
                </a:solidFill>
                <a:effectLst/>
                <a:latin typeface="Consolas" panose="020B0609020204030204" pitchFamily="49" charset="0"/>
              </a:rPr>
              <a:t>Like</a:t>
            </a:r>
            <a:r>
              <a:rPr lang="en-US" b="0">
                <a:solidFill>
                  <a:srgbClr val="7FDBCA"/>
                </a:solidFill>
                <a:effectLst/>
                <a:latin typeface="Consolas" panose="020B0609020204030204" pitchFamily="49" charset="0"/>
              </a:rPr>
              <a:t>&lt;/button&gt;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&lt;/div&gt;</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  }  </a:t>
            </a:r>
          </a:p>
        </p:txBody>
      </p:sp>
    </p:spTree>
    <p:extLst>
      <p:ext uri="{BB962C8B-B14F-4D97-AF65-F5344CB8AC3E}">
        <p14:creationId xmlns:p14="http://schemas.microsoft.com/office/powerpoint/2010/main" val="1909784989"/>
      </p:ext>
    </p:extLst>
  </p:cSld>
  <p:clrMapOvr>
    <a:overrideClrMapping bg1="lt1" tx1="dk1" bg2="lt2" tx2="dk2" accent1="accent1" accent2="accent2" accent3="accent3" accent4="accent4" accent5="accent5" accent6="accent6" hlink="hlink" folHlink="folHlink"/>
  </p:clrMapOvr>
</p:sld>
</file>

<file path=ppt/slides/slide8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Concepts de base </a:t>
            </a:r>
          </a:p>
        </p:txBody>
      </p:sp>
      <p:sp>
        <p:nvSpPr>
          <p:cNvPr id="3" name="TextBox 2">
            <a:extLst>
              <a:ext uri="{FF2B5EF4-FFF2-40B4-BE49-F238E27FC236}">
                <a16:creationId xmlns:a16="http://schemas.microsoft.com/office/drawing/2014/main" id="{6E7D9BBE-4708-B72B-9BB9-DFD6F05EC6A3}"/>
              </a:ext>
            </a:extLst>
          </p:cNvPr>
          <p:cNvSpPr txBox="1"/>
          <p:nvPr/>
        </p:nvSpPr>
        <p:spPr>
          <a:xfrm>
            <a:off x="2168434" y="1291299"/>
            <a:ext cx="2467992" cy="37555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State</a:t>
            </a:r>
            <a:endParaRPr lang="en-US"/>
          </a:p>
        </p:txBody>
      </p:sp>
      <p:sp>
        <p:nvSpPr>
          <p:cNvPr id="6" name="TextBox 5">
            <a:extLst>
              <a:ext uri="{FF2B5EF4-FFF2-40B4-BE49-F238E27FC236}">
                <a16:creationId xmlns:a16="http://schemas.microsoft.com/office/drawing/2014/main" id="{C4330C34-0000-989B-EFA8-E8E99947ED75}"/>
              </a:ext>
            </a:extLst>
          </p:cNvPr>
          <p:cNvSpPr txBox="1"/>
          <p:nvPr/>
        </p:nvSpPr>
        <p:spPr>
          <a:xfrm>
            <a:off x="2168434" y="1669509"/>
            <a:ext cx="9177228" cy="375552"/>
          </a:xfrm>
          <a:prstGeom prst="rect">
            <a:avLst/>
          </a:prstGeom>
          <a:noFill/>
        </p:spPr>
        <p:txBody>
          <a:bodyPr wrap="square" rtlCol="0">
            <a:spAutoFit/>
          </a:bodyPr>
          <a:lstStyle/>
          <a:p>
            <a:pPr>
              <a:lnSpc>
                <a:spcPct val="107000"/>
              </a:lnSpc>
              <a:spcAft>
                <a:spcPts val="800"/>
              </a:spcAft>
            </a:pPr>
            <a:r>
              <a:rPr lang="fr-CA" sz="1800">
                <a:effectLst/>
                <a:latin typeface="Calibri" panose="020F0502020204030204" pitchFamily="34" charset="0"/>
                <a:ea typeface="Calibri" panose="020F0502020204030204" pitchFamily="34" charset="0"/>
                <a:cs typeface="Arial" panose="020B0604020202020204" pitchFamily="34" charset="0"/>
              </a:rPr>
              <a:t>On peut gérer les évènements on utilisant des fonctions </a:t>
            </a:r>
            <a:endParaRPr lang="en-US" sz="1800">
              <a:effectLst/>
              <a:latin typeface="Calibri" panose="020F0502020204030204" pitchFamily="34" charset="0"/>
              <a:ea typeface="Calibri" panose="020F0502020204030204" pitchFamily="34" charset="0"/>
              <a:cs typeface="Arial" panose="020B0604020202020204" pitchFamily="34" charset="0"/>
            </a:endParaRPr>
          </a:p>
        </p:txBody>
      </p:sp>
      <p:sp>
        <p:nvSpPr>
          <p:cNvPr id="2" name="TextBox 1">
            <a:extLst>
              <a:ext uri="{FF2B5EF4-FFF2-40B4-BE49-F238E27FC236}">
                <a16:creationId xmlns:a16="http://schemas.microsoft.com/office/drawing/2014/main" id="{5DE89129-4873-B01B-E002-249663682AEF}"/>
              </a:ext>
            </a:extLst>
          </p:cNvPr>
          <p:cNvSpPr txBox="1"/>
          <p:nvPr/>
        </p:nvSpPr>
        <p:spPr>
          <a:xfrm>
            <a:off x="2168434" y="2228875"/>
            <a:ext cx="9274883" cy="3416320"/>
          </a:xfrm>
          <a:prstGeom prst="rect">
            <a:avLst/>
          </a:prstGeom>
          <a:solidFill>
            <a:schemeClr val="tx2">
              <a:lumMod val="50000"/>
            </a:schemeClr>
          </a:solidFill>
        </p:spPr>
        <p:txBody>
          <a:bodyPr wrap="square" rtlCol="0">
            <a:spAutoFit/>
          </a:bodyPr>
          <a:lstStyle>
            <a:defPPr>
              <a:defRPr lang="fr-FR"/>
            </a:defPPr>
            <a:lvl1pPr>
              <a:defRPr b="0" i="1">
                <a:solidFill>
                  <a:srgbClr val="82AAFF"/>
                </a:solidFill>
                <a:effectLst/>
                <a:latin typeface="Consolas" panose="020B0609020204030204" pitchFamily="49" charset="0"/>
              </a:defRPr>
            </a:lvl1pPr>
          </a:lstStyle>
          <a:p>
            <a:r>
              <a:rPr lang="en-US" b="0">
                <a:solidFill>
                  <a:srgbClr val="82AAFF"/>
                </a:solidFill>
                <a:effectLst/>
                <a:latin typeface="Consolas" panose="020B0609020204030204" pitchFamily="49" charset="0"/>
              </a:rPr>
              <a:t>function</a:t>
            </a:r>
            <a:r>
              <a:rPr lang="en-US" b="0">
                <a:solidFill>
                  <a:srgbClr val="D6DEEB"/>
                </a:solidFill>
                <a:effectLst/>
                <a:latin typeface="Consolas" panose="020B0609020204030204" pitchFamily="49" charset="0"/>
              </a:rPr>
              <a:t> </a:t>
            </a:r>
            <a:r>
              <a:rPr lang="en-US" b="0">
                <a:solidFill>
                  <a:srgbClr val="82AAFF"/>
                </a:solidFill>
                <a:effectLst/>
                <a:latin typeface="Consolas" panose="020B0609020204030204" pitchFamily="49" charset="0"/>
              </a:rPr>
              <a:t>HomePage</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p>
          <a:p>
            <a:r>
              <a:rPr lang="en-US" b="0">
                <a:solidFill>
                  <a:srgbClr val="D6DEEB"/>
                </a:solidFill>
                <a:effectLst/>
                <a:latin typeface="Consolas" panose="020B0609020204030204" pitchFamily="49" charset="0"/>
              </a:rPr>
              <a:t>    </a:t>
            </a:r>
            <a:r>
              <a:rPr lang="en-US" b="0">
                <a:solidFill>
                  <a:srgbClr val="637777"/>
                </a:solidFill>
                <a:effectLst/>
                <a:latin typeface="Consolas" panose="020B0609020204030204" pitchFamily="49" charset="0"/>
              </a:rPr>
              <a:t>//</a:t>
            </a:r>
            <a:r>
              <a:rPr lang="en-US" b="0" i="1">
                <a:solidFill>
                  <a:srgbClr val="637777"/>
                </a:solidFill>
                <a:effectLst/>
                <a:latin typeface="Consolas" panose="020B0609020204030204" pitchFamily="49" charset="0"/>
              </a:rPr>
              <a:t>    ...</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r>
              <a:rPr lang="en-US" b="0">
                <a:solidFill>
                  <a:srgbClr val="82AAFF"/>
                </a:solidFill>
                <a:effectLst/>
                <a:latin typeface="Consolas" panose="020B0609020204030204" pitchFamily="49" charset="0"/>
              </a:rPr>
              <a:t>function</a:t>
            </a:r>
            <a:r>
              <a:rPr lang="en-US" b="0">
                <a:solidFill>
                  <a:srgbClr val="D6DEEB"/>
                </a:solidFill>
                <a:effectLst/>
                <a:latin typeface="Consolas" panose="020B0609020204030204" pitchFamily="49" charset="0"/>
              </a:rPr>
              <a:t> </a:t>
            </a:r>
            <a:r>
              <a:rPr lang="en-US" b="0">
                <a:solidFill>
                  <a:srgbClr val="82AAFF"/>
                </a:solidFill>
                <a:effectLst/>
                <a:latin typeface="Consolas" panose="020B0609020204030204" pitchFamily="49" charset="0"/>
              </a:rPr>
              <a:t>handleClick</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 {</a:t>
            </a:r>
          </a:p>
          <a:p>
            <a:r>
              <a:rPr lang="en-US" b="0">
                <a:solidFill>
                  <a:srgbClr val="D6DEEB"/>
                </a:solidFill>
                <a:effectLst/>
                <a:latin typeface="Consolas" panose="020B0609020204030204" pitchFamily="49" charset="0"/>
              </a:rPr>
              <a:t>      console</a:t>
            </a:r>
            <a:r>
              <a:rPr lang="en-US" b="0" i="1">
                <a:solidFill>
                  <a:srgbClr val="C792EA"/>
                </a:solidFill>
                <a:effectLst/>
                <a:latin typeface="Consolas" panose="020B0609020204030204" pitchFamily="49" charset="0"/>
              </a:rPr>
              <a:t>.</a:t>
            </a:r>
            <a:r>
              <a:rPr lang="en-US" b="0">
                <a:solidFill>
                  <a:srgbClr val="82AAFF"/>
                </a:solidFill>
                <a:effectLst/>
                <a:latin typeface="Consolas" panose="020B0609020204030204" pitchFamily="49" charset="0"/>
              </a:rPr>
              <a:t>log</a:t>
            </a:r>
            <a:r>
              <a:rPr lang="en-US" b="0">
                <a:solidFill>
                  <a:srgbClr val="D6DEEB"/>
                </a:solidFill>
                <a:effectLst/>
                <a:latin typeface="Consolas" panose="020B0609020204030204" pitchFamily="49" charset="0"/>
              </a:rPr>
              <a:t>(</a:t>
            </a:r>
            <a:r>
              <a:rPr lang="en-US" b="0">
                <a:solidFill>
                  <a:srgbClr val="D9F5DD"/>
                </a:solidFill>
                <a:effectLst/>
                <a:latin typeface="Consolas" panose="020B0609020204030204" pitchFamily="49" charset="0"/>
              </a:rPr>
              <a:t>'</a:t>
            </a:r>
            <a:r>
              <a:rPr lang="en-US" b="0">
                <a:solidFill>
                  <a:srgbClr val="ECC48D"/>
                </a:solidFill>
                <a:effectLst/>
                <a:latin typeface="Consolas" panose="020B0609020204030204" pitchFamily="49" charset="0"/>
              </a:rPr>
              <a:t>increment like count</a:t>
            </a:r>
            <a:r>
              <a:rPr lang="en-US" b="0">
                <a:solidFill>
                  <a:srgbClr val="D9F5DD"/>
                </a:solidFill>
                <a:effectLst/>
                <a:latin typeface="Consolas" panose="020B0609020204030204" pitchFamily="49" charset="0"/>
              </a:rPr>
              <a:t>'</a:t>
            </a:r>
            <a:r>
              <a:rPr lang="en-US" b="0">
                <a:solidFill>
                  <a:srgbClr val="D6DEEB"/>
                </a:solidFill>
                <a:effectLst/>
                <a:latin typeface="Consolas" panose="020B0609020204030204" pitchFamily="49" charset="0"/>
              </a:rPr>
              <a:t>);</a:t>
            </a:r>
          </a:p>
          <a:p>
            <a:r>
              <a:rPr lang="en-US" b="0">
                <a:solidFill>
                  <a:srgbClr val="D6DEEB"/>
                </a:solidFill>
                <a:effectLst/>
                <a:latin typeface="Consolas" panose="020B0609020204030204" pitchFamily="49" charset="0"/>
              </a:rPr>
              <a:t>    }</a:t>
            </a:r>
          </a:p>
          <a:p>
            <a:r>
              <a:rPr lang="en-US" b="0">
                <a:solidFill>
                  <a:srgbClr val="D6DEEB"/>
                </a:solidFill>
                <a:effectLst/>
                <a:latin typeface="Consolas" panose="020B0609020204030204" pitchFamily="49" charset="0"/>
              </a:rPr>
              <a:t>    </a:t>
            </a:r>
            <a:r>
              <a:rPr lang="en-US" b="0" i="1">
                <a:solidFill>
                  <a:srgbClr val="C792EA"/>
                </a:solidFill>
                <a:effectLst/>
                <a:latin typeface="Consolas" panose="020B0609020204030204" pitchFamily="49" charset="0"/>
              </a:rPr>
              <a:t>return</a:t>
            </a:r>
            <a:r>
              <a:rPr lang="en-US" b="0">
                <a:solidFill>
                  <a:srgbClr val="D6DEEB"/>
                </a:solidFill>
                <a:effectLst/>
                <a:latin typeface="Consolas" panose="020B0609020204030204" pitchFamily="49" charset="0"/>
              </a:rPr>
              <a:t> (</a:t>
            </a:r>
          </a:p>
          <a:p>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&lt;div&gt;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r>
              <a:rPr lang="en-US" b="0">
                <a:solidFill>
                  <a:srgbClr val="D3423E"/>
                </a:solidFill>
                <a:effectLst/>
                <a:latin typeface="Consolas" panose="020B0609020204030204" pitchFamily="49" charset="0"/>
              </a:rPr>
              <a:t>{</a:t>
            </a:r>
            <a:r>
              <a:rPr lang="en-US" b="0">
                <a:solidFill>
                  <a:srgbClr val="928585"/>
                </a:solidFill>
                <a:effectLst/>
                <a:latin typeface="Consolas" panose="020B0609020204030204" pitchFamily="49" charset="0"/>
              </a:rPr>
              <a:t>/*</a:t>
            </a:r>
            <a:r>
              <a:rPr lang="en-US" b="0" i="1">
                <a:solidFill>
                  <a:srgbClr val="928585"/>
                </a:solidFill>
                <a:effectLst/>
                <a:latin typeface="Consolas" panose="020B0609020204030204" pitchFamily="49" charset="0"/>
              </a:rPr>
              <a:t> ... </a:t>
            </a:r>
            <a:r>
              <a:rPr lang="en-US" b="0">
                <a:solidFill>
                  <a:srgbClr val="928585"/>
                </a:solidFill>
                <a:effectLst/>
                <a:latin typeface="Consolas" panose="020B0609020204030204" pitchFamily="49" charset="0"/>
              </a:rPr>
              <a:t>*/</a:t>
            </a:r>
            <a:r>
              <a:rPr lang="en-US" b="0">
                <a:solidFill>
                  <a:srgbClr val="D3423E"/>
                </a:solidFill>
                <a:effectLst/>
                <a:latin typeface="Consolas" panose="020B0609020204030204" pitchFamily="49" charset="0"/>
              </a:rPr>
              <a: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&lt;button </a:t>
            </a:r>
            <a:r>
              <a:rPr lang="en-US" b="0" i="1">
                <a:solidFill>
                  <a:srgbClr val="ADDB67"/>
                </a:solidFill>
                <a:effectLst/>
                <a:latin typeface="Consolas" panose="020B0609020204030204" pitchFamily="49" charset="0"/>
              </a:rPr>
              <a:t>onClick</a:t>
            </a:r>
            <a:r>
              <a:rPr lang="en-US" b="0">
                <a:solidFill>
                  <a:srgbClr val="C792EA"/>
                </a:solidFill>
                <a:effectLst/>
                <a:latin typeface="Consolas" panose="020B0609020204030204" pitchFamily="49" charset="0"/>
              </a:rPr>
              <a:t>=</a:t>
            </a:r>
            <a:r>
              <a:rPr lang="en-US" b="0">
                <a:solidFill>
                  <a:srgbClr val="D3423E"/>
                </a:solidFill>
                <a:effectLst/>
                <a:latin typeface="Consolas" panose="020B0609020204030204" pitchFamily="49" charset="0"/>
              </a:rPr>
              <a:t>{</a:t>
            </a:r>
            <a:r>
              <a:rPr lang="en-US" b="0">
                <a:solidFill>
                  <a:srgbClr val="D7DBE0"/>
                </a:solidFill>
                <a:effectLst/>
                <a:latin typeface="Consolas" panose="020B0609020204030204" pitchFamily="49" charset="0"/>
              </a:rPr>
              <a:t>handleClick</a:t>
            </a:r>
            <a:r>
              <a:rPr lang="en-US" b="0">
                <a:solidFill>
                  <a:srgbClr val="D3423E"/>
                </a:solidFill>
                <a:effectLst/>
                <a:latin typeface="Consolas" panose="020B0609020204030204" pitchFamily="49" charset="0"/>
              </a:rPr>
              <a:t>}</a:t>
            </a:r>
            <a:r>
              <a:rPr lang="en-US" b="0">
                <a:solidFill>
                  <a:srgbClr val="7FDBCA"/>
                </a:solidFill>
                <a:effectLst/>
                <a:latin typeface="Consolas" panose="020B0609020204030204" pitchFamily="49" charset="0"/>
              </a:rPr>
              <a:t>&gt;</a:t>
            </a:r>
            <a:r>
              <a:rPr lang="en-US" b="0">
                <a:solidFill>
                  <a:srgbClr val="D6DEEB"/>
                </a:solidFill>
                <a:effectLst/>
                <a:latin typeface="Consolas" panose="020B0609020204030204" pitchFamily="49" charset="0"/>
              </a:rPr>
              <a:t>Like</a:t>
            </a:r>
            <a:r>
              <a:rPr lang="en-US" b="0">
                <a:solidFill>
                  <a:srgbClr val="7FDBCA"/>
                </a:solidFill>
                <a:effectLst/>
                <a:latin typeface="Consolas" panose="020B0609020204030204" pitchFamily="49" charset="0"/>
              </a:rPr>
              <a:t>&lt;/button&gt;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r>
              <a:rPr lang="en-US" b="0">
                <a:solidFill>
                  <a:srgbClr val="7FDBCA"/>
                </a:solidFill>
                <a:effectLst/>
                <a:latin typeface="Consolas" panose="020B0609020204030204" pitchFamily="49" charset="0"/>
              </a:rPr>
              <a:t>&lt;/div&gt;</a:t>
            </a:r>
            <a:endParaRPr lang="en-US" b="0">
              <a:solidFill>
                <a:srgbClr val="D6DEEB"/>
              </a:solidFill>
              <a:effectLst/>
              <a:latin typeface="Consolas" panose="020B0609020204030204" pitchFamily="49" charset="0"/>
            </a:endParaRPr>
          </a:p>
          <a:p>
            <a:r>
              <a:rPr lang="en-US" b="0">
                <a:solidFill>
                  <a:srgbClr val="D6DEEB"/>
                </a:solidFill>
                <a:effectLst/>
                <a:latin typeface="Consolas" panose="020B0609020204030204" pitchFamily="49" charset="0"/>
              </a:rPr>
              <a:t>    );</a:t>
            </a:r>
          </a:p>
          <a:p>
            <a:r>
              <a:rPr lang="en-US" b="0">
                <a:solidFill>
                  <a:srgbClr val="D6DEEB"/>
                </a:solidFill>
                <a:effectLst/>
                <a:latin typeface="Consolas" panose="020B0609020204030204" pitchFamily="49" charset="0"/>
              </a:rPr>
              <a:t>  }  </a:t>
            </a:r>
          </a:p>
        </p:txBody>
      </p:sp>
    </p:spTree>
    <p:extLst>
      <p:ext uri="{BB962C8B-B14F-4D97-AF65-F5344CB8AC3E}">
        <p14:creationId xmlns:p14="http://schemas.microsoft.com/office/powerpoint/2010/main" val="3090997511"/>
      </p:ext>
    </p:extLst>
  </p:cSld>
  <p:clrMapOvr>
    <a:overrideClrMapping bg1="lt1" tx1="dk1" bg2="lt2" tx2="dk2" accent1="accent1" accent2="accent2" accent3="accent3" accent4="accent4" accent5="accent5" accent6="accent6" hlink="hlink" folHlink="folHlink"/>
  </p:clrMapOvr>
</p:sld>
</file>

<file path=ppt/slides/slide8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Concepts de base </a:t>
            </a:r>
          </a:p>
        </p:txBody>
      </p:sp>
      <p:sp>
        <p:nvSpPr>
          <p:cNvPr id="3" name="TextBox 2">
            <a:extLst>
              <a:ext uri="{FF2B5EF4-FFF2-40B4-BE49-F238E27FC236}">
                <a16:creationId xmlns:a16="http://schemas.microsoft.com/office/drawing/2014/main" id="{6E7D9BBE-4708-B72B-9BB9-DFD6F05EC6A3}"/>
              </a:ext>
            </a:extLst>
          </p:cNvPr>
          <p:cNvSpPr txBox="1"/>
          <p:nvPr/>
        </p:nvSpPr>
        <p:spPr>
          <a:xfrm>
            <a:off x="2168432" y="1291299"/>
            <a:ext cx="5031357"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Exemple utilisation State (Homepage.js)</a:t>
            </a:r>
            <a:endParaRPr lang="en-US"/>
          </a:p>
        </p:txBody>
      </p:sp>
      <p:sp>
        <p:nvSpPr>
          <p:cNvPr id="6" name="TextBox 5">
            <a:extLst>
              <a:ext uri="{FF2B5EF4-FFF2-40B4-BE49-F238E27FC236}">
                <a16:creationId xmlns:a16="http://schemas.microsoft.com/office/drawing/2014/main" id="{C4330C34-0000-989B-EFA8-E8E99947ED75}"/>
              </a:ext>
            </a:extLst>
          </p:cNvPr>
          <p:cNvSpPr txBox="1"/>
          <p:nvPr/>
        </p:nvSpPr>
        <p:spPr>
          <a:xfrm>
            <a:off x="2168434" y="1669509"/>
            <a:ext cx="9177228" cy="671915"/>
          </a:xfrm>
          <a:prstGeom prst="rect">
            <a:avLst/>
          </a:prstGeom>
          <a:noFill/>
        </p:spPr>
        <p:txBody>
          <a:bodyPr wrap="square" lIns="91440" tIns="45720" rIns="91440" bIns="45720" rtlCol="0" anchor="t">
            <a:spAutoFit/>
          </a:bodyPr>
          <a:lstStyle/>
          <a:p>
            <a:pPr>
              <a:lnSpc>
                <a:spcPct val="107000"/>
              </a:lnSpc>
              <a:spcAft>
                <a:spcPts val="800"/>
              </a:spcAft>
            </a:pPr>
            <a:r>
              <a:rPr lang="fr-CA" sz="1800">
                <a:effectLst/>
                <a:latin typeface="Calibri"/>
                <a:ea typeface="Calibri"/>
                <a:cs typeface="Arial"/>
              </a:rPr>
              <a:t>On va rajouter un </a:t>
            </a:r>
            <a:r>
              <a:rPr lang="fr-CA">
                <a:latin typeface="Calibri"/>
                <a:ea typeface="Calibri"/>
                <a:cs typeface="Arial"/>
              </a:rPr>
              <a:t>état</a:t>
            </a:r>
            <a:r>
              <a:rPr lang="fr-CA" sz="1800">
                <a:effectLst/>
                <a:latin typeface="Calibri"/>
                <a:ea typeface="Calibri"/>
                <a:cs typeface="Arial"/>
              </a:rPr>
              <a:t> </a:t>
            </a:r>
            <a:r>
              <a:rPr lang="fr-CA">
                <a:latin typeface="Calibri"/>
                <a:ea typeface="Calibri"/>
                <a:cs typeface="Arial"/>
              </a:rPr>
              <a:t>(state) </a:t>
            </a:r>
            <a:r>
              <a:rPr lang="fr-CA" sz="1800">
                <a:effectLst/>
                <a:latin typeface="Calibri"/>
                <a:ea typeface="Calibri"/>
                <a:cs typeface="Arial"/>
              </a:rPr>
              <a:t>à notre exemple précèdent pour pouvoir mettre à jour le nombre de likes, donc notre exemple sera :</a:t>
            </a:r>
            <a:endParaRPr lang="en-US" sz="1800">
              <a:effectLst/>
              <a:latin typeface="Calibri"/>
              <a:ea typeface="Calibri"/>
              <a:cs typeface="Arial"/>
            </a:endParaRPr>
          </a:p>
        </p:txBody>
      </p:sp>
      <p:sp>
        <p:nvSpPr>
          <p:cNvPr id="2" name="TextBox 1">
            <a:extLst>
              <a:ext uri="{FF2B5EF4-FFF2-40B4-BE49-F238E27FC236}">
                <a16:creationId xmlns:a16="http://schemas.microsoft.com/office/drawing/2014/main" id="{5DE89129-4873-B01B-E002-249663682AEF}"/>
              </a:ext>
            </a:extLst>
          </p:cNvPr>
          <p:cNvSpPr txBox="1"/>
          <p:nvPr/>
        </p:nvSpPr>
        <p:spPr>
          <a:xfrm>
            <a:off x="2168433" y="2459693"/>
            <a:ext cx="9274883" cy="3970318"/>
          </a:xfrm>
          <a:prstGeom prst="rect">
            <a:avLst/>
          </a:prstGeom>
          <a:solidFill>
            <a:schemeClr val="tx2">
              <a:lumMod val="50000"/>
            </a:schemeClr>
          </a:solidFill>
        </p:spPr>
        <p:txBody>
          <a:bodyPr wrap="square" lIns="91440" tIns="45720" rIns="91440" bIns="45720" rtlCol="0" anchor="t">
            <a:spAutoFit/>
          </a:bodyPr>
          <a:lstStyle>
            <a:defPPr>
              <a:defRPr lang="fr-FR"/>
            </a:defPPr>
            <a:lvl1pPr>
              <a:defRPr b="0" i="1">
                <a:solidFill>
                  <a:srgbClr val="82AAFF"/>
                </a:solidFill>
                <a:effectLst/>
                <a:latin typeface="Consolas" panose="020B0609020204030204" pitchFamily="49" charset="0"/>
              </a:defRPr>
            </a:lvl1pPr>
          </a:lstStyle>
          <a:p>
            <a:r>
              <a:rPr lang="en-US" b="0">
                <a:solidFill>
                  <a:srgbClr val="82AAFF"/>
                </a:solidFill>
                <a:effectLst/>
                <a:latin typeface="Consolas"/>
              </a:rPr>
              <a:t>function</a:t>
            </a:r>
            <a:r>
              <a:rPr lang="en-US" b="0">
                <a:solidFill>
                  <a:srgbClr val="D6DEEB"/>
                </a:solidFill>
                <a:effectLst/>
                <a:latin typeface="Consolas"/>
              </a:rPr>
              <a:t> </a:t>
            </a:r>
            <a:r>
              <a:rPr lang="en-US" b="0" err="1">
                <a:solidFill>
                  <a:srgbClr val="82AAFF"/>
                </a:solidFill>
                <a:effectLst/>
                <a:latin typeface="Consolas"/>
              </a:rPr>
              <a:t>HomePage</a:t>
            </a:r>
            <a:r>
              <a:rPr lang="en-US" b="0">
                <a:solidFill>
                  <a:srgbClr val="D9F5DD"/>
                </a:solidFill>
                <a:effectLst/>
                <a:latin typeface="Consolas"/>
              </a:rPr>
              <a:t>()</a:t>
            </a:r>
            <a:r>
              <a:rPr lang="en-US" b="0">
                <a:solidFill>
                  <a:srgbClr val="D6DEEB"/>
                </a:solidFill>
                <a:effectLst/>
                <a:latin typeface="Consolas"/>
              </a:rPr>
              <a:t> {</a:t>
            </a:r>
          </a:p>
          <a:p>
            <a:r>
              <a:rPr lang="en-US" b="0">
                <a:solidFill>
                  <a:srgbClr val="D6DEEB"/>
                </a:solidFill>
                <a:effectLst/>
                <a:latin typeface="Consolas"/>
              </a:rPr>
              <a:t>    </a:t>
            </a:r>
            <a:r>
              <a:rPr lang="en-US" b="0">
                <a:solidFill>
                  <a:srgbClr val="637777"/>
                </a:solidFill>
                <a:effectLst/>
                <a:latin typeface="Consolas"/>
              </a:rPr>
              <a:t>//</a:t>
            </a:r>
            <a:r>
              <a:rPr lang="en-US" b="0" i="1">
                <a:solidFill>
                  <a:srgbClr val="637777"/>
                </a:solidFill>
                <a:effectLst/>
                <a:latin typeface="Consolas"/>
              </a:rPr>
              <a:t> ...</a:t>
            </a:r>
            <a:endParaRPr lang="en-US" b="0">
              <a:solidFill>
                <a:srgbClr val="D6DEEB"/>
              </a:solidFill>
              <a:effectLst/>
              <a:latin typeface="Consolas"/>
            </a:endParaRPr>
          </a:p>
          <a:p>
            <a:r>
              <a:rPr lang="en-US" b="0">
                <a:solidFill>
                  <a:srgbClr val="D6DEEB"/>
                </a:solidFill>
                <a:effectLst/>
                <a:latin typeface="Consolas"/>
              </a:rPr>
              <a:t>    </a:t>
            </a:r>
            <a:r>
              <a:rPr lang="en-US" b="0">
                <a:solidFill>
                  <a:srgbClr val="82AAFF"/>
                </a:solidFill>
                <a:effectLst/>
                <a:latin typeface="Consolas"/>
              </a:rPr>
              <a:t>const</a:t>
            </a:r>
            <a:r>
              <a:rPr lang="en-US" b="0" i="1">
                <a:solidFill>
                  <a:srgbClr val="C792EA"/>
                </a:solidFill>
                <a:effectLst/>
                <a:latin typeface="Consolas"/>
              </a:rPr>
              <a:t> </a:t>
            </a:r>
            <a:r>
              <a:rPr lang="en-US" b="0">
                <a:solidFill>
                  <a:srgbClr val="C792EA"/>
                </a:solidFill>
                <a:effectLst/>
                <a:latin typeface="Consolas"/>
              </a:rPr>
              <a:t>[</a:t>
            </a:r>
            <a:r>
              <a:rPr lang="en-US" b="0" i="1">
                <a:solidFill>
                  <a:srgbClr val="82AAFF"/>
                </a:solidFill>
                <a:effectLst/>
                <a:latin typeface="Consolas"/>
              </a:rPr>
              <a:t>likes</a:t>
            </a:r>
            <a:r>
              <a:rPr lang="en-US" b="0">
                <a:solidFill>
                  <a:srgbClr val="5F7E97"/>
                </a:solidFill>
                <a:effectLst/>
                <a:latin typeface="Consolas"/>
              </a:rPr>
              <a:t>,</a:t>
            </a:r>
            <a:r>
              <a:rPr lang="en-US" b="0" i="1">
                <a:solidFill>
                  <a:srgbClr val="C792EA"/>
                </a:solidFill>
                <a:effectLst/>
                <a:latin typeface="Consolas"/>
              </a:rPr>
              <a:t> </a:t>
            </a:r>
            <a:r>
              <a:rPr lang="en-US" b="0" i="1" err="1">
                <a:solidFill>
                  <a:srgbClr val="82AAFF"/>
                </a:solidFill>
                <a:effectLst/>
                <a:latin typeface="Consolas"/>
              </a:rPr>
              <a:t>setLikes</a:t>
            </a:r>
            <a:r>
              <a:rPr lang="en-US" b="0">
                <a:solidFill>
                  <a:srgbClr val="C792EA"/>
                </a:solidFill>
                <a:effectLst/>
                <a:latin typeface="Consolas"/>
              </a:rPr>
              <a:t>]</a:t>
            </a:r>
            <a:r>
              <a:rPr lang="en-US" b="0" i="1">
                <a:solidFill>
                  <a:srgbClr val="C792EA"/>
                </a:solidFill>
                <a:effectLst/>
                <a:latin typeface="Consolas"/>
              </a:rPr>
              <a:t> </a:t>
            </a:r>
            <a:r>
              <a:rPr lang="en-US" b="0">
                <a:solidFill>
                  <a:srgbClr val="C792EA"/>
                </a:solidFill>
                <a:effectLst/>
                <a:latin typeface="Consolas"/>
              </a:rPr>
              <a:t>=</a:t>
            </a:r>
            <a:r>
              <a:rPr lang="en-US" b="0" i="1">
                <a:solidFill>
                  <a:srgbClr val="C792EA"/>
                </a:solidFill>
                <a:effectLst/>
                <a:latin typeface="Consolas"/>
              </a:rPr>
              <a:t> </a:t>
            </a:r>
            <a:r>
              <a:rPr lang="en-US" b="0" err="1">
                <a:solidFill>
                  <a:srgbClr val="D6DEEB"/>
                </a:solidFill>
                <a:effectLst/>
                <a:latin typeface="Consolas"/>
              </a:rPr>
              <a:t>React</a:t>
            </a:r>
            <a:r>
              <a:rPr lang="en-US" b="0" i="1" err="1">
                <a:solidFill>
                  <a:srgbClr val="C792EA"/>
                </a:solidFill>
                <a:effectLst/>
                <a:latin typeface="Consolas"/>
              </a:rPr>
              <a:t>.</a:t>
            </a:r>
            <a:r>
              <a:rPr lang="en-US" b="0" err="1">
                <a:solidFill>
                  <a:srgbClr val="82AAFF"/>
                </a:solidFill>
                <a:effectLst/>
                <a:latin typeface="Consolas"/>
              </a:rPr>
              <a:t>useState</a:t>
            </a:r>
            <a:r>
              <a:rPr lang="en-US" b="0">
                <a:solidFill>
                  <a:srgbClr val="D6DEEB"/>
                </a:solidFill>
                <a:effectLst/>
                <a:latin typeface="Consolas"/>
              </a:rPr>
              <a:t>(</a:t>
            </a:r>
            <a:r>
              <a:rPr lang="en-US" b="0">
                <a:solidFill>
                  <a:srgbClr val="F78C6C"/>
                </a:solidFill>
                <a:effectLst/>
                <a:latin typeface="Consolas"/>
              </a:rPr>
              <a:t>0</a:t>
            </a:r>
            <a:r>
              <a:rPr lang="en-US" b="0">
                <a:solidFill>
                  <a:srgbClr val="D6DEEB"/>
                </a:solidFill>
                <a:effectLst/>
                <a:latin typeface="Consolas"/>
              </a:rPr>
              <a:t>);</a:t>
            </a:r>
          </a:p>
          <a:p>
            <a:r>
              <a:rPr lang="en-US" b="0">
                <a:solidFill>
                  <a:srgbClr val="D6DEEB"/>
                </a:solidFill>
                <a:effectLst/>
                <a:latin typeface="Consolas"/>
              </a:rPr>
              <a:t> </a:t>
            </a:r>
            <a:r>
              <a:rPr lang="en-US">
                <a:solidFill>
                  <a:srgbClr val="D6DEEB"/>
                </a:solidFill>
                <a:latin typeface="Consolas"/>
              </a:rPr>
              <a:t> </a:t>
            </a:r>
            <a:endParaRPr lang="en-US" b="0">
              <a:solidFill>
                <a:srgbClr val="D6DEEB"/>
              </a:solidFill>
              <a:effectLst/>
              <a:latin typeface="Consolas" panose="020B0609020204030204" pitchFamily="49" charset="0"/>
            </a:endParaRPr>
          </a:p>
          <a:p>
            <a:r>
              <a:rPr lang="en-US" b="0">
                <a:solidFill>
                  <a:srgbClr val="D6DEEB"/>
                </a:solidFill>
                <a:effectLst/>
                <a:latin typeface="Consolas"/>
              </a:rPr>
              <a:t>    </a:t>
            </a:r>
            <a:r>
              <a:rPr lang="en-US" b="0">
                <a:solidFill>
                  <a:srgbClr val="82AAFF"/>
                </a:solidFill>
                <a:effectLst/>
                <a:latin typeface="Consolas"/>
              </a:rPr>
              <a:t>function</a:t>
            </a:r>
            <a:r>
              <a:rPr lang="en-US" b="0">
                <a:solidFill>
                  <a:srgbClr val="D6DEEB"/>
                </a:solidFill>
                <a:effectLst/>
                <a:latin typeface="Consolas"/>
              </a:rPr>
              <a:t> </a:t>
            </a:r>
            <a:r>
              <a:rPr lang="en-US" b="0" err="1">
                <a:solidFill>
                  <a:srgbClr val="82AAFF"/>
                </a:solidFill>
                <a:effectLst/>
                <a:latin typeface="Consolas"/>
              </a:rPr>
              <a:t>handleClick</a:t>
            </a:r>
            <a:r>
              <a:rPr lang="en-US" b="0">
                <a:solidFill>
                  <a:srgbClr val="D9F5DD"/>
                </a:solidFill>
                <a:effectLst/>
                <a:latin typeface="Consolas"/>
              </a:rPr>
              <a:t>()</a:t>
            </a:r>
            <a:r>
              <a:rPr lang="en-US" b="0">
                <a:solidFill>
                  <a:srgbClr val="D6DEEB"/>
                </a:solidFill>
                <a:effectLst/>
                <a:latin typeface="Consolas"/>
              </a:rPr>
              <a:t> {</a:t>
            </a:r>
          </a:p>
          <a:p>
            <a:r>
              <a:rPr lang="en-US" b="0">
                <a:solidFill>
                  <a:srgbClr val="D6DEEB"/>
                </a:solidFill>
                <a:effectLst/>
                <a:latin typeface="Consolas"/>
              </a:rPr>
              <a:t>      </a:t>
            </a:r>
            <a:r>
              <a:rPr lang="en-US" b="0" err="1">
                <a:solidFill>
                  <a:srgbClr val="82AAFF"/>
                </a:solidFill>
                <a:effectLst/>
                <a:latin typeface="Consolas"/>
              </a:rPr>
              <a:t>setLikes</a:t>
            </a:r>
            <a:r>
              <a:rPr lang="en-US" b="0">
                <a:solidFill>
                  <a:srgbClr val="D6DEEB"/>
                </a:solidFill>
                <a:effectLst/>
                <a:latin typeface="Consolas"/>
              </a:rPr>
              <a:t>(</a:t>
            </a:r>
            <a:r>
              <a:rPr lang="en-US" b="0">
                <a:solidFill>
                  <a:srgbClr val="D7DBE0"/>
                </a:solidFill>
                <a:effectLst/>
                <a:latin typeface="Consolas"/>
              </a:rPr>
              <a:t>likes</a:t>
            </a:r>
            <a:r>
              <a:rPr lang="en-US" b="0">
                <a:solidFill>
                  <a:srgbClr val="D6DEEB"/>
                </a:solidFill>
                <a:effectLst/>
                <a:latin typeface="Consolas"/>
              </a:rPr>
              <a:t> </a:t>
            </a:r>
            <a:r>
              <a:rPr lang="en-US" b="0">
                <a:solidFill>
                  <a:srgbClr val="C792EA"/>
                </a:solidFill>
                <a:effectLst/>
                <a:latin typeface="Consolas"/>
              </a:rPr>
              <a:t>+</a:t>
            </a:r>
            <a:r>
              <a:rPr lang="en-US" b="0">
                <a:solidFill>
                  <a:srgbClr val="D6DEEB"/>
                </a:solidFill>
                <a:effectLst/>
                <a:latin typeface="Consolas"/>
              </a:rPr>
              <a:t> </a:t>
            </a:r>
            <a:r>
              <a:rPr lang="en-US" b="0">
                <a:solidFill>
                  <a:srgbClr val="F78C6C"/>
                </a:solidFill>
                <a:effectLst/>
                <a:latin typeface="Consolas"/>
              </a:rPr>
              <a:t>1</a:t>
            </a:r>
            <a:r>
              <a:rPr lang="en-US" b="0">
                <a:solidFill>
                  <a:srgbClr val="D6DEEB"/>
                </a:solidFill>
                <a:effectLst/>
                <a:latin typeface="Consolas"/>
              </a:rPr>
              <a:t>);</a:t>
            </a:r>
          </a:p>
          <a:p>
            <a:r>
              <a:rPr lang="en-US" b="0">
                <a:solidFill>
                  <a:srgbClr val="D6DEEB"/>
                </a:solidFill>
                <a:effectLst/>
                <a:latin typeface="Consolas"/>
              </a:rPr>
              <a:t>    }</a:t>
            </a:r>
          </a:p>
          <a:p>
            <a:r>
              <a:rPr lang="en-US" b="0">
                <a:solidFill>
                  <a:srgbClr val="D6DEEB"/>
                </a:solidFill>
                <a:effectLst/>
                <a:latin typeface="Consolas"/>
              </a:rPr>
              <a:t>    </a:t>
            </a:r>
            <a:r>
              <a:rPr lang="en-US" b="0" i="1">
                <a:solidFill>
                  <a:srgbClr val="C792EA"/>
                </a:solidFill>
                <a:effectLst/>
                <a:latin typeface="Consolas"/>
              </a:rPr>
              <a:t>return</a:t>
            </a:r>
            <a:r>
              <a:rPr lang="en-US" b="0">
                <a:solidFill>
                  <a:srgbClr val="D6DEEB"/>
                </a:solidFill>
                <a:effectLst/>
                <a:latin typeface="Consolas"/>
              </a:rPr>
              <a:t> (</a:t>
            </a:r>
          </a:p>
          <a:p>
            <a:r>
              <a:rPr lang="en-US" b="0">
                <a:solidFill>
                  <a:srgbClr val="D6DEEB"/>
                </a:solidFill>
                <a:effectLst/>
                <a:latin typeface="Consolas"/>
              </a:rPr>
              <a:t>      </a:t>
            </a:r>
            <a:r>
              <a:rPr lang="en-US" b="0">
                <a:solidFill>
                  <a:srgbClr val="7FDBCA"/>
                </a:solidFill>
                <a:effectLst/>
                <a:latin typeface="Consolas"/>
              </a:rPr>
              <a:t>&lt;div&gt;</a:t>
            </a:r>
            <a:endParaRPr lang="en-US" b="0">
              <a:solidFill>
                <a:srgbClr val="D6DEEB"/>
              </a:solidFill>
              <a:effectLst/>
              <a:latin typeface="Consolas"/>
            </a:endParaRPr>
          </a:p>
          <a:p>
            <a:r>
              <a:rPr lang="en-US" b="0">
                <a:solidFill>
                  <a:srgbClr val="D6DEEB"/>
                </a:solidFill>
                <a:effectLst/>
                <a:latin typeface="Consolas"/>
              </a:rPr>
              <a:t>        </a:t>
            </a:r>
            <a:r>
              <a:rPr lang="en-US" b="0">
                <a:solidFill>
                  <a:srgbClr val="D3423E"/>
                </a:solidFill>
                <a:effectLst/>
                <a:latin typeface="Consolas"/>
              </a:rPr>
              <a:t>{</a:t>
            </a:r>
            <a:r>
              <a:rPr lang="en-US" b="0">
                <a:solidFill>
                  <a:srgbClr val="928585"/>
                </a:solidFill>
                <a:effectLst/>
                <a:latin typeface="Consolas"/>
              </a:rPr>
              <a:t>/*</a:t>
            </a:r>
            <a:r>
              <a:rPr lang="en-US" b="0" i="1">
                <a:solidFill>
                  <a:srgbClr val="928585"/>
                </a:solidFill>
                <a:effectLst/>
                <a:latin typeface="Consolas"/>
              </a:rPr>
              <a:t> ... </a:t>
            </a:r>
            <a:r>
              <a:rPr lang="en-US" b="0">
                <a:solidFill>
                  <a:srgbClr val="928585"/>
                </a:solidFill>
                <a:effectLst/>
                <a:latin typeface="Consolas"/>
              </a:rPr>
              <a:t>*/</a:t>
            </a:r>
            <a:r>
              <a:rPr lang="en-US" b="0">
                <a:solidFill>
                  <a:srgbClr val="D3423E"/>
                </a:solidFill>
                <a:effectLst/>
                <a:latin typeface="Consolas"/>
              </a:rPr>
              <a:t>}</a:t>
            </a:r>
            <a:endParaRPr lang="en-US" b="0">
              <a:solidFill>
                <a:srgbClr val="D6DEEB"/>
              </a:solidFill>
              <a:effectLst/>
              <a:latin typeface="Consolas"/>
            </a:endParaRPr>
          </a:p>
          <a:p>
            <a:r>
              <a:rPr lang="en-US" b="0">
                <a:solidFill>
                  <a:srgbClr val="D6DEEB"/>
                </a:solidFill>
                <a:effectLst/>
                <a:latin typeface="Consolas"/>
              </a:rPr>
              <a:t>        </a:t>
            </a:r>
            <a:r>
              <a:rPr lang="en-US" b="0">
                <a:solidFill>
                  <a:srgbClr val="7FDBCA"/>
                </a:solidFill>
                <a:effectLst/>
                <a:latin typeface="Consolas"/>
              </a:rPr>
              <a:t>&lt;button </a:t>
            </a:r>
            <a:r>
              <a:rPr lang="en-US" b="0" i="1" err="1">
                <a:solidFill>
                  <a:srgbClr val="ADDB67"/>
                </a:solidFill>
                <a:effectLst/>
                <a:latin typeface="Consolas"/>
              </a:rPr>
              <a:t>onClick</a:t>
            </a:r>
            <a:r>
              <a:rPr lang="en-US" b="0">
                <a:solidFill>
                  <a:srgbClr val="C792EA"/>
                </a:solidFill>
                <a:effectLst/>
                <a:latin typeface="Consolas"/>
              </a:rPr>
              <a:t>=</a:t>
            </a:r>
            <a:r>
              <a:rPr lang="en-US" b="0">
                <a:solidFill>
                  <a:srgbClr val="D3423E"/>
                </a:solidFill>
                <a:effectLst/>
                <a:latin typeface="Consolas"/>
              </a:rPr>
              <a:t>{</a:t>
            </a:r>
            <a:r>
              <a:rPr lang="en-US" b="0" err="1">
                <a:solidFill>
                  <a:srgbClr val="D7DBE0"/>
                </a:solidFill>
                <a:effectLst/>
                <a:latin typeface="Consolas"/>
              </a:rPr>
              <a:t>handleClick</a:t>
            </a:r>
            <a:r>
              <a:rPr lang="en-US" b="0">
                <a:solidFill>
                  <a:srgbClr val="D3423E"/>
                </a:solidFill>
                <a:effectLst/>
                <a:latin typeface="Consolas"/>
              </a:rPr>
              <a:t>}</a:t>
            </a:r>
            <a:r>
              <a:rPr lang="en-US" b="0">
                <a:solidFill>
                  <a:srgbClr val="7FDBCA"/>
                </a:solidFill>
                <a:effectLst/>
                <a:latin typeface="Consolas"/>
              </a:rPr>
              <a:t>&gt;</a:t>
            </a:r>
            <a:r>
              <a:rPr lang="en-US" b="0">
                <a:solidFill>
                  <a:srgbClr val="D6DEEB"/>
                </a:solidFill>
                <a:effectLst/>
                <a:latin typeface="Consolas"/>
              </a:rPr>
              <a:t>Likes </a:t>
            </a:r>
            <a:r>
              <a:rPr lang="en-US">
                <a:solidFill>
                  <a:srgbClr val="D3423E"/>
                </a:solidFill>
                <a:latin typeface="Consolas"/>
              </a:rPr>
              <a:t>{</a:t>
            </a:r>
            <a:r>
              <a:rPr lang="en-US" b="0">
                <a:solidFill>
                  <a:srgbClr val="D7DBE0"/>
                </a:solidFill>
                <a:effectLst/>
                <a:latin typeface="Consolas"/>
              </a:rPr>
              <a:t>likes</a:t>
            </a:r>
            <a:r>
              <a:rPr lang="en-US">
                <a:solidFill>
                  <a:srgbClr val="D3423E"/>
                </a:solidFill>
                <a:latin typeface="Consolas"/>
              </a:rPr>
              <a:t>}</a:t>
            </a:r>
            <a:r>
              <a:rPr lang="en-US">
                <a:solidFill>
                  <a:srgbClr val="7FDBCA"/>
                </a:solidFill>
                <a:latin typeface="Consolas"/>
              </a:rPr>
              <a:t>&lt;/</a:t>
            </a:r>
            <a:r>
              <a:rPr lang="en-US" b="0">
                <a:solidFill>
                  <a:srgbClr val="7FDBCA"/>
                </a:solidFill>
                <a:effectLst/>
                <a:latin typeface="Consolas"/>
              </a:rPr>
              <a:t>button&gt;</a:t>
            </a:r>
            <a:endParaRPr lang="en-US" b="0">
              <a:solidFill>
                <a:srgbClr val="D6DEEB"/>
              </a:solidFill>
              <a:effectLst/>
              <a:latin typeface="Consolas"/>
            </a:endParaRPr>
          </a:p>
          <a:p>
            <a:r>
              <a:rPr lang="en-US" b="0">
                <a:solidFill>
                  <a:srgbClr val="D6DEEB"/>
                </a:solidFill>
                <a:effectLst/>
                <a:latin typeface="Consolas"/>
              </a:rPr>
              <a:t>      </a:t>
            </a:r>
            <a:r>
              <a:rPr lang="en-US" b="0">
                <a:solidFill>
                  <a:srgbClr val="7FDBCA"/>
                </a:solidFill>
                <a:effectLst/>
                <a:latin typeface="Consolas"/>
              </a:rPr>
              <a:t>&lt;/div&gt;</a:t>
            </a:r>
            <a:endParaRPr lang="en-US" b="0">
              <a:solidFill>
                <a:srgbClr val="D6DEEB"/>
              </a:solidFill>
              <a:effectLst/>
              <a:latin typeface="Consolas"/>
            </a:endParaRPr>
          </a:p>
          <a:p>
            <a:r>
              <a:rPr lang="en-US" b="0">
                <a:solidFill>
                  <a:srgbClr val="D6DEEB"/>
                </a:solidFill>
                <a:effectLst/>
                <a:latin typeface="Consolas"/>
              </a:rPr>
              <a:t>    );</a:t>
            </a:r>
          </a:p>
          <a:p>
            <a:r>
              <a:rPr lang="en-US" b="0">
                <a:solidFill>
                  <a:srgbClr val="D6DEEB"/>
                </a:solidFill>
                <a:effectLst/>
                <a:latin typeface="Consolas"/>
              </a:rPr>
              <a:t>  }  </a:t>
            </a:r>
          </a:p>
        </p:txBody>
      </p:sp>
    </p:spTree>
    <p:extLst>
      <p:ext uri="{BB962C8B-B14F-4D97-AF65-F5344CB8AC3E}">
        <p14:creationId xmlns:p14="http://schemas.microsoft.com/office/powerpoint/2010/main" val="1970904813"/>
      </p:ext>
    </p:extLst>
  </p:cSld>
  <p:clrMapOvr>
    <a:overrideClrMapping bg1="lt1" tx1="dk1" bg2="lt2" tx2="dk2" accent1="accent1" accent2="accent2" accent3="accent3" accent4="accent4" accent5="accent5" accent6="accent6" hlink="hlink" folHlink="folHlink"/>
  </p:clrMapOvr>
</p:sld>
</file>

<file path=ppt/slides/slide8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Exercice</a:t>
            </a:r>
          </a:p>
        </p:txBody>
      </p:sp>
      <p:sp>
        <p:nvSpPr>
          <p:cNvPr id="3" name="TextBox 2">
            <a:extLst>
              <a:ext uri="{FF2B5EF4-FFF2-40B4-BE49-F238E27FC236}">
                <a16:creationId xmlns:a16="http://schemas.microsoft.com/office/drawing/2014/main" id="{6E7D9BBE-4708-B72B-9BB9-DFD6F05EC6A3}"/>
              </a:ext>
            </a:extLst>
          </p:cNvPr>
          <p:cNvSpPr txBox="1"/>
          <p:nvPr/>
        </p:nvSpPr>
        <p:spPr>
          <a:xfrm>
            <a:off x="2168433" y="1291299"/>
            <a:ext cx="6611583" cy="36933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sz="1800">
                <a:effectLst/>
                <a:latin typeface="Calibri" panose="020F0502020204030204" pitchFamily="34" charset="0"/>
                <a:ea typeface="Calibri" panose="020F0502020204030204" pitchFamily="34" charset="0"/>
                <a:cs typeface="Arial" panose="020B0604020202020204" pitchFamily="34" charset="0"/>
              </a:rPr>
              <a:t>Intégrer React avec la couche de persistance MongoDB</a:t>
            </a:r>
            <a:endParaRPr lang="en-US"/>
          </a:p>
        </p:txBody>
      </p:sp>
      <p:sp>
        <p:nvSpPr>
          <p:cNvPr id="6" name="TextBox 5">
            <a:extLst>
              <a:ext uri="{FF2B5EF4-FFF2-40B4-BE49-F238E27FC236}">
                <a16:creationId xmlns:a16="http://schemas.microsoft.com/office/drawing/2014/main" id="{C4330C34-0000-989B-EFA8-E8E99947ED75}"/>
              </a:ext>
            </a:extLst>
          </p:cNvPr>
          <p:cNvSpPr txBox="1"/>
          <p:nvPr/>
        </p:nvSpPr>
        <p:spPr>
          <a:xfrm>
            <a:off x="2168434" y="1669509"/>
            <a:ext cx="9177228" cy="375552"/>
          </a:xfrm>
          <a:prstGeom prst="rect">
            <a:avLst/>
          </a:prstGeom>
          <a:noFill/>
        </p:spPr>
        <p:txBody>
          <a:bodyPr wrap="square" rtlCol="0">
            <a:spAutoFit/>
          </a:bodyPr>
          <a:lstStyle/>
          <a:p>
            <a:pPr>
              <a:lnSpc>
                <a:spcPct val="107000"/>
              </a:lnSpc>
              <a:spcAft>
                <a:spcPts val="800"/>
              </a:spcAft>
            </a:pPr>
            <a:r>
              <a:rPr lang="fr-CA" sz="1800">
                <a:effectLst/>
                <a:latin typeface="Calibri" panose="020F0502020204030204" pitchFamily="34" charset="0"/>
                <a:ea typeface="Calibri" panose="020F0502020204030204" pitchFamily="34" charset="0"/>
                <a:cs typeface="Arial" panose="020B0604020202020204" pitchFamily="34" charset="0"/>
              </a:rPr>
              <a:t>On va créer une simple application React TODO.</a:t>
            </a:r>
            <a:endParaRPr lang="en-US" sz="1800">
              <a:effectLst/>
              <a:latin typeface="Calibri" panose="020F0502020204030204" pitchFamily="34" charset="0"/>
              <a:ea typeface="Calibri" panose="020F0502020204030204" pitchFamily="34" charset="0"/>
              <a:cs typeface="Arial" panose="020B0604020202020204" pitchFamily="34" charset="0"/>
            </a:endParaRPr>
          </a:p>
        </p:txBody>
      </p:sp>
      <p:sp>
        <p:nvSpPr>
          <p:cNvPr id="5" name="TextBox 4">
            <a:extLst>
              <a:ext uri="{FF2B5EF4-FFF2-40B4-BE49-F238E27FC236}">
                <a16:creationId xmlns:a16="http://schemas.microsoft.com/office/drawing/2014/main" id="{9FF0A9AD-9837-D6C9-537F-20EBD25B4675}"/>
              </a:ext>
            </a:extLst>
          </p:cNvPr>
          <p:cNvSpPr txBox="1"/>
          <p:nvPr/>
        </p:nvSpPr>
        <p:spPr>
          <a:xfrm>
            <a:off x="2168433" y="2336605"/>
            <a:ext cx="8103031" cy="369332"/>
          </a:xfrm>
          <a:prstGeom prst="rect">
            <a:avLst/>
          </a:prstGeom>
          <a:noFill/>
        </p:spPr>
        <p:txBody>
          <a:bodyPr wrap="square" rtlCol="0">
            <a:spAutoFit/>
          </a:bodyPr>
          <a:lstStyle/>
          <a:p>
            <a:r>
              <a:rPr lang="en-US" sz="1800">
                <a:effectLst/>
                <a:latin typeface="Calibri" panose="020F0502020204030204" pitchFamily="34" charset="0"/>
                <a:ea typeface="Calibri" panose="020F0502020204030204" pitchFamily="34" charset="0"/>
                <a:cs typeface="Arial" panose="020B0604020202020204" pitchFamily="34" charset="0"/>
              </a:rPr>
              <a:t>GitHub: </a:t>
            </a:r>
            <a:r>
              <a:rPr lang="en-US" sz="1800">
                <a:effectLst/>
                <a:latin typeface="Calibri" panose="020F0502020204030204" pitchFamily="34" charset="0"/>
                <a:ea typeface="Calibri" panose="020F0502020204030204" pitchFamily="34" charset="0"/>
                <a:cs typeface="Arial" panose="020B0604020202020204" pitchFamily="34" charset="0"/>
                <a:hlinkClick r:id="rId4"/>
              </a:rPr>
              <a:t>https://github.com/abjava88/cha06-exercice</a:t>
            </a:r>
            <a:r>
              <a:rPr lang="en-US" sz="1800">
                <a:effectLst/>
                <a:latin typeface="Calibri" panose="020F0502020204030204" pitchFamily="34" charset="0"/>
                <a:ea typeface="Calibri" panose="020F0502020204030204" pitchFamily="34" charset="0"/>
                <a:cs typeface="Arial" panose="020B0604020202020204" pitchFamily="34" charset="0"/>
              </a:rPr>
              <a:t> </a:t>
            </a:r>
            <a:endParaRPr lang="en-US"/>
          </a:p>
        </p:txBody>
      </p:sp>
    </p:spTree>
    <p:extLst>
      <p:ext uri="{BB962C8B-B14F-4D97-AF65-F5344CB8AC3E}">
        <p14:creationId xmlns:p14="http://schemas.microsoft.com/office/powerpoint/2010/main" val="3590624585"/>
      </p:ext>
    </p:extLst>
  </p:cSld>
  <p:clrMapOvr>
    <a:overrideClrMapping bg1="lt1" tx1="dk1" bg2="lt2" tx2="dk2" accent1="accent1" accent2="accent2" accent3="accent3" accent4="accent4" accent5="accent5" accent6="accent6" hlink="hlink" folHlink="folHlink"/>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9304" y="3698928"/>
            <a:ext cx="9401176" cy="662894"/>
          </a:xfrm>
        </p:spPr>
        <p:txBody>
          <a:bodyPr>
            <a:noAutofit/>
          </a:bodyPr>
          <a:lstStyle/>
          <a:p>
            <a:r>
              <a:rPr lang="fr-CA" sz="3200"/>
              <a:t>Mini projet</a:t>
            </a:r>
          </a:p>
        </p:txBody>
      </p:sp>
      <p:sp>
        <p:nvSpPr>
          <p:cNvPr id="4" name="Subtitle 3"/>
          <p:cNvSpPr>
            <a:spLocks noGrp="1"/>
          </p:cNvSpPr>
          <p:nvPr>
            <p:ph type="subTitle" idx="1"/>
          </p:nvPr>
        </p:nvSpPr>
        <p:spPr>
          <a:xfrm>
            <a:off x="2136366" y="4638037"/>
            <a:ext cx="8915399" cy="1126283"/>
          </a:xfrm>
        </p:spPr>
        <p:txBody>
          <a:bodyPr/>
          <a:lstStyle/>
          <a:p>
            <a:r>
              <a:rPr lang="fr-CA"/>
              <a:t>Nous allons développer un service restful qui utilise les dernières technologies d’authentification, autorisation et jwt tokens. </a:t>
            </a:r>
          </a:p>
        </p:txBody>
      </p:sp>
      <p:sp>
        <p:nvSpPr>
          <p:cNvPr id="5" name="Title 1"/>
          <p:cNvSpPr txBox="1">
            <a:spLocks/>
          </p:cNvSpPr>
          <p:nvPr/>
        </p:nvSpPr>
        <p:spPr>
          <a:xfrm>
            <a:off x="4563018" y="2889216"/>
            <a:ext cx="2778308" cy="662894"/>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sz="3200"/>
              <a:t>Chapitre 07</a:t>
            </a:r>
          </a:p>
        </p:txBody>
      </p:sp>
    </p:spTree>
    <p:extLst>
      <p:ext uri="{BB962C8B-B14F-4D97-AF65-F5344CB8AC3E}">
        <p14:creationId xmlns:p14="http://schemas.microsoft.com/office/powerpoint/2010/main" val="34970538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 mini projet</a:t>
            </a:r>
          </a:p>
        </p:txBody>
      </p:sp>
      <p:sp>
        <p:nvSpPr>
          <p:cNvPr id="3" name="TextBox 2">
            <a:extLst>
              <a:ext uri="{FF2B5EF4-FFF2-40B4-BE49-F238E27FC236}">
                <a16:creationId xmlns:a16="http://schemas.microsoft.com/office/drawing/2014/main" id="{6E7D9BBE-4708-B72B-9BB9-DFD6F05EC6A3}"/>
              </a:ext>
            </a:extLst>
          </p:cNvPr>
          <p:cNvSpPr txBox="1"/>
          <p:nvPr/>
        </p:nvSpPr>
        <p:spPr>
          <a:xfrm>
            <a:off x="2168433" y="1291299"/>
            <a:ext cx="4409919" cy="37555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Contexte</a:t>
            </a:r>
            <a:endParaRPr lang="en-US"/>
          </a:p>
        </p:txBody>
      </p:sp>
      <p:sp>
        <p:nvSpPr>
          <p:cNvPr id="5" name="TextBox 4">
            <a:extLst>
              <a:ext uri="{FF2B5EF4-FFF2-40B4-BE49-F238E27FC236}">
                <a16:creationId xmlns:a16="http://schemas.microsoft.com/office/drawing/2014/main" id="{A45FE264-6A64-69EA-88BB-803AE6561987}"/>
              </a:ext>
            </a:extLst>
          </p:cNvPr>
          <p:cNvSpPr txBox="1"/>
          <p:nvPr/>
        </p:nvSpPr>
        <p:spPr>
          <a:xfrm>
            <a:off x="2168433" y="1917577"/>
            <a:ext cx="8369361" cy="3139321"/>
          </a:xfrm>
          <a:prstGeom prst="rect">
            <a:avLst/>
          </a:prstGeom>
          <a:noFill/>
        </p:spPr>
        <p:txBody>
          <a:bodyPr wrap="square" rtlCol="0">
            <a:spAutoFit/>
          </a:bodyPr>
          <a:lstStyle/>
          <a:p>
            <a:r>
              <a:rPr lang="fr-CA" dirty="0"/>
              <a:t>Nous allons développer un service </a:t>
            </a:r>
            <a:r>
              <a:rPr lang="fr-CA" dirty="0" err="1"/>
              <a:t>restful</a:t>
            </a:r>
            <a:r>
              <a:rPr lang="fr-CA" dirty="0"/>
              <a:t> backend pour la gestion des </a:t>
            </a:r>
            <a:r>
              <a:rPr lang="fr-CA" dirty="0" err="1"/>
              <a:t>ToDos</a:t>
            </a:r>
            <a:r>
              <a:rPr lang="fr-CA" dirty="0"/>
              <a:t>. </a:t>
            </a:r>
          </a:p>
          <a:p>
            <a:endParaRPr lang="fr-CA" dirty="0"/>
          </a:p>
          <a:p>
            <a:r>
              <a:rPr lang="fr-CA" dirty="0"/>
              <a:t>Chaque utilisateur a besoin de faire les actions suivantes: </a:t>
            </a:r>
          </a:p>
          <a:p>
            <a:r>
              <a:rPr lang="fr-CA" dirty="0"/>
              <a:t> login, </a:t>
            </a:r>
            <a:r>
              <a:rPr lang="fr-CA" dirty="0" err="1"/>
              <a:t>logout</a:t>
            </a:r>
            <a:r>
              <a:rPr lang="fr-CA" dirty="0"/>
              <a:t>, </a:t>
            </a:r>
            <a:r>
              <a:rPr lang="fr-CA" dirty="0" err="1"/>
              <a:t>register</a:t>
            </a:r>
            <a:r>
              <a:rPr lang="fr-CA" dirty="0"/>
              <a:t>, </a:t>
            </a:r>
            <a:r>
              <a:rPr lang="fr-CA" dirty="0" err="1"/>
              <a:t>add</a:t>
            </a:r>
            <a:r>
              <a:rPr lang="fr-CA" dirty="0"/>
              <a:t> </a:t>
            </a:r>
            <a:r>
              <a:rPr lang="fr-CA" dirty="0" err="1"/>
              <a:t>Todo</a:t>
            </a:r>
            <a:r>
              <a:rPr lang="fr-CA" dirty="0"/>
              <a:t>, </a:t>
            </a:r>
            <a:r>
              <a:rPr lang="fr-CA" dirty="0" err="1"/>
              <a:t>get</a:t>
            </a:r>
            <a:r>
              <a:rPr lang="fr-CA" dirty="0"/>
              <a:t> </a:t>
            </a:r>
            <a:r>
              <a:rPr lang="fr-CA" dirty="0" err="1"/>
              <a:t>todos</a:t>
            </a:r>
            <a:r>
              <a:rPr lang="fr-CA" dirty="0"/>
              <a:t>.  </a:t>
            </a:r>
          </a:p>
          <a:p>
            <a:endParaRPr lang="fr-CA" dirty="0">
              <a:latin typeface="Consolas" panose="020B0609020204030204" pitchFamily="49" charset="0"/>
            </a:endParaRPr>
          </a:p>
          <a:p>
            <a:r>
              <a:rPr lang="fr-CA" dirty="0"/>
              <a:t>Nous allons besoin d’utiliser JWT, Authentification et autorisation pour pouvoir authentifier et autoriser chaque utilisateur selon son rôle. </a:t>
            </a:r>
          </a:p>
          <a:p>
            <a:endParaRPr lang="fr-CA" dirty="0"/>
          </a:p>
          <a:p>
            <a:r>
              <a:rPr lang="fr-CA" dirty="0"/>
              <a:t>On va devoir crypter les mots de passe avant leur stockage dans la BD MongoDB. </a:t>
            </a:r>
          </a:p>
        </p:txBody>
      </p:sp>
    </p:spTree>
    <p:extLst>
      <p:ext uri="{BB962C8B-B14F-4D97-AF65-F5344CB8AC3E}">
        <p14:creationId xmlns:p14="http://schemas.microsoft.com/office/powerpoint/2010/main" val="3683886081"/>
      </p:ext>
    </p:extLst>
  </p:cSld>
  <p:clrMapOvr>
    <a:overrideClrMapping bg1="lt1" tx1="dk1" bg2="lt2" tx2="dk2" accent1="accent1" accent2="accent2" accent3="accent3" accent4="accent4" accent5="accent5" accent6="accent6" hlink="hlink" folHlink="folHlink"/>
  </p:clrMapOvr>
</p:sld>
</file>

<file path=ppt/slides/slide8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 mini projet</a:t>
            </a:r>
          </a:p>
        </p:txBody>
      </p:sp>
      <p:sp>
        <p:nvSpPr>
          <p:cNvPr id="3" name="TextBox 2">
            <a:extLst>
              <a:ext uri="{FF2B5EF4-FFF2-40B4-BE49-F238E27FC236}">
                <a16:creationId xmlns:a16="http://schemas.microsoft.com/office/drawing/2014/main" id="{6E7D9BBE-4708-B72B-9BB9-DFD6F05EC6A3}"/>
              </a:ext>
            </a:extLst>
          </p:cNvPr>
          <p:cNvSpPr txBox="1"/>
          <p:nvPr/>
        </p:nvSpPr>
        <p:spPr>
          <a:xfrm>
            <a:off x="2168433" y="1291299"/>
            <a:ext cx="4409919" cy="37555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Étapes préparatoire</a:t>
            </a:r>
            <a:endParaRPr lang="en-US"/>
          </a:p>
        </p:txBody>
      </p:sp>
      <p:sp>
        <p:nvSpPr>
          <p:cNvPr id="5" name="TextBox 4">
            <a:extLst>
              <a:ext uri="{FF2B5EF4-FFF2-40B4-BE49-F238E27FC236}">
                <a16:creationId xmlns:a16="http://schemas.microsoft.com/office/drawing/2014/main" id="{A45FE264-6A64-69EA-88BB-803AE6561987}"/>
              </a:ext>
            </a:extLst>
          </p:cNvPr>
          <p:cNvSpPr txBox="1"/>
          <p:nvPr/>
        </p:nvSpPr>
        <p:spPr>
          <a:xfrm>
            <a:off x="2168433" y="1917577"/>
            <a:ext cx="8369361" cy="2862322"/>
          </a:xfrm>
          <a:prstGeom prst="rect">
            <a:avLst/>
          </a:prstGeom>
          <a:noFill/>
        </p:spPr>
        <p:txBody>
          <a:bodyPr wrap="square" rtlCol="0">
            <a:spAutoFit/>
          </a:bodyPr>
          <a:lstStyle/>
          <a:p>
            <a:r>
              <a:rPr lang="fr-CA"/>
              <a:t>Les routes qu’on va développer : </a:t>
            </a:r>
          </a:p>
          <a:p>
            <a:pPr marL="285750" indent="-285750">
              <a:buFont typeface="Arial" panose="020B0604020202020204" pitchFamily="34" charset="0"/>
              <a:buChar char="•"/>
            </a:pPr>
            <a:r>
              <a:rPr lang="fr-CA"/>
              <a:t>POST /users/</a:t>
            </a:r>
            <a:r>
              <a:rPr lang="en-US"/>
              <a:t>register</a:t>
            </a:r>
          </a:p>
          <a:p>
            <a:pPr marL="285750" indent="-285750">
              <a:buFont typeface="Arial" panose="020B0604020202020204" pitchFamily="34" charset="0"/>
              <a:buChar char="•"/>
            </a:pPr>
            <a:r>
              <a:rPr lang="fr-CA"/>
              <a:t>POST /users/login</a:t>
            </a:r>
          </a:p>
          <a:p>
            <a:pPr marL="285750" indent="-285750">
              <a:buFont typeface="Arial" panose="020B0604020202020204" pitchFamily="34" charset="0"/>
              <a:buChar char="•"/>
            </a:pPr>
            <a:r>
              <a:rPr lang="fr-CA"/>
              <a:t>GET /users/logout</a:t>
            </a:r>
          </a:p>
          <a:p>
            <a:pPr marL="285750" indent="-285750">
              <a:buFont typeface="Arial" panose="020B0604020202020204" pitchFamily="34" charset="0"/>
              <a:buChar char="•"/>
            </a:pPr>
            <a:r>
              <a:rPr lang="fr-CA"/>
              <a:t>POST /users/todo</a:t>
            </a:r>
          </a:p>
          <a:p>
            <a:pPr marL="285750" indent="-285750">
              <a:buFont typeface="Arial" panose="020B0604020202020204" pitchFamily="34" charset="0"/>
              <a:buChar char="•"/>
            </a:pPr>
            <a:r>
              <a:rPr lang="fr-CA"/>
              <a:t>GET /users/todos</a:t>
            </a:r>
          </a:p>
          <a:p>
            <a:pPr marL="285750" indent="-285750">
              <a:buFont typeface="Arial" panose="020B0604020202020204" pitchFamily="34" charset="0"/>
              <a:buChar char="•"/>
            </a:pPr>
            <a:endParaRPr lang="fr-CA"/>
          </a:p>
          <a:p>
            <a:pPr marL="285750" indent="-285750">
              <a:buFont typeface="Arial" panose="020B0604020202020204" pitchFamily="34" charset="0"/>
              <a:buChar char="•"/>
            </a:pPr>
            <a:endParaRPr lang="fr-CA"/>
          </a:p>
          <a:p>
            <a:pPr marL="285750" indent="-285750">
              <a:buFont typeface="Arial" panose="020B0604020202020204" pitchFamily="34" charset="0"/>
              <a:buChar char="•"/>
            </a:pPr>
            <a:r>
              <a:rPr lang="fr-CA"/>
              <a:t>Un utilisateur ne peut rien exécuter avant qu’il fasse register</a:t>
            </a:r>
          </a:p>
          <a:p>
            <a:pPr marL="285750" indent="-285750">
              <a:buFont typeface="Arial" panose="020B0604020202020204" pitchFamily="34" charset="0"/>
              <a:buChar char="•"/>
            </a:pPr>
            <a:r>
              <a:rPr lang="fr-CA"/>
              <a:t>Un token JWT est utilisé pour protéger les routes </a:t>
            </a:r>
          </a:p>
        </p:txBody>
      </p:sp>
    </p:spTree>
    <p:extLst>
      <p:ext uri="{BB962C8B-B14F-4D97-AF65-F5344CB8AC3E}">
        <p14:creationId xmlns:p14="http://schemas.microsoft.com/office/powerpoint/2010/main" val="2111119520"/>
      </p:ext>
    </p:extLst>
  </p:cSld>
  <p:clrMapOvr>
    <a:overrideClrMapping bg1="lt1" tx1="dk1" bg2="lt2" tx2="dk2" accent1="accent1" accent2="accent2" accent3="accent3" accent4="accent4" accent5="accent5" accent6="accent6" hlink="hlink" folHlink="folHlink"/>
  </p:clrMapOvr>
</p:sld>
</file>

<file path=ppt/slides/slide8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p:cNvSpPr txBox="1"/>
          <p:nvPr/>
        </p:nvSpPr>
        <p:spPr>
          <a:xfrm>
            <a:off x="2168434" y="820756"/>
            <a:ext cx="8038012" cy="461665"/>
          </a:xfrm>
          <a:prstGeom prst="rect">
            <a:avLst/>
          </a:prstGeom>
          <a:noFill/>
        </p:spPr>
        <p:txBody>
          <a:bodyPr wrap="square" rtlCol="0">
            <a:spAutoFit/>
          </a:bodyPr>
          <a:lstStyle>
            <a:defPPr>
              <a:defRPr lang="fr-FR"/>
            </a:defPPr>
            <a:lvl1pPr>
              <a:defRPr sz="2400" b="1">
                <a:solidFill>
                  <a:schemeClr val="accent1"/>
                </a:solidFill>
              </a:defRPr>
            </a:lvl1pPr>
          </a:lstStyle>
          <a:p>
            <a:r>
              <a:rPr lang="fr-CA"/>
              <a:t>Le mini projet</a:t>
            </a:r>
          </a:p>
        </p:txBody>
      </p:sp>
      <p:sp>
        <p:nvSpPr>
          <p:cNvPr id="3" name="TextBox 2">
            <a:extLst>
              <a:ext uri="{FF2B5EF4-FFF2-40B4-BE49-F238E27FC236}">
                <a16:creationId xmlns:a16="http://schemas.microsoft.com/office/drawing/2014/main" id="{6E7D9BBE-4708-B72B-9BB9-DFD6F05EC6A3}"/>
              </a:ext>
            </a:extLst>
          </p:cNvPr>
          <p:cNvSpPr txBox="1"/>
          <p:nvPr/>
        </p:nvSpPr>
        <p:spPr>
          <a:xfrm>
            <a:off x="2168433" y="1291299"/>
            <a:ext cx="4409919" cy="375552"/>
          </a:xfrm>
          <a:prstGeom prst="rect">
            <a:avLst/>
          </a:prstGeom>
          <a:noFill/>
        </p:spPr>
        <p:txBody>
          <a:bodyPr wrap="square" rtlCol="0">
            <a:spAutoFit/>
          </a:bodyPr>
          <a:lstStyle>
            <a:defPPr>
              <a:defRPr lang="fr-FR"/>
            </a:defPPr>
            <a:lvl1pPr>
              <a:defRPr>
                <a:ln w="0"/>
                <a:solidFill>
                  <a:schemeClr val="accent1"/>
                </a:solidFill>
                <a:effectLst/>
              </a:defRPr>
            </a:lvl1pPr>
          </a:lstStyle>
          <a:p>
            <a:r>
              <a:rPr lang="fr-CA"/>
              <a:t>Étapes 1</a:t>
            </a:r>
            <a:endParaRPr lang="en-US"/>
          </a:p>
        </p:txBody>
      </p:sp>
      <p:sp>
        <p:nvSpPr>
          <p:cNvPr id="5" name="TextBox 4">
            <a:extLst>
              <a:ext uri="{FF2B5EF4-FFF2-40B4-BE49-F238E27FC236}">
                <a16:creationId xmlns:a16="http://schemas.microsoft.com/office/drawing/2014/main" id="{A45FE264-6A64-69EA-88BB-803AE6561987}"/>
              </a:ext>
            </a:extLst>
          </p:cNvPr>
          <p:cNvSpPr txBox="1"/>
          <p:nvPr/>
        </p:nvSpPr>
        <p:spPr>
          <a:xfrm>
            <a:off x="2168433" y="1917577"/>
            <a:ext cx="8369361" cy="923330"/>
          </a:xfrm>
          <a:prstGeom prst="rect">
            <a:avLst/>
          </a:prstGeom>
          <a:noFill/>
        </p:spPr>
        <p:txBody>
          <a:bodyPr wrap="square" rtlCol="0">
            <a:spAutoFit/>
          </a:bodyPr>
          <a:lstStyle/>
          <a:p>
            <a:r>
              <a:rPr lang="fr-CA"/>
              <a:t>Installation des modules nécessaires </a:t>
            </a:r>
          </a:p>
          <a:p>
            <a:r>
              <a:rPr lang="fr-CA"/>
              <a:t>npm init</a:t>
            </a:r>
          </a:p>
          <a:p>
            <a:r>
              <a:rPr lang="fr-CA"/>
              <a:t>npm install express mongoose dotenv cors cookie-parser</a:t>
            </a:r>
          </a:p>
        </p:txBody>
      </p:sp>
      <p:sp>
        <p:nvSpPr>
          <p:cNvPr id="2" name="TextBox 1">
            <a:extLst>
              <a:ext uri="{FF2B5EF4-FFF2-40B4-BE49-F238E27FC236}">
                <a16:creationId xmlns:a16="http://schemas.microsoft.com/office/drawing/2014/main" id="{B699ACCF-4275-1D5E-B8F0-D5958866CAAC}"/>
              </a:ext>
            </a:extLst>
          </p:cNvPr>
          <p:cNvSpPr txBox="1"/>
          <p:nvPr/>
        </p:nvSpPr>
        <p:spPr>
          <a:xfrm>
            <a:off x="2168432" y="3264124"/>
            <a:ext cx="8369361" cy="369332"/>
          </a:xfrm>
          <a:prstGeom prst="rect">
            <a:avLst/>
          </a:prstGeom>
          <a:noFill/>
        </p:spPr>
        <p:txBody>
          <a:bodyPr wrap="square" lIns="91440" tIns="45720" rIns="91440" bIns="45720" rtlCol="0" anchor="t">
            <a:spAutoFit/>
          </a:bodyPr>
          <a:lstStyle/>
          <a:p>
            <a:r>
              <a:rPr lang="en-US" dirty="0">
                <a:latin typeface="Calibri"/>
                <a:ea typeface="+mn-lt"/>
                <a:cs typeface="Calibri"/>
              </a:rPr>
              <a:t>GitHub </a:t>
            </a:r>
            <a:r>
              <a:rPr lang="fr-CA" dirty="0">
                <a:ea typeface="+mn-lt"/>
                <a:cs typeface="+mn-lt"/>
                <a:hlinkClick r:id="rId4"/>
              </a:rPr>
              <a:t>https://abjava88/mini-projet </a:t>
            </a:r>
            <a:endParaRPr lang="en-US" dirty="0"/>
          </a:p>
        </p:txBody>
      </p:sp>
    </p:spTree>
    <p:extLst>
      <p:ext uri="{BB962C8B-B14F-4D97-AF65-F5344CB8AC3E}">
        <p14:creationId xmlns:p14="http://schemas.microsoft.com/office/powerpoint/2010/main" val="2711883092"/>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2.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3.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4.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5.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6.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7.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8.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9.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10.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11.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12.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13.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14.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15.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16.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17.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18.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19.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20.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21.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22.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23.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24.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25.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26.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27.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28.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29.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30.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31.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32.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33.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34.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35.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36.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37.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38.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39.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40.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41.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42.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43.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44.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45.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46.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47.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48.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49.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50.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51.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52.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53.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54.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55.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56.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57.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58.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59.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60.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61.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62.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63.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64.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65.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66.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67.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68.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69.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70.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71.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72.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73.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74.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75.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76.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77.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ppt/theme/themeOverride78.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547C87FE0DF394B86DCB1248CECC4FD" ma:contentTypeVersion="6" ma:contentTypeDescription="Crée un document." ma:contentTypeScope="" ma:versionID="4677cc263f3a65afd2d10a61c8e60f39">
  <xsd:schema xmlns:xsd="http://www.w3.org/2001/XMLSchema" xmlns:xs="http://www.w3.org/2001/XMLSchema" xmlns:p="http://schemas.microsoft.com/office/2006/metadata/properties" xmlns:ns2="cfd781ee-6484-409f-bfdc-0426cd48a3d7" xmlns:ns3="dc406358-0875-44e3-a1ca-d72bcb6887c7" targetNamespace="http://schemas.microsoft.com/office/2006/metadata/properties" ma:root="true" ma:fieldsID="7bbc4f39656a97f9e85e1ddca3021497" ns2:_="" ns3:_="">
    <xsd:import namespace="cfd781ee-6484-409f-bfdc-0426cd48a3d7"/>
    <xsd:import namespace="dc406358-0875-44e3-a1ca-d72bcb6887c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d781ee-6484-409f-bfdc-0426cd48a3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406358-0875-44e3-a1ca-d72bcb6887c7" elementFormDefault="qualified">
    <xsd:import namespace="http://schemas.microsoft.com/office/2006/documentManagement/types"/>
    <xsd:import namespace="http://schemas.microsoft.com/office/infopath/2007/PartnerControls"/>
    <xsd:element name="SharedWithUsers" ma:index="1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dc406358-0875-44e3-a1ca-d72bcb6887c7">
      <UserInfo>
        <DisplayName>All Company Members</DisplayName>
        <AccountId>16</AccountId>
        <AccountType/>
      </UserInfo>
      <UserInfo>
        <DisplayName>abbes.pro88</DisplayName>
        <AccountId>17</AccountId>
        <AccountType/>
      </UserInfo>
    </SharedWithUsers>
  </documentManagement>
</p:properties>
</file>

<file path=customXml/itemProps1.xml><?xml version="1.0" encoding="utf-8"?>
<ds:datastoreItem xmlns:ds="http://schemas.openxmlformats.org/officeDocument/2006/customXml" ds:itemID="{B8E131A1-EC95-4ACA-8E65-C1198D373C1E}">
  <ds:schemaRefs>
    <ds:schemaRef ds:uri="cfd781ee-6484-409f-bfdc-0426cd48a3d7"/>
    <ds:schemaRef ds:uri="dc406358-0875-44e3-a1ca-d72bcb6887c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5060481-6B96-4604-86CD-066B735B1B2B}">
  <ds:schemaRefs>
    <ds:schemaRef ds:uri="http://schemas.microsoft.com/sharepoint/v3/contenttype/forms"/>
  </ds:schemaRefs>
</ds:datastoreItem>
</file>

<file path=customXml/itemProps3.xml><?xml version="1.0" encoding="utf-8"?>
<ds:datastoreItem xmlns:ds="http://schemas.openxmlformats.org/officeDocument/2006/customXml" ds:itemID="{950D52ED-C8A0-4741-94D8-24A84C2F387D}">
  <ds:schemaRefs>
    <ds:schemaRef ds:uri="dc406358-0875-44e3-a1ca-d72bcb6887c7"/>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769</TotalTime>
  <Words>8127</Words>
  <Application>Microsoft Office PowerPoint</Application>
  <PresentationFormat>Grand écran</PresentationFormat>
  <Paragraphs>942</Paragraphs>
  <Slides>87</Slides>
  <Notes>79</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87</vt:i4>
      </vt:variant>
    </vt:vector>
  </HeadingPairs>
  <TitlesOfParts>
    <vt:vector size="98" baseType="lpstr">
      <vt:lpstr>Arial</vt:lpstr>
      <vt:lpstr>Calibri</vt:lpstr>
      <vt:lpstr>Calibri Light</vt:lpstr>
      <vt:lpstr>Century Gothic</vt:lpstr>
      <vt:lpstr>Consolas</vt:lpstr>
      <vt:lpstr>Courier New</vt:lpstr>
      <vt:lpstr>Symbol</vt:lpstr>
      <vt:lpstr>Times New Roman</vt:lpstr>
      <vt:lpstr>Wingdings</vt:lpstr>
      <vt:lpstr>Wingdings 3</vt:lpstr>
      <vt:lpstr>Wisp</vt:lpstr>
      <vt:lpstr>Node Js</vt:lpstr>
      <vt:lpstr>Préparation de l’environnement </vt:lpstr>
      <vt:lpstr>Présentation PowerPoint</vt:lpstr>
      <vt:lpstr>Présentation PowerPoint</vt:lpstr>
      <vt:lpstr>Présentation PowerPoint</vt:lpstr>
      <vt:lpstr>Node.js initiations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Node Package Manager npm</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Node.js Express Framework</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MongoDB</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ReactJs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Mini projet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Node Js</dc:title>
  <dc:creator>abbes</dc:creator>
  <cp:lastModifiedBy>Imrane Boulebtina</cp:lastModifiedBy>
  <cp:revision>31</cp:revision>
  <dcterms:created xsi:type="dcterms:W3CDTF">2022-10-26T23:06:21Z</dcterms:created>
  <dcterms:modified xsi:type="dcterms:W3CDTF">2026-02-20T02:32:04Z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0x010100B547C87FE0DF394B86DCB1248CECC4FD</vt:lpwstr>
  </property>
</Properties>
</file>